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NATIONAL HANGEUL MUSEUM · CULTURAL EXPERIENCE CONTENT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1783080"/>
            <a:ext cx="1081735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한글, 배우지 말고
</a:t>
            </a:r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가지고 놀자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370332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외국인에게 한글은 '배워야 할 언어'가 아니라 '해보고 싶은 경험'이다. 내 이름 한 글자에서 시작하는 한글문화체험 콘텐츠 — 국립한글박물관을 위한 기획안 초안.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4892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파트너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" y="510235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국립한글박물관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337560" y="4892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337560" y="510235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Language Experience 콘텐츠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89320" y="4892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989320" y="510235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Rent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41080" y="4892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641080" y="510235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Draft v0.1 · 2026.07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" y="6455664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6492240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한글문화체험 콘텐츠 기획안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845552" y="64922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PROJECT RENT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6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한글문화체험 콘텐츠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931152" y="146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4572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우리의 믿음 · WHY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131552" y="45720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786384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7824"/>
            <a:ext cx="10817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우리는 한글을 </a:t>
            </a:r>
            <a:pPr indent="0" marL="0">
              <a:buNone/>
            </a:pPr>
            <a:r>
              <a:rPr lang="en-US" sz="220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가르치지 않는다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1737360"/>
            <a:ext cx="108173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외국인은 세종대왕 이야기에 감동하지 않는다.
</a:t>
            </a:r>
            <a:pPr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"내가 직접 해봤더니 신기했다"</a:t>
            </a:r>
            <a:pPr indent="0" marL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 감동한다.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85800" y="3520440"/>
            <a:ext cx="10817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trike="sngStrike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Language Education</a:t>
            </a:r>
            <a:pPr indent="0" marL="0">
              <a:buNone/>
            </a:pPr>
            <a:r>
              <a:rPr lang="en-US" sz="160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→    </a:t>
            </a:r>
            <a:pPr indent="0" marL="0">
              <a:buNone/>
            </a:pPr>
            <a:r>
              <a:rPr lang="en-US" sz="2100" b="1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Language Experience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4343400"/>
            <a:ext cx="99029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'배움'을 중심에 두면 참여 장벽이 높아진다. '경험'을 중심에 두면 누구나 즉시 참여한다. 이 기획의 전제는 단 하나 — </a:t>
            </a:r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한글은 읽기 전에 먼저 '보고, 만지고, 만드는' 것이다.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6455664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6492240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· 관점의 전환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845552" y="64922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PROJECT RENT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6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한글문화체험 콘텐츠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931152" y="146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BIG SHIFT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4572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시장의 변화 · BIG SHIFT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131552" y="45720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786384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7824"/>
            <a:ext cx="10817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외국인은 배우러 오지 않는다 — </a:t>
            </a:r>
            <a:pPr indent="0" marL="0">
              <a:buNone/>
            </a:pPr>
            <a:r>
              <a:rPr lang="en-US" sz="220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경험하러 온다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1389888"/>
            <a:ext cx="1036015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방한 외국인은 사상 최대 규모로 돌아왔고, 한국어·한글에 대한 세계의 관심은 K-콘텐츠를 타고 매년 최고치를 경신 중이다. '한국에서만 할 수 있는 특별한 경험'에 대한 수요가 이미 시장에 형성돼 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2148840"/>
            <a:ext cx="2601468" cy="178308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276856"/>
            <a:ext cx="227228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 방한 외국인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50392" y="2532888"/>
            <a:ext cx="2272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1,637</a:t>
            </a:r>
            <a:pPr indent="0" marL="0">
              <a:buNone/>
            </a:pPr>
            <a:r>
              <a:rPr lang="en-US" sz="11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만 명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50392" y="3044952"/>
            <a:ext cx="22722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전년 대비 +48.4%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코로나 이전(2019)의 94% 회복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24428" y="2148840"/>
            <a:ext cx="2601468" cy="178308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89020" y="2276856"/>
            <a:ext cx="227228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세종학당 수강생 (2024)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589020" y="2532888"/>
            <a:ext cx="2272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FA3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210,374</a:t>
            </a:r>
            <a:pPr indent="0" marL="0">
              <a:buNone/>
            </a:pPr>
            <a:r>
              <a:rPr lang="en-US" sz="11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명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589020" y="3044952"/>
            <a:ext cx="22722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세계 온·오프라인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2007년 첫해 740명 → 급증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63056" y="2148840"/>
            <a:ext cx="2601468" cy="178308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2276856"/>
            <a:ext cx="227228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한국어 학습 인기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327648" y="2532888"/>
            <a:ext cx="2272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세계 7위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327648" y="3044952"/>
            <a:ext cx="22722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Duolingo 최다 학습 언어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미·영 13–22세에선 상위권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901684" y="2148840"/>
            <a:ext cx="2601468" cy="178308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66276" y="2276856"/>
            <a:ext cx="227228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한글박물관 연 관람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066276" y="2532888"/>
            <a:ext cx="2272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70</a:t>
            </a:r>
            <a:pPr indent="0" marL="0">
              <a:buNone/>
            </a:pPr>
            <a:r>
              <a:rPr lang="en-US" sz="11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만 명+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066276" y="3044952"/>
            <a:ext cx="22722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2019년 돌파(2014 개관)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재개관 후 성장 여력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5800" y="4160520"/>
            <a:ext cx="10817352" cy="777240"/>
          </a:xfrm>
          <a:prstGeom prst="rect">
            <a:avLst/>
          </a:prstGeom>
          <a:solidFill>
            <a:srgbClr val="232031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4160520"/>
            <a:ext cx="41148" cy="77724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215384"/>
            <a:ext cx="1036015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그런데.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수요는 대부분 '교실·교재'로 흡수되고 있다. 관광·체험 현장에서 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한글을 '가지고 노는' 콘텐츠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는 아직 비어 있다 — 국립한글박물관이 선점할 수 있는 자리.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" y="5212080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257800"/>
            <a:ext cx="1081735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한국관광공사 2024 관광통계(방한 1,637만·+48.4%) · 세종학당재단/문체부(2024 수강생 210,374명, 2025년 239,020명으로 첫 23만 돌파) · Duolingo 2024 Language Report(한국어 세계 7위) · 국립한글박물관(2019년 관람객 70만 돌파). 수치 3중 교차검증 완료.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85800" y="6455664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6492240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BIG SHIFT · 검증 지표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845552" y="64922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PROJECT RENT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6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한글문화체험 콘텐츠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931152" y="146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INSIGHT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4572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인사이트 · 외국인이 한글에서 느끼는 것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131552" y="45720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786384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7824"/>
            <a:ext cx="10817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후기에서 반복되는 </a:t>
            </a:r>
            <a:pPr indent="0" marL="0">
              <a:buNone/>
            </a:pPr>
            <a:r>
              <a:rPr lang="en-US" sz="220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다섯 가지 매력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1389888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영어권 방문객 후기를 관통하는 반응은 '어렵다'가 아니라 '신기하다·예쁘다'다. 이 다섯 가지가 곧 체험 콘텐츠의 다섯 갈래가 된다.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1965960"/>
            <a:ext cx="3127248" cy="1481328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965960"/>
            <a:ext cx="3127248" cy="3200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" y="2093976"/>
            <a:ext cx="279806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아름다움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50392" y="2331720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"Looks like art"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50392" y="2660904"/>
            <a:ext cx="279806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글자가 아니라 디자인으로 본다. 읽기 전에 먼저 '보는' 문자.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950208" y="1965960"/>
            <a:ext cx="3127248" cy="1481328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50208" y="1965960"/>
            <a:ext cx="3127248" cy="3200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0" y="2093976"/>
            <a:ext cx="279806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나의 이름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0" y="2331720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이름이 한글로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114800" y="2660904"/>
            <a:ext cx="279806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John→존, Emily→에밀리. 내 이름이 새 언어가 되는 순간.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" y="3584448"/>
            <a:ext cx="3127248" cy="1481328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584448"/>
            <a:ext cx="3127248" cy="3200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" y="3712464"/>
            <a:ext cx="279806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소리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50392" y="3950208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ㅋㅋㅋ ㅠㅠ ㅎㅎ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0392" y="4279392"/>
            <a:ext cx="279806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"왜 웃음·울음도 글자가 있지?" 언어가 아니라 문화 체험.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950208" y="3584448"/>
            <a:ext cx="3127248" cy="1481328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50208" y="3584448"/>
            <a:ext cx="3127248" cy="3200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0" y="3712464"/>
            <a:ext cx="279806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조립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114800" y="3950208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ㄱ+ㅏ = 가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114800" y="4279392"/>
            <a:ext cx="279806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철자를 잇는 게 아니라 블록처럼 조립한다. 이게 신기하다.</a:t>
            </a:r>
            <a:endParaRPr lang="en-US" sz="900" dirty="0"/>
          </a:p>
        </p:txBody>
      </p:sp>
      <p:pic>
        <p:nvPicPr>
          <p:cNvPr id="29" name="Image 0" descr="/private/tmp/claude-501/-Users-choi-ai/19f0c5d7-dafc-44f2-a4c7-5fd77dae141e/scratchpad/img/hangeul-letter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14616" y="1965960"/>
            <a:ext cx="4288536" cy="3099816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7214616" y="4681728"/>
            <a:ext cx="4288536" cy="384048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7324344" y="4681728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 자모 전시 — 자음·모음이 곧 조형 요소 · 출처: Wikimedia Commons (CC)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685800" y="5257800"/>
            <a:ext cx="10817352" cy="777240"/>
          </a:xfrm>
          <a:prstGeom prst="rect">
            <a:avLst/>
          </a:prstGeom>
          <a:solidFill>
            <a:srgbClr val="1E231B"/>
          </a:solidFill>
          <a:ln/>
        </p:spPr>
      </p:sp>
      <p:sp>
        <p:nvSpPr>
          <p:cNvPr id="33" name="Shape 30"/>
          <p:cNvSpPr/>
          <p:nvPr/>
        </p:nvSpPr>
        <p:spPr>
          <a:xfrm>
            <a:off x="685800" y="5257800"/>
            <a:ext cx="41148" cy="777240"/>
          </a:xfrm>
          <a:prstGeom prst="rect">
            <a:avLst/>
          </a:prstGeom>
          <a:solidFill>
            <a:srgbClr val="8FA37E"/>
          </a:solidFill>
          <a:ln/>
        </p:spPr>
      </p:sp>
      <p:sp>
        <p:nvSpPr>
          <p:cNvPr id="34" name="Text 31"/>
          <p:cNvSpPr/>
          <p:nvPr/>
        </p:nvSpPr>
        <p:spPr>
          <a:xfrm>
            <a:off x="914400" y="5312664"/>
            <a:ext cx="1036015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8FA3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과학성.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 모양을 본떠 만든 문자 — 체험 후 설명으로 이어붙이면 '신기함'이 '경외'로 바뀐다. 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경험시키고, 원리는 나중에.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85800" y="6455664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85800" y="6492240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INSIGHT · 5가지 매력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845552" y="64922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PROJECT RENT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6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한글문화체험 콘텐츠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931152" y="146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4572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증명 · 한글은 이미 '보는 콘텐츠'다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131552" y="45720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786384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7824"/>
            <a:ext cx="10817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한글은 이미 굿즈·타이포·밈으로 </a:t>
            </a:r>
            <a:pPr indent="0" marL="0">
              <a:buNone/>
            </a:pPr>
            <a:r>
              <a:rPr lang="en-US" sz="220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소비되고 있다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1389888"/>
            <a:ext cx="1036015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 티셔츠, 한글 타이포 포스터, 이름 캘리그래피, 한글 스티커 — 관광 상권과 온라인에서 한글은 '학습 대상'이 아니라 '소비되는 비주얼'로 유통된다. 우리는 이 소비를 '체험'으로 앞당긴다.</a:t>
            </a:r>
            <a:endParaRPr lang="en-US" sz="1050" dirty="0"/>
          </a:p>
        </p:txBody>
      </p:sp>
      <p:pic>
        <p:nvPicPr>
          <p:cNvPr id="9" name="Image 0" descr="/private/tmp/claude-501/-Users-choi-ai/19f0c5d7-dafc-44f2-a4c7-5fd77dae141e/scratchpad/img/hunminjeongeu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2148840"/>
            <a:ext cx="3108960" cy="28803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85800" y="4645152"/>
            <a:ext cx="3108960" cy="384048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95528" y="4645152"/>
            <a:ext cx="28895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훈민정음 — '만든 사람·날·원리'가 기록된 유일한 문자 · Wikimedia (PD)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114800" y="21488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지금인가 — 세 겹의 수요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2423160"/>
          <a:ext cx="738835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226771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100" kern="0" dirty="0">
                          <a:solidFill>
                            <a:srgbClr val="7A757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수요 신호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100" kern="0" dirty="0">
                          <a:solidFill>
                            <a:srgbClr val="7A757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근거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100" kern="0" dirty="0">
                          <a:solidFill>
                            <a:srgbClr val="7A757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체험 전환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0E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방한 관광 회복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C2B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2024년 1,637만 명 (+48.4%)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C2B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오프라인 체험 유입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0E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한국어 학습 붐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C2B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세종학당 21만 명 · Duolingo 세계 7위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C2B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이름·감성 콘텐츠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0E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한글 비주얼 소비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C2B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한글 굿즈·타이포·SNS 밈 확산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C2B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캘리·도장·여권 굿즈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4114800" y="4114800"/>
            <a:ext cx="7388352" cy="914400"/>
          </a:xfrm>
          <a:prstGeom prst="rect">
            <a:avLst/>
          </a:prstGeom>
          <a:solidFill>
            <a:srgbClr val="232031"/>
          </a:solidFill>
          <a:ln/>
        </p:spPr>
      </p:sp>
      <p:sp>
        <p:nvSpPr>
          <p:cNvPr id="15" name="Shape 11"/>
          <p:cNvSpPr/>
          <p:nvPr/>
        </p:nvSpPr>
        <p:spPr>
          <a:xfrm>
            <a:off x="4114800" y="4114800"/>
            <a:ext cx="41148" cy="9144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6" name="Text 12"/>
          <p:cNvSpPr/>
          <p:nvPr/>
        </p:nvSpPr>
        <p:spPr>
          <a:xfrm>
            <a:off x="4343400" y="4169664"/>
            <a:ext cx="693115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 논리.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사람들은 이미 한글을 '사고, 찍고, 공유'한다. 여기에 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'내가 직접 만든다'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더하면 소비가 경험이 되고, 경험이 기념품·SNS로 다시 확산된다.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85800" y="5349240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85800" y="5394960"/>
            <a:ext cx="1081735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한국관광공사 2024 관광통계 · 세종학당재단 · Duolingo 2024 Language Report · 훈민정음(해례본) 이미지 Wikimedia Commons(PD). 굿즈·밈 확산은 정성 관찰 근거.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85800" y="6455664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85800" y="6492240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PROOF · 이미 소비되는 한글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7845552" y="64922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PROJECT RENT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6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한글문화체험 콘텐츠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931152" y="146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4572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우리가 만들 경험 · PROMISED LAND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131552" y="45720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786384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7824"/>
            <a:ext cx="10817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사람의 </a:t>
            </a:r>
            <a:pPr indent="0" marL="0">
              <a:buNone/>
            </a:pPr>
            <a:r>
              <a:rPr lang="en-US" sz="220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 한 글자</a:t>
            </a:r>
            <a:pPr indent="0" marL="0">
              <a:buNone/>
            </a:pPr>
            <a:r>
              <a:rPr lang="en-US" sz="2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 시작하는 여정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1389888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교재도, 시험도, 선생님도 없다. 방문자는 그저 자기 이름을 입력할 뿐이다. 그 순간부터 한글은 '남의 문자'가 아니라 '내 것'이 된다.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2286000"/>
            <a:ext cx="1914754" cy="141732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2404872"/>
            <a:ext cx="165872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13816" y="2615184"/>
            <a:ext cx="165872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만난다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3816" y="2889504"/>
            <a:ext cx="1658722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이름이 한글로 태어난다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600554" y="285750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11450" y="2286000"/>
            <a:ext cx="1914754" cy="141732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39466" y="2404872"/>
            <a:ext cx="165872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039466" y="2615184"/>
            <a:ext cx="165872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조립한다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39466" y="2889504"/>
            <a:ext cx="1658722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자음·모음을 직접 쌓는다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26203" y="285750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37099" y="2286000"/>
            <a:ext cx="1914754" cy="141732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65115" y="2404872"/>
            <a:ext cx="165872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3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265115" y="2615184"/>
            <a:ext cx="165872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발견한다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65115" y="2889504"/>
            <a:ext cx="1658722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한국식 이름의 의미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051853" y="285750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62749" y="2286000"/>
            <a:ext cx="1914754" cy="141732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0765" y="2404872"/>
            <a:ext cx="165872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4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490765" y="2615184"/>
            <a:ext cx="165872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0765" y="2889504"/>
            <a:ext cx="1658722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캘리·도장·여권 결과물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277502" y="285750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588398" y="2286000"/>
            <a:ext cx="1914754" cy="141732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16414" y="2404872"/>
            <a:ext cx="165872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5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9716414" y="2615184"/>
            <a:ext cx="165872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가져간다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716414" y="2889504"/>
            <a:ext cx="1658722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기념품 + SNS로 확산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85800" y="4160520"/>
            <a:ext cx="10817352" cy="914400"/>
          </a:xfrm>
          <a:prstGeom prst="rect">
            <a:avLst/>
          </a:prstGeom>
          <a:solidFill>
            <a:srgbClr val="232031"/>
          </a:solidFill>
          <a:ln/>
        </p:spPr>
      </p:sp>
      <p:sp>
        <p:nvSpPr>
          <p:cNvPr id="34" name="Shape 32"/>
          <p:cNvSpPr/>
          <p:nvPr/>
        </p:nvSpPr>
        <p:spPr>
          <a:xfrm>
            <a:off x="685800" y="4160520"/>
            <a:ext cx="41148" cy="9144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4215384"/>
            <a:ext cx="1036015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과정에서 저절로 전달된다.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한글의 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아름다움·조합 원리·과학성·한국 문화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까지 — '교육받았다'가 아니라 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'한국에서만 할 수 있는 특별한 걸 했다'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기억된다.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5800" y="6455664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6492240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VISION · 경험의 흐름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845552" y="64922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PROJECT RENT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6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한글문화체험 콘텐츠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931152" y="146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JOURNEY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4572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구조 · 4 CORE STEPS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131552" y="45720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786384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7824"/>
            <a:ext cx="10817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핵심은 '내 이름'을 중심에 둔 </a:t>
            </a:r>
            <a:pPr indent="0" marL="0">
              <a:buNone/>
            </a:pPr>
            <a:r>
              <a:rPr lang="en-US" sz="220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4단계 체험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1389888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콘텐츠는 '내 이름'이라는 단 하나의 입력에서 파생된다. 참여 장벽 0, 결과물은 즉시 손에 남는다.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2167128"/>
            <a:ext cx="384048" cy="384048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67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112264"/>
            <a:ext cx="102229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이름을 한글로 받는다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280160" y="2404872"/>
            <a:ext cx="1022299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즉시 변환 → 발음 재생 → 뜻 풀이 → 예쁜 캘리그래피 출력. 자기 이름이 새 언어가 되는 첫 '와우'의 순간.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2935224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063240"/>
            <a:ext cx="384048" cy="384048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063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3008376"/>
            <a:ext cx="102229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 도장을 만든다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280160" y="3300984"/>
            <a:ext cx="1022299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이름 → 도장 제작 → 여권처럼 찍기. 외국인이 가장 좋아하는 아날로그 기념품.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" y="3831336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959352"/>
            <a:ext cx="384048" cy="384048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9593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3904488"/>
            <a:ext cx="102229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 그래피티로 확장한다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280160" y="4197096"/>
            <a:ext cx="1022299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전통·힙합·민화·네온·한복 서체로 내 이름을 재해석. SNS 공유가 폭발하는 지점.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5800" y="4727448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4855464"/>
            <a:ext cx="384048" cy="384048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855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4800600"/>
            <a:ext cx="102229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훈민정음 스타일로 완성한다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280160" y="5093208"/>
            <a:ext cx="1022299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궁중·붓글씨·목판·금속활자 톤으로 출력. 한글의 역사성과 결과물의 소장 가치를 동시에.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5800" y="580644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각 단계는 독립적으로도, 하나의 연속 여정으로도 운영 가능. 다음 슬라이드부터 단계별 상세.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85800" y="6455664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6492240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JOURNEY · 4 CORE STEPS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845552" y="64922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PROJECT RENT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6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한글문화체험 콘텐츠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931152" y="146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4572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 · 내 이름을 한글로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131552" y="45720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786384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7824"/>
            <a:ext cx="10817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이름을 입력하면 </a:t>
            </a:r>
            <a:pPr indent="0" marL="0">
              <a:buNone/>
            </a:pPr>
            <a:r>
              <a:rPr lang="en-US" sz="220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4가지가 즉시</a:t>
            </a:r>
            <a:pPr indent="0" marL="0">
              <a:buNone/>
            </a:pPr>
            <a:r>
              <a:rPr lang="en-US" sz="2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돌아온다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1389888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방문자가 자기 이름을 입력하는 순간, AI가 표기·소리·의미·비주얼을 한 번에 생성한다. 이 첫 경험 하나로 참여자는 '이건 나에 대한 거야'라고 느낀다.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2103120"/>
            <a:ext cx="4480560" cy="566928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103120"/>
            <a:ext cx="4078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John</a:t>
            </a:r>
            <a:pPr indent="0" marL="0">
              <a:buNone/>
            </a:pPr>
            <a:r>
              <a:rPr lang="en-US" sz="120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→   </a:t>
            </a:r>
            <a:pPr indent="0" marL="0">
              <a:buNone/>
            </a:pPr>
            <a:r>
              <a:rPr lang="en-US" sz="1600" b="1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존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2816352"/>
            <a:ext cx="4480560" cy="566928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816352"/>
            <a:ext cx="4078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Emily</a:t>
            </a:r>
            <a:pPr indent="0" marL="0">
              <a:buNone/>
            </a:pPr>
            <a:r>
              <a:rPr lang="en-US" sz="120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→   </a:t>
            </a:r>
            <a:pPr indent="0" marL="0">
              <a:buNone/>
            </a:pPr>
            <a:r>
              <a:rPr lang="en-US" sz="1600" b="1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에밀리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3529584"/>
            <a:ext cx="4480560" cy="566928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3529584"/>
            <a:ext cx="4078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Maria</a:t>
            </a:r>
            <a:pPr indent="0" marL="0">
              <a:buNone/>
            </a:pPr>
            <a:r>
              <a:rPr lang="en-US" sz="120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→   </a:t>
            </a:r>
            <a:pPr indent="0" marL="0">
              <a:buNone/>
            </a:pPr>
            <a:r>
              <a:rPr lang="en-US" sz="1600" b="1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마리아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532120" y="2103120"/>
            <a:ext cx="2916936" cy="100584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96712" y="2231136"/>
            <a:ext cx="258775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696712" y="2468880"/>
            <a:ext cx="258775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 변환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96712" y="2798064"/>
            <a:ext cx="25877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이름의 한글 스펠링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586216" y="2103120"/>
            <a:ext cx="2916936" cy="100584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50808" y="2231136"/>
            <a:ext cx="258775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소리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750808" y="2468880"/>
            <a:ext cx="258775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발음 재생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750808" y="2798064"/>
            <a:ext cx="25877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원어민 발음을 즉시 들려줌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532120" y="3246120"/>
            <a:ext cx="2916936" cy="100584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96712" y="3374136"/>
            <a:ext cx="258775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의미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696712" y="3611880"/>
            <a:ext cx="258775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뜻 풀이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96712" y="3941064"/>
            <a:ext cx="25877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음가·어감의 스토리텔링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586216" y="3246120"/>
            <a:ext cx="2916936" cy="100584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50808" y="3374136"/>
            <a:ext cx="258775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비주얼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750808" y="3611880"/>
            <a:ext cx="258775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캘리그래피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750808" y="3941064"/>
            <a:ext cx="25877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바로 출력 가능한 아트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5800" y="4754880"/>
            <a:ext cx="10817352" cy="822960"/>
          </a:xfrm>
          <a:prstGeom prst="rect">
            <a:avLst/>
          </a:prstGeom>
          <a:solidFill>
            <a:srgbClr val="232031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" y="4754880"/>
            <a:ext cx="41148" cy="82296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4809744"/>
            <a:ext cx="103601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Wow Moment.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"내 이름이 저렇게 생겼다고?" — 설명이 아니라 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체험이 먼저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감정을 만든다. 이후 모든 콘텐츠는 이 이름 데이터를 재활용한다.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" y="6455664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6492240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 · 내 이름을 한글로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845552" y="64922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PROJECT RENT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6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한글문화체험 콘텐츠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931152" y="146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4572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 · 한글 도장 만들기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131552" y="45720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786384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7824"/>
            <a:ext cx="10817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외국인이 가장 좋아하는 </a:t>
            </a:r>
            <a:pPr indent="0" marL="0">
              <a:buNone/>
            </a:pPr>
            <a:r>
              <a:rPr lang="en-US" sz="220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아날로그 기념품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1389888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변환에서 끝내지 않는다. 내 이름 도장을 제작하고, '여권처럼' 직접 찍는 손의 경험으로 이어간다. 손에 남는 결과물이 기억을 각인시킨다.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2103120"/>
            <a:ext cx="2471166" cy="123444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2221992"/>
            <a:ext cx="221513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INPUT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13816" y="2432304"/>
            <a:ext cx="221513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John → 존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3816" y="2706624"/>
            <a:ext cx="2215134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 이름 데이터 재사용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156966" y="258318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67862" y="2103120"/>
            <a:ext cx="2471166" cy="123444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5878" y="2221992"/>
            <a:ext cx="221513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MAKE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595878" y="2432304"/>
            <a:ext cx="221513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도장 제작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95878" y="2706624"/>
            <a:ext cx="2215134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서체 선택 · 즉석 각인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939028" y="258318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49924" y="2103120"/>
            <a:ext cx="2471166" cy="123444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7940" y="2221992"/>
            <a:ext cx="221513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STAMP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377940" y="2432304"/>
            <a:ext cx="221513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여권처럼 찍기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77940" y="2706624"/>
            <a:ext cx="2215134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스탬프북에 날인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721090" y="258318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031986" y="2103120"/>
            <a:ext cx="2471166" cy="123444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60002" y="2221992"/>
            <a:ext cx="221513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KEEP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9160002" y="2432304"/>
            <a:ext cx="221513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기념품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60002" y="2706624"/>
            <a:ext cx="2215134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도장 + 날인 카드 소장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85800" y="3794760"/>
            <a:ext cx="3514344" cy="137160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3922776"/>
            <a:ext cx="3185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감각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50392" y="4160520"/>
            <a:ext cx="3185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손의 경험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50392" y="4489704"/>
            <a:ext cx="3185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누르고 떼는 촉각이 디지털에 없는 각인을 만든다.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337304" y="3794760"/>
            <a:ext cx="3514344" cy="137160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01896" y="3922776"/>
            <a:ext cx="3185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소장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501896" y="4160520"/>
            <a:ext cx="3185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기념품 가치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01896" y="4489704"/>
            <a:ext cx="3185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도장 자체가 팔리는 굿즈. 재구매·선물 수요.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988808" y="3794760"/>
            <a:ext cx="3514344" cy="137160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53400" y="3922776"/>
            <a:ext cx="3185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153400" y="4160520"/>
            <a:ext cx="3185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여권 컨셉의 씨앗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153400" y="4489704"/>
            <a:ext cx="3185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'찍기'가 한글 여권(박물관 연계)으로 확장된다.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85800" y="6455664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6492240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 · 한글 도장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845552" y="64922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PROJECT RENT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6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한글문화체험 콘텐츠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931152" y="146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4572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3 · 한글 그래피티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131552" y="45720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786384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7824"/>
            <a:ext cx="10817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이름을 </a:t>
            </a:r>
            <a:pPr indent="0" marL="0">
              <a:buNone/>
            </a:pPr>
            <a:r>
              <a:rPr lang="en-US" sz="220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다섯 가지 스타일</a:t>
            </a:r>
            <a:pPr indent="0" marL="0">
              <a:buNone/>
            </a:pPr>
            <a:r>
              <a:rPr lang="en-US" sz="2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재해석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1389888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이름, 완전히 다른 다섯 개의 비주얼. 방문자는 취향을 고르고, 그 선택 자체가 '가장 나다운 한글'을 찾는 놀이가 된다. SNS 공유가 가장 잘 터지는 콘텐츠.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2148840"/>
            <a:ext cx="2053742" cy="146304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148840"/>
            <a:ext cx="2053742" cy="32004"/>
          </a:xfrm>
          <a:prstGeom prst="rect">
            <a:avLst/>
          </a:prstGeom>
          <a:solidFill>
            <a:srgbClr val="E9DCC8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" y="2276856"/>
            <a:ext cx="1724558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전통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50392" y="2514600"/>
            <a:ext cx="172455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서예체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50392" y="2843784"/>
            <a:ext cx="172455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먹·한지의 클래식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76702" y="2148840"/>
            <a:ext cx="2053742" cy="146304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76702" y="2148840"/>
            <a:ext cx="2053742" cy="32004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16" name="Text 14"/>
          <p:cNvSpPr/>
          <p:nvPr/>
        </p:nvSpPr>
        <p:spPr>
          <a:xfrm>
            <a:off x="3041294" y="2276856"/>
            <a:ext cx="1724558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힙합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041294" y="2514600"/>
            <a:ext cx="172455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스트리트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041294" y="2843784"/>
            <a:ext cx="172455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거친 태그 감성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67605" y="2148840"/>
            <a:ext cx="2053742" cy="146304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67605" y="2148840"/>
            <a:ext cx="2053742" cy="32004"/>
          </a:xfrm>
          <a:prstGeom prst="rect">
            <a:avLst/>
          </a:prstGeom>
          <a:solidFill>
            <a:srgbClr val="8FA37E"/>
          </a:solidFill>
          <a:ln/>
        </p:spPr>
      </p:sp>
      <p:sp>
        <p:nvSpPr>
          <p:cNvPr id="21" name="Text 19"/>
          <p:cNvSpPr/>
          <p:nvPr/>
        </p:nvSpPr>
        <p:spPr>
          <a:xfrm>
            <a:off x="5232197" y="2276856"/>
            <a:ext cx="1724558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민화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232197" y="2514600"/>
            <a:ext cx="172455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전통 채색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32197" y="2843784"/>
            <a:ext cx="172455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화조·오방색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58507" y="2148840"/>
            <a:ext cx="2053742" cy="146304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58507" y="2148840"/>
            <a:ext cx="2053742" cy="32004"/>
          </a:xfrm>
          <a:prstGeom prst="rect">
            <a:avLst/>
          </a:prstGeom>
          <a:solidFill>
            <a:srgbClr val="A29BFE"/>
          </a:solidFill>
          <a:ln/>
        </p:spPr>
      </p:sp>
      <p:sp>
        <p:nvSpPr>
          <p:cNvPr id="26" name="Text 24"/>
          <p:cNvSpPr/>
          <p:nvPr/>
        </p:nvSpPr>
        <p:spPr>
          <a:xfrm>
            <a:off x="7423099" y="2276856"/>
            <a:ext cx="1724558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네온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423099" y="2514600"/>
            <a:ext cx="172455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사인 아트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423099" y="2843784"/>
            <a:ext cx="172455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야경 감성 발광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449410" y="2148840"/>
            <a:ext cx="2053742" cy="146304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49410" y="2148840"/>
            <a:ext cx="2053742" cy="32004"/>
          </a:xfrm>
          <a:prstGeom prst="rect">
            <a:avLst/>
          </a:prstGeom>
          <a:solidFill>
            <a:srgbClr val="D9A34B"/>
          </a:solidFill>
          <a:ln/>
        </p:spPr>
      </p:sp>
      <p:sp>
        <p:nvSpPr>
          <p:cNvPr id="31" name="Text 29"/>
          <p:cNvSpPr/>
          <p:nvPr/>
        </p:nvSpPr>
        <p:spPr>
          <a:xfrm>
            <a:off x="9614002" y="2276856"/>
            <a:ext cx="1724558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한복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614002" y="2514600"/>
            <a:ext cx="172455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전통 패턴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614002" y="2843784"/>
            <a:ext cx="172455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의상 텍스처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5800" y="4069080"/>
            <a:ext cx="10817352" cy="822960"/>
          </a:xfrm>
          <a:prstGeom prst="rect">
            <a:avLst/>
          </a:prstGeom>
          <a:solidFill>
            <a:srgbClr val="232031"/>
          </a:solidFill>
          <a:ln/>
        </p:spPr>
      </p:sp>
      <p:sp>
        <p:nvSpPr>
          <p:cNvPr id="35" name="Shape 33"/>
          <p:cNvSpPr/>
          <p:nvPr/>
        </p:nvSpPr>
        <p:spPr>
          <a:xfrm>
            <a:off x="685800" y="4069080"/>
            <a:ext cx="41148" cy="82296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4123944"/>
            <a:ext cx="103601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확산 설계.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다섯 스타일은 곧 다섯 번의 SNS 업로드 유인이다. 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'내 이름 네온사인'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한 장이 친구를 다음 방문자로 데려온다.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5800" y="6455664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6492240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3 · 한글 그래피티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845552" y="64922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PROJECT RENT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6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한글문화체험 콘텐츠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931152" y="146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4572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4 · 훈민정음 스타일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131552" y="45720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786384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7824"/>
            <a:ext cx="10817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세종시대의 결로 </a:t>
            </a:r>
            <a:pPr indent="0" marL="0">
              <a:buNone/>
            </a:pPr>
            <a:r>
              <a:rPr lang="en-US" sz="220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완성하는 소장품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1389888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현대 서체에서 한 걸음 더 — 궁중·붓글씨·목판·금속활자 톤으로 내 이름을 출력한다. 한글의 역사성과 결과물의 소장 가치를 동시에 얻는 마지막 단계.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2103120"/>
            <a:ext cx="3017520" cy="1207008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231136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ROYAL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50392" y="2468880"/>
            <a:ext cx="268833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궁중체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50392" y="2798064"/>
            <a:ext cx="268833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어첩·의궤의 격식 있는 결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0" y="2103120"/>
            <a:ext cx="3017520" cy="1207008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05072" y="2231136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BRUSH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005072" y="2468880"/>
            <a:ext cx="268833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붓글씨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005072" y="2798064"/>
            <a:ext cx="268833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손끝의 획, 한 점의 작품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3447288"/>
            <a:ext cx="3017520" cy="1207008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57530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WOODBLOCK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50392" y="3813048"/>
            <a:ext cx="268833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목판 인쇄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50392" y="4142232"/>
            <a:ext cx="268833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판각 질감의 아날로그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0480" y="3447288"/>
            <a:ext cx="3017520" cy="1207008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05072" y="357530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METAL TYPE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005072" y="3813048"/>
            <a:ext cx="268833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금속활자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005072" y="4142232"/>
            <a:ext cx="268833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직지의 나라, 활자의 결</a:t>
            </a:r>
            <a:endParaRPr lang="en-US" sz="900" dirty="0"/>
          </a:p>
        </p:txBody>
      </p:sp>
      <p:pic>
        <p:nvPicPr>
          <p:cNvPr id="25" name="Image 0" descr="/private/tmp/claude-501/-Users-choi-ai/19f0c5d7-dafc-44f2-a4c7-5fd77dae141e/scratchpad/img/hunminjeongeu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95160" y="2103120"/>
            <a:ext cx="4507992" cy="2551176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995160" y="4270248"/>
            <a:ext cx="4507992" cy="384048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7104888" y="4270248"/>
            <a:ext cx="4288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훈민정음 언해본 — 세종시대의 결을 그대로 톤 소스로 · Wikimedia (PD)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685800" y="4937760"/>
            <a:ext cx="10817352" cy="822960"/>
          </a:xfrm>
          <a:prstGeom prst="rect">
            <a:avLst/>
          </a:prstGeom>
          <a:solidFill>
            <a:srgbClr val="1E231B"/>
          </a:solidFill>
          <a:ln/>
        </p:spPr>
      </p:sp>
      <p:sp>
        <p:nvSpPr>
          <p:cNvPr id="29" name="Shape 26"/>
          <p:cNvSpPr/>
          <p:nvPr/>
        </p:nvSpPr>
        <p:spPr>
          <a:xfrm>
            <a:off x="685800" y="4937760"/>
            <a:ext cx="41148" cy="822960"/>
          </a:xfrm>
          <a:prstGeom prst="rect">
            <a:avLst/>
          </a:prstGeom>
          <a:solidFill>
            <a:srgbClr val="8FA37E"/>
          </a:solidFill>
          <a:ln/>
        </p:spPr>
      </p:sp>
      <p:sp>
        <p:nvSpPr>
          <p:cNvPr id="30" name="Text 27"/>
          <p:cNvSpPr/>
          <p:nvPr/>
        </p:nvSpPr>
        <p:spPr>
          <a:xfrm>
            <a:off x="914400" y="4992624"/>
            <a:ext cx="103601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8FA3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스토리 결합.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출력물에 "이 문자는 1443년, 백성을 위해 만들어졌다" 한 줄을 얹으면 — 소장품이 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이야기를 품은 기념품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된다.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85800" y="6455664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5800" y="6492240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4 · 훈민정음 스타일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7845552" y="64922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PROJECT RENT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6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한글문화체험 콘텐츠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931152" y="146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SIGNATURE 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4572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시그니처 콘텐츠 A · 이름과 감정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131552" y="45720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786384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7824"/>
            <a:ext cx="10817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번역이 아니라 </a:t>
            </a:r>
            <a:pPr indent="0" marL="0">
              <a:buNone/>
            </a:pPr>
            <a:r>
              <a:rPr lang="en-US" sz="220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'한국식 나'</a:t>
            </a:r>
            <a:pPr indent="0" marL="0">
              <a:buNone/>
            </a:pPr>
            <a:r>
              <a:rPr lang="en-US" sz="2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발견하는 놀이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1389888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 음차를 넘어, 한국식 이름과 한국 고유의 감정어를 제안한다. "왜 그런 이름인지"까지 설명하는 순간, 콘텐츠는 문화 체험이 된다.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205740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 닉네임 생성기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2331720"/>
            <a:ext cx="5180076" cy="475488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331720"/>
            <a:ext cx="47777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Emily</a:t>
            </a:r>
            <a:pPr indent="0" marL="0">
              <a:buNone/>
            </a:pPr>
            <a:r>
              <a:rPr lang="en-US" sz="120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→   </a:t>
            </a:r>
            <a:pPr indent="0" marL="0">
              <a:buNone/>
            </a:pPr>
            <a:r>
              <a:rPr lang="en-US" sz="160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916936"/>
            <a:ext cx="5180076" cy="475488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916936"/>
            <a:ext cx="47777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Luna</a:t>
            </a:r>
            <a:pPr indent="0" marL="0">
              <a:buNone/>
            </a:pPr>
            <a:r>
              <a:rPr lang="en-US" sz="120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→   </a:t>
            </a:r>
            <a:pPr indent="0" marL="0">
              <a:buNone/>
            </a:pPr>
            <a:r>
              <a:rPr lang="en-US" sz="160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3502152"/>
            <a:ext cx="5180076" cy="475488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3502152"/>
            <a:ext cx="47777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Michael</a:t>
            </a:r>
            <a:pPr indent="0" marL="0">
              <a:buNone/>
            </a:pPr>
            <a:r>
              <a:rPr lang="en-US" sz="120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→   </a:t>
            </a:r>
            <a:pPr indent="0" marL="0">
              <a:buNone/>
            </a:pPr>
            <a:r>
              <a:rPr lang="en-US" sz="160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087368"/>
            <a:ext cx="5180076" cy="475488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4087368"/>
            <a:ext cx="47777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Alex</a:t>
            </a:r>
            <a:pPr indent="0" marL="0">
              <a:buNone/>
            </a:pPr>
            <a:r>
              <a:rPr lang="en-US" sz="120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→   </a:t>
            </a:r>
            <a:pPr indent="0" marL="0">
              <a:buNone/>
            </a:pPr>
            <a:r>
              <a:rPr lang="en-US" sz="160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4709160"/>
            <a:ext cx="5180076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한국식 이름 + '왜 이 이름인지' 스토리까지 제안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323076" y="205740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 번역기 — 영어에 없는 한국 감성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323076" y="2331720"/>
            <a:ext cx="5180076" cy="475488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24244" y="2331720"/>
            <a:ext cx="47777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I'm excited</a:t>
            </a:r>
            <a:pPr indent="0" marL="0">
              <a:buNone/>
            </a:pPr>
            <a:r>
              <a:rPr lang="en-US" sz="120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→   </a:t>
            </a:r>
            <a:pPr indent="0" marL="0">
              <a:buNone/>
            </a:pPr>
            <a:r>
              <a:rPr lang="en-US" sz="1600" b="1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설렌다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23076" y="2916936"/>
            <a:ext cx="5180076" cy="475488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24244" y="2916936"/>
            <a:ext cx="47777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I'm frustrated</a:t>
            </a:r>
            <a:pPr indent="0" marL="0">
              <a:buNone/>
            </a:pPr>
            <a:r>
              <a:rPr lang="en-US" sz="120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→   </a:t>
            </a:r>
            <a:pPr indent="0" marL="0">
              <a:buNone/>
            </a:pPr>
            <a:r>
              <a:rPr lang="en-US" sz="1600" b="1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답답하다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23076" y="3502152"/>
            <a:ext cx="5180076" cy="475488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24244" y="3502152"/>
            <a:ext cx="47777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I'm touched</a:t>
            </a:r>
            <a:pPr indent="0" marL="0">
              <a:buNone/>
            </a:pPr>
            <a:r>
              <a:rPr lang="en-US" sz="120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→   </a:t>
            </a:r>
            <a:pPr indent="0" marL="0">
              <a:buNone/>
            </a:pPr>
            <a:r>
              <a:rPr lang="en-US" sz="1600" b="1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뭉클하다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23076" y="4123944"/>
            <a:ext cx="5180076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감정의 결을 설명 = 언어가 아닌 '한국 감성'의 체험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85800" y="5074920"/>
            <a:ext cx="10817352" cy="822960"/>
          </a:xfrm>
          <a:prstGeom prst="rect">
            <a:avLst/>
          </a:prstGeom>
          <a:solidFill>
            <a:srgbClr val="232031"/>
          </a:solidFill>
          <a:ln/>
        </p:spPr>
      </p:sp>
      <p:sp>
        <p:nvSpPr>
          <p:cNvPr id="28" name="Shape 26"/>
          <p:cNvSpPr/>
          <p:nvPr/>
        </p:nvSpPr>
        <p:spPr>
          <a:xfrm>
            <a:off x="685800" y="5074920"/>
            <a:ext cx="41148" cy="82296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5129784"/>
            <a:ext cx="103601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강력한가.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사람은 자기 이름과 자기 감정에 가장 크게 반응한다. 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'나'를 소재로 한 콘텐츠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는 참여율·공유율이 압도적이다.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" y="6455664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6492240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SIGNATURE A · 이름과 감정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845552" y="64922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PROJECT RENT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6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한글문화체험 콘텐츠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931152" y="146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SIGNATURE 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4572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시그니처 콘텐츠 B · 놀이와 참여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131552" y="45720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786384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7824"/>
            <a:ext cx="10817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보는 것을 넘어 </a:t>
            </a:r>
            <a:pPr indent="0" marL="0">
              <a:buNone/>
            </a:pPr>
            <a:r>
              <a:rPr lang="en-US" sz="220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만들고·연주하고·조립</a:t>
            </a:r>
            <a:pPr indent="0" marL="0">
              <a:buNone/>
            </a:pPr>
            <a:r>
              <a:rPr lang="en-US" sz="2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한다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1389888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세대별 참여를 넓히는 세 갈래. 젊은 층은 K-POP 가사와 아트 포스터로, 아이들은 자석 블록 놀이로 — 각기 다른 방문자를 같은 한글 경험으로 끌어들인다.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2194560"/>
            <a:ext cx="3514344" cy="169164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194560"/>
            <a:ext cx="3514344" cy="3200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" y="2322576"/>
            <a:ext cx="3185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SOUND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50392" y="2560320"/>
            <a:ext cx="3185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K-POP 가사 카드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50392" y="2889504"/>
            <a:ext cx="318516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이름을 넣은 한 줄 가사 생성 — "오늘도 Emily와 함께, 서울의 밤". 즉석 녹음까지.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37304" y="2194560"/>
            <a:ext cx="3514344" cy="169164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37304" y="2194560"/>
            <a:ext cx="3514344" cy="3200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6" name="Text 14"/>
          <p:cNvSpPr/>
          <p:nvPr/>
        </p:nvSpPr>
        <p:spPr>
          <a:xfrm>
            <a:off x="4501896" y="2322576"/>
            <a:ext cx="3185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501896" y="2560320"/>
            <a:ext cx="3185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 패턴 포스터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01896" y="2889504"/>
            <a:ext cx="318516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ㅇㅁㄴㅅㅈ 자모를 조형 요소로 쓴 아트 포스터. 방 안에 걸리는 결과물.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988808" y="2194560"/>
            <a:ext cx="3514344" cy="169164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88808" y="2194560"/>
            <a:ext cx="3514344" cy="3200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1" name="Text 19"/>
          <p:cNvSpPr/>
          <p:nvPr/>
        </p:nvSpPr>
        <p:spPr>
          <a:xfrm>
            <a:off x="8153400" y="2322576"/>
            <a:ext cx="3185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PLAY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153400" y="2560320"/>
            <a:ext cx="3185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 블록 놀이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153400" y="2889504"/>
            <a:ext cx="318516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자석 자음·모음을 직접 조립 → AI가 맞는지 확인 → 발음해줌. 아이들이 가장 좋아한다.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" y="4343400"/>
            <a:ext cx="10817352" cy="822960"/>
          </a:xfrm>
          <a:prstGeom prst="rect">
            <a:avLst/>
          </a:prstGeom>
          <a:solidFill>
            <a:srgbClr val="232031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4343400"/>
            <a:ext cx="41148" cy="82296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398264"/>
            <a:ext cx="103601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효과.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이름(A)·감정(A)·소리·아트·놀이(B)가 한 지붕 아래 모이면, 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'한 번 오면 여러 번 논다'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체류 시간과 재방문이 함께 늘어난다.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" y="6455664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6492240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SIGNATURE B · 놀이와 참여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845552" y="64922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PROJECT RENT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6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한글문화체험 콘텐츠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931152" y="146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MUSEUM FIT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4572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국립한글박물관 연계 · MUSEUM FIT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131552" y="45720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786384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7824"/>
            <a:ext cx="10817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박물관이라서 </a:t>
            </a:r>
            <a:pPr indent="0" marL="0">
              <a:buNone/>
            </a:pPr>
            <a:r>
              <a:rPr lang="en-US" sz="220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가능한 세 가지</a:t>
            </a:r>
            <a:pPr indent="0" marL="0">
              <a:buNone/>
            </a:pPr>
            <a:r>
              <a:rPr lang="en-US" sz="2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확장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1389888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체험을 박물관의 문법과 결합한다. 관람 동선에 '한글 여권'을 얹고, 상설 전시의 권위를 콘텐츠의 깊이로 빌려온다.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2103120"/>
            <a:ext cx="6126480" cy="1298448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231136"/>
            <a:ext cx="579729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동선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50392" y="2468880"/>
            <a:ext cx="579729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 여권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50392" y="2798064"/>
            <a:ext cx="5797296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입장 시 발급 → 전시 구역마다 내 이름 도장 날인 → 완주 시 나만의 스탬프북. 관람이 '수집 게임'이 된다.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5800" y="3538728"/>
            <a:ext cx="6126480" cy="1298448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666744"/>
            <a:ext cx="579729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850392" y="3904488"/>
            <a:ext cx="579729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세계 언어 지도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50392" y="4233672"/>
            <a:ext cx="5797296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이름을 한·일·중·아랍·태국어로 나란히. 한글이 왜 가장 논리적인지 직접 체험.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4974336"/>
            <a:ext cx="6126480" cy="1298448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5102352"/>
            <a:ext cx="579729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서사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50392" y="5340096"/>
            <a:ext cx="579729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이름을 세종에게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50392" y="5669280"/>
            <a:ext cx="5797296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세종의 어조로 이름을 풀이. "그대의 이름은…" 스토리텔링.</a:t>
            </a:r>
            <a:endParaRPr lang="en-US" sz="900" dirty="0"/>
          </a:p>
        </p:txBody>
      </p:sp>
      <p:pic>
        <p:nvPicPr>
          <p:cNvPr id="21" name="Image 0" descr="/private/tmp/claude-501/-Users-choi-ai/19f0c5d7-dafc-44f2-a4c7-5fd77dae141e/scratchpad/img/museu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0" y="2103120"/>
            <a:ext cx="4370832" cy="4169664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132320" y="5888736"/>
            <a:ext cx="4370832" cy="384048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7242048" y="5888736"/>
            <a:ext cx="4151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국립한글박물관 상설 전시 — 체험이 얹힐 무대 · Wikimedia Commons (CC)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685800" y="5486400"/>
            <a:ext cx="10817352" cy="731520"/>
          </a:xfrm>
          <a:prstGeom prst="rect">
            <a:avLst/>
          </a:prstGeom>
          <a:solidFill>
            <a:srgbClr val="232031"/>
          </a:solidFill>
          <a:ln/>
        </p:spPr>
      </p:sp>
      <p:sp>
        <p:nvSpPr>
          <p:cNvPr id="25" name="Shape 22"/>
          <p:cNvSpPr/>
          <p:nvPr/>
        </p:nvSpPr>
        <p:spPr>
          <a:xfrm>
            <a:off x="685800" y="5486400"/>
            <a:ext cx="41148" cy="73152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6" name="Text 23"/>
          <p:cNvSpPr/>
          <p:nvPr/>
        </p:nvSpPr>
        <p:spPr>
          <a:xfrm>
            <a:off x="914400" y="5541264"/>
            <a:ext cx="103601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박물관만의 우위.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 팝업과 달리 박물관은 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권위·동선·상설성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갖는다. 여권 스탬프북은 관람을 끝까지 완주시키는 장치이자 재방문 티켓이다.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85800" y="6455664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6492240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MUSEUM FIT · 세 가지 확장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7845552" y="64922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PROJECT RENT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6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한글문화체험 콘텐츠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931152" y="146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VIRALITY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4572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확산 설계 · VIRALITY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131552" y="45720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786384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7824"/>
            <a:ext cx="10817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결과물이 </a:t>
            </a:r>
            <a:pPr indent="0" marL="0">
              <a:buNone/>
            </a:pPr>
            <a:r>
              <a:rPr lang="en-US" sz="220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'공유하고 싶은 나'</a:t>
            </a:r>
            <a:pPr indent="0" marL="0">
              <a:buNone/>
            </a:pPr>
            <a:r>
              <a:rPr lang="en-US" sz="2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된다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1389888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참여 장벽이 0인 이유는 소재가 '내 이름'이기 때문이다. 그리고 그 이유 그대로, 결과물은 공유 장벽도 0이다 — 자랑하고 싶은 '나의 것'이니까.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205740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SNS 확산이 잘 되는 결과물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2331720"/>
            <a:ext cx="1879092" cy="384048"/>
          </a:xfrm>
          <a:prstGeom prst="rect">
            <a:avLst/>
          </a:prstGeom>
          <a:solidFill>
            <a:srgbClr val="222222"/>
          </a:solidFill>
          <a:ln w="9525">
            <a:solidFill>
              <a:srgbClr val="5A4D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331720"/>
            <a:ext cx="18790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이름 한글 포스터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74620" y="2331720"/>
            <a:ext cx="1312164" cy="384048"/>
          </a:xfrm>
          <a:prstGeom prst="rect">
            <a:avLst/>
          </a:prstGeom>
          <a:solidFill>
            <a:srgbClr val="222222"/>
          </a:solidFill>
          <a:ln w="9525">
            <a:solidFill>
              <a:srgbClr val="5A4D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4620" y="2331720"/>
            <a:ext cx="13121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 네온사인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96512" y="2331720"/>
            <a:ext cx="1028700" cy="384048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96512" y="2331720"/>
            <a:ext cx="10287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 도장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234940" y="2331720"/>
            <a:ext cx="1028700" cy="384048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4940" y="2331720"/>
            <a:ext cx="10287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 여권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73368" y="2331720"/>
            <a:ext cx="1312164" cy="384048"/>
          </a:xfrm>
          <a:prstGeom prst="rect">
            <a:avLst/>
          </a:prstGeom>
          <a:solidFill>
            <a:srgbClr val="222222"/>
          </a:solidFill>
          <a:ln w="9525">
            <a:solidFill>
              <a:srgbClr val="5A4D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3368" y="2331720"/>
            <a:ext cx="13121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한국 이름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795260" y="2331720"/>
            <a:ext cx="1028700" cy="384048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95260" y="2331720"/>
            <a:ext cx="10287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캘리그래피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933688" y="2331720"/>
            <a:ext cx="1879092" cy="384048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33688" y="2331720"/>
            <a:ext cx="18790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세종 이름 해설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5800" y="2825496"/>
            <a:ext cx="1879092" cy="384048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2825496"/>
            <a:ext cx="18790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K-POP 이름 카드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674620" y="2825496"/>
            <a:ext cx="1170432" cy="384048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74620" y="2825496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 스티커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954780" y="2825496"/>
            <a:ext cx="1028700" cy="384048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54780" y="2825496"/>
            <a:ext cx="10287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 키링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5800" y="3429000"/>
            <a:ext cx="3514344" cy="150876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" y="3557016"/>
            <a:ext cx="3185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참여 장벽 0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50392" y="3794760"/>
            <a:ext cx="3185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이름만 있으면 된다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50392" y="4123944"/>
            <a:ext cx="318516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배경지식·언어 실력 불필요. 누구나 30초 안에 첫 결과물.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337304" y="3429000"/>
            <a:ext cx="3514344" cy="150876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01896" y="3557016"/>
            <a:ext cx="3185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 장벽 0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501896" y="3794760"/>
            <a:ext cx="3185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'나'라서 자랑한다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01896" y="4123944"/>
            <a:ext cx="318516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이름·내 감정·내 스타일 — 공유의 심리적 동기가 내장.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988808" y="3429000"/>
            <a:ext cx="3514344" cy="150876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53400" y="3557016"/>
            <a:ext cx="3185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확산 루프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153400" y="3794760"/>
            <a:ext cx="3185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친구 = 다음 방문자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153400" y="4123944"/>
            <a:ext cx="318516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장의 업로드가 다음 방문 예약으로 이어지는 자연 유입.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85800" y="6455664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6492240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VIRALITY · 확산 설계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845552" y="64922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PROJECT RENT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6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한글문화체험 콘텐츠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931152" y="146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PLATFORM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4572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장기 가치 · RETAIL MEDIA 확장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131552" y="45720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786384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7824"/>
            <a:ext cx="10817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체험이 쌓이면 </a:t>
            </a:r>
            <a:pPr indent="0" marL="0">
              <a:buNone/>
            </a:pPr>
            <a:r>
              <a:rPr lang="en-US" sz="220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문화 데이터</a:t>
            </a:r>
            <a:pPr indent="0" marL="0">
              <a:buNone/>
            </a:pPr>
            <a:r>
              <a:rPr lang="en-US" sz="2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된다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1389888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렌트가 잘하는 리테일 미디어 방식으로 한 단계 확장한다. 방문자의 선택 하나하나가 '외국인이 한글·한국 문화를 어떻게 경험·소비하는가'의 데이터가 된다.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2148840"/>
            <a:ext cx="3398520" cy="123444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2267712"/>
            <a:ext cx="3142488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COLLECT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13816" y="2478024"/>
            <a:ext cx="314248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체험 데이터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3816" y="2752344"/>
            <a:ext cx="3142488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국가·이름·선택 단어·만든 디자인·선호 한글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84320" y="262890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95216" y="2148840"/>
            <a:ext cx="3398520" cy="123444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3232" y="2267712"/>
            <a:ext cx="3142488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ANALYZE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523232" y="2478024"/>
            <a:ext cx="314248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문화 소비 패턴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3232" y="2752344"/>
            <a:ext cx="3142488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스타일·감정·이름이 국가별로 통하는가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793736" y="262890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04632" y="2148840"/>
            <a:ext cx="3398520" cy="123444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32648" y="2267712"/>
            <a:ext cx="3142488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PLATFORM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232648" y="2478024"/>
            <a:ext cx="314248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문화 데이터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32648" y="2752344"/>
            <a:ext cx="3142488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 체험관 → 외국인 한글 소비 인사이트 자산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5800" y="3749040"/>
            <a:ext cx="5317236" cy="141732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3749040"/>
            <a:ext cx="5317236" cy="3200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" y="3877056"/>
            <a:ext cx="498805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박물관에게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50392" y="4114800"/>
            <a:ext cx="498805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차별화된 장기 가치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50392" y="4443984"/>
            <a:ext cx="498805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일회성 체험 프로그램을 넘어, 한글의 글로벌 수용을 관측·아카이브하는 연구 자산.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85916" y="3749040"/>
            <a:ext cx="5317236" cy="141732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85916" y="3749040"/>
            <a:ext cx="5317236" cy="3200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0" name="Text 28"/>
          <p:cNvSpPr/>
          <p:nvPr/>
        </p:nvSpPr>
        <p:spPr>
          <a:xfrm>
            <a:off x="6350508" y="3877056"/>
            <a:ext cx="498805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350508" y="4114800"/>
            <a:ext cx="498805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콘텐츠·굿즈·파트너십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50508" y="4443984"/>
            <a:ext cx="498805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데이터가 다음 시즌 콘텐츠·굿즈 라인업·브랜드 협업의 근거가 된다.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5800" y="534924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개인정보는 익명·집계 기반으로만 활용. 데이터 수집 범위·동의는 실행 단계에서 별도 설계.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85800" y="6455664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6492240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PLATFORM · 문화 데이터 자산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845552" y="64922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PROJECT RENT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NATIONAL HANGEUL MUSEUM × PROJECT RENT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1783080"/>
            <a:ext cx="1081735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한글박물관을,
</a:t>
            </a:r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한글을 </a:t>
            </a:r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가지고 노는 곳</a:t>
            </a:r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85800" y="370332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'보는 곳'에서 '해보는 곳'으로. 외국인은 자기 이름 한 글자에서 시작해 한글의 아름다움과 과학을 몸으로 겪고, 그 경험을 기념품과 SNS로 세계에 실어 나른다. 교육이 아니라 경험이기에, 오래 기억된다.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50292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 요약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" y="523951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Language Education → Language Experience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92040" y="50292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892040" y="523951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 확정 · 콘텐츠 우선순위 · 파일럿 설계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6455664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6492240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NEW BLISS · 마무리 비전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845552" y="64922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PROJECT RENT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6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한글문화체험 콘텐츠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931152" y="146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APPENDIX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4572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부록 · 출처 및 검증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131552" y="45720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5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786384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7824"/>
            <a:ext cx="10817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0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인용 수치·이미지 </a:t>
            </a:r>
            <a:pPr indent="0" marL="0">
              <a:buNone/>
            </a:pPr>
            <a:r>
              <a:rPr lang="en-US" sz="220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1389888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기획안 초안의 모든 핵심 수치는 신뢰 출처로 3중 교차검증(추출 → 웹 대조 → 재대조)했다. 이미지는 Wikimedia Commons의 퍼블릭 도메인·CC 자료를 사용했다.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수치</a:t>
            </a:r>
            <a:endParaRPr lang="en-US" sz="8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423160"/>
          <a:ext cx="5180076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737360"/>
                <a:gridCol w="1522476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100" kern="0" dirty="0">
                          <a:solidFill>
                            <a:srgbClr val="7A757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지표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100" kern="0" dirty="0">
                          <a:solidFill>
                            <a:srgbClr val="7A757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100" kern="0" dirty="0">
                          <a:solidFill>
                            <a:srgbClr val="7A757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0E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2024 방한 외국인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C2B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1,637만 명 (+48.4%)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C2B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한국관광공사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0E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세종학당 수강생(2024)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C2B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210,374명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C2B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세종학당재단/문체부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0E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한국어 학습 인기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C2B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세계 7위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C2B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Duolingo 2024 Report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0E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한글박물관 관람(2019)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C2B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70만 명 돌파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C2B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국립한글박물관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323076" y="21488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출처 (WIKIMEDIA COMMONS)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323076" y="2423160"/>
            <a:ext cx="5180076" cy="141732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05956" y="2560320"/>
            <a:ext cx="48143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훈민정음 언해본 — Public Domain
</a:t>
            </a:r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국립한글박물관 상설 전시 — CC
</a:t>
            </a:r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C9C2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한글 자모 전시(Hangeul Letters Exhibition) — CC
</a:t>
            </a:r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이미지 링크 생존(HTTP 200) 확인 완료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323076" y="4023360"/>
            <a:ext cx="51800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2025년 세종학당 수강생은 239,020명으로 첫 23만 명 돌파(Korea Times). 굿즈·밈·후기 관련 서술은 정성 관찰 근거이며 별도 표기.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85800" y="5440680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5486400"/>
            <a:ext cx="1081735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Prepared by Project Rent · 한글문화체험 콘텐츠 기획안 Draft v0.1 · 2026.07 · 파트너: 국립한글박물관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85800" y="6455664"/>
            <a:ext cx="10817352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6492240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APPENDIX · 출처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845552" y="64922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7A75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PROJECT RENT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한글, 배우지 말고 가지고 놀자 — 한글문화체험 콘텐츠 기획안</dc:title>
  <dc:subject>PptxGenJS Presentation</dc:subject>
  <dc:creator>Project Rent</dc:creator>
  <cp:lastModifiedBy>Project Rent</cp:lastModifiedBy>
  <cp:revision>1</cp:revision>
  <dcterms:created xsi:type="dcterms:W3CDTF">2026-08-10T06:49:33Z</dcterms:created>
  <dcterms:modified xsi:type="dcterms:W3CDTF">2026-08-10T06:49:33Z</dcterms:modified>
</cp:coreProperties>
</file>