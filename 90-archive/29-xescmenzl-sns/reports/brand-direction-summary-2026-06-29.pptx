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SESC MENSES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768096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Direction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Summary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House That Translates Craft into Culture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617720"/>
            <a:ext cx="768096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2026.06.29  |  by Project Rent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DIRECTION SUMMARY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CORE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411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768096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장인의 기술로 한국의 일상을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존중하는 브랜드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One-line Definition  |  브랜드 핵심 정의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PARADIGM SHIFT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697480"/>
          <a:ext cx="76809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300" kern="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BEFORE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300" kern="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AFTER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부대찌개를 고급화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0E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부대찌개를 장인의 언어로 번역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비싼 재료를 넣는다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0E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재료의 존재 이유를 다시 정의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샤퀴테리 브랜드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0E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Craft Reinterpretation Brand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기술(Craft) 중심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0E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존중(Respect) 중심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31520" y="4617720"/>
            <a:ext cx="768096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DIRECTION SUMMARY 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31520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411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768096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계층 구조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011680" y="1645920"/>
            <a:ext cx="5120640" cy="77724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16459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SESC MENSES </a:t>
            </a:r>
            <a:pPr algn="ctr" indent="0" marL="0">
              <a:buNone/>
            </a:pPr>
            <a:r>
              <a:rPr lang="en-US" sz="11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House of Charcuterie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2423160"/>
            <a:ext cx="0" cy="27432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2697480"/>
            <a:ext cx="512064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2697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House That Translates Craft into Culture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3154680"/>
            <a:ext cx="0" cy="27432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520440"/>
            <a:ext cx="2377440" cy="1325880"/>
          </a:xfrm>
          <a:prstGeom prst="rect">
            <a:avLst/>
          </a:prstGeom>
          <a:solidFill>
            <a:srgbClr val="222222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61188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FIRST PROJECT</a:t>
            </a:r>
            <a:endParaRPr lang="en-US" sz="8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800" dirty="0"/>
          </a:p>
          <a:p>
            <a:pPr indent="0" marL="0">
              <a:buNone/>
            </a:pPr>
            <a:r>
              <a:rPr lang="en-US" sz="14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Budae</a:t>
            </a:r>
            <a:endParaRPr lang="en-US" sz="800" dirty="0"/>
          </a:p>
          <a:p>
            <a:pPr indent="0" marL="0">
              <a:buNone/>
            </a:pPr>
            <a:r>
              <a:rPr lang="en-US" sz="14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SESC MENSES</a:t>
            </a:r>
            <a:endParaRPr lang="en-US" sz="8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부대찌개 — 장인의 번역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83280" y="3520440"/>
            <a:ext cx="2377440" cy="132588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361188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FUTURE</a:t>
            </a:r>
            <a:endParaRPr lang="en-US" sz="8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800" dirty="0"/>
          </a:p>
          <a:p>
            <a:pPr indent="0" marL="0">
              <a:buNone/>
            </a:pPr>
            <a:r>
              <a:rPr lang="en-US" sz="14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Korean</a:t>
            </a:r>
            <a:endParaRPr lang="en-US" sz="800" dirty="0"/>
          </a:p>
          <a:p>
            <a:pPr indent="0" marL="0">
              <a:buNone/>
            </a:pPr>
            <a:r>
              <a:rPr lang="en-US" sz="14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Classics</a:t>
            </a:r>
            <a:endParaRPr lang="en-US" sz="8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김치찌개, 순대, 전골...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35040" y="3520440"/>
            <a:ext cx="2377440" cy="132588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61188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FUTURE</a:t>
            </a:r>
            <a:endParaRPr lang="en-US" sz="8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800" dirty="0"/>
          </a:p>
          <a:p>
            <a:pPr indent="0" marL="0">
              <a:buNone/>
            </a:pPr>
            <a:r>
              <a:rPr lang="en-US" sz="14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Products</a:t>
            </a:r>
            <a:endParaRPr lang="en-US" sz="800" dirty="0"/>
          </a:p>
          <a:p>
            <a:pPr indent="0" marL="0">
              <a:buNone/>
            </a:pPr>
            <a:r>
              <a:rPr lang="en-US" sz="14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&amp; Retail</a:t>
            </a:r>
            <a:endParaRPr lang="en-US" sz="8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밀키트, 리테일 확장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1520" y="4617720"/>
            <a:ext cx="768096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DIRECTION SUMMARY  2026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0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NARRATIVE ENGINE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411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768096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"생존에서 장인으로"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3566160" cy="164592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28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EUROPE</a:t>
            </a:r>
            <a:endParaRPr lang="en-US" sz="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800" dirty="0"/>
          </a:p>
          <a:p>
            <a:pPr indent="0" marL="0">
              <a:buNone/>
            </a:pPr>
            <a:r>
              <a:rPr lang="en-US" sz="12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생존의 기술 (육가공 보존법)
</a:t>
            </a: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7A7570"/>
                </a:solidFill>
              </a:rPr>
              <a:t>    |
</a:t>
            </a:r>
            <a:endParaRPr lang="en-US" sz="8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FA3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장인의 미식으로 진화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846320" y="1691640"/>
            <a:ext cx="3566160" cy="164592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1828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KOREA</a:t>
            </a:r>
            <a:endParaRPr lang="en-US" sz="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800" dirty="0"/>
          </a:p>
          <a:p>
            <a:pPr indent="0" marL="0">
              <a:buNone/>
            </a:pPr>
            <a:r>
              <a:rPr lang="en-US" sz="12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생존의 기술 (부대찌개)
</a:t>
            </a: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7A7570"/>
                </a:solidFill>
              </a:rPr>
              <a:t>    |
</a:t>
            </a:r>
            <a:endParaRPr lang="en-US" sz="8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86C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대중음식으로 고착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7680960" cy="777240"/>
          </a:xfrm>
          <a:prstGeom prst="rect">
            <a:avLst/>
          </a:prstGeom>
          <a:solidFill>
            <a:srgbClr val="222222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657600"/>
            <a:ext cx="45720" cy="7772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7307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SESC MENSES’s Question</a:t>
            </a:r>
            <a:endParaRPr lang="en-US" sz="900" dirty="0"/>
          </a:p>
          <a:p>
            <a:pPr indent="0" marL="0">
              <a:buNone/>
            </a:pPr>
            <a:r>
              <a:rPr lang="en-US" sz="1500" i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"부대찌개도 샤퀴테리처럼 장인의 기술로 다시 해석될 수 있지 않은가?"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4617720"/>
            <a:ext cx="768096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DIRECTION SUMMARY  2026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MEAL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411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768096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점심과 저녁은 완전히 다른 비즈니스다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메뉴가 아니라 하루의 시나리오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2024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30175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spc="200" kern="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Lunch: The First Meal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spc="200" kern="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Dinner: The Last Table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 전략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C2B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시간을 절약해주는 브랜드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0E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시간을 보내게 만드는 브랜드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고객이 주문하는 것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C2B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부대찌개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0E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세스크멘슬의 세계관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브랜드 역할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C2B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브랜드를 만나는 시간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0E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브랜드를 이해하는 시간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 원리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C2B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가지를 가장 완벽하게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0E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메뉴판이 아니라 코스의 흐름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KPI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C2B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다시 생각나는 점심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0E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세계관 경험 완성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" y="4617720"/>
            <a:ext cx="768096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DIRECTION SUMMARY  2026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31520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LUNCH — THE FIRST MEAL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411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768096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"좋은 하루는 좋은 첫 끼에서 시작됩니다"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783080" cy="173736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83080"/>
            <a:ext cx="1453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SIGNATURE</a:t>
            </a:r>
            <a:endParaRPr lang="en-US" sz="7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700" dirty="0"/>
          </a:p>
          <a:p>
            <a:pPr indent="0" marL="0">
              <a:buNone/>
            </a:pPr>
            <a:r>
              <a:rPr lang="en-US" sz="13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Korean Charcuterie</a:t>
            </a:r>
            <a:endParaRPr lang="en-US" sz="700" dirty="0"/>
          </a:p>
          <a:p>
            <a:pPr indent="0" marL="0">
              <a:buNone/>
            </a:pPr>
            <a:r>
              <a:rPr lang="en-US" sz="13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Stew</a:t>
            </a:r>
            <a:endParaRPr lang="en-US" sz="7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7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햄/소시지가 이 찌개를</a:t>
            </a:r>
            <a:endParaRPr lang="en-US" sz="7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위해 설계된 샤퀴테리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697480" y="1645920"/>
            <a:ext cx="1783080" cy="173736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62072" y="1783080"/>
            <a:ext cx="1453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RICE</a:t>
            </a:r>
            <a:endParaRPr lang="en-US" sz="7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700" dirty="0"/>
          </a:p>
          <a:p>
            <a:pPr indent="0" marL="0">
              <a:buNone/>
            </a:pPr>
            <a:r>
              <a:rPr lang="en-US" sz="13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Pot Rice</a:t>
            </a:r>
            <a:endParaRPr lang="en-US" sz="700" dirty="0"/>
          </a:p>
          <a:p>
            <a:pPr indent="0" marL="0">
              <a:buNone/>
            </a:pPr>
            <a:r>
              <a:rPr lang="en-US" sz="13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(솥밥)</a:t>
            </a:r>
            <a:endParaRPr lang="en-US" sz="7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7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탄수화물이 아니라</a:t>
            </a:r>
            <a:endParaRPr lang="en-US" sz="7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끼에 대한 존중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663440" y="1645920"/>
            <a:ext cx="1783080" cy="173736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783080"/>
            <a:ext cx="1453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SIDE</a:t>
            </a:r>
            <a:endParaRPr lang="en-US" sz="7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700" dirty="0"/>
          </a:p>
          <a:p>
            <a:pPr indent="0" marL="0">
              <a:buNone/>
            </a:pPr>
            <a:r>
              <a:rPr lang="en-US" sz="13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Seasonal</a:t>
            </a:r>
            <a:endParaRPr lang="en-US" sz="700" dirty="0"/>
          </a:p>
          <a:p>
            <a:pPr indent="0" marL="0">
              <a:buNone/>
            </a:pPr>
            <a:r>
              <a:rPr lang="en-US" sz="13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Side</a:t>
            </a:r>
            <a:endParaRPr lang="en-US" sz="7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7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계절 피클/절임/장아찌</a:t>
            </a:r>
            <a:endParaRPr lang="en-US" sz="7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국물 밸런스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629400" y="1645920"/>
            <a:ext cx="1783080" cy="173736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93992" y="1783080"/>
            <a:ext cx="1453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TOUCH POINT</a:t>
            </a:r>
            <a:endParaRPr lang="en-US" sz="7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700" dirty="0"/>
          </a:p>
          <a:p>
            <a:pPr indent="0" marL="0">
              <a:buNone/>
            </a:pPr>
            <a:r>
              <a:rPr lang="en-US" sz="13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Today's</a:t>
            </a:r>
            <a:endParaRPr lang="en-US" sz="700" dirty="0"/>
          </a:p>
          <a:p>
            <a:pPr indent="0" marL="0">
              <a:buNone/>
            </a:pPr>
            <a:r>
              <a:rPr lang="en-US" sz="13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Charcuterie</a:t>
            </a:r>
            <a:endParaRPr lang="en-US" sz="7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7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점. 점심에도</a:t>
            </a:r>
            <a:endParaRPr lang="en-US" sz="7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샤퀴테리 브랜드 각인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EXPERIENCE FLOW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09244" y="3977640"/>
            <a:ext cx="1417320" cy="411480"/>
          </a:xfrm>
          <a:prstGeom prst="rect">
            <a:avLst/>
          </a:prstGeom>
          <a:solidFill>
            <a:srgbClr val="222222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36292" y="3977640"/>
            <a:ext cx="1417320" cy="41148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6292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 이내 제공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63340" y="3977640"/>
            <a:ext cx="1417320" cy="41148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63340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15~20분 식사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0388" y="3977640"/>
            <a:ext cx="1417320" cy="41148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0388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따뜻한 점심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17436" y="3977640"/>
            <a:ext cx="1417320" cy="41148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17436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오후 시작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4617720"/>
            <a:ext cx="768096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DIRECTION SUMMARY  2026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1520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DINNER — THE LAST TABLE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411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768096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"좋은 하루는 좋은 식탁에서 완성됩니다"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09244" y="1600200"/>
            <a:ext cx="1417320" cy="182880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7260" y="1737360"/>
            <a:ext cx="11612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BEGIN</a:t>
            </a:r>
            <a:endParaRPr lang="en-US" sz="7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700" dirty="0"/>
          </a:p>
          <a:p>
            <a:pPr indent="0" marL="0">
              <a:buNone/>
            </a:pPr>
            <a:r>
              <a:rPr lang="en-US" sz="1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Charcuterie</a:t>
            </a:r>
            <a:endParaRPr lang="en-US" sz="700" dirty="0"/>
          </a:p>
          <a:p>
            <a:pPr indent="0" marL="0">
              <a:buNone/>
            </a:pPr>
            <a:r>
              <a:rPr lang="en-US" sz="1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Board</a:t>
            </a:r>
            <a:endParaRPr lang="en-US" sz="7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7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숙성 햄/테린/파테</a:t>
            </a:r>
            <a:endParaRPr lang="en-US" sz="7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와인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336292" y="1600200"/>
            <a:ext cx="1417320" cy="182880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4308" y="1737360"/>
            <a:ext cx="11612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FIRE</a:t>
            </a:r>
            <a:endParaRPr lang="en-US" sz="7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700" dirty="0"/>
          </a:p>
          <a:p>
            <a:pPr indent="0" marL="0">
              <a:buNone/>
            </a:pPr>
            <a:r>
              <a:rPr lang="en-US" sz="1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Grilled</a:t>
            </a:r>
            <a:endParaRPr lang="en-US" sz="700" dirty="0"/>
          </a:p>
          <a:p>
            <a:pPr indent="0" marL="0">
              <a:buNone/>
            </a:pPr>
            <a:r>
              <a:rPr lang="en-US" sz="1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Sausage</a:t>
            </a:r>
            <a:endParaRPr lang="en-US" sz="7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7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부위별/숙성별</a:t>
            </a:r>
            <a:endParaRPr lang="en-US" sz="7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훈연별 테이스팅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863340" y="1600200"/>
            <a:ext cx="1417320" cy="1828800"/>
          </a:xfrm>
          <a:prstGeom prst="rect">
            <a:avLst/>
          </a:prstGeom>
          <a:solidFill>
            <a:srgbClr val="222222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91356" y="1737360"/>
            <a:ext cx="11612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STEW</a:t>
            </a:r>
            <a:endParaRPr lang="en-US" sz="7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700" dirty="0"/>
          </a:p>
          <a:p>
            <a:pPr indent="0" marL="0">
              <a:buNone/>
            </a:pPr>
            <a:r>
              <a:rPr lang="en-US" sz="1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Korean</a:t>
            </a:r>
            <a:endParaRPr lang="en-US" sz="700" dirty="0"/>
          </a:p>
          <a:p>
            <a:pPr indent="0" marL="0">
              <a:buNone/>
            </a:pPr>
            <a:r>
              <a:rPr lang="en-US" sz="1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Charcuterie Stew</a:t>
            </a:r>
            <a:endParaRPr lang="en-US" sz="7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7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테이블의 중심</a:t>
            </a:r>
            <a:endParaRPr lang="en-US" sz="7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나누는 음식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390388" y="1600200"/>
            <a:ext cx="1417320" cy="182880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18404" y="1737360"/>
            <a:ext cx="11612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FINISH</a:t>
            </a:r>
            <a:endParaRPr lang="en-US" sz="7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700" dirty="0"/>
          </a:p>
          <a:p>
            <a:pPr indent="0" marL="0">
              <a:buNone/>
            </a:pPr>
            <a:r>
              <a:rPr lang="en-US" sz="1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Pot Rice +</a:t>
            </a:r>
            <a:endParaRPr lang="en-US" sz="700" dirty="0"/>
          </a:p>
          <a:p>
            <a:pPr indent="0" marL="0">
              <a:buNone/>
            </a:pPr>
            <a:r>
              <a:rPr lang="en-US" sz="1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Finish</a:t>
            </a:r>
            <a:endParaRPr lang="en-US" sz="7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7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리조토/치즈/계란</a:t>
            </a:r>
            <a:endParaRPr lang="en-US" sz="7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볶음밥 택1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917436" y="1600200"/>
            <a:ext cx="1417320" cy="182880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5452" y="1737360"/>
            <a:ext cx="11612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PAIRING</a:t>
            </a:r>
            <a:endParaRPr lang="en-US" sz="7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700" dirty="0"/>
          </a:p>
          <a:p>
            <a:pPr indent="0" marL="0">
              <a:buNone/>
            </a:pPr>
            <a:r>
              <a:rPr lang="en-US" sz="1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Wine/Beer</a:t>
            </a:r>
            <a:endParaRPr lang="en-US" sz="700" dirty="0"/>
          </a:p>
          <a:p>
            <a:pPr indent="0" marL="0">
              <a:buNone/>
            </a:pPr>
            <a:r>
              <a:rPr lang="en-US" sz="1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Highball</a:t>
            </a:r>
            <a:endParaRPr lang="en-US" sz="7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7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샤퀴테리 기준</a:t>
            </a:r>
            <a:endParaRPr lang="en-US" sz="7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큐레이션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3152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SIGNATURE MENUS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31520" y="4023360"/>
            <a:ext cx="3657600" cy="64008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023360"/>
            <a:ext cx="36576" cy="64008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0873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Chef's Sausage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매주/매달/계절 변경 — "이 메뉴 하나 때문에 다시 오는 이유"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4023360"/>
            <a:ext cx="3657600" cy="64008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4023360"/>
            <a:ext cx="36576" cy="64008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40873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Charcuterie Flight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Classic → Smoked → Aged → Chef's Special  4종 테이스팅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617720"/>
            <a:ext cx="768096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DIRECTION SUMMARY 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1520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PRICING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411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768096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51560"/>
            <a:ext cx="7680960" cy="77724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051560"/>
            <a:ext cx="36576" cy="7772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515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"가격이 아니라 경험의 깊이를 달리한다"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3657600" cy="201168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2860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LUNCH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800" dirty="0"/>
          </a:p>
          <a:p>
            <a:pPr indent="0" marL="0">
              <a:buNone/>
            </a:pPr>
            <a:r>
              <a:rPr lang="en-US" sz="13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세트 구성
</a:t>
            </a:r>
            <a:pPr indent="0" marL="0">
              <a:buNone/>
            </a:pPr>
            <a:r>
              <a:rPr lang="en-US" sz="13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합리적 가격대에서
</a:t>
            </a:r>
            <a:pPr indent="0" marL="0">
              <a:buNone/>
            </a:pPr>
            <a:r>
              <a:rPr lang="en-US" sz="13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완성도로 차별화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54880" y="2103120"/>
            <a:ext cx="3657600" cy="2011680"/>
          </a:xfrm>
          <a:prstGeom prst="rect">
            <a:avLst/>
          </a:prstGeom>
          <a:solidFill>
            <a:srgbClr val="222222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2860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DINNER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800" dirty="0"/>
          </a:p>
          <a:p>
            <a:pPr indent="0" marL="0">
              <a:buNone/>
            </a:pPr>
            <a:r>
              <a:rPr lang="en-US" sz="13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코스 흐름 중심
</a:t>
            </a:r>
            <a:pPr indent="0" marL="0">
              <a:buNone/>
            </a:pPr>
            <a:r>
              <a:rPr lang="en-US" sz="13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"비싼 저녁"이 아니라
</a:t>
            </a:r>
            <a:pPr indent="0" marL="0">
              <a:buNone/>
            </a:pPr>
            <a:r>
              <a:rPr lang="en-US" sz="13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"경험하는 저녁"으로</a:t>
            </a:r>
            <a:endParaRPr lang="en-US" sz="8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정당성 확보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4251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공간, 같은 대표 메뉴 = 전혀 다른 두 개의 비즈니스 모델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617720"/>
            <a:ext cx="768096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DIRECTION SUMMARY  2026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CRAFT PHILOSOPHY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411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768096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장인의 방식 — 메뉴 개발 철학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"재료의 존재 이유를 다시 정의하는 사람"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178308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65960"/>
            <a:ext cx="36576" cy="86868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075688"/>
            <a:ext cx="1453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햄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부대찌개를 위해 새로 만든다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97480" y="1965960"/>
            <a:ext cx="178308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1965960"/>
            <a:ext cx="36576" cy="86868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2" name="Text 10"/>
          <p:cNvSpPr/>
          <p:nvPr/>
        </p:nvSpPr>
        <p:spPr>
          <a:xfrm>
            <a:off x="2862072" y="2075688"/>
            <a:ext cx="1453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소시지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부대찌개를 위해 새로 설계한다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965960"/>
            <a:ext cx="178308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965960"/>
            <a:ext cx="36576" cy="86868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2075688"/>
            <a:ext cx="1453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지방 비율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국물과의 밸런스를 위해 조정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29400" y="1965960"/>
            <a:ext cx="178308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9400" y="1965960"/>
            <a:ext cx="36576" cy="86868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8" name="Text 16"/>
          <p:cNvSpPr/>
          <p:nvPr/>
        </p:nvSpPr>
        <p:spPr>
          <a:xfrm>
            <a:off x="6793992" y="2075688"/>
            <a:ext cx="1453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훈연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찌개 안 향 변화를 고려해 조절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714500" y="3017520"/>
            <a:ext cx="178308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14500" y="3017520"/>
            <a:ext cx="36576" cy="86868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1" name="Text 19"/>
          <p:cNvSpPr/>
          <p:nvPr/>
        </p:nvSpPr>
        <p:spPr>
          <a:xfrm>
            <a:off x="1879092" y="3127248"/>
            <a:ext cx="1453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염도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국물 전체 균형을 위해 재조정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80460" y="3017520"/>
            <a:ext cx="178308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80460" y="3017520"/>
            <a:ext cx="36576" cy="86868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4" name="Text 22"/>
          <p:cNvSpPr/>
          <p:nvPr/>
        </p:nvSpPr>
        <p:spPr>
          <a:xfrm>
            <a:off x="3845052" y="3127248"/>
            <a:ext cx="1453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육수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부용 기반으로 다시 설계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46420" y="3017520"/>
            <a:ext cx="178308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46420" y="3017520"/>
            <a:ext cx="36576" cy="86868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7" name="Text 25"/>
          <p:cNvSpPr/>
          <p:nvPr/>
        </p:nvSpPr>
        <p:spPr>
          <a:xfrm>
            <a:off x="5811012" y="3127248"/>
            <a:ext cx="1453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밥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국물과의 페어링으로 재설계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9DC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"더 비싸게 만들기 위해서"가 아니라  "부대찌개라는 한 그릇을 완성하기 위해서"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4617720"/>
            <a:ext cx="768096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DIRECTION SUMMARY 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MANIFESTO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411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768096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960120"/>
            <a:ext cx="36576" cy="338328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60120"/>
            <a:ext cx="6858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우리는 부대찌개를 고급화하지 않습니다.</a:t>
            </a:r>
            <a:endParaRPr lang="en-US" sz="1300" dirty="0"/>
          </a:p>
          <a:p>
            <a:pPr indent="0" marL="0">
              <a:buNone/>
            </a:pPr>
            <a:r>
              <a:rPr lang="en-US" sz="1500" i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우리는 부대찌개를 존중합니다.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생존을 위해 태어난 음식에도,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장인의 기술은 스며들 수 있다고 믿습니다.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샤퀴테리가 시간을 존중하듯,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부대찌개도 재료와 시간을 존중해야 합니다.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우리는 햄을 다시 만들고,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소시지를 다시 설계하고,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국물을 다시 끓이고,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밥을 다시 짓습니다.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 만드는 것은 새로운 음식이 아닙니다.</a:t>
            </a:r>
            <a:endParaRPr lang="en-US" sz="1300" dirty="0"/>
          </a:p>
          <a:p>
            <a:pPr indent="0" marL="0">
              <a:buNone/>
            </a:pPr>
            <a:r>
              <a:rPr lang="en-US" sz="1500" i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한국의 스튜를 장인의 언어로 다시 번역하는 일입니다.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SESC MENSES  |  House of Charcuterie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4617720"/>
            <a:ext cx="768096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DIRECTION SUMMARY 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411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768096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06-08 → 06-29 논의 진화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017520"/>
                <a:gridCol w="21031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spc="200" kern="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06-08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spc="200" kern="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06-29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spc="200" kern="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EVOLUTION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"제조 기술 세계관"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"장인의 번역" + "존중"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C5CE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기술 → 태도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"밀도 높은 컴포트 미식"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"Korean Charcuterie Stew"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C5CE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내부언어 → 커뮤니케이션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4평 쇼룸 vs 리뉴얼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Lunch/Dinner 이중 모델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C5CE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공간 → 경험 시나리오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서브브랜드 = 부대찌개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부대찌개 = "첫 번째 프로젝트"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C5CE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단일 → 확장 플랫폼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House of Charcuterie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Translates Craft into Culture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C5CE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카테고리 → 행위 정의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4617720"/>
            <a:ext cx="768096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DIRECTION SUMMARY 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31520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411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768096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과제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7680960" cy="329184"/>
          </a:xfrm>
          <a:prstGeom prst="rect">
            <a:avLst/>
          </a:prstGeom>
          <a:solidFill>
            <a:srgbClr val="222222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36576" cy="32918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0020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</a:t>
            </a:r>
            <a:pPr indent="0" marL="0">
              <a:buNone/>
            </a:pPr>
            <a:r>
              <a:rPr lang="en-US" sz="11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Manifesto 최종 검수 및 클라이언트 공유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984248"/>
            <a:ext cx="7680960" cy="329184"/>
          </a:xfrm>
          <a:prstGeom prst="rect">
            <a:avLst/>
          </a:prstGeom>
          <a:solidFill>
            <a:srgbClr val="222222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984248"/>
            <a:ext cx="36576" cy="32918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98424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</a:t>
            </a:r>
            <a:pPr indent="0" marL="0">
              <a:buNone/>
            </a:pPr>
            <a:r>
              <a:rPr lang="en-US" sz="11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아키텍처 비주얼 정리 (제안서 v3 반영)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368296"/>
            <a:ext cx="7680960" cy="329184"/>
          </a:xfrm>
          <a:prstGeom prst="rect">
            <a:avLst/>
          </a:prstGeom>
          <a:solidFill>
            <a:srgbClr val="222222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368296"/>
            <a:ext cx="36576" cy="32918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36829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</a:t>
            </a:r>
            <a:pPr indent="0" marL="0">
              <a:buNone/>
            </a:pPr>
            <a:r>
              <a:rPr lang="en-US" sz="11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Lunch / Dinner 가격 시뮬레이션 (객단가 / 원가 / 회전율)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752344"/>
            <a:ext cx="7680960" cy="329184"/>
          </a:xfrm>
          <a:prstGeom prst="rect">
            <a:avLst/>
          </a:prstGeom>
          <a:solidFill>
            <a:srgbClr val="222222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752344"/>
            <a:ext cx="36576" cy="329184"/>
          </a:xfrm>
          <a:prstGeom prst="rect">
            <a:avLst/>
          </a:prstGeom>
          <a:solidFill>
            <a:srgbClr val="7A7570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2752344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</a:t>
            </a:r>
            <a:pPr indent="0" marL="0">
              <a:buNone/>
            </a:pPr>
            <a:r>
              <a:rPr lang="en-US" sz="11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"Korean Charcuterie Stew" 네이밍 클라이언트 논의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136392"/>
            <a:ext cx="7680960" cy="329184"/>
          </a:xfrm>
          <a:prstGeom prst="rect">
            <a:avLst/>
          </a:prstGeom>
          <a:solidFill>
            <a:srgbClr val="222222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136392"/>
            <a:ext cx="36576" cy="329184"/>
          </a:xfrm>
          <a:prstGeom prst="rect">
            <a:avLst/>
          </a:prstGeom>
          <a:solidFill>
            <a:srgbClr val="7A7570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13639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</a:t>
            </a:r>
            <a:pPr indent="0" marL="0">
              <a:buNone/>
            </a:pPr>
            <a:r>
              <a:rPr lang="en-US" sz="11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Chef's Sausage / Charcuterie Flight 운영 가능성 셰프 확인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520440"/>
            <a:ext cx="7680960" cy="329184"/>
          </a:xfrm>
          <a:prstGeom prst="rect">
            <a:avLst/>
          </a:prstGeom>
          <a:solidFill>
            <a:srgbClr val="222222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520440"/>
            <a:ext cx="36576" cy="329184"/>
          </a:xfrm>
          <a:prstGeom prst="rect">
            <a:avLst/>
          </a:prstGeom>
          <a:solidFill>
            <a:srgbClr val="7A7570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352044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</a:t>
            </a:r>
            <a:pPr indent="0" marL="0">
              <a:buNone/>
            </a:pPr>
            <a:r>
              <a:rPr lang="en-US" sz="11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제안서 v2 → v3 업데이트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904488"/>
            <a:ext cx="7680960" cy="329184"/>
          </a:xfrm>
          <a:prstGeom prst="rect">
            <a:avLst/>
          </a:prstGeom>
          <a:solidFill>
            <a:srgbClr val="222222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904488"/>
            <a:ext cx="36576" cy="329184"/>
          </a:xfrm>
          <a:prstGeom prst="rect">
            <a:avLst/>
          </a:prstGeom>
          <a:solidFill>
            <a:srgbClr val="7A7570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39044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</a:t>
            </a:r>
            <a:pPr indent="0" marL="0">
              <a:buNone/>
            </a:pPr>
            <a:r>
              <a:rPr lang="en-US" sz="11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Finish Course 구체 레시피 방향 셰프 협의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4288536"/>
            <a:ext cx="7680960" cy="329184"/>
          </a:xfrm>
          <a:prstGeom prst="rect">
            <a:avLst/>
          </a:prstGeom>
          <a:solidFill>
            <a:srgbClr val="222222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288536"/>
            <a:ext cx="36576" cy="329184"/>
          </a:xfrm>
          <a:prstGeom prst="rect">
            <a:avLst/>
          </a:prstGeom>
          <a:solidFill>
            <a:srgbClr val="7A7570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428853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</a:t>
            </a:r>
            <a:pPr indent="0" marL="0">
              <a:buNone/>
            </a:pPr>
            <a:r>
              <a:rPr lang="en-US" sz="11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Today's Charcuterie 원가 / 오퍼레이션 설계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4617720"/>
            <a:ext cx="768096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DIRECTION SUMMARY 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SESC MENSES Brand Direction Summary</dc:title>
  <dc:subject>PptxGenJS Presentation</dc:subject>
  <dc:creator>Project Rent</dc:creator>
  <cp:lastModifiedBy>Project Rent</cp:lastModifiedBy>
  <cp:revision>1</cp:revision>
  <dcterms:created xsi:type="dcterms:W3CDTF">2026-07-12T23:17:49Z</dcterms:created>
  <dcterms:modified xsi:type="dcterms:W3CDTF">2026-07-12T23:17:49Z</dcterms:modified>
</cp:coreProperties>
</file>