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7A7570"/>
                </a:solidFill>
                <a:latin typeface="Pretendard"/>
                <a:ea typeface="Pretendard"/>
              </a:rPr>
              <a:t>EXHIBITION PROPOSAL —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A29BFE"/>
                </a:solidFill>
                <a:latin typeface="Pretendard"/>
                <a:ea typeface="Pretendard"/>
              </a:rPr>
              <a:t>GUBI × DAPSIMNI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200" b="1">
                <a:solidFill>
                  <a:srgbClr val="F5F0EB"/>
                </a:solidFill>
                <a:latin typeface="Pretendard"/>
                <a:ea typeface="Pretendard"/>
              </a:rPr>
              <a:t>Heritage</a:t>
            </a:r>
          </a:p>
          <a:p>
            <a:pPr>
              <a:lnSpc>
                <a:spcPct val="100000"/>
              </a:lnSpc>
            </a:pPr>
            <a:r>
              <a:rPr sz="5200" b="1">
                <a:solidFill>
                  <a:srgbClr val="F5F0EB"/>
                </a:solidFill>
                <a:latin typeface="Pretendard"/>
                <a:ea typeface="Pretendard"/>
              </a:rPr>
              <a:t>Meets </a:t>
            </a:r>
            <a:r>
              <a:rPr sz="5200" b="1">
                <a:solidFill>
                  <a:srgbClr val="6C5CE7"/>
                </a:solidFill>
                <a:latin typeface="Pretendard"/>
                <a:ea typeface="Pretendard"/>
              </a:rPr>
              <a:t>Heritage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6636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</a:rPr>
              <a:t>덴마크 디자인 헤리티지와 서울의 가장 독특한 로컬 헤리티지가 만나는 전시.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</a:rPr>
              <a:t>가구를 전시하는 것이 아니라, 두 개의 헤리티지가 서로를 설명하게 만듭니다.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>
                <a:solidFill>
                  <a:srgbClr val="7A7570"/>
                </a:solidFill>
                <a:latin typeface="Pretendard"/>
                <a:ea typeface="Pretendard"/>
              </a:rPr>
              <a:t>FOR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</a:rPr>
              <a:t>GUBI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612648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>
                <a:solidFill>
                  <a:srgbClr val="7A7570"/>
                </a:solidFill>
                <a:latin typeface="Pretendard"/>
                <a:ea typeface="Pretendard"/>
              </a:rPr>
              <a:t>CONCEPT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</a:rPr>
              <a:t>Heritage Reimagined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612648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>
                <a:solidFill>
                  <a:srgbClr val="7A7570"/>
                </a:solidFill>
                <a:latin typeface="Pretendard"/>
                <a:ea typeface="Pretendard"/>
              </a:rPr>
              <a:t>DATE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</a:rPr>
              <a:t>v1 — 2026.06.12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6126480"/>
            <a:ext cx="2468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>
                <a:solidFill>
                  <a:srgbClr val="7A7570"/>
                </a:solidFill>
                <a:latin typeface="Pretendard"/>
                <a:ea typeface="Pretendard"/>
              </a:rPr>
              <a:t>BY</a:t>
            </a:r>
          </a:p>
          <a:p>
            <a:pPr>
              <a:spcBef>
                <a:spcPts val="200"/>
              </a:spcBef>
            </a:pPr>
            <a:r>
              <a:rPr sz="1200" b="0">
                <a:solidFill>
                  <a:srgbClr val="C9C2BA"/>
                </a:solidFill>
                <a:latin typeface="Pretendard"/>
                <a:ea typeface="Pretendard"/>
              </a:rPr>
              <a:t>Project 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A7570"/>
                </a:solidFill>
                <a:latin typeface="Pretendard"/>
                <a:ea typeface="Pretendar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303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A29BFE"/>
                </a:solidFill>
                <a:latin typeface="Pretendard"/>
                <a:ea typeface="Pretendard"/>
              </a:rPr>
              <a:t>INTRO — WHY SEOUL,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372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700" b="1">
                <a:solidFill>
                  <a:srgbClr val="F5F0EB"/>
                </a:solidFill>
                <a:latin typeface="Pretendard"/>
                <a:ea typeface="Pretendard"/>
              </a:rPr>
              <a:t>새로움이 아니라,</a:t>
            </a:r>
          </a:p>
          <a:p>
            <a:pPr>
              <a:lnSpc>
                <a:spcPct val="106000"/>
              </a:lnSpc>
            </a:pPr>
            <a:r>
              <a:rPr sz="2700" b="1">
                <a:solidFill>
                  <a:srgbClr val="F5F0EB"/>
                </a:solidFill>
                <a:latin typeface="Pretendard"/>
                <a:ea typeface="Pretendard"/>
              </a:rPr>
              <a:t>축적된 시간과 새로운 해석이 만나는 지점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78508"/>
            <a:ext cx="9966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7A7570"/>
                </a:solidFill>
                <a:latin typeface="Pretendard"/>
                <a:ea typeface="Pretendard"/>
              </a:rPr>
              <a:t>서울은 지금 전 세계에서 가장 빠르게 변화하는 문화 도시 중 하나입니다.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7A7570"/>
                </a:solidFill>
                <a:latin typeface="Pretendard"/>
                <a:ea typeface="Pretendard"/>
              </a:rPr>
              <a:t>그러나 진정한 문화적 매력은 오랜 역사가 새로운 세대의 손에서 다시 해석될 때 탄생합니다.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657600"/>
            <a:ext cx="3332378" cy="237744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7A7570"/>
                </a:solidFill>
                <a:latin typeface="Pretendard"/>
                <a:ea typeface="Pretendard"/>
              </a:rPr>
              <a:t>THE SHIFT</a:t>
            </a:r>
          </a:p>
          <a:p>
            <a:pPr>
              <a:lnSpc>
                <a:spcPct val="110000"/>
              </a:lnSpc>
            </a:pPr>
            <a:r>
              <a:rPr sz="1700" b="1">
                <a:solidFill>
                  <a:srgbClr val="F5F0EB"/>
                </a:solidFill>
                <a:latin typeface="Pretendard"/>
                <a:ea typeface="Pretendard"/>
              </a:rPr>
              <a:t>전시의 정의가</a:t>
            </a:r>
          </a:p>
          <a:p>
            <a:pPr>
              <a:lnSpc>
                <a:spcPct val="110000"/>
              </a:lnSpc>
            </a:pPr>
            <a:r>
              <a:rPr sz="1700" b="1">
                <a:solidFill>
                  <a:srgbClr val="F5F0EB"/>
                </a:solidFill>
                <a:latin typeface="Pretendard"/>
                <a:ea typeface="Pretendard"/>
              </a:rPr>
              <a:t>바뀌고 있다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</a:rPr>
              <a:t>사람들은 더 이상 "제품을 보러" 오지 않습니다. 경험하고 이야기할 수 있는 맥락을 찾아 움직입니다.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9658" y="3657600"/>
            <a:ext cx="3332378" cy="237744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7A7570"/>
                </a:solidFill>
                <a:latin typeface="Pretendard"/>
                <a:ea typeface="Pretendard"/>
              </a:rPr>
              <a:t>THE OPPORTUNITY</a:t>
            </a:r>
          </a:p>
          <a:p>
            <a:pPr>
              <a:lnSpc>
                <a:spcPct val="110000"/>
              </a:lnSpc>
            </a:pPr>
            <a:r>
              <a:rPr sz="1700" b="1">
                <a:solidFill>
                  <a:srgbClr val="F5F0EB"/>
                </a:solidFill>
                <a:latin typeface="Pretendard"/>
                <a:ea typeface="Pretendard"/>
              </a:rPr>
              <a:t>서울이 주목받는</a:t>
            </a:r>
          </a:p>
          <a:p>
            <a:pPr>
              <a:lnSpc>
                <a:spcPct val="110000"/>
              </a:lnSpc>
            </a:pPr>
            <a:r>
              <a:rPr sz="1700" b="1">
                <a:solidFill>
                  <a:srgbClr val="F5F0EB"/>
                </a:solidFill>
                <a:latin typeface="Pretendard"/>
                <a:ea typeface="Pretendard"/>
              </a:rPr>
              <a:t>이유의 변화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</a:rPr>
              <a:t>트렌디한 신상 거리가 아니라, 시간성이 살아있는 동네가 글로벌 크리에이터의 새 목적지가 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36356" y="3657600"/>
            <a:ext cx="3332378" cy="2377440"/>
          </a:xfrm>
          <a:prstGeom prst="roundRect">
            <a:avLst>
              <a:gd name="adj" fmla="val 5000"/>
            </a:avLst>
          </a:prstGeom>
          <a:solidFill>
            <a:srgbClr val="2A2540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OUR PROPOSAL</a:t>
            </a:r>
          </a:p>
          <a:p>
            <a:pPr>
              <a:lnSpc>
                <a:spcPct val="110000"/>
              </a:lnSpc>
            </a:pPr>
            <a:r>
              <a:rPr sz="1700" b="1">
                <a:solidFill>
                  <a:srgbClr val="F5F0EB"/>
                </a:solidFill>
                <a:latin typeface="Pretendard"/>
                <a:ea typeface="Pretendard"/>
              </a:rPr>
              <a:t>두 헤리티지의</a:t>
            </a:r>
          </a:p>
          <a:p>
            <a:pPr>
              <a:lnSpc>
                <a:spcPct val="110000"/>
              </a:lnSpc>
            </a:pPr>
            <a:r>
              <a:rPr sz="1700" b="1">
                <a:solidFill>
                  <a:srgbClr val="F5F0EB"/>
                </a:solidFill>
                <a:latin typeface="Pretendard"/>
                <a:ea typeface="Pretendard"/>
              </a:rPr>
              <a:t>만남을 제안합니다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</a:rPr>
              <a:t>Project Rent는 GUBI의 덴마크 디자인 헤리티지와 답십리의 로컬 헤리티지가 교차하는 전시를 제안합니다.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A7570"/>
                </a:solidFill>
                <a:latin typeface="Pretendard"/>
                <a:ea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303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A29BFE"/>
                </a:solidFill>
                <a:latin typeface="Pretendard"/>
                <a:ea typeface="Pretendard"/>
              </a:rPr>
              <a:t>ABOUT GUBI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56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700" b="1">
                <a:solidFill>
                  <a:srgbClr val="F5F0EB"/>
                </a:solidFill>
                <a:latin typeface="Pretendard"/>
                <a:ea typeface="Pretendard"/>
              </a:rPr>
              <a:t>GUBI는 가구를 파는 브랜드가 아닙니다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01318"/>
            <a:ext cx="9966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7A7570"/>
                </a:solidFill>
                <a:latin typeface="Pretendard"/>
                <a:ea typeface="Pretendard"/>
              </a:rPr>
              <a:t>1967년 코펜하겐에서 시작한 GUBI는, 잊혀진 20세기 디자인 아이콘을 아카이브에서 발굴하고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7A7570"/>
                </a:solidFill>
                <a:latin typeface="Pretendard"/>
                <a:ea typeface="Pretendard"/>
              </a:rPr>
              <a:t>현대의 감각으로 다시 소개하는 "헤리티지 재발견(Rediscovery)"의 브랜드입니다.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657600"/>
            <a:ext cx="5074920" cy="246888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GUBI의 철학</a:t>
            </a:r>
          </a:p>
          <a:p>
            <a:pPr>
              <a:lnSpc>
                <a:spcPct val="110000"/>
              </a:lnSpc>
            </a:pPr>
            <a:r>
              <a:rPr sz="1600" b="1">
                <a:solidFill>
                  <a:srgbClr val="F5F0EB"/>
                </a:solidFill>
                <a:latin typeface="Pretendard"/>
                <a:ea typeface="Pretendard"/>
              </a:rPr>
              <a:t>"역사와 혁신의 섬세한 결합"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</a:rPr>
              <a:t>지난 100년의 디자이너·건축가·예술가 아카이브에서 잊혀진 명작을 발굴합니다. 단순 복각이 아니라, 새로운 동시대의 아이콘으로 되살려냅니다.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657600"/>
            <a:ext cx="5074920" cy="246888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발굴해 되살린 아이콘들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150" b="0">
                <a:solidFill>
                  <a:srgbClr val="7A7570"/>
                </a:solidFill>
                <a:latin typeface="Pretendard"/>
                <a:ea typeface="Pretendard"/>
              </a:rPr>
              <a:t>Beetle Chair  ·  미드센추리의 현대적 재해석</a:t>
            </a:r>
          </a:p>
          <a:p>
            <a:pPr>
              <a:lnSpc>
                <a:spcPct val="135000"/>
              </a:lnSpc>
            </a:pPr>
            <a:r>
              <a:rPr sz="1150" b="0">
                <a:solidFill>
                  <a:srgbClr val="7A7570"/>
                </a:solidFill>
                <a:latin typeface="Pretendard"/>
                <a:ea typeface="Pretendard"/>
              </a:rPr>
              <a:t>Bestlite  ·  1930년대 영국 모더니즘 조명</a:t>
            </a:r>
          </a:p>
          <a:p>
            <a:pPr>
              <a:lnSpc>
                <a:spcPct val="135000"/>
              </a:lnSpc>
            </a:pPr>
            <a:r>
              <a:rPr sz="1150" b="0">
                <a:solidFill>
                  <a:srgbClr val="7A7570"/>
                </a:solidFill>
                <a:latin typeface="Pretendard"/>
                <a:ea typeface="Pretendard"/>
              </a:rPr>
              <a:t>Multi-Lite  ·  1970년대 덴마크 디자인</a:t>
            </a:r>
          </a:p>
          <a:p>
            <a:pPr>
              <a:lnSpc>
                <a:spcPct val="135000"/>
              </a:lnSpc>
            </a:pPr>
            <a:r>
              <a:rPr sz="1150" b="0">
                <a:solidFill>
                  <a:srgbClr val="7A7570"/>
                </a:solidFill>
                <a:latin typeface="Pretendard"/>
                <a:ea typeface="Pretendard"/>
              </a:rPr>
              <a:t>Gräshoppa  ·  북유럽 디자이너 아카이브 복원</a:t>
            </a:r>
          </a:p>
          <a:p>
            <a:pPr>
              <a:lnSpc>
                <a:spcPct val="135000"/>
              </a:lnSpc>
            </a:pPr>
            <a:r>
              <a:rPr sz="1150" b="0">
                <a:solidFill>
                  <a:srgbClr val="7A7570"/>
                </a:solidFill>
                <a:latin typeface="Pretendard"/>
                <a:ea typeface="Pretendard"/>
              </a:rPr>
              <a:t/>
            </a:r>
          </a:p>
          <a:p>
            <a:pPr>
              <a:lnSpc>
                <a:spcPct val="135000"/>
              </a:lnSpc>
            </a:pPr>
            <a:r>
              <a:rPr sz="1150" b="0">
                <a:solidFill>
                  <a:srgbClr val="7A7570"/>
                </a:solidFill>
                <a:latin typeface="Pretendard"/>
                <a:ea typeface="Pretendard"/>
              </a:rPr>
              <a:t>관능적이고 우아한 럭셔리 — 전통 스칸디 미니멀과 다른 GUBI의 미학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A7570"/>
                </a:solidFill>
                <a:latin typeface="Pretendard"/>
                <a:ea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303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A29BFE"/>
                </a:solidFill>
                <a:latin typeface="Pretendard"/>
                <a:ea typeface="Pretendard"/>
              </a:rPr>
              <a:t>GUBI'S HERITAGE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56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700" b="1">
                <a:solidFill>
                  <a:srgbClr val="F5F0EB"/>
                </a:solidFill>
                <a:latin typeface="Pretendard"/>
                <a:ea typeface="Pretendard"/>
              </a:rPr>
              <a:t>이번 전시가 향하는 곳 — 헤리티지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01318"/>
            <a:ext cx="9966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7A7570"/>
                </a:solidFill>
                <a:latin typeface="Pretendard"/>
                <a:ea typeface="Pretendard"/>
              </a:rPr>
              <a:t>이번 GUBI 전시는 신제품 진열이 아니라, 브랜드의 헤리티지 그 자체에 초점을 맞춥니다.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7A7570"/>
                </a:solidFill>
                <a:latin typeface="Pretendard"/>
                <a:ea typeface="Pretendard"/>
              </a:rPr>
              <a:t>질문은 하나입니다 — 이 헤리티지를 가장 설득력 있게 보여줄 장소는 어디인가.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611880"/>
            <a:ext cx="10543032" cy="1188720"/>
          </a:xfrm>
          <a:prstGeom prst="roundRect">
            <a:avLst>
              <a:gd name="adj" fmla="val 5000"/>
            </a:avLst>
          </a:prstGeom>
          <a:solidFill>
            <a:srgbClr val="2A2540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THE CORE QUESTION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</a:rPr>
              <a:t>헤리티지를 다루는 전시는, 헤리티지가 살아있는 장소에서 열릴 때 가장 강력합니다. 화이트큐브가 아니라 시간이 축적된 맥락 안에 놓일 때 GUBI의 철학은 비로소 증명됩니다.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983480"/>
            <a:ext cx="3332378" cy="141732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7A7570"/>
                </a:solidFill>
                <a:latin typeface="Pretendard"/>
                <a:ea typeface="Pretendard"/>
              </a:rPr>
              <a:t>NOT THIS</a:t>
            </a:r>
          </a:p>
          <a:p>
            <a:pPr>
              <a:lnSpc>
                <a:spcPct val="110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</a:rPr>
              <a:t>또 하나의 쇼룸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깨끗한 갤러리에 가구를 놓는 전시는 이미 많습니다. 맥락이 없으면 헤리티지는 "오래된 디자인"으로 소비됩니다.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9658" y="4983480"/>
            <a:ext cx="3332378" cy="141732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7A7570"/>
                </a:solidFill>
                <a:latin typeface="Pretendard"/>
                <a:ea typeface="Pretendard"/>
              </a:rPr>
              <a:t>BUT THIS</a:t>
            </a:r>
          </a:p>
          <a:p>
            <a:pPr>
              <a:lnSpc>
                <a:spcPct val="110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</a:rPr>
              <a:t>맥락 속의 헤리티지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오래된 것과 새 해석이 공존하는 동네에서, GUBI의 발굴·재해석 철학은 장소 자체로 설명됩니다.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6356" y="4983480"/>
            <a:ext cx="3332378" cy="1417320"/>
          </a:xfrm>
          <a:prstGeom prst="roundRect">
            <a:avLst>
              <a:gd name="adj" fmla="val 5000"/>
            </a:avLst>
          </a:prstGeom>
          <a:solidFill>
            <a:srgbClr val="2A2540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THE ANSWER</a:t>
            </a:r>
          </a:p>
          <a:p>
            <a:pPr>
              <a:lnSpc>
                <a:spcPct val="110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</a:rPr>
              <a:t>답십리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서울에서 "잊혀진 것이 다시 발견되는" 유일한 동네. GUBI 철학과 물리적으로 일치합니다.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A7570"/>
                </a:solidFill>
                <a:latin typeface="Pretendard"/>
                <a:ea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303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A29BFE"/>
                </a:solidFill>
                <a:latin typeface="Pretendard"/>
                <a:ea typeface="Pretendard"/>
              </a:rPr>
              <a:t>ABOUT PROJECT 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56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700" b="1">
                <a:solidFill>
                  <a:srgbClr val="F5F0EB"/>
                </a:solidFill>
                <a:latin typeface="Pretendard"/>
                <a:ea typeface="Pretendard"/>
              </a:rPr>
              <a:t>We Build Brands, Not Just Spaces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01318"/>
            <a:ext cx="9966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7A7570"/>
                </a:solidFill>
                <a:latin typeface="Pretendard"/>
                <a:ea typeface="Pretendard"/>
              </a:rPr>
              <a:t>Project Rent는 단순 공간 운영사가 아닙니다. 매장을 "판매처"가 아니라 "미디어"로 설계하는</a:t>
            </a:r>
          </a:p>
          <a:p>
            <a:pPr>
              <a:lnSpc>
                <a:spcPct val="130000"/>
              </a:lnSpc>
            </a:pPr>
            <a:r>
              <a:rPr sz="1300" b="0">
                <a:solidFill>
                  <a:srgbClr val="7A7570"/>
                </a:solidFill>
                <a:latin typeface="Pretendard"/>
                <a:ea typeface="Pretendard"/>
              </a:rPr>
              <a:t>리테일 미디어 플랫폼이자, 브랜드를 직접 만들고 운영하며 성장시키는 브랜드 빌더입니다.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611880"/>
            <a:ext cx="2430703" cy="118872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5F0EB"/>
                </a:solidFill>
                <a:latin typeface="Pretendard"/>
                <a:ea typeface="Pretendard"/>
              </a:rPr>
              <a:t>브랜드 전략·컨설팅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브랜드의 본질을 정의하고 메시지를 설계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7983" y="3611880"/>
            <a:ext cx="2430703" cy="118872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5F0EB"/>
                </a:solidFill>
                <a:latin typeface="Pretendard"/>
                <a:ea typeface="Pretendard"/>
              </a:rPr>
              <a:t>공간 기획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공간을 콘텐츠이자 채널로 디자인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3611880"/>
            <a:ext cx="2430703" cy="118872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5F0EB"/>
                </a:solidFill>
                <a:latin typeface="Pretendard"/>
                <a:ea typeface="Pretendard"/>
              </a:rPr>
              <a:t>콘텐츠 제작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에디토리얼 문법으로 스토리 전달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38031" y="3611880"/>
            <a:ext cx="2430703" cy="118872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5F0EB"/>
                </a:solidFill>
                <a:latin typeface="Pretendard"/>
                <a:ea typeface="Pretendard"/>
              </a:rPr>
              <a:t>실제 매장 운영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기획을 넘어 직접 운영·성과측정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983480"/>
            <a:ext cx="3332378" cy="1417320"/>
          </a:xfrm>
          <a:prstGeom prst="roundRect">
            <a:avLst>
              <a:gd name="adj" fmla="val 5000"/>
            </a:avLst>
          </a:prstGeom>
          <a:solidFill>
            <a:srgbClr val="2A2540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RETAIL AS MEDIA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</a:rPr>
              <a:t>공간이 곧 콘텐츠이자 채널. 매장을 미디어 자산으로 운용합니다.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9658" y="4983480"/>
            <a:ext cx="3332378" cy="1417320"/>
          </a:xfrm>
          <a:prstGeom prst="roundRect">
            <a:avLst>
              <a:gd name="adj" fmla="val 5000"/>
            </a:avLst>
          </a:prstGeom>
          <a:solidFill>
            <a:srgbClr val="2A2540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EDITORIAL DISCIPLINE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</a:rPr>
              <a:t>Dezeen·Wallpaper* 톤의 매거진 문법으로 브랜드를 편집합니다.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6356" y="4983480"/>
            <a:ext cx="3332378" cy="1417320"/>
          </a:xfrm>
          <a:prstGeom prst="roundRect">
            <a:avLst>
              <a:gd name="adj" fmla="val 5000"/>
            </a:avLst>
          </a:prstGeom>
          <a:solidFill>
            <a:srgbClr val="2A2540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MODULAR SCALABILITY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</a:rPr>
              <a:t>단발 팝업이 아닌 반복 가능한 모듈형 플랫폼으로 확장합니다.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A7570"/>
                </a:solidFill>
                <a:latin typeface="Pretendard"/>
                <a:ea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303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A29BFE"/>
                </a:solidFill>
                <a:latin typeface="Pretendard"/>
                <a:ea typeface="Pretendard"/>
              </a:rPr>
              <a:t>PROVEN THROUGH REAL PROJECTS —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56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700" b="1">
                <a:solidFill>
                  <a:srgbClr val="F5F0EB"/>
                </a:solidFill>
                <a:latin typeface="Pretendard"/>
                <a:ea typeface="Pretendard"/>
              </a:rPr>
              <a:t>성수동 팝업 문화를 만들어낸 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01318"/>
            <a:ext cx="9966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7A7570"/>
                </a:solidFill>
                <a:latin typeface="Pretendard"/>
                <a:ea typeface="Pretendard"/>
              </a:rPr>
              <a:t>"성수동을 어떻게 할까"가 아니라, 성수동을 팝업의 거리로 만든 시작점이 Project Rent였습니다.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383280"/>
            <a:ext cx="6583680" cy="155448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2019 — 분기점</a:t>
            </a:r>
          </a:p>
          <a:p>
            <a:pPr>
              <a:lnSpc>
                <a:spcPct val="110000"/>
              </a:lnSpc>
            </a:pPr>
            <a:r>
              <a:rPr sz="1800" b="1">
                <a:solidFill>
                  <a:srgbClr val="F5F0EB"/>
                </a:solidFill>
                <a:latin typeface="Pretendard"/>
                <a:ea typeface="Pretendard"/>
              </a:rPr>
              <a:t>가나초콜릿하우스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</a:rPr>
              <a:t>이 프로젝트 이전 성수동의 팝업은 분기당 3~4개. 이후 분기당 40~50개로 폭증하며 "성수동 팝업 시대"가 열렸습니다. Project Rent는 그 흐름을 만든 1세대 기획자입니다.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6583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대표 최원석은 KBS로부터 "성수동의 스티브 잡스"로 소개되었습니다. "성수동을 잡지 같은 거리로 만들겠다"는 비전 아래 작은 공간을 팝업의 성지로 바꿔왔습니다.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3383280"/>
            <a:ext cx="2907792" cy="82296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/>
            <a:r>
              <a:rPr sz="2400" b="1">
                <a:solidFill>
                  <a:srgbClr val="6C5CE7"/>
                </a:solidFill>
                <a:latin typeface="Pretendard"/>
                <a:ea typeface="Pretendard"/>
              </a:rPr>
              <a:t>250+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7A7570"/>
                </a:solidFill>
                <a:latin typeface="Pretendard"/>
                <a:ea typeface="Pretendard"/>
              </a:rPr>
              <a:t>누적 기획·운영 팝업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4315968"/>
            <a:ext cx="2907792" cy="82296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/>
            <a:r>
              <a:rPr sz="2400" b="1">
                <a:solidFill>
                  <a:srgbClr val="6C5CE7"/>
                </a:solidFill>
                <a:latin typeface="Pretendard"/>
                <a:ea typeface="Pretendard"/>
              </a:rPr>
              <a:t>60억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7A7570"/>
                </a:solidFill>
                <a:latin typeface="Pretendard"/>
                <a:ea typeface="Pretendard"/>
              </a:rPr>
              <a:t>누적 계약 실적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5248656"/>
            <a:ext cx="2907792" cy="82296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/>
            <a:r>
              <a:rPr sz="1700" b="1">
                <a:solidFill>
                  <a:srgbClr val="6C5CE7"/>
                </a:solidFill>
                <a:latin typeface="Pretendard"/>
                <a:ea typeface="Pretendard"/>
              </a:rPr>
              <a:t>특허 IP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7A7570"/>
                </a:solidFill>
                <a:latin typeface="Pretendard"/>
                <a:ea typeface="Pretendard"/>
              </a:rPr>
              <a:t>RXR 성과측정 · 제10-2545502호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클라이언트: 현대자동차 · 매일유업 · 오비맥주 · 롯데웰푸드 · 배달의민족 · Apple TV+ (파친코2) · 한국관광공사 · KOCCA 더셀렉츠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A7570"/>
                </a:solidFill>
                <a:latin typeface="Pretendard"/>
                <a:ea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303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A29BFE"/>
                </a:solidFill>
                <a:latin typeface="Pretendard"/>
                <a:ea typeface="Pretendard"/>
              </a:rPr>
              <a:t>PROVEN THROUGH REAL PROJECTS —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56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700" b="1">
                <a:solidFill>
                  <a:srgbClr val="F5F0EB"/>
                </a:solidFill>
                <a:latin typeface="Pretendard"/>
                <a:ea typeface="Pretendard"/>
              </a:rPr>
              <a:t>그리고 지금, 답십리 — 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01318"/>
            <a:ext cx="9966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7A7570"/>
                </a:solidFill>
                <a:latin typeface="Pretendard"/>
                <a:ea typeface="Pretendard"/>
              </a:rPr>
              <a:t>Project Rent는 성수동에서 그치지 않았습니다. 답십리에서 of를 직접 기획·운영하며 그 동네의 새로운 분위기를 만들어내고 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657600"/>
            <a:ext cx="5074920" cy="2468880"/>
          </a:xfrm>
          <a:prstGeom prst="roundRect">
            <a:avLst>
              <a:gd name="adj" fmla="val 5000"/>
            </a:avLst>
          </a:prstGeom>
          <a:solidFill>
            <a:srgbClr val="2A2540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of — 답십리 · @ofjec_t</a:t>
            </a:r>
          </a:p>
          <a:p>
            <a:pPr>
              <a:lnSpc>
                <a:spcPct val="110000"/>
              </a:lnSpc>
            </a:pPr>
            <a:r>
              <a:rPr sz="1800" b="1">
                <a:solidFill>
                  <a:srgbClr val="F5F0EB"/>
                </a:solidFill>
                <a:latin typeface="Pretendard"/>
                <a:ea typeface="Pretendard"/>
              </a:rPr>
              <a:t>론칭 3개월 만에</a:t>
            </a:r>
          </a:p>
          <a:p>
            <a:pPr>
              <a:lnSpc>
                <a:spcPct val="110000"/>
              </a:lnSpc>
            </a:pPr>
            <a:r>
              <a:rPr sz="1800" b="1">
                <a:solidFill>
                  <a:srgbClr val="F5F0EB"/>
                </a:solidFill>
                <a:latin typeface="Pretendard"/>
                <a:ea typeface="Pretendard"/>
              </a:rPr>
              <a:t>서울의 로컬 핫스팟으로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</a:rPr>
              <a:t>Project Rent가 직접 기획·운영한 of는 론칭 후 단 3개월 만에 서울 디자인 업계·크리에이터 그룹·F&amp;B 커뮤니티 사이에서 빠르게 입소문을 형성하며 답십리의 새 핫스팟으로 자리잡았습니다.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657600"/>
            <a:ext cx="5074920" cy="246888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이것이 의미하는 것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답십리가 뜨는 동네가 된 데에는 이유가 있습니다 — 그 분위기를 우리가 직접 설계하고 팔았기 때문입니다.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/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GUBI에게 답십리를 제안하는 우리는 외부 에이전시가 아니라, 답십리의 지금을 만든 당사자입니다.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A7570"/>
                </a:solidFill>
                <a:latin typeface="Pretendard"/>
                <a:ea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303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A29BFE"/>
                </a:solidFill>
                <a:latin typeface="Pretendard"/>
                <a:ea typeface="Pretendard"/>
              </a:rPr>
              <a:t>OUR DIFFERENCE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021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000" b="1">
                <a:solidFill>
                  <a:srgbClr val="F5F0EB"/>
                </a:solidFill>
                <a:latin typeface="Pretendard"/>
                <a:ea typeface="Pretendard"/>
              </a:rPr>
              <a:t>우리는 제품을 진열하지 않습니다.</a:t>
            </a:r>
          </a:p>
          <a:p>
            <a:pPr>
              <a:lnSpc>
                <a:spcPct val="106000"/>
              </a:lnSpc>
            </a:pPr>
            <a:r>
              <a:rPr sz="3000" b="1">
                <a:solidFill>
                  <a:srgbClr val="F5F0EB"/>
                </a:solidFill>
                <a:latin typeface="Pretendard"/>
                <a:ea typeface="Pretendard"/>
              </a:rPr>
              <a:t>맥락 속에 위치시킵니다.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566160"/>
            <a:ext cx="5074920" cy="173736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대부분의 전시</a:t>
            </a:r>
          </a:p>
          <a:p>
            <a:pPr>
              <a:lnSpc>
                <a:spcPct val="110000"/>
              </a:lnSpc>
            </a:pPr>
            <a:r>
              <a:rPr sz="2000" b="1">
                <a:solidFill>
                  <a:srgbClr val="F5F0EB"/>
                </a:solidFill>
                <a:latin typeface="Pretendard"/>
                <a:ea typeface="Pretendard"/>
              </a:rPr>
              <a:t>"무엇을 보여줄까"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</a:rPr>
              <a:t>제품을 공간에 배치합니다. 멋진 사진은 남지만, 왜 이곳이어야 했는지는 남지 않습니다.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3566160"/>
            <a:ext cx="5074920" cy="1737360"/>
          </a:xfrm>
          <a:prstGeom prst="roundRect">
            <a:avLst>
              <a:gd name="adj" fmla="val 5000"/>
            </a:avLst>
          </a:prstGeom>
          <a:solidFill>
            <a:srgbClr val="2A2540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PROJECT RENT</a:t>
            </a:r>
          </a:p>
          <a:p>
            <a:pPr>
              <a:lnSpc>
                <a:spcPct val="110000"/>
              </a:lnSpc>
            </a:pPr>
            <a:r>
              <a:rPr sz="1800" b="1">
                <a:solidFill>
                  <a:srgbClr val="F5F0EB"/>
                </a:solidFill>
                <a:latin typeface="Pretendard"/>
                <a:ea typeface="Pretendard"/>
              </a:rPr>
              <a:t>"왜 이 장소에서</a:t>
            </a:r>
          </a:p>
          <a:p>
            <a:pPr>
              <a:lnSpc>
                <a:spcPct val="110000"/>
              </a:lnSpc>
            </a:pPr>
            <a:r>
              <a:rPr sz="1800" b="1">
                <a:solidFill>
                  <a:srgbClr val="F5F0EB"/>
                </a:solidFill>
                <a:latin typeface="Pretendard"/>
                <a:ea typeface="Pretendard"/>
              </a:rPr>
              <a:t>이 브랜드가 이야기되는가"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</a:rPr>
              <a:t>브랜드와 장소가 서로를 설명하게 만듭니다. 전시가 끝나도 "그 동네의 그 경험"으로 기억됩니다.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532120"/>
            <a:ext cx="10543032" cy="777240"/>
          </a:xfrm>
          <a:prstGeom prst="roundRect">
            <a:avLst>
              <a:gd name="adj" fmla="val 5000"/>
            </a:avLst>
          </a:prstGeom>
          <a:solidFill>
            <a:srgbClr val="2A2540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F5F0EB"/>
                </a:solidFill>
                <a:latin typeface="Pretendard"/>
                <a:ea typeface="Pretendard"/>
              </a:rPr>
              <a:t>We don't build exhibitions.  We create context.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A7570"/>
                </a:solidFill>
                <a:latin typeface="Pretendard"/>
                <a:ea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303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A29BFE"/>
                </a:solidFill>
                <a:latin typeface="Pretendard"/>
                <a:ea typeface="Pretendard"/>
              </a:rPr>
              <a:t>WHY DAPSIMNI —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56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700" b="1">
                <a:solidFill>
                  <a:srgbClr val="F5F0EB"/>
                </a:solidFill>
                <a:latin typeface="Pretendard"/>
                <a:ea typeface="Pretendard"/>
              </a:rPr>
              <a:t>서울의 숨겨진 헤리티지 디스트릭트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01318"/>
            <a:ext cx="9966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7A7570"/>
                </a:solidFill>
                <a:latin typeface="Pretendard"/>
                <a:ea typeface="Pretendard"/>
              </a:rPr>
              <a:t>답십리는 서울에서도 가장 독특한 역사를 가진 지역 — 오래된 물건들이 새로운 주인을 만나기 위해 모여드는 곳.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520440"/>
            <a:ext cx="2430703" cy="128016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</a:rPr>
              <a:t>고가구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시간이 깃든 목가구가 모이는 거리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7983" y="3520440"/>
            <a:ext cx="2430703" cy="128016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</a:rPr>
              <a:t>골동품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서울 최대의 고미술·골동 상권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3520440"/>
            <a:ext cx="2430703" cy="128016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</a:rPr>
              <a:t>수집 문화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가치를 알아보는 사람들의 네트워크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38031" y="3520440"/>
            <a:ext cx="2430703" cy="128016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</a:rPr>
              <a:t>장인 문화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복원하고 되살리는 손의 기술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029200"/>
            <a:ext cx="10543032" cy="1280160"/>
          </a:xfrm>
          <a:prstGeom prst="roundRect">
            <a:avLst>
              <a:gd name="adj" fmla="val 5000"/>
            </a:avLst>
          </a:prstGeom>
          <a:solidFill>
            <a:srgbClr val="2A2540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THE HIDDEN PARALLEL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300" b="0">
                <a:solidFill>
                  <a:srgbClr val="C9C2BA"/>
                </a:solidFill>
                <a:latin typeface="Pretendard"/>
                <a:ea typeface="Pretendard"/>
              </a:rPr>
              <a:t>답십리는 서울에서 "잊혀진 것의 가치가 다시 발견되는" 거의 유일한 동네입니다. 오래된 물건이 버려지지 않고 누군가의 안목에 의해 다시 살아나는 곳 — 이것은 GUBI가 하는 일과 정확히 같습니다.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A7570"/>
                </a:solidFill>
                <a:latin typeface="Pretendard"/>
                <a:ea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303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A29BFE"/>
                </a:solidFill>
                <a:latin typeface="Pretendard"/>
                <a:ea typeface="Pretendard"/>
              </a:rPr>
              <a:t>WHY DAPSIMNI —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56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700" b="1">
                <a:solidFill>
                  <a:srgbClr val="F5F0EB"/>
                </a:solidFill>
                <a:latin typeface="Pretendard"/>
                <a:ea typeface="Pretendard"/>
              </a:rPr>
              <a:t>예상치 못한 크리에이티브 디스트릭트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01318"/>
            <a:ext cx="9966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7A7570"/>
                </a:solidFill>
                <a:latin typeface="Pretendard"/>
                <a:ea typeface="Pretendard"/>
              </a:rPr>
              <a:t>답십리는 과거를 보존하는 장소가 아니라, 과거를 현재의 문화로 재해석하는 장소로 진화하고 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611880"/>
            <a:ext cx="3332378" cy="182880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7A7570"/>
                </a:solidFill>
                <a:latin typeface="Pretendard"/>
                <a:ea typeface="Pretendard"/>
              </a:rPr>
              <a:t>NEW GENERATION</a:t>
            </a:r>
          </a:p>
          <a:p>
            <a:pPr>
              <a:lnSpc>
                <a:spcPct val="110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</a:rPr>
              <a:t>젊은 크리에이터의 재발견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</a:rPr>
              <a:t>젊은 디자이너·크리에이터가 다시 주목하는 지역. 과거의 시간성과 새 문화가 공존합니다.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9658" y="3611880"/>
            <a:ext cx="3332378" cy="182880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7A7570"/>
                </a:solidFill>
                <a:latin typeface="Pretendard"/>
                <a:ea typeface="Pretendard"/>
              </a:rPr>
              <a:t>GLOBAL ATTENTION</a:t>
            </a:r>
          </a:p>
          <a:p>
            <a:pPr>
              <a:lnSpc>
                <a:spcPct val="110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</a:rPr>
              <a:t>해외 크리에이터의 방문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</a:rPr>
              <a:t>이제 로컬만의 공간이 아닙니다. 해외 방문객과 크리에이터가 꾸준히 답십리를 찾습니다.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36356" y="3611880"/>
            <a:ext cx="3332378" cy="1828800"/>
          </a:xfrm>
          <a:prstGeom prst="roundRect">
            <a:avLst>
              <a:gd name="adj" fmla="val 5000"/>
            </a:avLst>
          </a:prstGeom>
          <a:solidFill>
            <a:srgbClr val="2A2540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CULTURAL EXPERIMENT</a:t>
            </a:r>
          </a:p>
          <a:p>
            <a:pPr>
              <a:lnSpc>
                <a:spcPct val="110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</a:rPr>
              <a:t>of의 DJ 세션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</a:rPr>
              <a:t>유명 DJ가 of에서 직접 디제잉 세션을 진행하는 등 새로운 문화 실험이 이어집니다.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623560"/>
            <a:ext cx="10543032" cy="685800"/>
          </a:xfrm>
          <a:prstGeom prst="roundRect">
            <a:avLst>
              <a:gd name="adj" fmla="val 5000"/>
            </a:avLst>
          </a:prstGeom>
          <a:solidFill>
            <a:srgbClr val="2A2540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F5F0EB"/>
                </a:solidFill>
                <a:latin typeface="Pretendard"/>
                <a:ea typeface="Pretendard"/>
              </a:rPr>
              <a:t>답십리는 과거를 박제하는 곳이 아니라, 과거를 현재의 언어로 다시 쓰는 곳입니다.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A7570"/>
                </a:solidFill>
                <a:latin typeface="Pretendard"/>
                <a:ea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303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6C5CE7"/>
                </a:solidFill>
                <a:latin typeface="Pretendard"/>
                <a:ea typeface="Pretendard"/>
              </a:rPr>
              <a:t>WHY GUBI FITS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657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3400" b="1">
                <a:solidFill>
                  <a:srgbClr val="F5F0EB"/>
                </a:solidFill>
                <a:latin typeface="Pretendard"/>
                <a:ea typeface="Pretendard"/>
              </a:rPr>
              <a:t>Heritage Meets Heritage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99108"/>
            <a:ext cx="9966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7A7570"/>
                </a:solidFill>
                <a:latin typeface="Pretendard"/>
                <a:ea typeface="Pretendard"/>
              </a:rPr>
              <a:t>GUBI와 답십리는 같은 일을 합니다 — 잊혀진 것의 가치를 다시 발견하고, 현재의 감각으로 되살리는 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749039"/>
            <a:ext cx="4572000" cy="1783080"/>
          </a:xfrm>
          <a:prstGeom prst="roundRect">
            <a:avLst>
              <a:gd name="adj" fmla="val 5000"/>
            </a:avLst>
          </a:prstGeom>
          <a:solidFill>
            <a:srgbClr val="2C2719"/>
          </a:solidFill>
          <a:ln w="9525">
            <a:solidFill>
              <a:srgbClr val="C8A8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C8A86A"/>
                </a:solidFill>
                <a:latin typeface="Pretendard"/>
                <a:ea typeface="Pretendard"/>
              </a:rPr>
              <a:t>GUBI</a:t>
            </a:r>
          </a:p>
          <a:p>
            <a:pPr>
              <a:lnSpc>
                <a:spcPct val="110000"/>
              </a:lnSpc>
            </a:pPr>
            <a:r>
              <a:rPr sz="1800" b="1">
                <a:solidFill>
                  <a:srgbClr val="F5F0EB"/>
                </a:solidFill>
                <a:latin typeface="Pretendard"/>
                <a:ea typeface="Pretendard"/>
              </a:rPr>
              <a:t>Design Heritage</a:t>
            </a:r>
          </a:p>
          <a:p>
            <a:pPr>
              <a:lnSpc>
                <a:spcPct val="110000"/>
              </a:lnSpc>
            </a:pPr>
            <a:r>
              <a:rPr sz="1800" b="1">
                <a:solidFill>
                  <a:srgbClr val="F5F0EB"/>
                </a:solidFill>
                <a:latin typeface="Pretendard"/>
                <a:ea typeface="Pretendard"/>
              </a:rPr>
              <a:t>Reimagined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</a:rPr>
              <a:t>잊혀진 20세기 디자인 아이콘을 아카이브에서 발굴해 현대 감각으로 되살린다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40680" y="3749039"/>
            <a:ext cx="1307592" cy="1783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7A7570"/>
                </a:solidFill>
                <a:latin typeface="Pretendard"/>
                <a:ea typeface="Pretendard"/>
              </a:rPr>
              <a:t>MEETS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93992" y="3749039"/>
            <a:ext cx="4572000" cy="1783080"/>
          </a:xfrm>
          <a:prstGeom prst="roundRect">
            <a:avLst>
              <a:gd name="adj" fmla="val 5000"/>
            </a:avLst>
          </a:prstGeom>
          <a:solidFill>
            <a:srgbClr val="2A2540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DAPSIMNI</a:t>
            </a:r>
          </a:p>
          <a:p>
            <a:pPr>
              <a:lnSpc>
                <a:spcPct val="110000"/>
              </a:lnSpc>
            </a:pPr>
            <a:r>
              <a:rPr sz="1800" b="1">
                <a:solidFill>
                  <a:srgbClr val="F5F0EB"/>
                </a:solidFill>
                <a:latin typeface="Pretendard"/>
                <a:ea typeface="Pretendard"/>
              </a:rPr>
              <a:t>Cultural Heritage</a:t>
            </a:r>
          </a:p>
          <a:p>
            <a:pPr>
              <a:lnSpc>
                <a:spcPct val="110000"/>
              </a:lnSpc>
            </a:pPr>
            <a:r>
              <a:rPr sz="1800" b="1">
                <a:solidFill>
                  <a:srgbClr val="F5F0EB"/>
                </a:solidFill>
                <a:latin typeface="Pretendard"/>
                <a:ea typeface="Pretendard"/>
              </a:rPr>
              <a:t>Reimagined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100" b="0">
                <a:solidFill>
                  <a:srgbClr val="7A7570"/>
                </a:solidFill>
                <a:latin typeface="Pretendard"/>
                <a:ea typeface="Pretendard"/>
              </a:rPr>
              <a:t>오래된 물건과 시간성을 새로운 세대의 안목으로 다시 발견하고 재해석한다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715000"/>
            <a:ext cx="10543032" cy="713232"/>
          </a:xfrm>
          <a:prstGeom prst="roundRect">
            <a:avLst>
              <a:gd name="adj" fmla="val 5000"/>
            </a:avLst>
          </a:prstGeom>
          <a:solidFill>
            <a:srgbClr val="2A2540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F5F0EB"/>
                </a:solidFill>
                <a:latin typeface="Pretendard"/>
                <a:ea typeface="Pretendard"/>
              </a:rPr>
              <a:t>GUBI는 답십리를 설명하고, 답십리는 GUBI를 증명합니다.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A7570"/>
                </a:solidFill>
                <a:latin typeface="Pretendard"/>
                <a:ea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303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A29BFE"/>
                </a:solidFill>
                <a:latin typeface="Pretendard"/>
                <a:ea typeface="Pretendard"/>
              </a:rPr>
              <a:t>EXHIBITION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56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700" b="1">
                <a:solidFill>
                  <a:srgbClr val="F5F0EB"/>
                </a:solidFill>
                <a:latin typeface="Pretendard"/>
                <a:ea typeface="Pretendard"/>
              </a:rPr>
              <a:t>GUBI Across Dapsimni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01318"/>
            <a:ext cx="9966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7A7570"/>
                </a:solidFill>
                <a:latin typeface="Pretendard"/>
                <a:ea typeface="Pretendard"/>
              </a:rPr>
              <a:t>하나의 전시장에 모든 것을 담는 대신, 답십리 동네 전체를 하나의 전시 경험으로 구성합니다.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611880"/>
            <a:ext cx="5074920" cy="246888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관람이 아니라 탐험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방문객은 하나의 전시장을 둘러보는 것이 아니라, 답십리라는 동네 자체를 걸으며 GUBI의 세계관을 경험합니다. 골동품 거리를 지나 GUBI 헤리티지 컬렉션을 만나는 동선 자체가 전시의 내러티브가 됩니다.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/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"전시장을 관람하는 것이 아니라, 동네를 탐험하며 브랜드를 만난다."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63640" y="3611880"/>
          <a:ext cx="50749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15468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7A7570"/>
                          </a:solidFill>
                          <a:latin typeface="Pretendard"/>
                          <a:ea typeface="Pretendard"/>
                        </a:rPr>
                        <a:t>거점</a:t>
                      </a:r>
                    </a:p>
                  </a:txBody>
                  <a:tcPr marL="109728" marT="36576" marB="36576" anchor="ctr"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7A7570"/>
                          </a:solidFill>
                          <a:latin typeface="Pretendard"/>
                          <a:ea typeface="Pretendard"/>
                        </a:rPr>
                        <a:t>역할</a:t>
                      </a:r>
                    </a:p>
                  </a:txBody>
                  <a:tcPr marL="109728" marT="36576" marB="36576" anchor="ctr">
                    <a:solidFill>
                      <a:srgbClr val="111111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5F0EB"/>
                          </a:solidFill>
                          <a:latin typeface="Pretendard"/>
                          <a:ea typeface="Pretendard"/>
                        </a:rPr>
                        <a:t>두손갤러리</a:t>
                      </a:r>
                    </a:p>
                  </a:txBody>
                  <a:tcPr marL="109728" marT="36576" marB="36576" anchor="ctr"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7A7570"/>
                          </a:solidFill>
                          <a:latin typeface="Pretendard"/>
                          <a:ea typeface="Pretendard"/>
                        </a:rPr>
                        <a:t>메인 전시 · 헤리티지 아카이브</a:t>
                      </a:r>
                    </a:p>
                  </a:txBody>
                  <a:tcPr marL="109728" marT="36576" marB="36576" anchor="ctr">
                    <a:solidFill>
                      <a:srgbClr val="1A1A1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5F0EB"/>
                          </a:solidFill>
                          <a:latin typeface="Pretendard"/>
                          <a:ea typeface="Pretendard"/>
                        </a:rPr>
                        <a:t>고복희</a:t>
                      </a:r>
                    </a:p>
                  </a:txBody>
                  <a:tcPr marL="109728" marT="36576" marB="36576" anchor="ctr"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7A7570"/>
                          </a:solidFill>
                          <a:latin typeface="Pretendard"/>
                          <a:ea typeface="Pretendard"/>
                        </a:rPr>
                        <a:t>디자인 오브제 · 스토리텔링</a:t>
                      </a:r>
                    </a:p>
                  </a:txBody>
                  <a:tcPr marL="109728" marT="36576" marB="36576" anchor="ctr">
                    <a:solidFill>
                      <a:srgbClr val="1A1A1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5F0EB"/>
                          </a:solidFill>
                          <a:latin typeface="Pretendard"/>
                          <a:ea typeface="Pretendard"/>
                        </a:rPr>
                        <a:t>of  @ofjec_t</a:t>
                      </a:r>
                    </a:p>
                  </a:txBody>
                  <a:tcPr marL="109728" marT="36576" marB="36576" anchor="ctr"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7A7570"/>
                          </a:solidFill>
                          <a:latin typeface="Pretendard"/>
                          <a:ea typeface="Pretendard"/>
                        </a:rPr>
                        <a:t>라이프스타일 · 커뮤니티</a:t>
                      </a:r>
                    </a:p>
                  </a:txBody>
                  <a:tcPr marL="109728" marT="36576" marB="36576" anchor="ctr">
                    <a:solidFill>
                      <a:srgbClr val="1A1A1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5F0EB"/>
                          </a:solidFill>
                          <a:latin typeface="Pretendard"/>
                          <a:ea typeface="Pretendard"/>
                        </a:rPr>
                        <a:t>호박</a:t>
                      </a:r>
                    </a:p>
                  </a:txBody>
                  <a:tcPr marL="109728" marT="36576" marB="36576" anchor="ctr">
                    <a:solidFill>
                      <a:srgbClr val="1A1A1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7A7570"/>
                          </a:solidFill>
                          <a:latin typeface="Pretendard"/>
                          <a:ea typeface="Pretendard"/>
                        </a:rPr>
                        <a:t>디자이너 인터뷰 · 브랜드 필름</a:t>
                      </a:r>
                    </a:p>
                  </a:txBody>
                  <a:tcPr marL="109728" marT="36576" marB="36576" anchor="ctr"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63640" y="5943600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>
                <a:solidFill>
                  <a:srgbClr val="D9A34B"/>
                </a:solidFill>
                <a:latin typeface="Pretendard"/>
                <a:ea typeface="Pretendard"/>
              </a:rPr>
              <a:t>※ 각 거점 상세는 다음 페이지 — 현재 업데이트 예정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A7570"/>
                </a:solidFill>
                <a:latin typeface="Pretendard"/>
                <a:ea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168335" y="457200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2C2719"/>
          </a:solidFill>
          <a:ln w="12700">
            <a:solidFill>
              <a:srgbClr val="D9A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D9A34B"/>
                </a:solidFill>
                <a:latin typeface="Pretendard"/>
                <a:ea typeface="Pretendard"/>
              </a:rPr>
              <a:t>🔄 UPDATE PENDING — 정보 업데이트 예정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3035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A29BFE"/>
                </a:solidFill>
                <a:latin typeface="Pretendard"/>
                <a:ea typeface="Pretendard"/>
              </a:rPr>
              <a:t>MAIN EXHIBITION — VENUE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3268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F5F0EB"/>
                </a:solidFill>
                <a:latin typeface="Pretendard"/>
                <a:ea typeface="Pretendard"/>
              </a:rPr>
              <a:t>두손갤러리  </a:t>
            </a:r>
            <a:r>
              <a:rPr sz="1800" b="0">
                <a:solidFill>
                  <a:srgbClr val="7A7570"/>
                </a:solidFill>
                <a:latin typeface="Pretendard"/>
                <a:ea typeface="Pretendard"/>
              </a:rPr>
              <a:t>Duson Gallery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7A7570"/>
                </a:solidFill>
                <a:latin typeface="Pretendard"/>
                <a:ea typeface="Pretendard"/>
              </a:rPr>
              <a:t>약 200평 규모의 메인 전시 공간. GUBI 헤리티지의 중심 무대.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926080"/>
            <a:ext cx="5074920" cy="274320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이 공간의 역할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•  GUBI 메인 전시 — 대표 헤리티지 컬렉션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•  브랜드 히스토리 &amp; 디자인 아카이브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•  메인 콘텐츠 프로그램의 중심 무대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•  약 200평 — 동선의 시작점이자 절정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926080"/>
            <a:ext cx="5074920" cy="274320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 w="9525">
            <a:solidFill>
              <a:srgbClr val="D9A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D9A34B"/>
                </a:solidFill>
                <a:latin typeface="Pretendard"/>
                <a:ea typeface="Pretendard"/>
              </a:rPr>
              <a:t>🔄 업데이트 예정 항목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· 정확한 면적·층고·공간 사진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· 전시 구성안·동선 다이어그램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· 전시 컬렉션 리스트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· 프로그램 스케줄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/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자리표시용 페이지입니다. 확정 정보를 받아 업데이트합니다.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A7570"/>
                </a:solidFill>
                <a:latin typeface="Pretendard"/>
                <a:ea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168335" y="457200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2C2719"/>
          </a:solidFill>
          <a:ln w="12700">
            <a:solidFill>
              <a:srgbClr val="D9A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D9A34B"/>
                </a:solidFill>
                <a:latin typeface="Pretendard"/>
                <a:ea typeface="Pretendard"/>
              </a:rPr>
              <a:t>🔄 UPDATE PENDING — 정보 업데이트 예정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3035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A29BFE"/>
                </a:solidFill>
                <a:latin typeface="Pretendard"/>
                <a:ea typeface="Pretendard"/>
              </a:rPr>
              <a:t>SPECIAL VENUE —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3268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F5F0EB"/>
                </a:solidFill>
                <a:latin typeface="Pretendard"/>
                <a:ea typeface="Pretendard"/>
              </a:rPr>
              <a:t>고복희  </a:t>
            </a:r>
            <a:r>
              <a:rPr sz="1800" b="0">
                <a:solidFill>
                  <a:srgbClr val="7A7570"/>
                </a:solidFill>
                <a:latin typeface="Pretendard"/>
                <a:ea typeface="Pretendard"/>
              </a:rPr>
              <a:t>GOBOKI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7A7570"/>
                </a:solidFill>
                <a:latin typeface="Pretendard"/>
                <a:ea typeface="Pretendard"/>
              </a:rPr>
              <a:t>디자인 오브제와 아카이브 아이템을 위한 스토리텔링 공간.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926080"/>
            <a:ext cx="5074920" cy="274320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이 공간의 역할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•  디자인 오브제 큐레이션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•  아카이브 아이템 전시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•  스토리텔링 중심 콘텐츠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926080"/>
            <a:ext cx="5074920" cy="274320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 w="9525">
            <a:solidFill>
              <a:srgbClr val="D9A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D9A34B"/>
                </a:solidFill>
                <a:latin typeface="Pretendard"/>
                <a:ea typeface="Pretendard"/>
              </a:rPr>
              <a:t>🔄 업데이트 예정 항목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· 공간 면적·사진·분위기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· 전시 오브제 구성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· 스토리텔링 시나리오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/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자리표시용 페이지입니다. 확정 정보를 받아 업데이트합니다.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A7570"/>
                </a:solidFill>
                <a:latin typeface="Pretendard"/>
                <a:ea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168335" y="457200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2C2719"/>
          </a:solidFill>
          <a:ln w="12700">
            <a:solidFill>
              <a:srgbClr val="D9A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D9A34B"/>
                </a:solidFill>
                <a:latin typeface="Pretendard"/>
                <a:ea typeface="Pretendard"/>
              </a:rPr>
              <a:t>🔄 UPDATE PENDING — 정보 업데이트 예정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3035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A29BFE"/>
                </a:solidFill>
                <a:latin typeface="Pretendard"/>
                <a:ea typeface="Pretendard"/>
              </a:rPr>
              <a:t>SPECIAL VENUE —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3268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F5F0EB"/>
                </a:solidFill>
                <a:latin typeface="Pretendard"/>
                <a:ea typeface="Pretendard"/>
              </a:rPr>
              <a:t>of  </a:t>
            </a:r>
            <a:r>
              <a:rPr sz="1800" b="0">
                <a:solidFill>
                  <a:srgbClr val="7A7570"/>
                </a:solidFill>
                <a:latin typeface="Pretendard"/>
                <a:ea typeface="Pretendard"/>
              </a:rPr>
              <a:t>@ofjec_t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7A7570"/>
                </a:solidFill>
                <a:latin typeface="Pretendard"/>
                <a:ea typeface="Pretendard"/>
              </a:rPr>
              <a:t>Project Rent가 직접 운영하는 공간. 디자인과 라이프스타일, 커뮤니티가 만나는 곳.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926080"/>
            <a:ext cx="5074920" cy="274320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이 공간의 역할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•  디자인과 라이프스타일의 결합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•  크리에이티브 커뮤니티 프로그램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•  토크 &amp; 소규모 이벤트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•  Project Rent 직영 — 운영 안정성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926080"/>
            <a:ext cx="5074920" cy="274320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 w="9525">
            <a:solidFill>
              <a:srgbClr val="D9A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D9A34B"/>
                </a:solidFill>
                <a:latin typeface="Pretendard"/>
                <a:ea typeface="Pretendard"/>
              </a:rPr>
              <a:t>🔄 업데이트 예정 항목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· 공간 면적·사진·운영 현황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· 커뮤니티 프로그램 라인업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· 토크/이벤트 스케줄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· of 성과 데이터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/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자리표시용 페이지입니다. 확정 정보를 받아 업데이트합니다.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A7570"/>
                </a:solidFill>
                <a:latin typeface="Pretendard"/>
                <a:ea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168335" y="457200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2C2719"/>
          </a:solidFill>
          <a:ln w="12700">
            <a:solidFill>
              <a:srgbClr val="D9A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D9A34B"/>
                </a:solidFill>
                <a:latin typeface="Pretendard"/>
                <a:ea typeface="Pretendard"/>
              </a:rPr>
              <a:t>🔄 UPDATE PENDING — 정보 업데이트 예정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3035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A29BFE"/>
                </a:solidFill>
                <a:latin typeface="Pretendard"/>
                <a:ea typeface="Pretendard"/>
              </a:rPr>
              <a:t>SPECIAL VENUE —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3268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>
                <a:solidFill>
                  <a:srgbClr val="F5F0EB"/>
                </a:solidFill>
                <a:latin typeface="Pretendard"/>
                <a:ea typeface="Pretendard"/>
              </a:rPr>
              <a:t>호박  </a:t>
            </a:r>
            <a:r>
              <a:rPr sz="1800" b="0">
                <a:solidFill>
                  <a:srgbClr val="7A7570"/>
                </a:solidFill>
                <a:latin typeface="Pretendard"/>
                <a:ea typeface="Pretendard"/>
              </a:rPr>
              <a:t>KOBAK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7A7570"/>
                </a:solidFill>
                <a:latin typeface="Pretendard"/>
                <a:ea typeface="Pretendard"/>
              </a:rPr>
              <a:t>디자이너 인터뷰와 브랜드 필름을 위한 특별 큐레이션 공간.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926080"/>
            <a:ext cx="5074920" cy="274320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A29BFE"/>
                </a:solidFill>
                <a:latin typeface="Pretendard"/>
                <a:ea typeface="Pretendard"/>
              </a:rPr>
              <a:t>이 공간의 역할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•  디자이너 인터뷰 콘텐츠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•  브랜드 필름 상영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•  특별 큐레이션 전시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926080"/>
            <a:ext cx="5074920" cy="274320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 w="9525">
            <a:solidFill>
              <a:srgbClr val="D9A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D9A34B"/>
                </a:solidFill>
                <a:latin typeface="Pretendard"/>
                <a:ea typeface="Pretendard"/>
              </a:rPr>
              <a:t>🔄 업데이트 예정 항목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· 공간 면적·사진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· 영상 콘텐츠 구성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· 큐레이션 테마</a:t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/>
            </a:r>
          </a:p>
          <a:p>
            <a:pPr>
              <a:lnSpc>
                <a:spcPct val="135000"/>
              </a:lnSpc>
            </a:pPr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자리표시용 페이지입니다. 확정 정보를 받아 업데이트합니다.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A7570"/>
                </a:solidFill>
                <a:latin typeface="Pretendard"/>
                <a:ea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303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A29BFE"/>
                </a:solidFill>
                <a:latin typeface="Pretendard"/>
                <a:ea typeface="Pretendard"/>
              </a:rPr>
              <a:t>EXHIBITION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56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700" b="1">
                <a:solidFill>
                  <a:srgbClr val="F5F0EB"/>
                </a:solidFill>
                <a:latin typeface="Pretendard"/>
                <a:ea typeface="Pretendard"/>
              </a:rPr>
              <a:t>방문객의 여정 — Visitor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01318"/>
            <a:ext cx="9966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7A7570"/>
                </a:solidFill>
                <a:latin typeface="Pretendard"/>
                <a:ea typeface="Pretendard"/>
              </a:rPr>
              <a:t>네 개의 거점이 하나의 이야기로 이어집니다. 동네를 걷는 것이 곧 전시를 경험하는 것입니다.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749039"/>
            <a:ext cx="2259253" cy="164592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28016"/>
          <a:lstStyle/>
          <a:p>
            <a:pPr algn="ctr"/>
            <a:r>
              <a:rPr sz="1300" b="1">
                <a:solidFill>
                  <a:srgbClr val="6C5CE7"/>
                </a:solidFill>
                <a:latin typeface="Pretendard"/>
                <a:ea typeface="Pretendard"/>
              </a:rPr>
              <a:t>01</a:t>
            </a:r>
          </a:p>
          <a:p>
            <a:pPr algn="ctr">
              <a:spcBef>
                <a:spcPts val="600"/>
              </a:spcBef>
            </a:pPr>
            <a:r>
              <a:rPr sz="1600" b="1">
                <a:solidFill>
                  <a:srgbClr val="F5F0EB"/>
                </a:solidFill>
                <a:latin typeface="Pretendard"/>
                <a:ea typeface="Pretendard"/>
              </a:rPr>
              <a:t>두손갤러리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메인 전시
헤리티지 아카이브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0501" y="3749039"/>
            <a:ext cx="466344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6C5CE7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85133" y="3749039"/>
            <a:ext cx="2259253" cy="164592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28016"/>
          <a:lstStyle/>
          <a:p>
            <a:pPr algn="ctr"/>
            <a:r>
              <a:rPr sz="1300" b="1">
                <a:solidFill>
                  <a:srgbClr val="6C5CE7"/>
                </a:solidFill>
                <a:latin typeface="Pretendard"/>
                <a:ea typeface="Pretendard"/>
              </a:rPr>
              <a:t>02</a:t>
            </a:r>
          </a:p>
          <a:p>
            <a:pPr algn="ctr">
              <a:spcBef>
                <a:spcPts val="600"/>
              </a:spcBef>
            </a:pPr>
            <a:r>
              <a:rPr sz="1600" b="1">
                <a:solidFill>
                  <a:srgbClr val="F5F0EB"/>
                </a:solidFill>
                <a:latin typeface="Pretendard"/>
                <a:ea typeface="Pretendard"/>
              </a:rPr>
              <a:t>고복희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디자인 오브제
스토리텔링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62675" y="3749039"/>
            <a:ext cx="466344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6C5CE7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47307" y="3749039"/>
            <a:ext cx="2259253" cy="164592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28016"/>
          <a:lstStyle/>
          <a:p>
            <a:pPr algn="ctr"/>
            <a:r>
              <a:rPr sz="1300" b="1">
                <a:solidFill>
                  <a:srgbClr val="6C5CE7"/>
                </a:solidFill>
                <a:latin typeface="Pretendard"/>
                <a:ea typeface="Pretendard"/>
              </a:rPr>
              <a:t>03</a:t>
            </a:r>
          </a:p>
          <a:p>
            <a:pPr algn="ctr">
              <a:spcBef>
                <a:spcPts val="600"/>
              </a:spcBef>
            </a:pPr>
            <a:r>
              <a:rPr sz="1600" b="1">
                <a:solidFill>
                  <a:srgbClr val="F5F0EB"/>
                </a:solidFill>
                <a:latin typeface="Pretendard"/>
                <a:ea typeface="Pretendard"/>
              </a:rPr>
              <a:t>of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라이프스타일
커뮤니티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24849" y="3749039"/>
            <a:ext cx="466344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6C5CE7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09481" y="3749039"/>
            <a:ext cx="2259253" cy="164592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28016"/>
          <a:lstStyle/>
          <a:p>
            <a:pPr algn="ctr"/>
            <a:r>
              <a:rPr sz="1300" b="1">
                <a:solidFill>
                  <a:srgbClr val="6C5CE7"/>
                </a:solidFill>
                <a:latin typeface="Pretendard"/>
                <a:ea typeface="Pretendard"/>
              </a:rPr>
              <a:t>04</a:t>
            </a:r>
          </a:p>
          <a:p>
            <a:pPr algn="ctr">
              <a:spcBef>
                <a:spcPts val="600"/>
              </a:spcBef>
            </a:pPr>
            <a:r>
              <a:rPr sz="1600" b="1">
                <a:solidFill>
                  <a:srgbClr val="F5F0EB"/>
                </a:solidFill>
                <a:latin typeface="Pretendard"/>
                <a:ea typeface="Pretendard"/>
              </a:rPr>
              <a:t>호박</a:t>
            </a:r>
          </a:p>
          <a:p>
            <a:pPr algn="ctr">
              <a:lnSpc>
                <a:spcPct val="120000"/>
              </a:lnSpc>
              <a:spcBef>
                <a:spcPts val="4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인터뷰
브랜드 필름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669280"/>
            <a:ext cx="10543032" cy="713232"/>
          </a:xfrm>
          <a:prstGeom prst="roundRect">
            <a:avLst>
              <a:gd name="adj" fmla="val 5000"/>
            </a:avLst>
          </a:prstGeom>
          <a:solidFill>
            <a:srgbClr val="2A2540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F5F0EB"/>
                </a:solidFill>
                <a:latin typeface="Pretendard"/>
                <a:ea typeface="Pretendard"/>
              </a:rPr>
              <a:t>전시장을 관람하는 것이 아니라, 답십리라는 동네 자체를 탐험하며 GUBI의 세계관을 경험합니다.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A7570"/>
                </a:solidFill>
                <a:latin typeface="Pretendard"/>
                <a:ea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303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A29BFE"/>
                </a:solidFill>
                <a:latin typeface="Pretendard"/>
                <a:ea typeface="Pretendard"/>
              </a:rPr>
              <a:t>BEYOND EXHIBITION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56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700" b="1">
                <a:solidFill>
                  <a:srgbClr val="F5F0EB"/>
                </a:solidFill>
                <a:latin typeface="Pretendard"/>
                <a:ea typeface="Pretendard"/>
              </a:rPr>
              <a:t>전시를 넘어, 문화 프로젝트로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01318"/>
            <a:ext cx="9966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7A7570"/>
                </a:solidFill>
                <a:latin typeface="Pretendard"/>
                <a:ea typeface="Pretendard"/>
              </a:rPr>
              <a:t>전시 기간 동안 다양한 문화 프로그램을 함께 운영하여, 단순 관람형 전시가 아닌 문화 프로젝트로 확장합니다.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657600"/>
            <a:ext cx="3332378" cy="114300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</a:rPr>
              <a:t>Design Talk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디자인과 헤리티지 토크 세션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9658" y="3657600"/>
            <a:ext cx="3332378" cy="114300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</a:rPr>
              <a:t>Curator Session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큐레이터와 함께하는 깊이 있는 관람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36356" y="3657600"/>
            <a:ext cx="3332378" cy="114300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</a:rPr>
              <a:t>Community Gathering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크리에이터·디자인 커뮤니티 모임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983480"/>
            <a:ext cx="3332378" cy="114300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</a:rPr>
              <a:t>Creative Networking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국내외 크리에이터를 잇는 네트워킹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4983480"/>
            <a:ext cx="3332378" cy="114300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</a:rPr>
              <a:t>Music Program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of의 검증된 DJ·음악 프로그램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6356" y="4983480"/>
            <a:ext cx="3332378" cy="1143000"/>
          </a:xfrm>
          <a:prstGeom prst="roundRect">
            <a:avLst>
              <a:gd name="adj" fmla="val 5000"/>
            </a:avLst>
          </a:prstGeom>
          <a:solidFill>
            <a:srgbClr val="2A2540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5F0EB"/>
                </a:solidFill>
                <a:latin typeface="Pretendard"/>
                <a:ea typeface="Pretendard"/>
              </a:rPr>
              <a:t>+ Activation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050" b="0">
                <a:solidFill>
                  <a:srgbClr val="7A7570"/>
                </a:solidFill>
                <a:latin typeface="Pretendard"/>
                <a:ea typeface="Pretendard"/>
              </a:rPr>
              <a:t>GUBI 브랜드에 맞춰 추가 프로그램 설계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A7570"/>
                </a:solidFill>
                <a:latin typeface="Pretendard"/>
                <a:ea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3035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A29BFE"/>
                </a:solidFill>
                <a:latin typeface="Pretendard"/>
                <a:ea typeface="Pretendard"/>
              </a:rPr>
              <a:t>WHY PROJECT 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5600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700" b="1">
                <a:solidFill>
                  <a:srgbClr val="F5F0EB"/>
                </a:solidFill>
                <a:latin typeface="Pretendard"/>
                <a:ea typeface="Pretendard"/>
              </a:rPr>
              <a:t>우리는 GUBI를 답십리에 배치하지 않습니다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01318"/>
            <a:ext cx="9966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00" b="0">
                <a:solidFill>
                  <a:srgbClr val="7A7570"/>
                </a:solidFill>
                <a:latin typeface="Pretendard"/>
                <a:ea typeface="Pretendard"/>
              </a:rPr>
              <a:t>우리는 GUBI와 답십리가 서로를 설명하게 만드는 프로젝트를 제안합니다.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611880"/>
            <a:ext cx="3332378" cy="182880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6C5CE7"/>
                </a:solidFill>
                <a:latin typeface="Pretendard"/>
                <a:ea typeface="Pretendard"/>
              </a:rPr>
              <a:t>공감 · 경험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300" b="0">
                <a:solidFill>
                  <a:srgbClr val="7A7570"/>
                </a:solidFill>
                <a:latin typeface="Pretendard"/>
                <a:ea typeface="Pretendard"/>
              </a:rPr>
              <a:t>우리는 성수동 팝업 문화를 만들고, 답십리 of를 직접 운영합니다. 이 동네를 가장 잘 압니다.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9658" y="3611880"/>
            <a:ext cx="3332378" cy="182880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6C5CE7"/>
                </a:solidFill>
                <a:latin typeface="Pretendard"/>
                <a:ea typeface="Pretendard"/>
              </a:rPr>
              <a:t>권위 · 성과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300" b="0">
                <a:solidFill>
                  <a:srgbClr val="7A7570"/>
                </a:solidFill>
                <a:latin typeface="Pretendard"/>
                <a:ea typeface="Pretendard"/>
              </a:rPr>
              <a:t>250+ 팝업, 60억 누적 실적, RXR 성과측정 특허 — 기획에서 운영, 측정까지 책임집니다.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36356" y="3611880"/>
            <a:ext cx="3332378" cy="1828800"/>
          </a:xfrm>
          <a:prstGeom prst="roundRect">
            <a:avLst>
              <a:gd name="adj" fmla="val 5000"/>
            </a:avLst>
          </a:prstGeom>
          <a:solidFill>
            <a:srgbClr val="111111"/>
          </a:solidFill>
          <a:ln w="9525"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15000"/>
              </a:lnSpc>
            </a:pPr>
            <a:r>
              <a:rPr sz="1050" b="1">
                <a:solidFill>
                  <a:srgbClr val="6C5CE7"/>
                </a:solidFill>
                <a:latin typeface="Pretendard"/>
                <a:ea typeface="Pretendard"/>
              </a:rPr>
              <a:t>관점 · 차별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300" b="0">
                <a:solidFill>
                  <a:srgbClr val="7A7570"/>
                </a:solidFill>
                <a:latin typeface="Pretendard"/>
                <a:ea typeface="Pretendard"/>
              </a:rPr>
              <a:t>우리는 공간을 매장이 아니라 미디어로 설계합니다. 전시가 끝나도 이야기가 남습니다.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623560"/>
            <a:ext cx="10543032" cy="713232"/>
          </a:xfrm>
          <a:prstGeom prst="roundRect">
            <a:avLst>
              <a:gd name="adj" fmla="val 5000"/>
            </a:avLst>
          </a:prstGeom>
          <a:solidFill>
            <a:srgbClr val="2A2540"/>
          </a:solidFill>
          <a:ln w="952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128016"/>
          <a:lstStyle/>
          <a:p>
            <a:pPr algn="ctr">
              <a:lnSpc>
                <a:spcPct val="135000"/>
              </a:lnSpc>
            </a:pPr>
            <a:r>
              <a:rPr sz="1500" b="0">
                <a:solidFill>
                  <a:srgbClr val="F5F0EB"/>
                </a:solidFill>
                <a:latin typeface="Pretendard"/>
                <a:ea typeface="Pretendard"/>
              </a:rPr>
              <a:t>많은 에이전시는 전시를 만듭니다. Project Rent는 브랜드가 기억될 수 있는 맥락을 만듭니다.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A7570"/>
                </a:solidFill>
                <a:latin typeface="Pretendard"/>
                <a:ea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280160"/>
            <a:ext cx="121916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6C5CE7"/>
                </a:solidFill>
                <a:latin typeface="Pretendard"/>
                <a:ea typeface="Pretendard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>
                <a:solidFill>
                  <a:srgbClr val="F5F0EB"/>
                </a:solidFill>
                <a:latin typeface="Pretendard"/>
                <a:ea typeface="Pretendard"/>
              </a:rPr>
              <a:t>Heritage Is Not About</a:t>
            </a:r>
          </a:p>
          <a:p>
            <a:pPr algn="ctr">
              <a:lnSpc>
                <a:spcPct val="120000"/>
              </a:lnSpc>
            </a:pPr>
            <a:r>
              <a:rPr sz="4000" b="1">
                <a:solidFill>
                  <a:srgbClr val="F5F0EB"/>
                </a:solidFill>
                <a:latin typeface="Pretendard"/>
                <a:ea typeface="Pretendard"/>
              </a:rPr>
              <a:t>Preserving The Past.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5760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C9C2BA"/>
                </a:solidFill>
                <a:latin typeface="Pretendard"/>
                <a:ea typeface="Pretendard"/>
              </a:rPr>
              <a:t>It Is About Giving The Past </a:t>
            </a:r>
            <a:r>
              <a:rPr sz="2200" b="1">
                <a:solidFill>
                  <a:srgbClr val="6C5CE7"/>
                </a:solidFill>
                <a:latin typeface="Pretendard"/>
                <a:ea typeface="Pretendard"/>
              </a:rPr>
              <a:t>A New Future.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04487" y="4572000"/>
            <a:ext cx="4389120" cy="1188720"/>
          </a:xfrm>
          <a:prstGeom prst="roundRect">
            <a:avLst/>
          </a:prstGeom>
          <a:solidFill>
            <a:srgbClr val="2A2540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A29BFE"/>
                </a:solidFill>
                <a:latin typeface="Pretendard"/>
                <a:ea typeface="Pretendard"/>
              </a:rPr>
              <a:t>GUBI × DAPSIMNI</a:t>
            </a:r>
          </a:p>
          <a:p>
            <a:pPr algn="ctr">
              <a:spcBef>
                <a:spcPts val="600"/>
              </a:spcBef>
            </a:pPr>
            <a:r>
              <a:rPr sz="2400" b="1">
                <a:solidFill>
                  <a:srgbClr val="F5F0EB"/>
                </a:solidFill>
                <a:latin typeface="Pretendard"/>
                <a:ea typeface="Pretendard"/>
              </a:rPr>
              <a:t>A Heritage Reimagined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7A7570"/>
                </a:solidFill>
                <a:latin typeface="Pretendard"/>
                <a:ea typeface="Pretendard"/>
              </a:rPr>
              <a:t>Project Rent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7A7570"/>
                </a:solidFill>
                <a:latin typeface="Pretendard"/>
                <a:ea typeface="Pretendard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