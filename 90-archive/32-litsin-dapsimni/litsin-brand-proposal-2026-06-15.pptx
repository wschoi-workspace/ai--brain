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554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7A7570"/>
                </a:solidFill>
                <a:latin typeface="Pretendard"/>
                <a:ea typeface="Pretendard"/>
              </a:rPr>
              <a:t>BRAND PROPOSAL · 답십리 고미술상가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57400"/>
            <a:ext cx="10058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000" b="1" i="0">
                <a:solidFill>
                  <a:srgbClr val="F5F0EB"/>
                </a:solidFill>
                <a:latin typeface="Pretendard"/>
                <a:ea typeface="Pretendard"/>
              </a:rPr>
              <a:t>LI-TSIN</a:t>
            </a:r>
            <a:r>
              <a:rPr sz="8000" b="1" i="0">
                <a:solidFill>
                  <a:srgbClr val="6C5CE7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0" i="1">
                <a:solidFill>
                  <a:srgbClr val="A29BFE"/>
                </a:solidFill>
                <a:latin typeface="Pretendard"/>
                <a:ea typeface="Pretendard"/>
              </a:rPr>
              <a:t>La Fleur d'une Âme — 어느 세계에도 속하지 못한, 영혼의 꽃 한 송이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343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700" b="0" i="0">
                <a:solidFill>
                  <a:srgbClr val="C9C2BA"/>
                </a:solidFill>
                <a:latin typeface="Pretendard"/>
                <a:ea typeface="Pretendard"/>
              </a:rPr>
              <a:t>경계를 넘은 자가 차린, 답십리로 들어가는 관문.</a:t>
            </a:r>
          </a:p>
          <a:p>
            <a:pPr>
              <a:lnSpc>
                <a:spcPct val="140000"/>
              </a:lnSpc>
            </a:pPr>
            <a:r>
              <a:rPr sz="1700" b="0" i="0">
                <a:solidFill>
                  <a:srgbClr val="C9C2BA"/>
                </a:solidFill>
                <a:latin typeface="Pretendard"/>
                <a:ea typeface="Pretendard"/>
              </a:rPr>
              <a:t>가장 오래된 조선의 아름다움을, 가장 현대적인 혀와 코와 눈으로 다시 사는 문화 살롱.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989320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60533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7A7570"/>
                </a:solidFill>
                <a:latin typeface="Pretendard"/>
                <a:ea typeface="Pretendard"/>
              </a:rPr>
              <a:t>BRAND 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6855" y="6053328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A7570"/>
                </a:solidFill>
                <a:latin typeface="Pretendard"/>
                <a:ea typeface="Pretendard"/>
              </a:rPr>
              <a:t>2026.06.15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01 — THE 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804672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 i="0">
                <a:solidFill>
                  <a:srgbClr val="F5F0EB"/>
                </a:solidFill>
                <a:latin typeface="Pretendard"/>
                <a:ea typeface="Pretendard"/>
              </a:rPr>
              <a:t>서울에서 가장 깊은 콘텐츠, 가장 높은 </a:t>
            </a:r>
            <a:r>
              <a:rPr sz="2700" b="1" i="0">
                <a:solidFill>
                  <a:srgbClr val="6C5CE7"/>
                </a:solidFill>
                <a:latin typeface="Pretendard"/>
                <a:ea typeface="Pretendard"/>
              </a:rPr>
              <a:t>문턱</a:t>
            </a:r>
            <a:r>
              <a:rPr sz="2700" b="1" i="0">
                <a:solidFill>
                  <a:srgbClr val="F5F0EB"/>
                </a:solidFill>
                <a:latin typeface="Pretendard"/>
                <a:ea typeface="Pretendard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08176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4000"/>
              </a:lnSpc>
            </a:pPr>
            <a:r>
              <a:rPr sz="1250" b="0" i="0">
                <a:solidFill>
                  <a:srgbClr val="C9C2BA"/>
                </a:solidFill>
                <a:latin typeface="Pretendard"/>
                <a:ea typeface="Pretendard"/>
              </a:rPr>
              <a:t>답십리는 서울에서 고미술이 가장 깊게 모인 동네다. 그러나 깊이는 종종 문턱이 되고, 문턱은 끝내 벽이 된다. 골동과 장인이 우후죽순 모였으되, 정작 사람을 들이는 관문 하나가 없다. 그렇다면 묻자 — 이 깊은 동네에 왜 머물 이유가 없는가. </a:t>
            </a:r>
            <a:r>
              <a:rPr sz="1250" b="1" i="0">
                <a:solidFill>
                  <a:srgbClr val="F5F0EB"/>
                </a:solidFill>
                <a:latin typeface="Pretendard"/>
                <a:ea typeface="Pretendard"/>
              </a:rPr>
              <a:t>비어 있던 것은 콘텐츠가 아니라, 들어설 관문이었다.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794760"/>
            <a:ext cx="5318607" cy="196596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1" y="3995928"/>
            <a:ext cx="4815687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8FA37E"/>
                </a:solidFill>
                <a:latin typeface="Pretendard"/>
                <a:ea typeface="Pretendard"/>
              </a:rPr>
              <a:t>ASSET · 가진 것</a:t>
            </a:r>
          </a:p>
          <a:p>
            <a:pPr>
              <a:spcBef>
                <a:spcPts val="600"/>
              </a:spcBef>
            </a:pPr>
            <a:r>
              <a:rPr sz="3000" b="1" i="0">
                <a:solidFill>
                  <a:srgbClr val="8FA37E"/>
                </a:solidFill>
                <a:latin typeface="Pretendard"/>
                <a:ea typeface="Pretendard"/>
              </a:rPr>
              <a:t>No.1</a:t>
            </a:r>
          </a:p>
          <a:p>
            <a:pPr>
              <a:spcBef>
                <a:spcPts val="600"/>
              </a:spcBef>
            </a:pPr>
            <a:r>
              <a:rPr sz="1500" b="1" i="0">
                <a:solidFill>
                  <a:srgbClr val="F5F0EB"/>
                </a:solidFill>
                <a:latin typeface="Pretendard"/>
                <a:ea typeface="Pretendard"/>
              </a:rPr>
              <a:t>서울 최대 고미술·공예 집적지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050" b="0" i="0">
                <a:solidFill>
                  <a:srgbClr val="C9C2BA"/>
                </a:solidFill>
                <a:latin typeface="Pretendard"/>
                <a:ea typeface="Pretendard"/>
              </a:rPr>
              <a:t>골동·복원·감정·장인 네트워크가 한 동네에 밀집. 콘텐츠 밀도는 국내 최강이자 복제 불가능한 도시 자산이다.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3794760"/>
            <a:ext cx="5318607" cy="196596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1879" y="3995928"/>
            <a:ext cx="4815687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1" i="0">
                <a:solidFill>
                  <a:srgbClr val="E17055"/>
                </a:solidFill>
                <a:latin typeface="Pretendard"/>
                <a:ea typeface="Pretendard"/>
              </a:rPr>
              <a:t>FRICTION · 막힌 것</a:t>
            </a:r>
          </a:p>
          <a:p>
            <a:pPr>
              <a:spcBef>
                <a:spcPts val="600"/>
              </a:spcBef>
            </a:pPr>
            <a:r>
              <a:rPr sz="3000" b="1" i="0">
                <a:solidFill>
                  <a:srgbClr val="E17055"/>
                </a:solidFill>
                <a:latin typeface="Pretendard"/>
                <a:ea typeface="Pretendard"/>
              </a:rPr>
              <a:t>머물 이유</a:t>
            </a:r>
          </a:p>
          <a:p>
            <a:pPr>
              <a:spcBef>
                <a:spcPts val="600"/>
              </a:spcBef>
            </a:pPr>
            <a:r>
              <a:rPr sz="1500" b="1" i="0">
                <a:solidFill>
                  <a:srgbClr val="F5F0EB"/>
                </a:solidFill>
                <a:latin typeface="Pretendard"/>
                <a:ea typeface="Pretendard"/>
              </a:rPr>
              <a:t>‘볼 것’은 많은데 ‘머물 이유’가 없다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sz="1050" b="0" i="0">
                <a:solidFill>
                  <a:srgbClr val="C9C2BA"/>
                </a:solidFill>
                <a:latin typeface="Pretendard"/>
                <a:ea typeface="Pretendard"/>
              </a:rPr>
              <a:t>흥정 문화, 전문가의 영역, 정서적 진입장벽. 젊은 방문객·관광객·문화 소비자가 들어와 머물 관문이 없다.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850" b="0" i="0">
                <a:solidFill>
                  <a:srgbClr val="7A7570"/>
                </a:solidFill>
                <a:latin typeface="Pretendard"/>
                <a:ea typeface="Pretendard"/>
              </a:rPr>
              <a:t>출처 — 답십리 고미술상가 현황 관찰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6327648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 — THE TENSION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565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02 — THE WOMAN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804672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 i="0">
                <a:solidFill>
                  <a:srgbClr val="F5F0EB"/>
                </a:solidFill>
                <a:latin typeface="Pretendard"/>
                <a:ea typeface="Pretendard"/>
              </a:rPr>
              <a:t>왜 </a:t>
            </a:r>
            <a:r>
              <a:rPr sz="2700" b="1" i="0">
                <a:solidFill>
                  <a:srgbClr val="6C5CE7"/>
                </a:solidFill>
                <a:latin typeface="Pretendard"/>
                <a:ea typeface="Pretendard"/>
              </a:rPr>
              <a:t>리진</a:t>
            </a:r>
            <a:r>
              <a:rPr sz="2700" b="1" i="0">
                <a:solidFill>
                  <a:srgbClr val="F5F0EB"/>
                </a:solidFill>
                <a:latin typeface="Pretendard"/>
                <a:ea typeface="Pretendard"/>
              </a:rPr>
              <a:t>인가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08176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4000"/>
              </a:lnSpc>
            </a:pPr>
            <a:r>
              <a:rPr sz="1250" b="0" i="0">
                <a:solidFill>
                  <a:srgbClr val="C9C2BA"/>
                </a:solidFill>
                <a:latin typeface="Pretendard"/>
                <a:ea typeface="Pretendard"/>
              </a:rPr>
              <a:t>19세기 말, 조선이 가장 격렬하게 흔들리던 시대. 한 시대가 저물고 한 시대가 밀물처럼 들이치던 그 경계 위에 한 여자가 있었다. 동양과 서양, 전통과 현대 — </a:t>
            </a:r>
            <a:r>
              <a:rPr sz="1250" b="1" i="0">
                <a:solidFill>
                  <a:srgbClr val="F5F0EB"/>
                </a:solidFill>
                <a:latin typeface="Pretendard"/>
                <a:ea typeface="Pretendard"/>
              </a:rPr>
              <a:t>리진은 양쪽을 모두 통과했으나 어느 쪽에도 갇히지 않았다.</a:t>
            </a:r>
            <a:r>
              <a:rPr sz="1250" b="0" i="0">
                <a:solidFill>
                  <a:srgbClr val="C9C2BA"/>
                </a:solidFill>
                <a:latin typeface="Pretendard"/>
                <a:ea typeface="Pretendard"/>
              </a:rPr>
              <a:t> 경계에 선 자만이 두 세계를 옮길 수 있다. 우리가 빌리는 것은 그녀의 이름이 아니라, 그 번역의 태도다.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794760"/>
            <a:ext cx="32004" cy="137160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794760"/>
            <a:ext cx="54864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700" b="0" i="1">
                <a:solidFill>
                  <a:srgbClr val="F5F0EB"/>
                </a:solidFill>
                <a:latin typeface="Pretendard"/>
                <a:ea typeface="Pretendard"/>
              </a:rPr>
              <a:t>조선의 궁중 무희로 태어나 파리의 연인이 되었으나, 결국 그 어떤 세계에도 속하지 못한 영혼의 꽃일 뿐이다.</a:t>
            </a:r>
          </a:p>
          <a:p>
            <a:pPr>
              <a:spcBef>
                <a:spcPts val="1000"/>
              </a:spcBef>
            </a:pPr>
            <a:r>
              <a:rPr sz="1100" b="0" i="1">
                <a:solidFill>
                  <a:srgbClr val="A29BFE"/>
                </a:solidFill>
                <a:latin typeface="Pretendard"/>
                <a:ea typeface="Pretendard"/>
              </a:rPr>
              <a:t>« …je ne suis que la fleur d'une âme qui n'appartient à aucun monde.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3794760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00" b="1" i="0">
                <a:solidFill>
                  <a:srgbClr val="6C5CE7"/>
                </a:solidFill>
                <a:latin typeface="Pretendard"/>
                <a:ea typeface="Pretendard"/>
              </a:rPr>
              <a:t>월경(越境)  </a:t>
            </a:r>
            <a:r>
              <a:rPr sz="1100" b="0" i="0">
                <a:solidFill>
                  <a:srgbClr val="C9C2BA"/>
                </a:solidFill>
                <a:latin typeface="Pretendard"/>
                <a:ea typeface="Pretendard"/>
              </a:rPr>
              <a:t>경계를 넘은 여자. 조선 → 파리 → 조선. 두 세계를 통과하고 어디에도 갇히지 않은 인물.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361688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00" b="1" i="0">
                <a:solidFill>
                  <a:srgbClr val="6C5CE7"/>
                </a:solidFill>
                <a:latin typeface="Pretendard"/>
                <a:ea typeface="Pretendard"/>
              </a:rPr>
              <a:t>번역  </a:t>
            </a:r>
            <a:r>
              <a:rPr sz="1100" b="0" i="0">
                <a:solidFill>
                  <a:srgbClr val="C9C2BA"/>
                </a:solidFill>
                <a:latin typeface="Pretendard"/>
                <a:ea typeface="Pretendard"/>
              </a:rPr>
              <a:t>그녀가 한 일이 곧 리진의 직무. 낯선 세계를 익숙한 감각으로 옮겨 사람을 들이는 통역사.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928616"/>
            <a:ext cx="3931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100" b="1" i="0">
                <a:solidFill>
                  <a:srgbClr val="6C5CE7"/>
                </a:solidFill>
                <a:latin typeface="Pretendard"/>
                <a:ea typeface="Pretendard"/>
              </a:rPr>
              <a:t>신화  </a:t>
            </a:r>
            <a:r>
              <a:rPr sz="1100" b="0" i="0">
                <a:solidFill>
                  <a:srgbClr val="C9C2BA"/>
                </a:solidFill>
                <a:latin typeface="Pretendard"/>
                <a:ea typeface="Pretendard"/>
              </a:rPr>
              <a:t>믿고 싶은 이야기. 브랜드는 사실이 아니라 서사로 소비된다 — 리진은 그 자체로 세계관.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486400"/>
            <a:ext cx="10637215" cy="566928"/>
          </a:xfrm>
          <a:prstGeom prst="rect">
            <a:avLst/>
          </a:prstGeom>
          <a:solidFill>
            <a:srgbClr val="221E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486400"/>
            <a:ext cx="36576" cy="566928"/>
          </a:xfrm>
          <a:prstGeom prst="rect">
            <a:avLst/>
          </a:prstGeom>
          <a:solidFill>
            <a:srgbClr val="D9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5486400"/>
            <a:ext cx="1018001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 b="1" i="0">
                <a:solidFill>
                  <a:srgbClr val="D9A34B"/>
                </a:solidFill>
                <a:latin typeface="Pretendard"/>
                <a:ea typeface="Pretendard"/>
              </a:rPr>
              <a:t>서사 활용 원칙</a:t>
            </a:r>
            <a:r>
              <a:rPr sz="1200" b="0" i="0">
                <a:solidFill>
                  <a:srgbClr val="C9C2BA"/>
                </a:solidFill>
                <a:latin typeface="Pretendard"/>
                <a:ea typeface="Pretendard"/>
              </a:rPr>
              <a:t> — 리진(리심)은 실존 여부에 학계 논쟁이 있다. 카피는 역사적 사실로 단정하지 않고 전설·모티프의 톤으로 다룬다. 결격이 아니라 ‘신화적 여백’으로 쓴다.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6327648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 — THE WOMAN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565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03 — THE NAME · LA FLEUR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804672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 i="0">
                <a:solidFill>
                  <a:srgbClr val="F5F0EB"/>
                </a:solidFill>
                <a:latin typeface="Pretendard"/>
                <a:ea typeface="Pretendard"/>
              </a:rPr>
              <a:t>이름에 담긴 향, </a:t>
            </a:r>
            <a:r>
              <a:rPr sz="2700" b="1" i="0">
                <a:solidFill>
                  <a:srgbClr val="6C5CE7"/>
                </a:solidFill>
                <a:latin typeface="Pretendard"/>
                <a:ea typeface="Pretendard"/>
              </a:rPr>
              <a:t>배꽃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08176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4000"/>
              </a:lnSpc>
            </a:pPr>
            <a:r>
              <a:rPr sz="1250" b="1" i="0">
                <a:solidFill>
                  <a:srgbClr val="F5F0EB"/>
                </a:solidFill>
                <a:latin typeface="Pretendard"/>
                <a:ea typeface="Pretendard"/>
              </a:rPr>
              <a:t>이화(梨花)에 월백(月白)하고.</a:t>
            </a:r>
            <a:r>
              <a:rPr sz="1250" b="0" i="0">
                <a:solidFill>
                  <a:srgbClr val="C9C2BA"/>
                </a:solidFill>
                <a:latin typeface="Pretendard"/>
                <a:ea typeface="Pretendard"/>
              </a:rPr>
              <a:t> 옛 시인은 배꽃 흰빛과 달빛 흰빛이 포개지는 봄밤을 그렇게 적었다. 배꽃은 요란하게 피지 않는다. 화려함은 눈을 끌고 곧 잊히지만, 청초함은 코끝에 남아 오래 간다. </a:t>
            </a:r>
            <a:r>
              <a:rPr sz="1250" b="1" i="0">
                <a:solidFill>
                  <a:srgbClr val="F5F0EB"/>
                </a:solidFill>
                <a:latin typeface="Pretendard"/>
                <a:ea typeface="Pretendard"/>
              </a:rPr>
              <a:t>리진의 미학은 후자다.</a:t>
            </a:r>
            <a:r>
              <a:rPr sz="1250" b="0" i="0">
                <a:solidFill>
                  <a:srgbClr val="C9C2BA"/>
                </a:solidFill>
                <a:latin typeface="Pretendard"/>
                <a:ea typeface="Pretendard"/>
              </a:rPr>
              <a:t> 화려하지 않으나 명징하다 — 그것이 곧 브랜드의 감각 코드다.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657600"/>
            <a:ext cx="3362858" cy="210312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3362858" cy="32004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5" y="3895344"/>
            <a:ext cx="2951378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29BFE"/>
                </a:solidFill>
                <a:latin typeface="Pretendard"/>
                <a:ea typeface="Pretendard"/>
              </a:rPr>
              <a:t>후각 · SCENT</a:t>
            </a:r>
          </a:p>
          <a:p>
            <a:pPr>
              <a:spcBef>
                <a:spcPts val="800"/>
              </a:spcBef>
            </a:pPr>
            <a:r>
              <a:rPr sz="1700" b="1" i="0">
                <a:solidFill>
                  <a:srgbClr val="F5F0EB"/>
                </a:solidFill>
                <a:latin typeface="Pretendard"/>
                <a:ea typeface="Pretendard"/>
              </a:rPr>
              <a:t>배꽃의 첫 향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 i="0">
                <a:solidFill>
                  <a:srgbClr val="C9C2BA"/>
                </a:solidFill>
                <a:latin typeface="Pretendard"/>
                <a:ea typeface="Pretendard"/>
              </a:rPr>
              <a:t>매장의 </a:t>
            </a:r>
            <a:r>
              <a:rPr sz="1100" b="1" i="0">
                <a:solidFill>
                  <a:srgbClr val="F5F0EB"/>
                </a:solidFill>
                <a:latin typeface="Pretendard"/>
                <a:ea typeface="Pretendard"/>
              </a:rPr>
              <a:t>시그니처 센트는 배꽃 향</a:t>
            </a:r>
            <a:r>
              <a:rPr sz="1100" b="0" i="0">
                <a:solidFill>
                  <a:srgbClr val="C9C2BA"/>
                </a:solidFill>
                <a:latin typeface="Pretendard"/>
                <a:ea typeface="Pretendard"/>
              </a:rPr>
              <a:t>. 문을 여는 첫 순간, 도심의 소음을 끄고 손님을 리진의 세계로 들인다.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14418" y="3657600"/>
            <a:ext cx="3362858" cy="210312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4418" y="3657600"/>
            <a:ext cx="3362858" cy="32004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3874" y="3895344"/>
            <a:ext cx="2951378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29BFE"/>
                </a:solidFill>
                <a:latin typeface="Pretendard"/>
                <a:ea typeface="Pretendard"/>
              </a:rPr>
              <a:t>시각 · SYMBOL</a:t>
            </a:r>
          </a:p>
          <a:p>
            <a:pPr>
              <a:spcBef>
                <a:spcPts val="800"/>
              </a:spcBef>
            </a:pPr>
            <a:r>
              <a:rPr sz="1700" b="1" i="0">
                <a:solidFill>
                  <a:srgbClr val="F5F0EB"/>
                </a:solidFill>
                <a:latin typeface="Pretendard"/>
                <a:ea typeface="Pretendard"/>
              </a:rPr>
              <a:t>달밤에 핀 흰 꽃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 i="0">
                <a:solidFill>
                  <a:srgbClr val="C9C2BA"/>
                </a:solidFill>
                <a:latin typeface="Pretendard"/>
                <a:ea typeface="Pretendard"/>
              </a:rPr>
              <a:t>다섯 장 흰 꽃잎과 흰 달빛(</a:t>
            </a:r>
            <a:r>
              <a:rPr sz="1100" b="1" i="0">
                <a:solidFill>
                  <a:srgbClr val="F5F0EB"/>
                </a:solidFill>
                <a:latin typeface="Pretendard"/>
                <a:ea typeface="Pretendard"/>
              </a:rPr>
              <a:t>梨花月白</a:t>
            </a:r>
            <a:r>
              <a:rPr sz="1100" b="0" i="0">
                <a:solidFill>
                  <a:srgbClr val="C9C2BA"/>
                </a:solidFill>
                <a:latin typeface="Pretendard"/>
                <a:ea typeface="Pretendard"/>
              </a:rPr>
              <a:t>). 낮과 밤, 흑과 백의 경계에서 피는 꽃 — 경계를 넘은 리진의 상징.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51596" y="3657600"/>
            <a:ext cx="3362858" cy="210312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1596" y="3657600"/>
            <a:ext cx="3362858" cy="32004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1052" y="3895344"/>
            <a:ext cx="2951378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29BFE"/>
                </a:solidFill>
                <a:latin typeface="Pretendard"/>
                <a:ea typeface="Pretendard"/>
              </a:rPr>
              <a:t>미각 · TASTE</a:t>
            </a:r>
          </a:p>
          <a:p>
            <a:pPr>
              <a:spcBef>
                <a:spcPts val="800"/>
              </a:spcBef>
            </a:pPr>
            <a:r>
              <a:rPr sz="1700" b="1" i="0">
                <a:solidFill>
                  <a:srgbClr val="F5F0EB"/>
                </a:solidFill>
                <a:latin typeface="Pretendard"/>
                <a:ea typeface="Pretendard"/>
              </a:rPr>
              <a:t>맑고 깊은 단맛</a:t>
            </a:r>
          </a:p>
          <a:p>
            <a:pPr>
              <a:lnSpc>
                <a:spcPct val="135000"/>
              </a:lnSpc>
              <a:spcBef>
                <a:spcPts val="800"/>
              </a:spcBef>
            </a:pPr>
            <a:r>
              <a:rPr sz="1100" b="0" i="0">
                <a:solidFill>
                  <a:srgbClr val="C9C2BA"/>
                </a:solidFill>
                <a:latin typeface="Pretendard"/>
                <a:ea typeface="Pretendard"/>
              </a:rPr>
              <a:t>화려한 겉모습 안의 </a:t>
            </a:r>
            <a:r>
              <a:rPr sz="1100" b="1" i="0">
                <a:solidFill>
                  <a:srgbClr val="F5F0EB"/>
                </a:solidFill>
                <a:latin typeface="Pretendard"/>
                <a:ea typeface="Pretendard"/>
              </a:rPr>
              <a:t>청초한 단맛</a:t>
            </a:r>
            <a:r>
              <a:rPr sz="1100" b="0" i="0">
                <a:solidFill>
                  <a:srgbClr val="C9C2BA"/>
                </a:solidFill>
                <a:latin typeface="Pretendard"/>
                <a:ea typeface="Pretendard"/>
              </a:rPr>
              <a:t>. 배의 맑은 향과 여백의 풍미로 번역된 조선의 미감 — 배 숙성 크림 디저트.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89788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850" b="0" i="0">
                <a:solidFill>
                  <a:srgbClr val="7A7570"/>
                </a:solidFill>
                <a:latin typeface="Pretendard"/>
                <a:ea typeface="Pretendard"/>
              </a:rPr>
              <a:t>모티프 출처 — 이조년(李兆年, 1268~1342)의 시조 「다정가」 첫 구 ‘이화에 월백하고’. 봄밤·배꽃·흰 달빛의 정서를 브랜드 모티프로 차용했다.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6327648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 — THE PEAR BLOSSOM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8565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04 — IDENTITY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804672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 i="0">
                <a:solidFill>
                  <a:srgbClr val="F5F0EB"/>
                </a:solidFill>
                <a:latin typeface="Pretendard"/>
                <a:ea typeface="Pretendard"/>
              </a:rPr>
              <a:t>로고와 </a:t>
            </a:r>
            <a:r>
              <a:rPr sz="2700" b="1" i="0">
                <a:solidFill>
                  <a:srgbClr val="6C5CE7"/>
                </a:solidFill>
                <a:latin typeface="Pretendard"/>
                <a:ea typeface="Pretendard"/>
              </a:rPr>
              <a:t>향으로 번역된 배꽃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08176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4000"/>
              </a:lnSpc>
            </a:pPr>
            <a:r>
              <a:rPr sz="1250" b="0" i="0">
                <a:solidFill>
                  <a:srgbClr val="C9C2BA"/>
                </a:solidFill>
                <a:latin typeface="Pretendard"/>
                <a:ea typeface="Pretendard"/>
              </a:rPr>
              <a:t>배꽃이라는 모티프를 두 개의 실체로 번역한다. 하나는 눈으로 읽는 </a:t>
            </a:r>
            <a:r>
              <a:rPr sz="1250" b="1" i="0">
                <a:solidFill>
                  <a:srgbClr val="F5F0EB"/>
                </a:solidFill>
                <a:latin typeface="Pretendard"/>
                <a:ea typeface="Pretendard"/>
              </a:rPr>
              <a:t>워드마크</a:t>
            </a:r>
            <a:r>
              <a:rPr sz="1250" b="0" i="0">
                <a:solidFill>
                  <a:srgbClr val="C9C2BA"/>
                </a:solidFill>
                <a:latin typeface="Pretendard"/>
                <a:ea typeface="Pretendard"/>
              </a:rPr>
              <a:t>(LI-TSIN · 梨花 · La Fleur), 다른 하나는 코로 읽는 </a:t>
            </a:r>
            <a:r>
              <a:rPr sz="1250" b="1" i="0">
                <a:solidFill>
                  <a:srgbClr val="F5F0EB"/>
                </a:solidFill>
                <a:latin typeface="Pretendard"/>
                <a:ea typeface="Pretendard"/>
              </a:rPr>
              <a:t>시그니처 센트</a:t>
            </a:r>
            <a:r>
              <a:rPr sz="1250" b="0" i="0">
                <a:solidFill>
                  <a:srgbClr val="C9C2BA"/>
                </a:solidFill>
                <a:latin typeface="Pretendard"/>
                <a:ea typeface="Pretendard"/>
              </a:rPr>
              <a:t>(배꽃 → 묵향 → 침향). 로고는 보여야 닿지만, 향은 먼저 도착한다.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611880"/>
            <a:ext cx="3200400" cy="228600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4160520"/>
            <a:ext cx="3200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5F0EB"/>
                </a:solidFill>
                <a:latin typeface="Pretendard"/>
                <a:ea typeface="Pretendard"/>
              </a:rPr>
              <a:t>LI-TSIN</a:t>
            </a:r>
          </a:p>
          <a:p>
            <a:pPr algn="ctr">
              <a:spcBef>
                <a:spcPts val="1000"/>
              </a:spcBef>
            </a:pPr>
            <a:r>
              <a:rPr sz="1300" b="0" i="0">
                <a:solidFill>
                  <a:srgbClr val="C9C2BA"/>
                </a:solidFill>
                <a:latin typeface="Pretendard"/>
                <a:ea typeface="Pretendard"/>
              </a:rPr>
              <a:t>리진 · </a:t>
            </a:r>
            <a:r>
              <a:rPr sz="1300" b="1" i="0">
                <a:solidFill>
                  <a:srgbClr val="A29BFE"/>
                </a:solidFill>
                <a:latin typeface="Pretendard"/>
                <a:ea typeface="Pretendard"/>
              </a:rPr>
              <a:t>梨花</a:t>
            </a:r>
          </a:p>
          <a:p>
            <a:pPr algn="ctr">
              <a:spcBef>
                <a:spcPts val="1000"/>
              </a:spcBef>
            </a:pPr>
            <a:r>
              <a:rPr sz="1200" b="0" i="1">
                <a:solidFill>
                  <a:srgbClr val="7A7570"/>
                </a:solidFill>
                <a:latin typeface="Pretendard"/>
                <a:ea typeface="Pretendard"/>
              </a:rPr>
              <a:t>La Fleur d'une Âme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3611880"/>
            <a:ext cx="6400800" cy="56692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3611880"/>
            <a:ext cx="32004" cy="566928"/>
          </a:xfrm>
          <a:prstGeom prst="rect">
            <a:avLst/>
          </a:prstGeom>
          <a:solidFill>
            <a:srgbClr val="E9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3611880"/>
            <a:ext cx="6126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E9DCC8"/>
                </a:solidFill>
                <a:latin typeface="Pretendard"/>
                <a:ea typeface="Pretendard"/>
              </a:rPr>
              <a:t>TOP · 첫 향   </a:t>
            </a:r>
            <a:r>
              <a:rPr sz="1100" b="0" i="0">
                <a:solidFill>
                  <a:srgbClr val="C9C2BA"/>
                </a:solidFill>
                <a:latin typeface="Pretendard"/>
                <a:ea typeface="Pretendard"/>
              </a:rPr>
              <a:t>배꽃 · 청배 · 새벽 이슬 — 문을 여는 순간 도심을 끄는 맑고 흰 첫인상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4288536"/>
            <a:ext cx="6400800" cy="56692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4288536"/>
            <a:ext cx="32004" cy="566928"/>
          </a:xfrm>
          <a:prstGeom prst="rect">
            <a:avLst/>
          </a:prstGeom>
          <a:solidFill>
            <a:srgbClr val="A29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4288536"/>
            <a:ext cx="6126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A29BFE"/>
                </a:solidFill>
                <a:latin typeface="Pretendard"/>
                <a:ea typeface="Pretendard"/>
              </a:rPr>
              <a:t>HEART · 머묾   </a:t>
            </a:r>
            <a:r>
              <a:rPr sz="1100" b="0" i="0">
                <a:solidFill>
                  <a:srgbClr val="C9C2BA"/>
                </a:solidFill>
                <a:latin typeface="Pretendard"/>
                <a:ea typeface="Pretendard"/>
              </a:rPr>
              <a:t>백목련 · 백차 · 은은한 묵향(墨) — 머무는 시간을 감싸는 정제된 깊이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4965192"/>
            <a:ext cx="6400800" cy="566928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4965192"/>
            <a:ext cx="32004" cy="566928"/>
          </a:xfrm>
          <a:prstGeom prst="rect">
            <a:avLst/>
          </a:prstGeom>
          <a:solidFill>
            <a:srgbClr val="B86C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4965192"/>
            <a:ext cx="61264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050" b="1" i="0">
                <a:solidFill>
                  <a:srgbClr val="B86C4A"/>
                </a:solidFill>
                <a:latin typeface="Pretendard"/>
                <a:ea typeface="Pretendard"/>
              </a:rPr>
              <a:t>BASE · 여운   </a:t>
            </a:r>
            <a:r>
              <a:rPr sz="1100" b="0" i="0">
                <a:solidFill>
                  <a:srgbClr val="C9C2BA"/>
                </a:solidFill>
                <a:latin typeface="Pretendard"/>
                <a:ea typeface="Pretendard"/>
              </a:rPr>
              <a:t>침향 · 한지 · 머스크 — 떠난 뒤에도 옷깃에 남는 고요한 여운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5532120"/>
            <a:ext cx="1225295" cy="310896"/>
          </a:xfrm>
          <a:prstGeom prst="rect">
            <a:avLst/>
          </a:prstGeom>
          <a:solidFill>
            <a:srgbClr val="F5F0EB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5532120"/>
            <a:ext cx="12252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Pretendard"/>
                <a:ea typeface="Pretendard"/>
              </a:rPr>
              <a:t>백자 크림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0" y="5532120"/>
            <a:ext cx="1225295" cy="310896"/>
          </a:xfrm>
          <a:prstGeom prst="rect">
            <a:avLst/>
          </a:prstGeom>
          <a:solidFill>
            <a:srgbClr val="E9DCC8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5532120"/>
            <a:ext cx="12252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333333"/>
                </a:solidFill>
                <a:latin typeface="Pretendard"/>
                <a:ea typeface="Pretendard"/>
              </a:rPr>
              <a:t>배꽃 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66560" y="5532120"/>
            <a:ext cx="1225295" cy="310896"/>
          </a:xfrm>
          <a:prstGeom prst="rect">
            <a:avLst/>
          </a:prstGeom>
          <a:solidFill>
            <a:srgbClr val="6C5CE7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5532120"/>
            <a:ext cx="12252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5F0EB"/>
                </a:solidFill>
                <a:latin typeface="Pretendard"/>
                <a:ea typeface="Pretendard"/>
              </a:rPr>
              <a:t>월백 퍼플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5532120"/>
            <a:ext cx="1225295" cy="310896"/>
          </a:xfrm>
          <a:prstGeom prst="rect">
            <a:avLst/>
          </a:prstGeom>
          <a:solidFill>
            <a:srgbClr val="B86C4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0" y="5532120"/>
            <a:ext cx="12252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F5F0EB"/>
                </a:solidFill>
                <a:latin typeface="Pretendard"/>
                <a:ea typeface="Pretendard"/>
              </a:rPr>
              <a:t>묵·러스트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0" y="5532120"/>
            <a:ext cx="1225295" cy="310896"/>
          </a:xfrm>
          <a:prstGeom prst="rect">
            <a:avLst/>
          </a:prstGeom>
          <a:solidFill>
            <a:srgbClr val="1A1A1A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0" y="5532120"/>
            <a:ext cx="1225295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00" b="1" i="0">
                <a:solidFill>
                  <a:srgbClr val="C9C2BA"/>
                </a:solidFill>
                <a:latin typeface="Pretendard"/>
                <a:ea typeface="Pretendard"/>
              </a:rPr>
              <a:t>먹 차콜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6327648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 — IDENTITY 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8565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05 — THE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804672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 i="0">
                <a:solidFill>
                  <a:srgbClr val="F5F0EB"/>
                </a:solidFill>
                <a:latin typeface="Pretendard"/>
                <a:ea typeface="Pretendard"/>
              </a:rPr>
              <a:t>헤리티지 </a:t>
            </a:r>
            <a:r>
              <a:rPr sz="2700" b="1" i="0">
                <a:solidFill>
                  <a:srgbClr val="6C5CE7"/>
                </a:solidFill>
                <a:latin typeface="Pretendard"/>
                <a:ea typeface="Pretendard"/>
              </a:rPr>
              <a:t>트랜스레이션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08176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4000"/>
              </a:lnSpc>
            </a:pPr>
            <a:r>
              <a:rPr sz="1250" b="0" i="0">
                <a:solidFill>
                  <a:srgbClr val="C9C2BA"/>
                </a:solidFill>
                <a:latin typeface="Pretendard"/>
                <a:ea typeface="Pretendard"/>
              </a:rPr>
              <a:t>우리는 전통을 보존하지 않는다. 보존된 것은 이미 멈춘 것이다. 문화는 박물관 유리장 안에서 박제될 때 죽고, 오늘의 사람들이 마시고·먹고·머물고·선물하는 경험 속으로 들어설 때 비로소 다시 숨을 쉰다. </a:t>
            </a:r>
            <a:r>
              <a:rPr sz="1250" b="1" i="0">
                <a:solidFill>
                  <a:srgbClr val="F5F0EB"/>
                </a:solidFill>
                <a:latin typeface="Pretendard"/>
                <a:ea typeface="Pretendard"/>
              </a:rPr>
              <a:t>그러므로 리진이 하는 일은 복고가 아니다. 번역이다.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3886200"/>
            <a:ext cx="4023360" cy="1371600"/>
          </a:xfrm>
          <a:prstGeom prst="rect">
            <a:avLst/>
          </a:prstGeom>
          <a:solidFill>
            <a:srgbClr val="1E1714"/>
          </a:solidFill>
          <a:ln w="12700">
            <a:solidFill>
              <a:srgbClr val="B86C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886200"/>
            <a:ext cx="40233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B86C4A"/>
                </a:solidFill>
                <a:latin typeface="Pretendard"/>
                <a:ea typeface="Pretendard"/>
              </a:rPr>
              <a:t>SOURCE · 원형</a:t>
            </a:r>
          </a:p>
          <a:p>
            <a:pPr algn="ctr">
              <a:spcBef>
                <a:spcPts val="800"/>
              </a:spcBef>
            </a:pPr>
            <a:r>
              <a:rPr sz="2000" b="1" i="0">
                <a:solidFill>
                  <a:srgbClr val="F5F0EB"/>
                </a:solidFill>
                <a:latin typeface="Pretendard"/>
                <a:ea typeface="Pretendard"/>
              </a:rPr>
              <a:t>가장 깊은 조선의 미학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4251960"/>
            <a:ext cx="1463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6C5CE7"/>
                </a:solidFill>
                <a:latin typeface="Pretendard"/>
                <a:ea typeface="Pretendard"/>
              </a:rPr>
              <a:t>→</a:t>
            </a:r>
          </a:p>
          <a:p>
            <a:pPr algn="ctr"/>
            <a:r>
              <a:rPr sz="900" b="1" i="0">
                <a:solidFill>
                  <a:srgbClr val="7A7570"/>
                </a:solidFill>
                <a:latin typeface="Pretendard"/>
                <a:ea typeface="Pretendard"/>
              </a:rPr>
              <a:t>TRANSLATE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16775" y="3886200"/>
            <a:ext cx="4023360" cy="1371600"/>
          </a:xfrm>
          <a:prstGeom prst="rect">
            <a:avLst/>
          </a:prstGeom>
          <a:solidFill>
            <a:srgbClr val="1E1B2E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16775" y="3886200"/>
            <a:ext cx="40233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1" i="0">
                <a:solidFill>
                  <a:srgbClr val="A29BFE"/>
                </a:solidFill>
                <a:latin typeface="Pretendard"/>
                <a:ea typeface="Pretendard"/>
              </a:rPr>
              <a:t>OUTPUT · 번역</a:t>
            </a:r>
          </a:p>
          <a:p>
            <a:pPr algn="ctr">
              <a:spcBef>
                <a:spcPts val="800"/>
              </a:spcBef>
            </a:pPr>
            <a:r>
              <a:rPr sz="2000" b="1" i="0">
                <a:solidFill>
                  <a:srgbClr val="F5F0EB"/>
                </a:solidFill>
                <a:latin typeface="Pretendard"/>
                <a:ea typeface="Pretendard"/>
              </a:rPr>
              <a:t>가장 세련된 세계의 언어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5532120"/>
            <a:ext cx="10637215" cy="640080"/>
          </a:xfrm>
          <a:prstGeom prst="rect">
            <a:avLst/>
          </a:prstGeom>
          <a:solidFill>
            <a:srgbClr val="1E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5532120"/>
            <a:ext cx="36576" cy="640080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5532120"/>
            <a:ext cx="10180015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 b="0" i="0">
                <a:solidFill>
                  <a:srgbClr val="C9C2BA"/>
                </a:solidFill>
                <a:latin typeface="Pretendard"/>
                <a:ea typeface="Pretendard"/>
              </a:rPr>
              <a:t>“가장 깊은 조선의 미학을 가장 세련된 세계의 언어로 번역하다.” — </a:t>
            </a:r>
            <a:r>
              <a:rPr sz="1200" b="1" i="0">
                <a:solidFill>
                  <a:srgbClr val="A29BFE"/>
                </a:solidFill>
                <a:latin typeface="Pretendard"/>
                <a:ea typeface="Pretendard"/>
              </a:rPr>
              <a:t>리진의 미션이자, 모든 제품·공간·프로그램을 관통하는 단 하나의 동사다.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6327648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 — THE IDEA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8565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06 — ONE SCENE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804672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 i="0">
                <a:solidFill>
                  <a:srgbClr val="F5F0EB"/>
                </a:solidFill>
                <a:latin typeface="Pretendard"/>
                <a:ea typeface="Pretendard"/>
              </a:rPr>
              <a:t>한 테이블 위, 동서고금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08176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4000"/>
              </a:lnSpc>
            </a:pPr>
            <a:r>
              <a:rPr sz="1250" b="0" i="0">
                <a:solidFill>
                  <a:srgbClr val="C9C2BA"/>
                </a:solidFill>
                <a:latin typeface="Pretendard"/>
                <a:ea typeface="Pretendard"/>
              </a:rPr>
              <a:t>키워드가 넷이면 소비자는 셋을 잊는다. 브랜드는 설명으로 기억되지 않는다. </a:t>
            </a:r>
            <a:r>
              <a:rPr sz="1250" b="1" i="0">
                <a:solidFill>
                  <a:srgbClr val="F5F0EB"/>
                </a:solidFill>
                <a:latin typeface="Pretendard"/>
                <a:ea typeface="Pretendard"/>
              </a:rPr>
              <a:t>한 장면</a:t>
            </a:r>
            <a:r>
              <a:rPr sz="1250" b="0" i="0">
                <a:solidFill>
                  <a:srgbClr val="C9C2BA"/>
                </a:solidFill>
                <a:latin typeface="Pretendard"/>
                <a:ea typeface="Pretendard"/>
              </a:rPr>
              <a:t>으로 각인된다. 백자 잔에 담긴 에스프레소, 그 곁의 고가구 한 점 — 동과 서, 과거와 현재가 한 상 위에 나란히 놓이는 찰나. 그 컷이 곧 리진의 시각 문법이다.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657600"/>
            <a:ext cx="10637215" cy="182880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3931920"/>
            <a:ext cx="990569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2400" b="1" i="0">
                <a:solidFill>
                  <a:srgbClr val="F5F0EB"/>
                </a:solidFill>
                <a:latin typeface="Pretendard"/>
                <a:ea typeface="Pretendard"/>
              </a:rPr>
              <a:t>파리에서 돌아온 리진이 차린 다실(茶室).</a:t>
            </a:r>
          </a:p>
          <a:p>
            <a:pPr>
              <a:lnSpc>
                <a:spcPct val="140000"/>
              </a:lnSpc>
            </a:pPr>
            <a:r>
              <a:rPr sz="2400" b="1" i="0">
                <a:solidFill>
                  <a:srgbClr val="A29BFE"/>
                </a:solidFill>
                <a:latin typeface="Pretendard"/>
                <a:ea typeface="Pretendard"/>
              </a:rPr>
              <a:t>잔은 조선 백자, 커피는 에스프레소, </a:t>
            </a:r>
            <a:r>
              <a:rPr sz="2400" b="1" i="0">
                <a:solidFill>
                  <a:srgbClr val="F5F0EB"/>
                </a:solidFill>
                <a:latin typeface="Pretendard"/>
                <a:ea typeface="Pretendard"/>
              </a:rPr>
              <a:t>곁엔 답십리에서 발굴한 고가구 한 점.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1288" y="5074920"/>
            <a:ext cx="1851660" cy="329184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5074920"/>
            <a:ext cx="18516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9C2BA"/>
                </a:solidFill>
                <a:latin typeface="Pretendard"/>
                <a:ea typeface="Pretendard"/>
              </a:rPr>
              <a:t>越境 — 경계를 넘은 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40964" y="5074920"/>
            <a:ext cx="2651760" cy="329184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40964" y="5074920"/>
            <a:ext cx="26517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9C2BA"/>
                </a:solidFill>
                <a:latin typeface="Pretendard"/>
                <a:ea typeface="Pretendard"/>
              </a:rPr>
              <a:t>고미술 + 현대 디저트 = 한 프레임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20740" y="5074920"/>
            <a:ext cx="2194560" cy="329184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20740" y="5074920"/>
            <a:ext cx="21945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9C2BA"/>
                </a:solidFill>
                <a:latin typeface="Pretendard"/>
                <a:ea typeface="Pretendard"/>
              </a:rPr>
              <a:t>공간 = 사진 프레이밍 시스템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43316" y="5074920"/>
            <a:ext cx="1280160" cy="329184"/>
          </a:xfrm>
          <a:prstGeom prst="rect">
            <a:avLst/>
          </a:prstGeom>
          <a:solidFill>
            <a:srgbClr val="111111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3316" y="5074920"/>
            <a:ext cx="12801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C9C2BA"/>
                </a:solidFill>
                <a:latin typeface="Pretendard"/>
                <a:ea typeface="Pretendard"/>
              </a:rPr>
              <a:t>발견되는 한 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97880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850" b="0" i="0">
                <a:solidFill>
                  <a:srgbClr val="7A7570"/>
                </a:solidFill>
                <a:latin typeface="Pretendard"/>
                <a:ea typeface="Pretendard"/>
              </a:rPr>
              <a:t>설계 원칙 — 모든 좌석·집기는 ‘고미술 + 현대 F&amp;B’가 한 프레임에 잡히도록 배치한다. 인테리어가 아니라 미디어를 설계한다.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6327648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 — ONE SCENE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565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07 — THREE PILLARS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804672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 i="0">
                <a:solidFill>
                  <a:srgbClr val="F5F0EB"/>
                </a:solidFill>
                <a:latin typeface="Pretendard"/>
                <a:ea typeface="Pretendard"/>
              </a:rPr>
              <a:t>세 가지 경험, </a:t>
            </a:r>
            <a:r>
              <a:rPr sz="2700" b="1" i="0">
                <a:solidFill>
                  <a:srgbClr val="6C5CE7"/>
                </a:solidFill>
                <a:latin typeface="Pretendard"/>
                <a:ea typeface="Pretendard"/>
              </a:rPr>
              <a:t>하나의 주연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08176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4000"/>
              </a:lnSpc>
            </a:pPr>
            <a:r>
              <a:rPr sz="1250" b="0" i="0">
                <a:solidFill>
                  <a:srgbClr val="C9C2BA"/>
                </a:solidFill>
                <a:latin typeface="Pretendard"/>
                <a:ea typeface="Pretendard"/>
              </a:rPr>
              <a:t>리진은 세 개의 기둥으로 선다. 그러나 셋의 무게는 같지 않다. </a:t>
            </a:r>
            <a:r>
              <a:rPr sz="1250" b="1" i="0">
                <a:solidFill>
                  <a:srgbClr val="F5F0EB"/>
                </a:solidFill>
                <a:latin typeface="Pretendard"/>
                <a:ea typeface="Pretendard"/>
              </a:rPr>
              <a:t>F&amp;B는 사람을 들이는 미끼, 공예 큐레이션이 가닿아야 할 목적지다.</a:t>
            </a:r>
            <a:r>
              <a:rPr sz="1250" b="0" i="0">
                <a:solidFill>
                  <a:srgbClr val="C9C2BA"/>
                </a:solidFill>
                <a:latin typeface="Pretendard"/>
                <a:ea typeface="Pretendard"/>
              </a:rPr>
              <a:t> 주연은 언제나 공예가 잡는다 — 그래야 ‘예쁜 한옥 카페’ 한 줄로 수렴하지 않는다.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611880"/>
            <a:ext cx="4108582" cy="2331720"/>
          </a:xfrm>
          <a:prstGeom prst="rect">
            <a:avLst/>
          </a:prstGeom>
          <a:solidFill>
            <a:srgbClr val="1E1B2E"/>
          </a:solidFill>
          <a:ln w="12700">
            <a:solidFill>
              <a:srgbClr val="6C5C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5" y="3813048"/>
            <a:ext cx="3697102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29BFE"/>
                </a:solidFill>
                <a:latin typeface="Pretendard"/>
                <a:ea typeface="Pretendard"/>
              </a:rPr>
              <a:t>PILLAR 01 · THE HERITAGE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6C5CE7"/>
                </a:solidFill>
                <a:latin typeface="Pretendard"/>
                <a:ea typeface="Pretendard"/>
              </a:rPr>
              <a:t>★ 주연 — 목적지</a:t>
            </a:r>
          </a:p>
          <a:p>
            <a:pPr>
              <a:spcBef>
                <a:spcPts val="700"/>
              </a:spcBef>
            </a:pPr>
            <a:r>
              <a:rPr sz="1800" b="1" i="0">
                <a:solidFill>
                  <a:srgbClr val="F5F0EB"/>
                </a:solidFill>
                <a:latin typeface="Pretendard"/>
                <a:ea typeface="Pretendard"/>
              </a:rPr>
              <a:t>고미술과 공예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 i="0">
                <a:solidFill>
                  <a:srgbClr val="C9C2BA"/>
                </a:solidFill>
                <a:latin typeface="Pretendard"/>
                <a:ea typeface="Pretendard"/>
              </a:rPr>
              <a:t>답십리의 가장 강력한 자산. 고미술·현대 공예를 큐레이션하는 살아있는 갤러리. 커피를 마시러 왔다가 한국의 아름다움을 발견한다.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50" b="1" i="0">
                <a:solidFill>
                  <a:srgbClr val="7A7570"/>
                </a:solidFill>
                <a:latin typeface="Pretendard"/>
                <a:ea typeface="Pretendard"/>
              </a:rPr>
              <a:t>역할 · </a:t>
            </a:r>
            <a:r>
              <a:rPr sz="950" b="0" i="0">
                <a:solidFill>
                  <a:srgbClr val="7A7570"/>
                </a:solidFill>
                <a:latin typeface="Pretendard"/>
                <a:ea typeface="Pretendard"/>
              </a:rPr>
              <a:t>브랜드 무게중심 · 신뢰성 · 큐레이션 커머스의 원천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32126" y="3611880"/>
            <a:ext cx="3044860" cy="233172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1582" y="3813048"/>
            <a:ext cx="2633380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7A7570"/>
                </a:solidFill>
                <a:latin typeface="Pretendard"/>
                <a:ea typeface="Pretendard"/>
              </a:rPr>
              <a:t>PILLAR 02 · THE FUSION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6C5CE7"/>
                </a:solidFill>
                <a:latin typeface="Pretendard"/>
                <a:ea typeface="Pretendard"/>
              </a:rPr>
              <a:t>미끼 — 게이트</a:t>
            </a:r>
          </a:p>
          <a:p>
            <a:pPr>
              <a:spcBef>
                <a:spcPts val="700"/>
              </a:spcBef>
            </a:pPr>
            <a:r>
              <a:rPr sz="1800" b="1" i="0">
                <a:solidFill>
                  <a:srgbClr val="F5F0EB"/>
                </a:solidFill>
                <a:latin typeface="Pretendard"/>
                <a:ea typeface="Pretendard"/>
              </a:rPr>
              <a:t>재해석한 디저트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 i="0">
                <a:solidFill>
                  <a:srgbClr val="C9C2BA"/>
                </a:solidFill>
                <a:latin typeface="Pretendard"/>
                <a:ea typeface="Pretendard"/>
              </a:rPr>
              <a:t>약과를 그대로 내지 않는다. 조선의 맛을 현대 파티세리로 번역 — 오미자 무스, 막걸리 가나슈, 흑임자 밀푀유, 배 숙성 크림.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50" b="1" i="0">
                <a:solidFill>
                  <a:srgbClr val="7A7570"/>
                </a:solidFill>
                <a:latin typeface="Pretendard"/>
                <a:ea typeface="Pretendard"/>
              </a:rPr>
              <a:t>역할 · </a:t>
            </a:r>
            <a:r>
              <a:rPr sz="950" b="0" i="0">
                <a:solidFill>
                  <a:srgbClr val="7A7570"/>
                </a:solidFill>
                <a:latin typeface="Pretendard"/>
                <a:ea typeface="Pretendard"/>
              </a:rPr>
              <a:t>대중적 접근성 · 시각적 극대화 · F&amp;B 기프팅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3290" y="3611880"/>
            <a:ext cx="3191164" cy="233172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42746" y="3813048"/>
            <a:ext cx="2779684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7A7570"/>
                </a:solidFill>
                <a:latin typeface="Pretendard"/>
                <a:ea typeface="Pretendard"/>
              </a:rPr>
              <a:t>PILLAR 03 · THE MODERN</a:t>
            </a:r>
          </a:p>
          <a:p>
            <a:pPr>
              <a:spcBef>
                <a:spcPts val="500"/>
              </a:spcBef>
            </a:pPr>
            <a:r>
              <a:rPr sz="1100" b="1" i="0">
                <a:solidFill>
                  <a:srgbClr val="6C5CE7"/>
                </a:solidFill>
                <a:latin typeface="Pretendard"/>
                <a:ea typeface="Pretendard"/>
              </a:rPr>
              <a:t>미끼 — 앵커</a:t>
            </a:r>
          </a:p>
          <a:p>
            <a:pPr>
              <a:spcBef>
                <a:spcPts val="700"/>
              </a:spcBef>
            </a:pPr>
            <a:r>
              <a:rPr sz="1800" b="1" i="0">
                <a:solidFill>
                  <a:srgbClr val="F5F0EB"/>
                </a:solidFill>
                <a:latin typeface="Pretendard"/>
                <a:ea typeface="Pretendard"/>
              </a:rPr>
              <a:t>다도(茶道) 커피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 i="0">
                <a:solidFill>
                  <a:srgbClr val="C9C2BA"/>
                </a:solidFill>
                <a:latin typeface="Pretendard"/>
                <a:ea typeface="Pretendard"/>
              </a:rPr>
              <a:t>추출·서빙에 궁중 다례의 리추얼을 입힌다. 백자 선의 잔, 공예가의 드리퍼. 커피 한 잔이 숨을 고르는 의식이 된다.</a:t>
            </a:r>
          </a:p>
          <a:p>
            <a:pPr>
              <a:lnSpc>
                <a:spcPct val="125000"/>
              </a:lnSpc>
              <a:spcBef>
                <a:spcPts val="800"/>
              </a:spcBef>
            </a:pPr>
            <a:r>
              <a:rPr sz="950" b="1" i="0">
                <a:solidFill>
                  <a:srgbClr val="7A7570"/>
                </a:solidFill>
                <a:latin typeface="Pretendard"/>
                <a:ea typeface="Pretendard"/>
              </a:rPr>
              <a:t>역할 · </a:t>
            </a:r>
            <a:r>
              <a:rPr sz="950" b="0" i="0">
                <a:solidFill>
                  <a:srgbClr val="7A7570"/>
                </a:solidFill>
                <a:latin typeface="Pretendard"/>
                <a:ea typeface="Pretendard"/>
              </a:rPr>
              <a:t>일상 반복 구매 · 앵커 콘텐츠 · 객단가 기반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6327648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 — THREE PILLARS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565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08 —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804672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 i="0">
                <a:solidFill>
                  <a:srgbClr val="F5F0EB"/>
                </a:solidFill>
                <a:latin typeface="Pretendard"/>
                <a:ea typeface="Pretendard"/>
              </a:rPr>
              <a:t>게이트웨이 </a:t>
            </a:r>
            <a:r>
              <a:rPr sz="2700" b="1" i="0">
                <a:solidFill>
                  <a:srgbClr val="6C5CE7"/>
                </a:solidFill>
                <a:latin typeface="Pretendard"/>
                <a:ea typeface="Pretendard"/>
              </a:rPr>
              <a:t>3층 깔때기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08176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4000"/>
              </a:lnSpc>
            </a:pPr>
            <a:r>
              <a:rPr sz="1250" b="0" i="0">
                <a:solidFill>
                  <a:srgbClr val="C9C2BA"/>
                </a:solidFill>
                <a:latin typeface="Pretendard"/>
                <a:ea typeface="Pretendard"/>
              </a:rPr>
              <a:t>정체성은 하나로 고정한다 — 동네로 들어가는 게이트웨이. 수익은 그 위에 </a:t>
            </a:r>
            <a:r>
              <a:rPr sz="1250" b="1" i="0">
                <a:solidFill>
                  <a:srgbClr val="F5F0EB"/>
                </a:solidFill>
                <a:latin typeface="Pretendard"/>
                <a:ea typeface="Pretendard"/>
              </a:rPr>
              <a:t>F&amp;B → 큐레이션 커머스 → 살롱</a:t>
            </a:r>
            <a:r>
              <a:rPr sz="1250" b="0" i="0">
                <a:solidFill>
                  <a:srgbClr val="C9C2BA"/>
                </a:solidFill>
                <a:latin typeface="Pretendard"/>
                <a:ea typeface="Pretendard"/>
              </a:rPr>
              <a:t> 3층으로 쌓는다. </a:t>
            </a:r>
            <a:r>
              <a:rPr sz="1250" b="1" i="0">
                <a:solidFill>
                  <a:srgbClr val="F5F0EB"/>
                </a:solidFill>
                <a:latin typeface="Pretendard"/>
                <a:ea typeface="Pretendard"/>
              </a:rPr>
              <a:t>미끼는 커피지만, 깔때기의 끝은 답십리다.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657600"/>
            <a:ext cx="10637215" cy="713232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36576" cy="713232"/>
          </a:xfrm>
          <a:prstGeom prst="rect">
            <a:avLst/>
          </a:prstGeom>
          <a:solidFill>
            <a:srgbClr val="8FA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2377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6C5CE7"/>
                </a:solidFill>
                <a:latin typeface="Pretendard"/>
                <a:ea typeface="Pretendard"/>
              </a:rPr>
              <a:t>1층 · GATE</a:t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F5F0EB"/>
                </a:solidFill>
                <a:latin typeface="Pretendard"/>
                <a:ea typeface="Pretendard"/>
              </a:rPr>
              <a:t>다도 커피 · 디저트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657600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 i="0">
                <a:solidFill>
                  <a:srgbClr val="F5F0EB"/>
                </a:solidFill>
                <a:latin typeface="Pretendard"/>
                <a:ea typeface="Pretendard"/>
              </a:rPr>
              <a:t>사람을 들인다.</a:t>
            </a:r>
            <a:r>
              <a:rPr sz="1100" b="0" i="0">
                <a:solidFill>
                  <a:srgbClr val="C9C2BA"/>
                </a:solidFill>
                <a:latin typeface="Pretendard"/>
                <a:ea typeface="Pretendard"/>
              </a:rPr>
              <a:t> 직영 F&amp;B로 일상 방문·회전·SNS 인지. 객단가 1.5–2.5만, 시즌 디저트로 재방문.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9895" y="3657600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29BFE"/>
                </a:solidFill>
                <a:latin typeface="Pretendard"/>
                <a:ea typeface="Pretendard"/>
              </a:rPr>
              <a:t>회전 · 인지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517136"/>
            <a:ext cx="10637215" cy="713232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" y="4517136"/>
            <a:ext cx="36576" cy="713232"/>
          </a:xfrm>
          <a:prstGeom prst="rect">
            <a:avLst/>
          </a:prstGeom>
          <a:solidFill>
            <a:srgbClr val="6C5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17136"/>
            <a:ext cx="2377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6C5CE7"/>
                </a:solidFill>
                <a:latin typeface="Pretendard"/>
                <a:ea typeface="Pretendard"/>
              </a:rPr>
              <a:t>2층 · COMMERCE</a:t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F5F0EB"/>
                </a:solidFill>
                <a:latin typeface="Pretendard"/>
                <a:ea typeface="Pretendard"/>
              </a:rPr>
              <a:t>공예 큐레이션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517136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 i="0">
                <a:solidFill>
                  <a:srgbClr val="F5F0EB"/>
                </a:solidFill>
                <a:latin typeface="Pretendard"/>
                <a:ea typeface="Pretendard"/>
              </a:rPr>
              <a:t>곁의 공예를 산다.</a:t>
            </a:r>
            <a:r>
              <a:rPr sz="1100" b="0" i="0">
                <a:solidFill>
                  <a:srgbClr val="C9C2BA"/>
                </a:solidFill>
                <a:latin typeface="Pretendard"/>
                <a:ea typeface="Pretendard"/>
              </a:rPr>
              <a:t> 점주·장인과 위탁 큐레이션. QR로 원점포 연결 = 게이트웨이 실증. 재고 부담 낮음.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9895" y="4517136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29BFE"/>
                </a:solidFill>
                <a:latin typeface="Pretendard"/>
                <a:ea typeface="Pretendard"/>
              </a:rPr>
              <a:t>위탁 수수료 · 5만~수백만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376672"/>
            <a:ext cx="10637215" cy="713232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" y="5376672"/>
            <a:ext cx="36576" cy="713232"/>
          </a:xfrm>
          <a:prstGeom prst="rect">
            <a:avLst/>
          </a:prstGeom>
          <a:solidFill>
            <a:srgbClr val="D9A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376672"/>
            <a:ext cx="2377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6C5CE7"/>
                </a:solidFill>
                <a:latin typeface="Pretendard"/>
                <a:ea typeface="Pretendard"/>
              </a:rPr>
              <a:t>3층 · SALON</a:t>
            </a:r>
          </a:p>
          <a:p>
            <a:pPr>
              <a:spcBef>
                <a:spcPts val="300"/>
              </a:spcBef>
            </a:pPr>
            <a:r>
              <a:rPr sz="1500" b="1" i="0">
                <a:solidFill>
                  <a:srgbClr val="F5F0EB"/>
                </a:solidFill>
                <a:latin typeface="Pretendard"/>
                <a:ea typeface="Pretendard"/>
              </a:rPr>
              <a:t>멤버십 · 프로그램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5376672"/>
            <a:ext cx="6035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100" b="1" i="0">
                <a:solidFill>
                  <a:srgbClr val="F5F0EB"/>
                </a:solidFill>
                <a:latin typeface="Pretendard"/>
                <a:ea typeface="Pretendard"/>
              </a:rPr>
              <a:t>단골·컬렉터가 된다.</a:t>
            </a:r>
            <a:r>
              <a:rPr sz="1100" b="0" i="0">
                <a:solidFill>
                  <a:srgbClr val="C9C2BA"/>
                </a:solidFill>
                <a:latin typeface="Pretendard"/>
                <a:ea typeface="Pretendard"/>
              </a:rPr>
              <a:t> 다도 클래스, 도슨트 투어, 작가 드롭, 살롱 멤버십으로 락인.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9895" y="5376672"/>
            <a:ext cx="21031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A29BFE"/>
                </a:solidFill>
                <a:latin typeface="Pretendard"/>
                <a:ea typeface="Pretendard"/>
              </a:rPr>
              <a:t>락인 · 프리미엄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6327648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 — GATEWAY MODEL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565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09 — ANCHOR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804672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 i="0">
                <a:solidFill>
                  <a:srgbClr val="F5F0EB"/>
                </a:solidFill>
                <a:latin typeface="Pretendard"/>
                <a:ea typeface="Pretendard"/>
              </a:rPr>
              <a:t>리진은 카페가 아니라 </a:t>
            </a:r>
            <a:r>
              <a:rPr sz="2700" b="1" i="0">
                <a:solidFill>
                  <a:srgbClr val="6C5CE7"/>
                </a:solidFill>
                <a:latin typeface="Pretendard"/>
                <a:ea typeface="Pretendard"/>
              </a:rPr>
              <a:t>동네의 로비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08176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4000"/>
              </a:lnSpc>
            </a:pPr>
            <a:r>
              <a:rPr sz="1250" b="0" i="0">
                <a:solidFill>
                  <a:srgbClr val="C9C2BA"/>
                </a:solidFill>
                <a:latin typeface="Pretendard"/>
                <a:ea typeface="Pretendard"/>
              </a:rPr>
              <a:t>리진의 첫 목표는 제 매출이 아니다. </a:t>
            </a:r>
            <a:r>
              <a:rPr sz="1250" b="1" i="0">
                <a:solidFill>
                  <a:srgbClr val="F5F0EB"/>
                </a:solidFill>
                <a:latin typeface="Pretendard"/>
                <a:ea typeface="Pretendard"/>
              </a:rPr>
              <a:t>답십리 전체를 깨우는 앵커가 되는 것이다.</a:t>
            </a:r>
            <a:r>
              <a:rPr sz="1250" b="0" i="0">
                <a:solidFill>
                  <a:srgbClr val="C9C2BA"/>
                </a:solidFill>
                <a:latin typeface="Pretendard"/>
                <a:ea typeface="Pretendard"/>
              </a:rPr>
              <a:t> 사람들은 커피를 마시러 온다. 그러다 고미술을 발견한다. 그리고 결국 동네 전체를 걷는다.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6C5CE7"/>
                </a:solidFill>
                <a:latin typeface="Pretendard"/>
                <a:ea typeface="Pretendard"/>
              </a:rPr>
              <a:t>+α  </a:t>
            </a:r>
            <a:r>
              <a:rPr sz="1300" b="0" i="0">
                <a:solidFill>
                  <a:srgbClr val="C9C2BA"/>
                </a:solidFill>
                <a:latin typeface="Pretendard"/>
                <a:ea typeface="Pretendard"/>
              </a:rPr>
              <a:t>유동인구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050" b="0" i="0">
                <a:solidFill>
                  <a:srgbClr val="7A7570"/>
                </a:solidFill>
                <a:latin typeface="Pretendard"/>
                <a:ea typeface="Pretendard"/>
              </a:rPr>
              <a:t>젊은 방문객·외국인·문화 소비자를 동네로 유입시키는 첫 관문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25696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6C5CE7"/>
                </a:solidFill>
                <a:latin typeface="Pretendard"/>
                <a:ea typeface="Pretendard"/>
              </a:rPr>
              <a:t>QR  </a:t>
            </a:r>
            <a:r>
              <a:rPr sz="1300" b="0" i="0">
                <a:solidFill>
                  <a:srgbClr val="C9C2BA"/>
                </a:solidFill>
                <a:latin typeface="Pretendard"/>
                <a:ea typeface="Pretendard"/>
              </a:rPr>
              <a:t>전환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050" b="0" i="0">
                <a:solidFill>
                  <a:srgbClr val="7A7570"/>
                </a:solidFill>
                <a:latin typeface="Pretendard"/>
                <a:ea typeface="Pretendard"/>
              </a:rPr>
              <a:t>공예 코너 → 원점포 유입률로 ‘동네로 들어갔는가’를 실측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193792"/>
            <a:ext cx="4114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600" b="1" i="0">
                <a:solidFill>
                  <a:srgbClr val="6C5CE7"/>
                </a:solidFill>
                <a:latin typeface="Pretendard"/>
                <a:ea typeface="Pretendard"/>
              </a:rPr>
              <a:t>↑  </a:t>
            </a:r>
            <a:r>
              <a:rPr sz="1300" b="0" i="0">
                <a:solidFill>
                  <a:srgbClr val="C9C2BA"/>
                </a:solidFill>
                <a:latin typeface="Pretendard"/>
                <a:ea typeface="Pretendard"/>
              </a:rPr>
              <a:t>자산가치</a:t>
            </a:r>
          </a:p>
          <a:p>
            <a:pPr>
              <a:lnSpc>
                <a:spcPct val="125000"/>
              </a:lnSpc>
              <a:spcBef>
                <a:spcPts val="200"/>
              </a:spcBef>
            </a:pPr>
            <a:r>
              <a:rPr sz="1050" b="0" i="0">
                <a:solidFill>
                  <a:srgbClr val="7A7570"/>
                </a:solidFill>
                <a:latin typeface="Pretendard"/>
                <a:ea typeface="Pretendard"/>
              </a:rPr>
              <a:t>동네의 문화 권위와 자산가치 상승을 가장 먼저 만드는 거점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3611880"/>
            <a:ext cx="5212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4000"/>
              </a:lnSpc>
            </a:pPr>
            <a:r>
              <a:rPr sz="1600" b="1" i="0">
                <a:solidFill>
                  <a:srgbClr val="F5F0EB"/>
                </a:solidFill>
                <a:latin typeface="Pretendard"/>
                <a:ea typeface="Pretendard"/>
              </a:rPr>
              <a:t>우리가 만드는 것은 카페도, 편집샵도, 갤러리도 아니다. </a:t>
            </a:r>
            <a:r>
              <a:rPr sz="1600" b="1" i="0">
                <a:solidFill>
                  <a:srgbClr val="A29BFE"/>
                </a:solidFill>
                <a:latin typeface="Pretendard"/>
                <a:ea typeface="Pretendard"/>
              </a:rPr>
              <a:t>답십리 전체를 잇는 하나의 문화적 로비다.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4892040"/>
            <a:ext cx="52120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100" b="0" i="0">
                <a:solidFill>
                  <a:srgbClr val="C9C2BA"/>
                </a:solidFill>
                <a:latin typeface="Pretendard"/>
                <a:ea typeface="Pretendard"/>
              </a:rPr>
              <a:t>1년차의 성패는 객단가나 회전이 아니라 ① 동네 트래픽 ② 공예 QR→상가 유입률 ③ 멤버십 사전신청 수로 본다. 성공은 답십리가 현대 문화 지도에 처음 이름을 올리는 것으로 측정한다.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6327648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 — ANCHOR 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8565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457200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10 — 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457200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7A7570"/>
                </a:solidFill>
                <a:latin typeface="Pretendard"/>
                <a:ea typeface="Pretendard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804672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1063721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6000"/>
              </a:lnSpc>
            </a:pPr>
            <a:r>
              <a:rPr sz="2700" b="1" i="0">
                <a:solidFill>
                  <a:srgbClr val="F5F0EB"/>
                </a:solidFill>
                <a:latin typeface="Pretendard"/>
                <a:ea typeface="Pretendard"/>
              </a:rPr>
              <a:t>게이트웨이에서 </a:t>
            </a:r>
            <a:r>
              <a:rPr sz="2700" b="1" i="0">
                <a:solidFill>
                  <a:srgbClr val="6C5CE7"/>
                </a:solidFill>
                <a:latin typeface="Pretendard"/>
                <a:ea typeface="Pretendard"/>
              </a:rPr>
              <a:t>플랫폼</a:t>
            </a:r>
            <a:r>
              <a:rPr sz="2700" b="1" i="0">
                <a:solidFill>
                  <a:srgbClr val="F5F0EB"/>
                </a:solidFill>
                <a:latin typeface="Pretendard"/>
                <a:ea typeface="Pretendard"/>
              </a:rPr>
              <a:t>으로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08176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4000"/>
              </a:lnSpc>
            </a:pPr>
            <a:r>
              <a:rPr sz="1250" b="0" i="0">
                <a:solidFill>
                  <a:srgbClr val="C9C2BA"/>
                </a:solidFill>
                <a:latin typeface="Pretendard"/>
                <a:ea typeface="Pretendard"/>
              </a:rPr>
              <a:t>리진은 한 점포에서 멈추지 않는다. 장면이 SNS로 퍼지고, 방문이 공예의 발견·구매로 이어지고, 단골이 멤버가 되고, 작가·점주가 합류해 큐레이션이 깊어진다. </a:t>
            </a:r>
            <a:r>
              <a:rPr sz="1250" b="1" i="0">
                <a:solidFill>
                  <a:srgbClr val="F5F0EB"/>
                </a:solidFill>
                <a:latin typeface="Pretendard"/>
                <a:ea typeface="Pretendard"/>
              </a:rPr>
              <a:t>이 바퀴가 돌수록 리진은 답십리를 만든 게이트웨이 플랫폼이 된다.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657600"/>
            <a:ext cx="3527450" cy="2286000"/>
          </a:xfrm>
          <a:prstGeom prst="rect">
            <a:avLst/>
          </a:prstGeom>
          <a:solidFill>
            <a:srgbClr val="1E1B2E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5" y="3877056"/>
            <a:ext cx="31342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A29BFE"/>
                </a:solidFill>
                <a:latin typeface="Pretendard"/>
                <a:ea typeface="Pretendard"/>
              </a:rPr>
              <a:t>초기 · 0–1년</a:t>
            </a:r>
          </a:p>
          <a:p>
            <a:pPr>
              <a:spcBef>
                <a:spcPts val="700"/>
              </a:spcBef>
            </a:pPr>
            <a:r>
              <a:rPr sz="1600" b="1" i="0">
                <a:solidFill>
                  <a:srgbClr val="F5F0EB"/>
                </a:solidFill>
                <a:latin typeface="Pretendard"/>
                <a:ea typeface="Pretendard"/>
              </a:rPr>
              <a:t>게이트 살롱 오픈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 i="0">
                <a:solidFill>
                  <a:srgbClr val="C9C2BA"/>
                </a:solidFill>
                <a:latin typeface="Pretendard"/>
                <a:ea typeface="Pretendard"/>
              </a:rPr>
              <a:t>F&amp;B + 공예 코너 + 동네 연계. 인지·SNS 장면 자산 축적. 게이트웨이 가설 실증.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900" b="1" i="0">
                <a:solidFill>
                  <a:srgbClr val="7A7570"/>
                </a:solidFill>
                <a:latin typeface="Pretendard"/>
                <a:ea typeface="Pretendard"/>
              </a:rPr>
              <a:t>수익 · </a:t>
            </a:r>
            <a:r>
              <a:rPr sz="900" b="1" i="0">
                <a:solidFill>
                  <a:srgbClr val="6C5CE7"/>
                </a:solidFill>
                <a:latin typeface="Pretendard"/>
                <a:ea typeface="Pretendard"/>
              </a:rPr>
              <a:t>F&amp;B 60 / 커머스 30 / 프로그램 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2978" y="3657600"/>
            <a:ext cx="3527450" cy="228600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2434" y="3877056"/>
            <a:ext cx="31342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7A7570"/>
                </a:solidFill>
                <a:latin typeface="Pretendard"/>
                <a:ea typeface="Pretendard"/>
              </a:rPr>
              <a:t>중기 · 1–3년</a:t>
            </a:r>
          </a:p>
          <a:p>
            <a:pPr>
              <a:spcBef>
                <a:spcPts val="700"/>
              </a:spcBef>
            </a:pPr>
            <a:r>
              <a:rPr sz="1600" b="1" i="0">
                <a:solidFill>
                  <a:srgbClr val="F5F0EB"/>
                </a:solidFill>
                <a:latin typeface="Pretendard"/>
                <a:ea typeface="Pretendard"/>
              </a:rPr>
              <a:t>커머스 · 멤버십 정착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 i="0">
                <a:solidFill>
                  <a:srgbClr val="C9C2BA"/>
                </a:solidFill>
                <a:latin typeface="Pretendard"/>
                <a:ea typeface="Pretendard"/>
              </a:rPr>
              <a:t>큐레이션 커머스 강화, 멤버십·도슨트 정착. 컬렉터·작가 네트워크 형성.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900" b="1" i="0">
                <a:solidFill>
                  <a:srgbClr val="7A7570"/>
                </a:solidFill>
                <a:latin typeface="Pretendard"/>
                <a:ea typeface="Pretendard"/>
              </a:rPr>
              <a:t>수익 · </a:t>
            </a:r>
            <a:r>
              <a:rPr sz="900" b="0" i="0">
                <a:solidFill>
                  <a:srgbClr val="7A7570"/>
                </a:solidFill>
                <a:latin typeface="Pretendard"/>
                <a:ea typeface="Pretendard"/>
              </a:rPr>
              <a:t>F&amp;B 40 / 커머스 35 / 프로그램 25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8716" y="3657600"/>
            <a:ext cx="3527450" cy="2286000"/>
          </a:xfrm>
          <a:prstGeom prst="rect">
            <a:avLst/>
          </a:prstGeom>
          <a:solidFill>
            <a:srgbClr val="222222"/>
          </a:solidFill>
          <a:ln w="9525">
            <a:solidFill>
              <a:srgbClr val="2A2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8172" y="3877056"/>
            <a:ext cx="313425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7A7570"/>
                </a:solidFill>
                <a:latin typeface="Pretendard"/>
                <a:ea typeface="Pretendard"/>
              </a:rPr>
              <a:t>후기 · 3년~</a:t>
            </a:r>
          </a:p>
          <a:p>
            <a:pPr>
              <a:spcBef>
                <a:spcPts val="700"/>
              </a:spcBef>
            </a:pPr>
            <a:r>
              <a:rPr sz="1600" b="1" i="0">
                <a:solidFill>
                  <a:srgbClr val="F5F0EB"/>
                </a:solidFill>
                <a:latin typeface="Pretendard"/>
                <a:ea typeface="Pretendard"/>
              </a:rPr>
              <a:t>답십리 게이트웨이 플랫폼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1050" b="0" i="0">
                <a:solidFill>
                  <a:srgbClr val="C9C2BA"/>
                </a:solidFill>
                <a:latin typeface="Pretendard"/>
                <a:ea typeface="Pretendard"/>
              </a:rPr>
              <a:t>트래픽 분배 · 브랜드 라이선스 · 헤리티지 컨설팅. 답십리 = 리진이 만든 동네.</a:t>
            </a:r>
          </a:p>
          <a:p>
            <a:pPr>
              <a:lnSpc>
                <a:spcPct val="125000"/>
              </a:lnSpc>
              <a:spcBef>
                <a:spcPts val="1000"/>
              </a:spcBef>
            </a:pPr>
            <a:r>
              <a:rPr sz="900" b="1" i="0">
                <a:solidFill>
                  <a:srgbClr val="7A7570"/>
                </a:solidFill>
                <a:latin typeface="Pretendard"/>
                <a:ea typeface="Pretendard"/>
              </a:rPr>
              <a:t>수익 · </a:t>
            </a:r>
            <a:r>
              <a:rPr sz="900" b="0" i="0">
                <a:solidFill>
                  <a:srgbClr val="7A7570"/>
                </a:solidFill>
                <a:latin typeface="Pretendard"/>
                <a:ea typeface="Pretendard"/>
              </a:rPr>
              <a:t>플랫폼 · B2B 상승 (분산)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6327648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 — EVOLUTION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85655" y="6382512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A7570"/>
                </a:solidFill>
                <a:latin typeface="Pretendard"/>
                <a:ea typeface="Pretendard"/>
              </a:rPr>
              <a:t>LI-TSIN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 i="0">
                <a:solidFill>
                  <a:srgbClr val="7A7570"/>
                </a:solidFill>
                <a:latin typeface="Pretendard"/>
                <a:ea typeface="Pretendard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7899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4000"/>
              </a:lnSpc>
            </a:pPr>
            <a:r>
              <a:rPr sz="6000" b="1" i="0">
                <a:solidFill>
                  <a:srgbClr val="F5F0EB"/>
                </a:solidFill>
                <a:latin typeface="Pretendard"/>
                <a:ea typeface="Pretendard"/>
              </a:rPr>
              <a:t>리진이,</a:t>
            </a:r>
          </a:p>
          <a:p>
            <a:pPr>
              <a:lnSpc>
                <a:spcPct val="104000"/>
              </a:lnSpc>
            </a:pPr>
            <a:r>
              <a:rPr sz="6000" b="1" i="0">
                <a:solidFill>
                  <a:srgbClr val="6C5CE7"/>
                </a:solidFill>
                <a:latin typeface="Pretendard"/>
                <a:ea typeface="Pretendard"/>
              </a:rPr>
              <a:t>답십리로 돌아왔다.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5720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600" b="0" i="0">
                <a:solidFill>
                  <a:srgbClr val="C9C2BA"/>
                </a:solidFill>
                <a:latin typeface="Pretendard"/>
                <a:ea typeface="Pretendard"/>
              </a:rPr>
              <a:t>리진이 차린 것은 카페가 아니라 관문이다. 사람들은 커피 한 잔을 들고 들어와, 조선의 가장 오래된 아름다움과 오늘의 가장 새로운 감각을 한 자리에서 마주한다.</a:t>
            </a:r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sz="1600" b="0" i="0">
                <a:solidFill>
                  <a:srgbClr val="C9C2BA"/>
                </a:solidFill>
                <a:latin typeface="Pretendard"/>
                <a:ea typeface="Pretendard"/>
              </a:rPr>
              <a:t>시간은 흐르고 아름다움은 쉽게 박제되지만, 리진은 그 박제를 풀어 멈춰 있던 것을 다시 살게 한다.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6035040"/>
            <a:ext cx="10637215" cy="10972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6089904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1" i="0">
                <a:solidFill>
                  <a:srgbClr val="7A7570"/>
                </a:solidFill>
                <a:latin typeface="Pretendard"/>
                <a:ea typeface="Pretendard"/>
              </a:rPr>
              <a:t>LI-TSIN · La Fleur d'une Âme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42455" y="6089904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7A7570"/>
                </a:solidFill>
                <a:latin typeface="Pretendard"/>
                <a:ea typeface="Pretendard"/>
              </a:rPr>
              <a:t>다음 단계 · 공간 스펙 TBD · 예산 TBD · 오픈 TBD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