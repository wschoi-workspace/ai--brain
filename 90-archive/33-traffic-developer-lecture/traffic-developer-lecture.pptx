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82880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REAL ESTATE DEVELOPMENT · THE NEXT 10 YEARS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286000"/>
            <a:ext cx="11057839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4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부동산 개발의 다음 10년</a:t>
            </a:r>
          </a:p>
          <a:p>
            <a:pPr algn="ctr">
              <a:lnSpc>
                <a:spcPct val="110000"/>
              </a:lnSpc>
            </a:pPr>
            <a:r>
              <a:rPr sz="4400" b="0">
                <a:solidFill>
                  <a:srgbClr val="A29BFE"/>
                </a:solidFill>
                <a:latin typeface="Pretendard"/>
                <a:ea typeface="Pretendard"/>
                <a:cs typeface="Pretendard"/>
              </a:rPr>
              <a:t>건물에서 트래픽으로</a:t>
            </a:r>
          </a:p>
        </p:txBody>
      </p:sp>
      <p:sp>
        <p:nvSpPr>
          <p:cNvPr id="5" name="Rectangle 4"/>
          <p:cNvSpPr/>
          <p:nvPr/>
        </p:nvSpPr>
        <p:spPr>
          <a:xfrm>
            <a:off x="5821527" y="3977639"/>
            <a:ext cx="548640" cy="27432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20624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사람들은 건물을 찾아가지 않는다.</a:t>
            </a:r>
          </a:p>
          <a:p>
            <a:pPr algn="ctr">
              <a:lnSpc>
                <a:spcPct val="130000"/>
              </a:lnSpc>
            </a:pPr>
            <a:r>
              <a:rPr sz="19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이유를 찾아간다.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30352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BY PROJECT RENT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BUILDING → TRAFFIC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90063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BY PROJECT RENT ·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WHY THIS LECTURE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이 강의는 </a:t>
            </a:r>
            <a:r>
              <a:rPr sz="2800" b="1">
                <a:solidFill>
                  <a:srgbClr val="A29BFE"/>
                </a:solidFill>
                <a:latin typeface="Pretendard"/>
                <a:ea typeface="Pretendard"/>
                <a:cs typeface="Pretendard"/>
              </a:rPr>
              <a:t>부동산 강의가 아니다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81912"/>
            <a:ext cx="502920" cy="25603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91640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가치가 어떻게 만들어지는가 — 그리고 왜 앞으로 부동산 개발은 건설업이 아니라 </a:t>
            </a:r>
            <a:r>
              <a:rPr sz="15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운영업</a:t>
            </a: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에 가까워질 것인가를 설명하는 강의다.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423160"/>
            <a:ext cx="5346039" cy="173736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QUESTION 1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가치는 어떻게 만들어지는가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땅값과 건물값은 결과일 뿐이다. 그 값을 움직이는 진짜 동력이 무엇인지 거슬러 올라간다.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2423160"/>
            <a:ext cx="5346039" cy="1737360"/>
          </a:xfrm>
          <a:prstGeom prst="roundRect">
            <a:avLst>
              <a:gd name="adj" fmla="val 6000"/>
            </a:avLst>
          </a:prstGeom>
          <a:solidFill>
            <a:srgbClr val="24203A"/>
          </a:solidFill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A29BFE"/>
                </a:solidFill>
                <a:latin typeface="Pretendard"/>
                <a:ea typeface="Pretendard"/>
                <a:cs typeface="Pretendard"/>
              </a:rPr>
              <a:t>QUESTION 2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왜 개발이 건설업에서 운영업이 되는가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짓고 파는 사업에서, 사람이 찾아올 이유를 만들고 운영하는 사업으로. 패러다임 전환을 추적한다.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480560"/>
            <a:ext cx="3381146" cy="68580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토지의 시대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48074" y="44805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5274" y="4480560"/>
            <a:ext cx="3381146" cy="68580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건물의 시대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86420" y="44805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43620" y="4480560"/>
            <a:ext cx="3381146" cy="685800"/>
          </a:xfrm>
          <a:prstGeom prst="roundRect">
            <a:avLst>
              <a:gd name="adj" fmla="val 6000"/>
            </a:avLst>
          </a:prstGeom>
          <a:solidFill>
            <a:srgbClr val="261F3D"/>
          </a:solidFill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트래픽의 시대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LECTURE GOAL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0063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1057839" cy="3657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0" b="0">
                <a:solidFill>
                  <a:srgbClr val="262422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82880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A29BFE"/>
                </a:solidFill>
                <a:latin typeface="Pretendard"/>
                <a:ea typeface="Pretendard"/>
                <a:cs typeface="Pretendard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468880"/>
            <a:ext cx="11057839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부동산은 현재 가치일까,</a:t>
            </a:r>
          </a:p>
          <a:p>
            <a:pPr algn="ctr">
              <a:lnSpc>
                <a:spcPct val="115000"/>
              </a:lnSpc>
            </a:pPr>
            <a:r>
              <a:rPr sz="3600" b="0">
                <a:solidFill>
                  <a:srgbClr val="A29BFE"/>
                </a:solidFill>
                <a:latin typeface="Pretendard"/>
                <a:ea typeface="Pretendard"/>
                <a:cs typeface="Pretendard"/>
              </a:rPr>
              <a:t>미래 가치</a:t>
            </a:r>
            <a:r>
              <a:rPr sz="36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일까?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0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우리가 사는 것은 지금의 입지인가, 앞으로의 기대인가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PART 1 — 현재 가치 VS 미래 가치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90063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P1 · THE NATURE OF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부동산은 현재 가치일까, 미래 가치일까?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81912"/>
            <a:ext cx="502920" cy="25603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91640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사람들은 강남이 좋아서 샀을까, 좋아질 것이라 믿어서 샀을까. 부동산의 본질은 현재가 아니라 </a:t>
            </a:r>
            <a:r>
              <a:rPr sz="15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미래 가치의 거래</a:t>
            </a: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에 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1949157" y="3255264"/>
            <a:ext cx="8293379" cy="1828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57717" y="3108960"/>
            <a:ext cx="182880" cy="182880"/>
          </a:xfrm>
          <a:prstGeom prst="ellipse">
            <a:avLst/>
          </a:prstGeom>
          <a:solidFill>
            <a:srgbClr val="222222"/>
          </a:solidFill>
          <a:ln w="25400">
            <a:solidFill>
              <a:srgbClr val="7A7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474720"/>
            <a:ext cx="27644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1973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977639"/>
            <a:ext cx="27644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강남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343400"/>
            <a:ext cx="27644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영동지구 개발촉진지구 지정
정책·인프라가 만든 계획도시</a:t>
            </a:r>
          </a:p>
        </p:txBody>
      </p:sp>
      <p:sp>
        <p:nvSpPr>
          <p:cNvPr id="12" name="Oval 11"/>
          <p:cNvSpPr/>
          <p:nvPr/>
        </p:nvSpPr>
        <p:spPr>
          <a:xfrm>
            <a:off x="4622177" y="3108960"/>
            <a:ext cx="182880" cy="182880"/>
          </a:xfrm>
          <a:prstGeom prst="ellipse">
            <a:avLst/>
          </a:prstGeom>
          <a:solidFill>
            <a:srgbClr val="222222"/>
          </a:solidFill>
          <a:ln w="25400">
            <a:solidFill>
              <a:srgbClr val="7A7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1387" y="3474720"/>
            <a:ext cx="27644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2009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1387" y="3977639"/>
            <a:ext cx="27644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판교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1387" y="4343400"/>
            <a:ext cx="27644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신도시 입주·2012 테크노밸리
IT 산업이 만든 자족도시</a:t>
            </a:r>
          </a:p>
        </p:txBody>
      </p:sp>
      <p:sp>
        <p:nvSpPr>
          <p:cNvPr id="16" name="Oval 15"/>
          <p:cNvSpPr/>
          <p:nvPr/>
        </p:nvSpPr>
        <p:spPr>
          <a:xfrm>
            <a:off x="7386637" y="3108960"/>
            <a:ext cx="182880" cy="182880"/>
          </a:xfrm>
          <a:prstGeom prst="ellipse">
            <a:avLst/>
          </a:prstGeom>
          <a:solidFill>
            <a:srgbClr val="222222"/>
          </a:solidFill>
          <a:ln w="25400">
            <a:solidFill>
              <a:srgbClr val="7A7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5847" y="3474720"/>
            <a:ext cx="27644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2010s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5847" y="3977639"/>
            <a:ext cx="27644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성수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5847" y="4343400"/>
            <a:ext cx="27644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서울숲(2000s)→산업·문화 집적
자생적으로 떠오른 거리</a:t>
            </a:r>
          </a:p>
        </p:txBody>
      </p:sp>
      <p:sp>
        <p:nvSpPr>
          <p:cNvPr id="20" name="Oval 19"/>
          <p:cNvSpPr/>
          <p:nvPr/>
        </p:nvSpPr>
        <p:spPr>
          <a:xfrm>
            <a:off x="10151097" y="3108960"/>
            <a:ext cx="182880" cy="182880"/>
          </a:xfrm>
          <a:prstGeom prst="ellipse">
            <a:avLst/>
          </a:prstGeom>
          <a:solidFill>
            <a:srgbClr val="6C5CE7"/>
          </a:solidFill>
          <a:ln w="254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0307" y="3474720"/>
            <a:ext cx="27644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Now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0307" y="3977639"/>
            <a:ext cx="27644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A29BFE"/>
                </a:solidFill>
                <a:latin typeface="Pretendard"/>
                <a:ea typeface="Pretendard"/>
                <a:cs typeface="Pretendard"/>
              </a:rPr>
              <a:t>다음은?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0307" y="4343400"/>
            <a:ext cx="27644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미래 기대가 먼저,
가격은 뒤따른다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80644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출처: 서울정책아카이브(강남), 판교테크노밸리(판교), 건국대 글로컬문화전략연구소(성수)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BUILDING → TRAFFIC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90063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P2 · BUYING THE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사람들은 왜 미래의 강남을 사는가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81912"/>
            <a:ext cx="502920" cy="25603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91640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부동산 가격은 현재 가치의 반영이 아니다. 사람들이 믿는 </a:t>
            </a:r>
            <a:r>
              <a:rPr sz="15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미래의 크기</a:t>
            </a: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를 거래하는 시장이다.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21407" y="2514600"/>
            <a:ext cx="3108960" cy="566928"/>
          </a:xfrm>
          <a:prstGeom prst="roundRect">
            <a:avLst>
              <a:gd name="adj" fmla="val 6000"/>
            </a:avLst>
          </a:prstGeom>
          <a:solidFill>
            <a:srgbClr val="261F3D"/>
          </a:solidFill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미래 기대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47287" y="30632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21407" y="3392424"/>
            <a:ext cx="3108960" cy="566928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사람과 자본의 유입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7287" y="394106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21407" y="4270248"/>
            <a:ext cx="3108960" cy="566928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가격 형성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24367" y="2514600"/>
            <a:ext cx="4023360" cy="1005840"/>
          </a:xfrm>
          <a:prstGeom prst="roundRect">
            <a:avLst>
              <a:gd name="adj" fmla="val 6000"/>
            </a:avLst>
          </a:prstGeom>
          <a:solidFill>
            <a:srgbClr val="171F26"/>
          </a:solidFill>
          <a:ln w="12700">
            <a:solidFill>
              <a:srgbClr val="6F8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판교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아직 없는 산업단지를 미리 샀다 — 테크노밸리 기대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24367" y="3657600"/>
            <a:ext cx="4023360" cy="1005840"/>
          </a:xfrm>
          <a:prstGeom prst="roundRect">
            <a:avLst>
              <a:gd name="adj" fmla="val 6000"/>
            </a:avLst>
          </a:prstGeom>
          <a:solidFill>
            <a:srgbClr val="171F26"/>
          </a:solidFill>
          <a:ln w="12700">
            <a:solidFill>
              <a:srgbClr val="6F8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마곡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기업 이전이 '예정'된 시점에 가격이 먼저 움직였다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24367" y="4800600"/>
            <a:ext cx="4023360" cy="1005840"/>
          </a:xfrm>
          <a:prstGeom prst="roundRect">
            <a:avLst>
              <a:gd name="adj" fmla="val 6000"/>
            </a:avLst>
          </a:prstGeom>
          <a:solidFill>
            <a:srgbClr val="171F26"/>
          </a:solidFill>
          <a:ln w="12700">
            <a:solidFill>
              <a:srgbClr val="6F8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한남동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'앞으로 더 귀해질 희소성'에 대한 베팅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BUILDING → TRAFFIC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0063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P3 · ORDER OF 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살기 좋아서 비싼가, 비싸서 살기 좋은가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81912"/>
            <a:ext cx="502920" cy="25603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91640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두 가지 모두 맞다. 하지만 중요한 것은 </a:t>
            </a:r>
            <a:r>
              <a:rPr sz="15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순서</a:t>
            </a: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다. 좋은 이유가 먼저인가, 가격이 먼저인가.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017520"/>
            <a:ext cx="1845807" cy="86868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좋은 이유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12735" y="30175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9935" y="3017520"/>
            <a:ext cx="1845807" cy="86868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사람이 모임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15743" y="30175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72943" y="3017520"/>
            <a:ext cx="1845807" cy="86868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가격 상승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8751" y="30175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75951" y="3017520"/>
            <a:ext cx="1845807" cy="86868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인프라 유입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1759" y="30175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78959" y="3017520"/>
            <a:ext cx="1845807" cy="868680"/>
          </a:xfrm>
          <a:prstGeom prst="roundRect">
            <a:avLst>
              <a:gd name="adj" fmla="val 6000"/>
            </a:avLst>
          </a:prstGeom>
          <a:solidFill>
            <a:srgbClr val="261F3D"/>
          </a:solidFill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더 좋은 이유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48056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가치는 직선이 아니라 </a:t>
            </a:r>
            <a:r>
              <a:rPr sz="15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순환</a:t>
            </a: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한다. 한 바퀴를 먼저 돌리는 '이유'가 어디서 오는지가 핵심이다.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BUILDING → TRAFFIC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0063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P4 ·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부동산 가격은 </a:t>
            </a:r>
            <a:r>
              <a:rPr sz="2800" b="1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사람들이 믿는 미래의 크기</a:t>
            </a:r>
            <a:r>
              <a:rPr sz="28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81912"/>
            <a:ext cx="502920" cy="25603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91640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결국 사람들은 미래를 사고 있다. 그렇다면 사람들은 무엇을 보고 미래를 판단할까.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108960"/>
            <a:ext cx="2421559" cy="86868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입지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88487" y="31089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5687" y="3108960"/>
            <a:ext cx="2421559" cy="86868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학군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67247" y="31089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447" y="3108960"/>
            <a:ext cx="2421559" cy="86868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개발 호재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46007" y="31089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03207" y="3108960"/>
            <a:ext cx="2421559" cy="868680"/>
          </a:xfrm>
          <a:prstGeom prst="roundRect">
            <a:avLst>
              <a:gd name="adj" fmla="val 6000"/>
            </a:avLst>
          </a:prstGeom>
          <a:solidFill>
            <a:srgbClr val="261F3D"/>
          </a:solidFill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미래 기대 = 가격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57200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지금까지 '미래의 근거'는 입지·학군·개발 호재였다. 그런데 이 근거들이 흔들리기 시작했다 — 그것이 다음 이야기다.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BUILDING → TRAFFIC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0063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1057839" cy="3657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0" b="0">
                <a:solidFill>
                  <a:srgbClr val="262422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82880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A29BFE"/>
                </a:solidFill>
                <a:latin typeface="Pretendard"/>
                <a:ea typeface="Pretendard"/>
                <a:cs typeface="Pretendard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468880"/>
            <a:ext cx="11057839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왜 지금</a:t>
            </a:r>
          </a:p>
          <a:p>
            <a:pPr algn="ctr">
              <a:lnSpc>
                <a:spcPct val="115000"/>
              </a:lnSpc>
            </a:pPr>
            <a:r>
              <a:rPr sz="36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이 이야기가 중요한가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0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공급의 시대가 끝나고 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PART 2 — 왜 지금인가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90063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P5 · PF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PF가 어려운 진짜 이유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81912"/>
            <a:ext cx="502920" cy="25603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91640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PF(프로젝트 파이낸싱) 위기를 흔히 금리 문제로 본다. 하지만 더 큰 원인은 </a:t>
            </a:r>
            <a:r>
              <a:rPr sz="15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공급 중심 모델의 한계</a:t>
            </a: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017520"/>
            <a:ext cx="1845807" cy="82296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인구 증가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12735" y="30175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9935" y="3017520"/>
            <a:ext cx="1845807" cy="82296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공간 부족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15743" y="30175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72943" y="3017520"/>
            <a:ext cx="1845807" cy="82296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개발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8751" y="30175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75951" y="3017520"/>
            <a:ext cx="1845807" cy="82296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분양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1759" y="30175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78959" y="3017520"/>
            <a:ext cx="1845807" cy="82296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8FA37E"/>
                </a:solidFill>
                <a:latin typeface="Pretendard"/>
                <a:ea typeface="Pretendard"/>
                <a:cs typeface="Pretendard"/>
              </a:rPr>
              <a:t>성공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48056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0">
                <a:solidFill>
                  <a:srgbClr val="D9A34B"/>
                </a:solidFill>
                <a:latin typeface="Pretendard"/>
                <a:ea typeface="Pretendard"/>
                <a:cs typeface="Pretendard"/>
              </a:rPr>
              <a:t>이 공식은 '공급이 부족하던 시대'의 공식이었다. </a:t>
            </a: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분양만 되면 끝나던 모델이, 사람이 안 오면 멈춘다.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BUILDING → TRAFFIC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0063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P6 · THE SHORTAGE 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우리는 너무 오래 </a:t>
            </a:r>
            <a:r>
              <a:rPr sz="2800" b="1">
                <a:solidFill>
                  <a:srgbClr val="A29BFE"/>
                </a:solidFill>
                <a:latin typeface="Pretendard"/>
                <a:ea typeface="Pretendard"/>
                <a:cs typeface="Pretendard"/>
              </a:rPr>
              <a:t>공급 부족 시대</a:t>
            </a:r>
            <a:r>
              <a:rPr sz="28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에 살았다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81912"/>
            <a:ext cx="502920" cy="25603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91640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짓기만 하면 가치가 올라가던 시대가 있었다. 그래서 우리는 개발을 '건물 공급'으로만 이해하게 되었다.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81047" y="3108960"/>
            <a:ext cx="2438400" cy="86868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공간 부족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19447" y="31089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76647" y="3108960"/>
            <a:ext cx="2438400" cy="86868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건물 공급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047" y="31089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247" y="3108960"/>
            <a:ext cx="2438400" cy="868680"/>
          </a:xfrm>
          <a:prstGeom prst="roundRect">
            <a:avLst>
              <a:gd name="adj" fmla="val 6000"/>
            </a:avLst>
          </a:prstGeom>
          <a:solidFill>
            <a:srgbClr val="261F3D"/>
          </a:solidFill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가치 상승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57200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이 단순한 등식이 수십 년간 작동했다. 문제는 이 등식의 </a:t>
            </a:r>
            <a:r>
              <a:rPr sz="15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첫 칸(공간 부족)</a:t>
            </a: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이 사라지고 있다는 것이다.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BUILDING → TRAFFIC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0063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28016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P7 · THE NEW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828800"/>
            <a:ext cx="110578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이제 건물을 지으면 사람이 오는 시대가 아니다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743200"/>
            <a:ext cx="110578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건물</a:t>
            </a:r>
            <a:r>
              <a:rPr sz="50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   ≠   </a:t>
            </a:r>
            <a:r>
              <a:rPr sz="44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트래픽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297680"/>
            <a:ext cx="110578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사람이 올 </a:t>
            </a:r>
            <a:r>
              <a:rPr sz="18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이유</a:t>
            </a:r>
            <a:r>
              <a:rPr sz="18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를 만들어야 하는 시대다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BUILDING → TRAFFIC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90063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1057839" cy="3657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0" b="0">
                <a:solidFill>
                  <a:srgbClr val="262422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82880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A29BFE"/>
                </a:solidFill>
                <a:latin typeface="Pretendard"/>
                <a:ea typeface="Pretendard"/>
                <a:cs typeface="Pretendard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468880"/>
            <a:ext cx="11057839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일본은 이미</a:t>
            </a:r>
          </a:p>
          <a:p>
            <a:pPr algn="ctr">
              <a:lnSpc>
                <a:spcPct val="115000"/>
              </a:lnSpc>
            </a:pPr>
            <a:r>
              <a:rPr sz="3600" b="0">
                <a:solidFill>
                  <a:srgbClr val="A29BFE"/>
                </a:solidFill>
                <a:latin typeface="Pretendard"/>
                <a:ea typeface="Pretendard"/>
                <a:cs typeface="Pretendard"/>
              </a:rPr>
              <a:t>미래를 경험</a:t>
            </a:r>
            <a:r>
              <a:rPr sz="36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0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한국보다 먼저 늙은 나라가 찾은 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PART 3 — 일본의 선행 경험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90063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P8 · JAPAN AGED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일본은 먼저 늙었다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81912"/>
            <a:ext cx="502920" cy="25603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91640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일본은 한국보다 먼저 인구 감소·고령화·저성장을 경험했다. 그 결과 부동산은 '짓는 것'에서 </a:t>
            </a:r>
            <a:r>
              <a:rPr sz="15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'운영하는 것'</a:t>
            </a: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으로 무게가 옮겨갔다.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651760"/>
            <a:ext cx="3442106" cy="2651760"/>
          </a:xfrm>
          <a:prstGeom prst="roundRect">
            <a:avLst>
              <a:gd name="adj" fmla="val 6000"/>
            </a:avLst>
          </a:prstGeom>
          <a:solidFill>
            <a:srgbClr val="2A1C18"/>
          </a:solidFill>
          <a:ln w="12700">
            <a:solidFill>
              <a:srgbClr val="E17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4000" b="0">
                <a:solidFill>
                  <a:srgbClr val="E17055"/>
                </a:solidFill>
                <a:latin typeface="Pretendard"/>
                <a:ea typeface="Pretendard"/>
                <a:cs typeface="Pretendard"/>
              </a:rPr>
              <a:t>13.8</a:t>
            </a:r>
            <a:r>
              <a:rPr sz="18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%</a:t>
            </a:r>
          </a:p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전국 빈집률 (역대 최고)
총무성 주택·토지통계조사, 2023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4794" y="2651760"/>
            <a:ext cx="3442106" cy="265176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40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900</a:t>
            </a:r>
            <a:r>
              <a:rPr sz="18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만 호</a:t>
            </a:r>
          </a:p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전국 빈집 총수
총주택 6,502만 호 (총무성, 2023)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2660" y="2651760"/>
            <a:ext cx="3442106" cy="2651760"/>
          </a:xfrm>
          <a:prstGeom prst="roundRect">
            <a:avLst>
              <a:gd name="adj" fmla="val 6000"/>
            </a:avLst>
          </a:prstGeom>
          <a:solidFill>
            <a:srgbClr val="171F26"/>
          </a:solidFill>
          <a:ln w="12700">
            <a:solidFill>
              <a:srgbClr val="6F8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그런데 도쿄 도심 오피스는 2%대 만실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빈집은 넘치는데 좋은 입지·운영되는 공간은 만실. 부동산이 양극화되고 있다는 신호.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도쿄 도심5구 평균 공실률, 미키상사 2025~26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BUILDING → TRAFFIC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0063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P9 · DEVELOPMENT REDEFINED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일본의 개발은 왜 달라졌는가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81912"/>
            <a:ext cx="502920" cy="25603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91640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건물 완공이 사업의 '종료'가 아니라 '시작'이 되었다. 분양 후 손 떼는 모델에서, 운영하며 가치를 키우는 모델로.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606040"/>
            <a:ext cx="5071719" cy="3200400"/>
          </a:xfrm>
          <a:prstGeom prst="roundRect">
            <a:avLst>
              <a:gd name="adj" fmla="val 6000"/>
            </a:avLst>
          </a:prstGeom>
          <a:solidFill>
            <a:srgbClr val="2A1C18"/>
          </a:solidFill>
          <a:ln w="12700">
            <a:solidFill>
              <a:srgbClr val="E17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35000"/>
              </a:lnSpc>
            </a:pPr>
            <a:r>
              <a:rPr sz="1100" b="0">
                <a:solidFill>
                  <a:srgbClr val="E17055"/>
                </a:solidFill>
                <a:latin typeface="Pretendard"/>
                <a:ea typeface="Pretendard"/>
                <a:cs typeface="Pretendard"/>
              </a:rPr>
              <a:t>과거 · 한국형</a:t>
            </a:r>
          </a:p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개발</a:t>
            </a:r>
          </a:p>
          <a:p>
            <a:pPr algn="ctr">
              <a:lnSpc>
                <a:spcPct val="135000"/>
              </a:lnSpc>
            </a:pPr>
            <a:r>
              <a:rPr sz="1400" b="0">
                <a:solidFill>
                  <a:srgbClr val="E17055"/>
                </a:solidFill>
                <a:latin typeface="Pretendard"/>
                <a:ea typeface="Pretendard"/>
                <a:cs typeface="Pretendard"/>
              </a:rPr>
              <a:t>↓</a:t>
            </a:r>
          </a:p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분양</a:t>
            </a:r>
          </a:p>
          <a:p>
            <a:pPr algn="ctr">
              <a:lnSpc>
                <a:spcPct val="135000"/>
              </a:lnSpc>
            </a:pPr>
            <a:r>
              <a:rPr sz="1400" b="0">
                <a:solidFill>
                  <a:srgbClr val="E17055"/>
                </a:solidFill>
                <a:latin typeface="Pretendard"/>
                <a:ea typeface="Pretendard"/>
                <a:cs typeface="Pretendard"/>
              </a:rPr>
              <a:t>↓</a:t>
            </a:r>
          </a:p>
          <a:p>
            <a:pPr algn="ctr">
              <a:lnSpc>
                <a:spcPct val="135000"/>
              </a:lnSpc>
            </a:pPr>
            <a:r>
              <a:rPr sz="13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종료 — 손을 뗀다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53047" y="2606040"/>
            <a:ext cx="5071719" cy="3200400"/>
          </a:xfrm>
          <a:prstGeom prst="roundRect">
            <a:avLst>
              <a:gd name="adj" fmla="val 6000"/>
            </a:avLst>
          </a:prstGeom>
          <a:solidFill>
            <a:srgbClr val="1E241B"/>
          </a:solidFill>
          <a:ln w="12700">
            <a:solidFill>
              <a:srgbClr val="8FA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35000"/>
              </a:lnSpc>
            </a:pPr>
            <a:r>
              <a:rPr sz="1100" b="0">
                <a:solidFill>
                  <a:srgbClr val="8FA37E"/>
                </a:solidFill>
                <a:latin typeface="Pretendard"/>
                <a:ea typeface="Pretendard"/>
                <a:cs typeface="Pretendard"/>
              </a:rPr>
              <a:t>현재 · 일본형</a:t>
            </a:r>
          </a:p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개발</a:t>
            </a:r>
          </a:p>
          <a:p>
            <a:pPr algn="ctr">
              <a:lnSpc>
                <a:spcPct val="135000"/>
              </a:lnSpc>
            </a:pPr>
            <a:r>
              <a:rPr sz="1400" b="0">
                <a:solidFill>
                  <a:srgbClr val="8FA37E"/>
                </a:solidFill>
                <a:latin typeface="Pretendard"/>
                <a:ea typeface="Pretendard"/>
                <a:cs typeface="Pretendard"/>
              </a:rPr>
              <a:t>↓</a:t>
            </a:r>
          </a:p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운영</a:t>
            </a:r>
          </a:p>
          <a:p>
            <a:pPr algn="ctr">
              <a:lnSpc>
                <a:spcPct val="135000"/>
              </a:lnSpc>
            </a:pPr>
            <a:r>
              <a:rPr sz="1400" b="0">
                <a:solidFill>
                  <a:srgbClr val="8FA37E"/>
                </a:solidFill>
                <a:latin typeface="Pretendard"/>
                <a:ea typeface="Pretendard"/>
                <a:cs typeface="Pretendard"/>
              </a:rPr>
              <a:t>↓</a:t>
            </a:r>
          </a:p>
          <a:p>
            <a:pPr algn="ctr">
              <a:lnSpc>
                <a:spcPct val="135000"/>
              </a:lnSpc>
            </a:pPr>
            <a:r>
              <a:rPr sz="13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가치 상승 — 계속 키운다</a:t>
            </a:r>
          </a:p>
        </p:txBody>
      </p:sp>
      <p:sp>
        <p:nvSpPr>
          <p:cNvPr id="9" name="Oval 8"/>
          <p:cNvSpPr/>
          <p:nvPr/>
        </p:nvSpPr>
        <p:spPr>
          <a:xfrm>
            <a:off x="5949543" y="3877055"/>
            <a:ext cx="658368" cy="6583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BUILDING → TRAFFIC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0063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P10 · CASE · SHIMOKITAZAWA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시모키타자와 — 크게 짓지 않고, 작게 잇다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81912"/>
            <a:ext cx="502920" cy="25603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91640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오다큐 전철은 지하화로 생긴 철도 상부 부지를 대형 쇼핑몰이 아니라 </a:t>
            </a:r>
            <a:r>
              <a:rPr sz="15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작은 브랜드와 콘텐츠</a:t>
            </a: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로 채웠다.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38527" y="2468880"/>
            <a:ext cx="3840480" cy="530352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철도 상부 부지 (약 1.7km)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30168" y="298094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38527" y="3255264"/>
            <a:ext cx="3840480" cy="530352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13개 소규모 시설로 분산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0168" y="376732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38527" y="4041648"/>
            <a:ext cx="3840480" cy="530352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작은 브랜드·가게의 집합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45537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38527" y="4828032"/>
            <a:ext cx="3840480" cy="530352"/>
          </a:xfrm>
          <a:prstGeom prst="roundRect">
            <a:avLst>
              <a:gd name="adj" fmla="val 6000"/>
            </a:avLst>
          </a:prstGeom>
          <a:solidFill>
            <a:srgbClr val="261F3D"/>
          </a:solidFill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체류 → 재방문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92847" y="2468880"/>
            <a:ext cx="3931920" cy="109728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전면 개장</a:t>
            </a:r>
          </a:p>
          <a:p>
            <a:pPr algn="ctr">
              <a:lnSpc>
                <a:spcPct val="115000"/>
              </a:lnSpc>
            </a:pPr>
            <a:r>
              <a:rPr sz="26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2022</a:t>
            </a:r>
            <a:r>
              <a:rPr sz="12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.5</a:t>
            </a:r>
          </a:p>
          <a:p>
            <a:pPr algn="ctr">
              <a:lnSpc>
                <a:spcPct val="115000"/>
              </a:lnSpc>
            </a:pPr>
            <a:r>
              <a:rPr sz="95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下北線路街 (시모키타 라인로가)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2847" y="3703320"/>
            <a:ext cx="3931920" cy="169164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'지원형 개발(支援型開発)' — 사업자가 주도하지 않고 지역을 뒤에서 받친다. BONUS TRACK(2020)·reload(2021) 단계적 조성.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출처: 오다큐 그룹 공식, 2022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BUILDING → TRAFFIC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90063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P11 · CASE · DAIKANYAMA T-SITE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다이칸야마 츠타야 — 책이 아니라 취향을 팔다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81912"/>
            <a:ext cx="502920" cy="25603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91640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서점을 판 것이 아니다. </a:t>
            </a:r>
            <a:r>
              <a:rPr sz="15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취향과 체류</a:t>
            </a: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를 판매했다. '숲속의 도서관'이라는 라이프스타일 제안 공간.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606040"/>
            <a:ext cx="1348740" cy="73152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15668" y="26060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2868" y="2606040"/>
            <a:ext cx="1348740" cy="73152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취향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21608" y="26060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78808" y="2606040"/>
            <a:ext cx="1348740" cy="73152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체류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7548" y="26060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4748" y="2606040"/>
            <a:ext cx="1348740" cy="731520"/>
          </a:xfrm>
          <a:prstGeom prst="roundRect">
            <a:avLst>
              <a:gd name="adj" fmla="val 6000"/>
            </a:avLst>
          </a:prstGeom>
          <a:solidFill>
            <a:srgbClr val="261F3D"/>
          </a:solidFill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커뮤니티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20440"/>
            <a:ext cx="6766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'무엇을 파는 공간인가'가 아니라 '어떤 사람이 머무는 공간인가'로 질문이 바뀌었다.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2847" y="2468880"/>
            <a:ext cx="3931920" cy="109728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개관</a:t>
            </a:r>
          </a:p>
          <a:p>
            <a:pPr algn="ctr">
              <a:lnSpc>
                <a:spcPct val="115000"/>
              </a:lnSpc>
            </a:pPr>
            <a:r>
              <a:rPr sz="26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2011</a:t>
            </a:r>
            <a:r>
              <a:rPr sz="12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ctr">
              <a:lnSpc>
                <a:spcPct val="115000"/>
              </a:lnSpc>
            </a:pPr>
            <a:r>
              <a:rPr sz="95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운영: CCC · 설계: Klein Dytham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92847" y="3703320"/>
            <a:ext cx="3931920" cy="1691640"/>
          </a:xfrm>
          <a:prstGeom prst="roundRect">
            <a:avLst>
              <a:gd name="adj" fmla="val 6000"/>
            </a:avLst>
          </a:prstGeom>
          <a:solidFill>
            <a:srgbClr val="2A2314"/>
          </a:solidFill>
          <a:ln w="12700">
            <a:solidFill>
              <a:srgbClr val="D9A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타깃은 '프리미엄 에이지'. 책·음악·영화·여행을 한 공간에서 큐레이션해 머무는 시간 자체를 상품화했다.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출처: CCC 공식 · Klein Dytham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BUILDING → TRAFFIC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0063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P12 · CASE · MORI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모리빌딩 — 건물이 아니라 지역을 운영한다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81912"/>
            <a:ext cx="502920" cy="25603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91640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하나의 건물이 아니라 </a:t>
            </a:r>
            <a:r>
              <a:rPr sz="15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거리와 지역 전체</a:t>
            </a: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를 장기 보유·운영한다. 자산 소유보다 '도시 운영'에 가깝다.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606040"/>
            <a:ext cx="1348740" cy="73152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건물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15668" y="26060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2868" y="2606040"/>
            <a:ext cx="1348740" cy="73152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거리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21608" y="26060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78808" y="2606040"/>
            <a:ext cx="1348740" cy="73152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지역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7548" y="26060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4748" y="2606040"/>
            <a:ext cx="1348740" cy="731520"/>
          </a:xfrm>
          <a:prstGeom prst="roundRect">
            <a:avLst>
              <a:gd name="adj" fmla="val 6000"/>
            </a:avLst>
          </a:prstGeom>
          <a:solidFill>
            <a:srgbClr val="261F3D"/>
          </a:solidFill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도시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20440"/>
            <a:ext cx="6766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에어리어 매니지먼트</a:t>
            </a:r>
            <a:r>
              <a:rPr sz="14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 — 개발이 끝이 아니라 그 지역을 수십 년간 운영하며 가치를 관리한다.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2847" y="2468880"/>
            <a:ext cx="3931920" cy="105156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롯폰기힐스</a:t>
            </a:r>
          </a:p>
          <a:p>
            <a:pPr algn="ctr">
              <a:lnSpc>
                <a:spcPct val="115000"/>
              </a:lnSpc>
            </a:pPr>
            <a:r>
              <a:rPr sz="26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2003</a:t>
            </a:r>
            <a:r>
              <a:rPr sz="12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ctr">
              <a:lnSpc>
                <a:spcPct val="115000"/>
              </a:lnSpc>
            </a:pPr>
            <a:r>
              <a:rPr sz="95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타운 매니지먼트 도입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92847" y="3657600"/>
            <a:ext cx="3931920" cy="105156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아자부다이힐스</a:t>
            </a:r>
          </a:p>
          <a:p>
            <a:pPr algn="ctr">
              <a:lnSpc>
                <a:spcPct val="115000"/>
              </a:lnSpc>
            </a:pPr>
            <a:r>
              <a:rPr sz="26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2023</a:t>
            </a:r>
            <a:r>
              <a:rPr sz="12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ctr">
              <a:lnSpc>
                <a:spcPct val="115000"/>
              </a:lnSpc>
            </a:pPr>
            <a:r>
              <a:rPr sz="95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약 35년·권리자 300명 협의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2847" y="480060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출처: 모리빌딩 공식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BUILDING → TRAFFIC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0063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1057839" cy="3657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0" b="0">
                <a:solidFill>
                  <a:srgbClr val="262422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82880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A29BFE"/>
                </a:solidFill>
                <a:latin typeface="Pretendard"/>
                <a:ea typeface="Pretendard"/>
                <a:cs typeface="Pretendard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468880"/>
            <a:ext cx="11057839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성수동은</a:t>
            </a:r>
          </a:p>
          <a:p>
            <a:pPr algn="ctr">
              <a:lnSpc>
                <a:spcPct val="115000"/>
              </a:lnSpc>
            </a:pPr>
            <a:r>
              <a:rPr sz="3600" b="0">
                <a:solidFill>
                  <a:srgbClr val="A29BFE"/>
                </a:solidFill>
                <a:latin typeface="Pretendard"/>
                <a:ea typeface="Pretendard"/>
                <a:cs typeface="Pretendard"/>
              </a:rPr>
              <a:t>왜 올랐는가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0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국가사업도, 신도시도 아니었는데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PART 4 — 성수동의 공식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90063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P13 · NOT AN EXCEPTION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성수동은 특수사례가 아니다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81912"/>
            <a:ext cx="502920" cy="25603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91640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국가사업도 신도시도 아니었다. 대형 개발 없이 서울 최고 수준의 가치 상승을 만들었다. 우연이 아니라 </a:t>
            </a:r>
            <a:r>
              <a:rPr sz="15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공식</a:t>
            </a: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이다.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651760"/>
            <a:ext cx="4572000" cy="2651760"/>
          </a:xfrm>
          <a:prstGeom prst="roundRect">
            <a:avLst>
              <a:gd name="adj" fmla="val 6000"/>
            </a:avLst>
          </a:prstGeom>
          <a:solidFill>
            <a:srgbClr val="1E241B"/>
          </a:solidFill>
          <a:ln w="12700">
            <a:solidFill>
              <a:srgbClr val="8FA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4000" b="0">
                <a:solidFill>
                  <a:srgbClr val="8FA37E"/>
                </a:solidFill>
                <a:latin typeface="Pretendard"/>
                <a:ea typeface="Pretendard"/>
                <a:cs typeface="Pretendard"/>
              </a:rPr>
              <a:t>+110</a:t>
            </a:r>
            <a:r>
              <a:rPr sz="18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%</a:t>
            </a:r>
          </a:p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성수 외국인 관광객 증가
(2025 1분기, 전년 동기 대비)
CBRE 코리아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04688" y="2651760"/>
            <a:ext cx="6120079" cy="265176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평당 월매출이 강남을 추월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국내 패션 브랜드 기준 — 성수 634만원 vs 강남 167만원(약 4배). 글로벌 스포츠웨어도 성수 876 vs 강남 509만원.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출처: CBRE 코리아 리테일 인사이트, 2025~26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BUILDING → TRAFFIC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0063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P14 · THE FIRST MOVERS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가장 먼저 온 사람들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81912"/>
            <a:ext cx="502920" cy="25603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91640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성수동에 가장 먼저 온 것은 자본이 아니었다. </a:t>
            </a:r>
            <a:r>
              <a:rPr sz="15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창작자</a:t>
            </a: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가 먼저 왔다. 디자이너, 작은 브랜드, 기획자들.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514600"/>
            <a:ext cx="3442106" cy="164592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디자이너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싼 임대료의 옛 공장·창고를 스튜디오로. 작업 공간을 찾아 모였다.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4794" y="2514600"/>
            <a:ext cx="3442106" cy="164592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작은 브랜드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쇼룸과 플래그십을 실험. '여기서만 볼 수 있는 것'을 만들었다.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2660" y="2514600"/>
            <a:ext cx="3442106" cy="164592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기획자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전시·팝업·콘텐츠를 기획. 거리에 일어날 사건을 설계했다.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38247" y="4434840"/>
            <a:ext cx="3429000" cy="68580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디자이너 + 브랜드 + 기획자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67247" y="44348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4447" y="4434840"/>
            <a:ext cx="3429000" cy="685800"/>
          </a:xfrm>
          <a:prstGeom prst="roundRect">
            <a:avLst>
              <a:gd name="adj" fmla="val 6000"/>
            </a:avLst>
          </a:prstGeom>
          <a:solidFill>
            <a:srgbClr val="261F3D"/>
          </a:solidFill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생산자 밀도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BUILDING → TRAFFIC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0063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P15 · DENSITY →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생산자가 모이면 </a:t>
            </a:r>
            <a:r>
              <a:rPr sz="2800" b="1">
                <a:solidFill>
                  <a:srgbClr val="A29BFE"/>
                </a:solidFill>
                <a:latin typeface="Pretendard"/>
                <a:ea typeface="Pretendard"/>
                <a:cs typeface="Pretendard"/>
              </a:rPr>
              <a:t>콘텐츠</a:t>
            </a:r>
            <a:r>
              <a:rPr sz="28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가 생긴다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81912"/>
            <a:ext cx="502920" cy="25603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91640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생산자 밀도가 임계점을 넘으면 브랜드·전시·팝업이 생기고, 거리에 '문화'가 만들어진다. 그리고 문화는 SNS를 타고 퍼진다.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017520"/>
            <a:ext cx="2421559" cy="86868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생산자 밀도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88487" y="30175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5687" y="3017520"/>
            <a:ext cx="2421559" cy="86868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브랜드·전시·팝업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67247" y="30175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447" y="3017520"/>
            <a:ext cx="2421559" cy="86868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거리의 문화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46007" y="30175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03207" y="3017520"/>
            <a:ext cx="2421559" cy="868680"/>
          </a:xfrm>
          <a:prstGeom prst="roundRect">
            <a:avLst>
              <a:gd name="adj" fmla="val 6000"/>
            </a:avLst>
          </a:prstGeom>
          <a:solidFill>
            <a:srgbClr val="261F3D"/>
          </a:solidFill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SNS 확산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48056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콘텐츠는 '광고'가 아니라 '사건'이다. 사람들은 광고를 보러 오지 않지만, 사건은 보러 온다.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BUILDING → TRAFFIC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0063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37160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P16 · CONTENT PULLS 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920240"/>
            <a:ext cx="110578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사람들은 </a:t>
            </a:r>
            <a:r>
              <a:rPr sz="2600" b="1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콘텐츠</a:t>
            </a:r>
            <a:r>
              <a:rPr sz="26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를 따라온다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926080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콘텐츠</a:t>
            </a:r>
            <a:r>
              <a:rPr sz="36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   →   </a:t>
            </a:r>
            <a:r>
              <a:rPr sz="36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트래픽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29768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사람들은 성수를 찾아간 것이 아니다. 그곳에서 벌어지는 </a:t>
            </a:r>
            <a:r>
              <a:rPr sz="17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경험</a:t>
            </a:r>
            <a:r>
              <a:rPr sz="17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을 찾아갔다.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BUILDING → TRAFFIC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90063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P17 · CAPITAL FOLLOWS 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자본은 사람을 따라온다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81912"/>
            <a:ext cx="502920" cy="25603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91640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브랜드와 자본은 사람들이 모인 곳으로 이동한다. 트래픽이 먼저고 투자가 나중이다. </a:t>
            </a:r>
            <a:r>
              <a:rPr sz="15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순서가 뒤집히지 않는다.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81047" y="3108960"/>
            <a:ext cx="2438400" cy="86868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트래픽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19447" y="31089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76647" y="3108960"/>
            <a:ext cx="2438400" cy="86868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브랜드 입점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047" y="31089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247" y="3108960"/>
            <a:ext cx="2438400" cy="868680"/>
          </a:xfrm>
          <a:prstGeom prst="roundRect">
            <a:avLst>
              <a:gd name="adj" fmla="val 6000"/>
            </a:avLst>
          </a:prstGeom>
          <a:solidFill>
            <a:srgbClr val="261F3D"/>
          </a:solidFill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투자 유입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57200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대기업 플래그십과 투자금은 '뜰 곳'을 미리 아는 게 아니다. 사람이 모인 것을 </a:t>
            </a:r>
            <a:r>
              <a:rPr sz="15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확인하고</a:t>
            </a: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 들어온다.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BUILDING → TRAFFIC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0063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P18 · THE SEONGSU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0584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성수동 공식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91640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성수동은 우연이 아니다. </a:t>
            </a:r>
            <a:r>
              <a:rPr sz="15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가치 창조 공식</a:t>
            </a: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이 순서대로 작동한 결과다.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834640"/>
            <a:ext cx="1522933" cy="100584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01</a:t>
            </a:r>
          </a:p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생산자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89861" y="2834640"/>
            <a:ext cx="384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73909" y="2834640"/>
            <a:ext cx="1522933" cy="100584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02</a:t>
            </a:r>
          </a:p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콘텐츠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6842" y="2834640"/>
            <a:ext cx="384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0890" y="2834640"/>
            <a:ext cx="1522933" cy="100584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03</a:t>
            </a:r>
          </a:p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트래픽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3823" y="2834640"/>
            <a:ext cx="384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7871" y="2834640"/>
            <a:ext cx="1522933" cy="100584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04</a:t>
            </a:r>
          </a:p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브랜드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0804" y="2834640"/>
            <a:ext cx="384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4852" y="2834640"/>
            <a:ext cx="1522933" cy="100584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05</a:t>
            </a:r>
          </a:p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자본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7786" y="2834640"/>
            <a:ext cx="384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01834" y="2834640"/>
            <a:ext cx="1522933" cy="1005840"/>
          </a:xfrm>
          <a:prstGeom prst="roundRect">
            <a:avLst>
              <a:gd name="adj" fmla="val 6000"/>
            </a:avLst>
          </a:prstGeom>
          <a:solidFill>
            <a:srgbClr val="261F3D"/>
          </a:solidFill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06</a:t>
            </a:r>
          </a:p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A29BFE"/>
                </a:solidFill>
                <a:latin typeface="Pretendard"/>
                <a:ea typeface="Pretendard"/>
                <a:cs typeface="Pretendard"/>
              </a:rPr>
              <a:t>부동산 가치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29768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이 공식의 출발점은 건물도 자본도 아닌 </a:t>
            </a:r>
            <a:r>
              <a:rPr sz="15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생산자</a:t>
            </a: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다. 종착점인 부동산 가치는 가장 마지막에 따라온다.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BUILDING → TRAFFIC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0063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1057839" cy="3657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0" b="0">
                <a:solidFill>
                  <a:srgbClr val="262422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82880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A29BFE"/>
                </a:solidFill>
                <a:latin typeface="Pretendard"/>
                <a:ea typeface="Pretendard"/>
                <a:cs typeface="Pretendard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468880"/>
            <a:ext cx="11057839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왜 어떤 곳은</a:t>
            </a:r>
          </a:p>
          <a:p>
            <a:pPr algn="ctr">
              <a:lnSpc>
                <a:spcPct val="115000"/>
              </a:lnSpc>
            </a:pPr>
            <a:r>
              <a:rPr sz="3600" b="0">
                <a:solidFill>
                  <a:srgbClr val="E89B85"/>
                </a:solidFill>
                <a:latin typeface="Pretendard"/>
                <a:ea typeface="Pretendard"/>
                <a:cs typeface="Pretendard"/>
              </a:rPr>
              <a:t>죽는가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0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공식이 멈추면, 거리도 멈춘다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PART 5 — 쇠퇴의 메커니즘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90063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P19 · CASE · GAROSU-GIL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가로수길 — 성공 이후, 이유를 잃다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81912"/>
            <a:ext cx="502920" cy="25603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91640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뜬 뒤 임대료가 치솟자 창작자가 떠났고, 콘텐츠가 사라졌다. </a:t>
            </a:r>
            <a:r>
              <a:rPr sz="15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공식이 역방향으로</a:t>
            </a: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 돌기 시작했다.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38527" y="2468880"/>
            <a:ext cx="3840480" cy="512064"/>
          </a:xfrm>
          <a:prstGeom prst="roundRect">
            <a:avLst>
              <a:gd name="adj" fmla="val 6000"/>
            </a:avLst>
          </a:prstGeom>
          <a:solidFill>
            <a:srgbClr val="2A1C18"/>
          </a:solidFill>
          <a:ln w="12700">
            <a:solidFill>
              <a:srgbClr val="E17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창작자 감소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30168" y="296265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E17055"/>
                </a:solidFill>
                <a:latin typeface="Pretendard"/>
                <a:ea typeface="Pretendard"/>
                <a:cs typeface="Pretendard"/>
              </a:rP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38527" y="3218688"/>
            <a:ext cx="3840480" cy="512064"/>
          </a:xfrm>
          <a:prstGeom prst="roundRect">
            <a:avLst>
              <a:gd name="adj" fmla="val 6000"/>
            </a:avLst>
          </a:prstGeom>
          <a:solidFill>
            <a:srgbClr val="2A1C18"/>
          </a:solidFill>
          <a:ln w="12700">
            <a:solidFill>
              <a:srgbClr val="E17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콘텐츠 감소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0168" y="371246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E17055"/>
                </a:solidFill>
                <a:latin typeface="Pretendard"/>
                <a:ea typeface="Pretendard"/>
                <a:cs typeface="Pretendard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38527" y="3968496"/>
            <a:ext cx="3840480" cy="512064"/>
          </a:xfrm>
          <a:prstGeom prst="roundRect">
            <a:avLst>
              <a:gd name="adj" fmla="val 6000"/>
            </a:avLst>
          </a:prstGeom>
          <a:solidFill>
            <a:srgbClr val="2A1C18"/>
          </a:solidFill>
          <a:ln w="12700">
            <a:solidFill>
              <a:srgbClr val="E17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트래픽 감소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446227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E17055"/>
                </a:solidFill>
                <a:latin typeface="Pretendard"/>
                <a:ea typeface="Pretendard"/>
                <a:cs typeface="Pretendard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38527" y="4718304"/>
            <a:ext cx="3840480" cy="512064"/>
          </a:xfrm>
          <a:prstGeom prst="roundRect">
            <a:avLst>
              <a:gd name="adj" fmla="val 6000"/>
            </a:avLst>
          </a:prstGeom>
          <a:solidFill>
            <a:srgbClr val="2A1C18"/>
          </a:solidFill>
          <a:ln w="12700">
            <a:solidFill>
              <a:srgbClr val="E17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가치 감소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18527" y="2468880"/>
            <a:ext cx="4206240" cy="2834640"/>
          </a:xfrm>
          <a:prstGeom prst="roundRect">
            <a:avLst>
              <a:gd name="adj" fmla="val 6000"/>
            </a:avLst>
          </a:prstGeom>
          <a:solidFill>
            <a:srgbClr val="2A1C18"/>
          </a:solidFill>
          <a:ln w="12700">
            <a:solidFill>
              <a:srgbClr val="E17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4000" b="0">
                <a:solidFill>
                  <a:srgbClr val="E17055"/>
                </a:solidFill>
                <a:latin typeface="Pretendard"/>
                <a:ea typeface="Pretendard"/>
                <a:cs typeface="Pretendard"/>
              </a:rPr>
              <a:t>41.6</a:t>
            </a:r>
            <a:r>
              <a:rPr sz="18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%</a:t>
            </a:r>
          </a:p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가로수길 공실률 (2025 1분기)
전년 동기 대비 +0.4%p · 타 상권 대비 최대 약 12배.
임대료는 오히려 우상향 — 공실과 임대료가 함께 오르는 역설.</a:t>
            </a:r>
          </a:p>
          <a:p>
            <a:pPr algn="ctr">
              <a:lnSpc>
                <a:spcPct val="115000"/>
              </a:lnSpc>
            </a:pPr>
            <a:r>
              <a:rPr sz="9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출처: 국민일보·뉴스1 (원자료 한국부동산원)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BUILDING → TRAFFIC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0063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P20 · CASE · EULJIRO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을지로 — 콘텐츠는 있었지만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81912"/>
            <a:ext cx="502920" cy="25603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91640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을지로에는 콘텐츠가 있었다. 그러나 그것이 </a:t>
            </a:r>
            <a:r>
              <a:rPr sz="15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확장 가능한 플랫폼</a:t>
            </a: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으로 이어지지 못했다. 트래픽이 자본과 연결되지 않았다.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81047" y="3108960"/>
            <a:ext cx="2438400" cy="86868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콘텐츠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19447" y="31089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76647" y="3108960"/>
            <a:ext cx="2438400" cy="86868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트래픽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047" y="31089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247" y="3108960"/>
            <a:ext cx="2438400" cy="86868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자본 연결 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57200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콘텐츠와 트래픽이 있어도 </a:t>
            </a:r>
            <a:r>
              <a:rPr sz="15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지속 가능한 구조</a:t>
            </a: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로 묶지 못하면 거리는 한순간의 유행으로 끝난다.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BUILDING → TRAFFIC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0063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P21 · RENT IS A THERMOMETER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임대료는 </a:t>
            </a:r>
            <a:r>
              <a:rPr sz="2800" b="1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체온계</a:t>
            </a:r>
            <a:r>
              <a:rPr sz="28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81912"/>
            <a:ext cx="502920" cy="25603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91640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임대료는 원인이 아니라 결과다. 거리의 건강 상태를 보여주는 지표일 뿐, 임대료를 올린다고 거리가 건강해지지 않는다.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108960"/>
            <a:ext cx="2421559" cy="86868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콘텐츠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88487" y="31089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5687" y="3108960"/>
            <a:ext cx="2421559" cy="86868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트래픽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67247" y="31089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447" y="3108960"/>
            <a:ext cx="2421559" cy="86868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가치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46007" y="31089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03207" y="3108960"/>
            <a:ext cx="2421559" cy="868680"/>
          </a:xfrm>
          <a:prstGeom prst="roundRect">
            <a:avLst>
              <a:gd name="adj" fmla="val 6000"/>
            </a:avLst>
          </a:prstGeom>
          <a:solidFill>
            <a:srgbClr val="261F3D"/>
          </a:solidFill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임대료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57200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체온계 숫자를 손으로 올린다고 열이 나지 않는다. 임대료만 먼저 올리면 </a:t>
            </a:r>
            <a:r>
              <a:rPr sz="15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앞 단계가 무너진다(가로수길).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BUILDING → TRAFFIC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0063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1057839" cy="3657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0" b="0">
                <a:solidFill>
                  <a:srgbClr val="262422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82880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A29BFE"/>
                </a:solidFill>
                <a:latin typeface="Pretendard"/>
                <a:ea typeface="Pretendard"/>
                <a:cs typeface="Pretendard"/>
              </a:rPr>
              <a:t>PART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468880"/>
            <a:ext cx="11057839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트래픽은</a:t>
            </a:r>
          </a:p>
          <a:p>
            <a:pPr algn="ctr">
              <a:lnSpc>
                <a:spcPct val="115000"/>
              </a:lnSpc>
            </a:pPr>
            <a:r>
              <a:rPr sz="3600" b="0">
                <a:solidFill>
                  <a:srgbClr val="A29BFE"/>
                </a:solidFill>
                <a:latin typeface="Pretendard"/>
                <a:ea typeface="Pretendard"/>
                <a:cs typeface="Pretendard"/>
              </a:rPr>
              <a:t>관리 가능한가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0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우연인가, 아니면 설계할 수 있는가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PART 6 — 트래픽의 측정과 설계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90063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P22 · THE KEY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가장 중요한 질문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81912"/>
            <a:ext cx="502920" cy="25603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91640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지금까지의 모든 사례가 향하는 단 하나의 질문 — 트래픽은 </a:t>
            </a:r>
            <a:r>
              <a:rPr sz="15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우연</a:t>
            </a: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인가, 아니면 </a:t>
            </a:r>
            <a:r>
              <a:rPr sz="15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설계와 운영</a:t>
            </a: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의 결과인가.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606040"/>
            <a:ext cx="5071719" cy="3108960"/>
          </a:xfrm>
          <a:prstGeom prst="roundRect">
            <a:avLst>
              <a:gd name="adj" fmla="val 6000"/>
            </a:avLst>
          </a:prstGeom>
          <a:solidFill>
            <a:srgbClr val="2A1C18"/>
          </a:solidFill>
          <a:ln w="12700">
            <a:solidFill>
              <a:srgbClr val="E17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E17055"/>
                </a:solidFill>
                <a:latin typeface="Pretendard"/>
                <a:ea typeface="Pretendard"/>
                <a:cs typeface="Pretendard"/>
              </a:rPr>
              <a:t>OPTION A</a:t>
            </a:r>
          </a:p>
          <a:p>
            <a:pPr algn="ctr">
              <a:lnSpc>
                <a:spcPct val="130000"/>
              </a:lnSpc>
            </a:pPr>
            <a:r>
              <a:rPr sz="26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우연</a:t>
            </a:r>
          </a:p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운이 좋아 떴고, 운이 다하면 진다 — 통제 불가능한 영역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53047" y="2606040"/>
            <a:ext cx="5071719" cy="3108960"/>
          </a:xfrm>
          <a:prstGeom prst="roundRect">
            <a:avLst>
              <a:gd name="adj" fmla="val 6000"/>
            </a:avLst>
          </a:prstGeom>
          <a:solidFill>
            <a:srgbClr val="24203A"/>
          </a:solidFill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A29BFE"/>
                </a:solidFill>
                <a:latin typeface="Pretendard"/>
                <a:ea typeface="Pretendard"/>
                <a:cs typeface="Pretendard"/>
              </a:rPr>
              <a:t>OPTION B</a:t>
            </a:r>
          </a:p>
          <a:p>
            <a:pPr algn="ctr">
              <a:lnSpc>
                <a:spcPct val="130000"/>
              </a:lnSpc>
            </a:pPr>
            <a:r>
              <a:rPr sz="2600" b="0">
                <a:solidFill>
                  <a:srgbClr val="A29BFE"/>
                </a:solidFill>
                <a:latin typeface="Pretendard"/>
                <a:ea typeface="Pretendard"/>
                <a:cs typeface="Pretendard"/>
              </a:rPr>
              <a:t>운영</a:t>
            </a:r>
          </a:p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측정하고 설계하고 키울 수 있는 것 — 개발사의 새로운 역량</a:t>
            </a:r>
          </a:p>
        </p:txBody>
      </p:sp>
      <p:sp>
        <p:nvSpPr>
          <p:cNvPr id="9" name="Oval 8"/>
          <p:cNvSpPr/>
          <p:nvPr/>
        </p:nvSpPr>
        <p:spPr>
          <a:xfrm>
            <a:off x="5949543" y="3831335"/>
            <a:ext cx="658368" cy="6583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BUILDING → TRAFFIC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0063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P23 · TRAFFIC IS MEASURABLE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트래픽은 측정 가능하다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81912"/>
            <a:ext cx="502920" cy="25603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91640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좋은 공간은 단순 방문자 수가 아니라 </a:t>
            </a:r>
            <a:r>
              <a:rPr sz="15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체류시간과 재방문율</a:t>
            </a: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로 판단된다. 측정할 수 있다면, 관리할 수 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651760"/>
            <a:ext cx="2421559" cy="73152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방문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88487" y="26517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5687" y="2651760"/>
            <a:ext cx="2421559" cy="73152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체류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67247" y="26517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447" y="2651760"/>
            <a:ext cx="2421559" cy="73152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재방문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46007" y="26517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03207" y="2651760"/>
            <a:ext cx="2421559" cy="731520"/>
          </a:xfrm>
          <a:prstGeom prst="roundRect">
            <a:avLst>
              <a:gd name="adj" fmla="val 6000"/>
            </a:avLst>
          </a:prstGeom>
          <a:solidFill>
            <a:srgbClr val="261F3D"/>
          </a:solidFill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전환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7600"/>
            <a:ext cx="2558719" cy="137160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VISIT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방문</a:t>
            </a:r>
          </a:p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얼마나 오는가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99967" y="3657600"/>
            <a:ext cx="2558719" cy="137160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DWELL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체류</a:t>
            </a:r>
          </a:p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얼마나 머무는가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3657600"/>
            <a:ext cx="2558719" cy="137160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RETURN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재방문</a:t>
            </a:r>
          </a:p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다시 오는가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6047" y="3657600"/>
            <a:ext cx="2558719" cy="137160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CONVERT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A29BFE"/>
                </a:solidFill>
                <a:latin typeface="Pretendard"/>
                <a:ea typeface="Pretendard"/>
                <a:cs typeface="Pretendard"/>
              </a:rPr>
              <a:t>전환</a:t>
            </a:r>
          </a:p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가치로 이어지는가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BUILDING → TRAFFIC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0063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31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P24 · LEADING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미래 가치의 </a:t>
            </a:r>
            <a:r>
              <a:rPr sz="2800" b="1">
                <a:solidFill>
                  <a:srgbClr val="A29BFE"/>
                </a:solidFill>
                <a:latin typeface="Pretendard"/>
                <a:ea typeface="Pretendard"/>
                <a:cs typeface="Pretendard"/>
              </a:rPr>
              <a:t>선행지표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81912"/>
            <a:ext cx="502920" cy="25603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91640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가격보다 먼저 움직이는 신호들이 있다. 공시지가·임대료가 오른 뒤엔 이미 늦다 — 그 전에 움직이는 것을 봐야 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651760"/>
            <a:ext cx="5300319" cy="265176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후행지표 · 결과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· 공시지가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· 임대료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· 거래가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이미 모두가 아는 신호 — 투자의 영역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2651760"/>
            <a:ext cx="5300319" cy="2651760"/>
          </a:xfrm>
          <a:prstGeom prst="roundRect">
            <a:avLst>
              <a:gd name="adj" fmla="val 6000"/>
            </a:avLst>
          </a:prstGeom>
          <a:solidFill>
            <a:srgbClr val="24203A"/>
          </a:solidFill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A29BFE"/>
                </a:solidFill>
                <a:latin typeface="Pretendard"/>
                <a:ea typeface="Pretendard"/>
                <a:cs typeface="Pretendard"/>
              </a:rPr>
              <a:t>선행지표 · 원인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· 생산자 밀도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· 콘텐츠 생성량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· 체류시간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· 브랜드 유입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A29BFE"/>
                </a:solidFill>
                <a:latin typeface="Pretendard"/>
                <a:ea typeface="Pretendard"/>
                <a:cs typeface="Pretendard"/>
              </a:rPr>
              <a:t>먼저 움직이는 신호 — 개발의 영역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BUILDING → TRAFFIC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0063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P25 · FINDING THE NEXT SEONGSU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미래의 성수를 찾는 방법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81912"/>
            <a:ext cx="502920" cy="25603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91640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이미 유명한 곳을 사는 것은 </a:t>
            </a:r>
            <a:r>
              <a:rPr sz="15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투자</a:t>
            </a: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다. 새로운 생산자가 모이는 곳을 먼저 찾는 것은 </a:t>
            </a:r>
            <a:r>
              <a:rPr sz="15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개발</a:t>
            </a: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이다.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81328" y="2743200"/>
            <a:ext cx="4206240" cy="128016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30000"/>
              </a:lnSpc>
            </a:pPr>
            <a:r>
              <a:rPr sz="15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현재의 성수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이미 비싸다 · 투자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70448" y="3154680"/>
            <a:ext cx="731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84848" y="2743200"/>
            <a:ext cx="4206240" cy="1280160"/>
          </a:xfrm>
          <a:prstGeom prst="roundRect">
            <a:avLst>
              <a:gd name="adj" fmla="val 6000"/>
            </a:avLst>
          </a:prstGeom>
          <a:solidFill>
            <a:srgbClr val="261F3D"/>
          </a:solidFill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30000"/>
              </a:lnSpc>
            </a:pPr>
            <a:r>
              <a:rPr sz="15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다음 성수  </a:t>
            </a:r>
            <a:r>
              <a:rPr sz="2000" b="1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?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A29BFE"/>
                </a:solidFill>
                <a:latin typeface="Pretendard"/>
                <a:ea typeface="Pretendard"/>
                <a:cs typeface="Pretendard"/>
              </a:rPr>
              <a:t>생산자가 모이는 곳 · 개발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66344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선행지표(생산자 밀도·콘텐츠·체류)를 읽을 수 있다면, 다음 성수는 </a:t>
            </a:r>
            <a:r>
              <a:rPr sz="15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예측이 아니라 발견</a:t>
            </a: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의 대상이 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BUILDING → TRAFFIC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0063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33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1057839" cy="3657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0" b="0">
                <a:solidFill>
                  <a:srgbClr val="262422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82880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A29BFE"/>
                </a:solidFill>
                <a:latin typeface="Pretendard"/>
                <a:ea typeface="Pretendard"/>
                <a:cs typeface="Pretendard"/>
              </a:rPr>
              <a:t>PART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468880"/>
            <a:ext cx="11057839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새로운 개발사의</a:t>
            </a:r>
          </a:p>
          <a:p>
            <a:pPr algn="ctr">
              <a:lnSpc>
                <a:spcPct val="115000"/>
              </a:lnSpc>
            </a:pPr>
            <a:r>
              <a:rPr sz="3600" b="0">
                <a:solidFill>
                  <a:srgbClr val="A29BFE"/>
                </a:solidFill>
                <a:latin typeface="Pretendard"/>
                <a:ea typeface="Pretendard"/>
                <a:cs typeface="Pretendard"/>
              </a:rPr>
              <a:t>등장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0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Builder에서 Operator로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PART 7 — TRAFFIC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90063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34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P26 · BUILDER → OPERATOR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Builder에서 </a:t>
            </a:r>
            <a:r>
              <a:rPr sz="2800" b="1">
                <a:solidFill>
                  <a:srgbClr val="A29BFE"/>
                </a:solidFill>
                <a:latin typeface="Pretendard"/>
                <a:ea typeface="Pretendard"/>
                <a:cs typeface="Pretendard"/>
              </a:rPr>
              <a:t>Operator</a:t>
            </a:r>
            <a:r>
              <a:rPr sz="28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로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81912"/>
            <a:ext cx="502920" cy="25603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91640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건설 경쟁력보다 운영 경쟁력이 중요해진다. 잘 짓는 회사가 아니라, 사람이 계속 찾아오게 </a:t>
            </a:r>
            <a:r>
              <a:rPr sz="15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운영하는 회사</a:t>
            </a: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가 이긴다.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606040"/>
            <a:ext cx="5071719" cy="310896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과거 · BUILDER</a:t>
            </a:r>
          </a:p>
          <a:p>
            <a:pPr algn="l">
              <a:lnSpc>
                <a:spcPct val="145000"/>
              </a:lnSpc>
            </a:pPr>
            <a:r>
              <a:rPr sz="15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잘 짓는 경쟁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· 토지 확보 → 인허가 → 시공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· 분양·매각으로 사업 종료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· 핵심 역량: 건설·금융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53047" y="2606040"/>
            <a:ext cx="5071719" cy="3108960"/>
          </a:xfrm>
          <a:prstGeom prst="roundRect">
            <a:avLst>
              <a:gd name="adj" fmla="val 6000"/>
            </a:avLst>
          </a:prstGeom>
          <a:solidFill>
            <a:srgbClr val="24203A"/>
          </a:solidFill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A29BFE"/>
                </a:solidFill>
                <a:latin typeface="Pretendard"/>
                <a:ea typeface="Pretendard"/>
                <a:cs typeface="Pretendard"/>
              </a:rPr>
              <a:t>미래 · OPERATOR</a:t>
            </a:r>
          </a:p>
          <a:p>
            <a:pPr algn="l">
              <a:lnSpc>
                <a:spcPct val="145000"/>
              </a:lnSpc>
            </a:pPr>
            <a:r>
              <a:rPr sz="15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계속 오게 만드는 경쟁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· 콘텐츠·브랜드·커뮤니티 설계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· 준공 이후가 사업의 시작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· 핵심 역량: 운영·기획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31255" y="3886200"/>
            <a:ext cx="6583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BUILDING → TRAFFIC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0063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35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P27 · CASE · STARBUCKS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카페도 같다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81912"/>
            <a:ext cx="502920" cy="25603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91640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사람들은 커피를 사는 것이 아니라 </a:t>
            </a:r>
            <a:r>
              <a:rPr sz="15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머물 이유</a:t>
            </a: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를 산다. 스타벅스가 판 것은 음료가 아니라 '제3의 공간'이었다.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697480"/>
            <a:ext cx="1828800" cy="77724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커피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5728" y="26974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52928" y="2697480"/>
            <a:ext cx="1828800" cy="77724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체류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6974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38928" y="2697480"/>
            <a:ext cx="1828800" cy="777240"/>
          </a:xfrm>
          <a:prstGeom prst="roundRect">
            <a:avLst>
              <a:gd name="adj" fmla="val 6000"/>
            </a:avLst>
          </a:prstGeom>
          <a:solidFill>
            <a:srgbClr val="261F3D"/>
          </a:solidFill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커뮤니티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33488" y="2468880"/>
            <a:ext cx="4291279" cy="2651760"/>
          </a:xfrm>
          <a:prstGeom prst="roundRect">
            <a:avLst>
              <a:gd name="adj" fmla="val 6000"/>
            </a:avLst>
          </a:prstGeom>
          <a:solidFill>
            <a:srgbClr val="2A2314"/>
          </a:solidFill>
          <a:ln w="12700">
            <a:solidFill>
              <a:srgbClr val="D9A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'제3의 공간(Third Place)' — 집(제1)과 직장(제2) 사이, 머무는 공간. 사회학자 레이 올든버그가 제시하고 스타벅스가 브랜드 비전으로 차용했다.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출처: Ray Oldenburg, 『The Great Good Place』(1989)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BUILDING → TRAFFIC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0063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36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P28 · CASE · APPLE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리테일도 같다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81912"/>
            <a:ext cx="502920" cy="25603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91640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온라인이 상품 판매를 대체했다. 오프라인에 남은 것은 </a:t>
            </a:r>
            <a:r>
              <a:rPr sz="15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경험</a:t>
            </a: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이다. 애플스토어는 물건을 파는 곳이 아니라 브랜드를 체험하는 곳이다.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697480"/>
            <a:ext cx="1828800" cy="77724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상품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5728" y="26974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52928" y="2697480"/>
            <a:ext cx="1828800" cy="77724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경험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6974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38928" y="2697480"/>
            <a:ext cx="1828800" cy="777240"/>
          </a:xfrm>
          <a:prstGeom prst="roundRect">
            <a:avLst>
              <a:gd name="adj" fmla="val 6000"/>
            </a:avLst>
          </a:prstGeom>
          <a:solidFill>
            <a:srgbClr val="261F3D"/>
          </a:solidFill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팬덤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33488" y="2468880"/>
            <a:ext cx="4291279" cy="2651760"/>
          </a:xfrm>
          <a:prstGeom prst="roundRect">
            <a:avLst>
              <a:gd name="adj" fmla="val 6000"/>
            </a:avLst>
          </a:prstGeom>
          <a:solidFill>
            <a:srgbClr val="171F26"/>
          </a:solidFill>
          <a:ln w="12700">
            <a:solidFill>
              <a:srgbClr val="6F8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애플은 매장을 '타운스퀘어(town square)'로 재정의했다. "매장이 우리가 만드는 가장 큰 제품"이라며 판매보다 워크숍·커뮤니티·체험에 무게를 뒀다.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출처: Angela Ahrendts, Fortune (2016)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BUILDING → TRAFFIC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0063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37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005840"/>
            <a:ext cx="11057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P29 · TRAFFIC DEVELOPER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7160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Traffic Developer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103120"/>
            <a:ext cx="110578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미래의 개발사는 건물을 만드는 사람이 아니다. 사람들이 </a:t>
            </a:r>
            <a:r>
              <a:rPr sz="15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찾아올 이유</a:t>
            </a: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를 만드는 사람이다.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3200400"/>
            <a:ext cx="1845807" cy="77724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브랜드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12735" y="32004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69935" y="3200400"/>
            <a:ext cx="1845807" cy="77724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콘텐츠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15743" y="32004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72943" y="3200400"/>
            <a:ext cx="1845807" cy="77724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커뮤니티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8751" y="32004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75951" y="3200400"/>
            <a:ext cx="1845807" cy="77724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운영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1759" y="32004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78959" y="3200400"/>
            <a:ext cx="1845807" cy="777240"/>
          </a:xfrm>
          <a:prstGeom prst="roundRect">
            <a:avLst>
              <a:gd name="adj" fmla="val 6000"/>
            </a:avLst>
          </a:prstGeom>
          <a:solidFill>
            <a:srgbClr val="261F3D"/>
          </a:solidFill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Traffic Developer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48056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건물 짓는 역량 위에, 사람을 모으고 머물게 하는 역량을 더한다. 이것이 다음 10년 개발사의 정체성이다.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BUILDING → TRAFFIC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90063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38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57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P30 ·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사람들은 건물을 찾아가지 않는다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74519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과거의 가치는 토지에서, 산업화 시대 가치는 건물에서 나왔다. 앞으로의 가치는 사람들이 </a:t>
            </a:r>
            <a:r>
              <a:rPr sz="14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반복적으로 찾아올 이유</a:t>
            </a:r>
            <a:r>
              <a:rPr sz="14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에서 나온다.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5207" y="3017520"/>
            <a:ext cx="3108960" cy="109728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PAST</a:t>
            </a:r>
          </a:p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토지 가치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84167" y="30175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41367" y="3017520"/>
            <a:ext cx="3108960" cy="109728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INDUSTRIAL</a:t>
            </a:r>
          </a:p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건물 가치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50327" y="30175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C5CE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7527" y="3017520"/>
            <a:ext cx="3108960" cy="1097280"/>
          </a:xfrm>
          <a:prstGeom prst="roundRect">
            <a:avLst>
              <a:gd name="adj" fmla="val 6000"/>
            </a:avLst>
          </a:prstGeom>
          <a:solidFill>
            <a:srgbClr val="261F3D"/>
          </a:solidFill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NEXT 10 YEARS</a:t>
            </a:r>
          </a:p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A29BFE"/>
                </a:solidFill>
                <a:latin typeface="Pretendard"/>
                <a:ea typeface="Pretendard"/>
                <a:cs typeface="Pretendard"/>
              </a:rPr>
              <a:t>트래픽 가치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48056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7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토지 가치 · 건물 가치 · 트래픽 가치</a:t>
            </a:r>
          </a:p>
          <a:p>
            <a:pPr algn="ctr">
              <a:lnSpc>
                <a:spcPct val="140000"/>
              </a:lnSpc>
            </a:pPr>
            <a:r>
              <a:rPr sz="1800" b="1">
                <a:solidFill>
                  <a:srgbClr val="A29BFE"/>
                </a:solidFill>
                <a:latin typeface="Pretendard"/>
                <a:ea typeface="Pretendard"/>
                <a:cs typeface="Pretendard"/>
              </a:rPr>
              <a:t>＝ 미래 자산 가치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BUILDING → TRAFFIC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90063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39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280160"/>
            <a:ext cx="11057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THE NEXT 10 YEARS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828800"/>
            <a:ext cx="1105783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24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부동산 개발의 다음 10년은</a:t>
            </a:r>
          </a:p>
          <a:p>
            <a:pPr algn="ctr">
              <a:lnSpc>
                <a:spcPct val="135000"/>
              </a:lnSpc>
            </a:pPr>
            <a:r>
              <a:rPr sz="24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건물을 얼마나 잘 짓느냐의 경쟁이 아니다.</a:t>
            </a:r>
          </a:p>
          <a:p>
            <a:pPr algn="ctr">
              <a:lnSpc>
                <a:spcPct val="135000"/>
              </a:lnSpc>
            </a:pPr>
            <a:r>
              <a:rPr sz="24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사람들이 얼마나 </a:t>
            </a:r>
            <a:r>
              <a:rPr sz="2400" b="1">
                <a:solidFill>
                  <a:srgbClr val="A29BFE"/>
                </a:solidFill>
                <a:latin typeface="Pretendard"/>
                <a:ea typeface="Pretendard"/>
                <a:cs typeface="Pretendard"/>
              </a:rPr>
              <a:t>오래, 자주, 반복적으로</a:t>
            </a:r>
          </a:p>
          <a:p>
            <a:pPr algn="ctr">
              <a:lnSpc>
                <a:spcPct val="135000"/>
              </a:lnSpc>
            </a:pPr>
            <a:r>
              <a:rPr sz="2400" b="0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찾아오게 만드느냐의 경쟁이다.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21527" y="4160520"/>
            <a:ext cx="548640" cy="27432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38912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프로젝트렌트는 공간을 기획하는 회사가 아니라,</a:t>
            </a:r>
          </a:p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미래 자산가치를 설계하는 </a:t>
            </a:r>
            <a:r>
              <a:rPr sz="1500" b="1">
                <a:solidFill>
                  <a:srgbClr val="F5F0EB"/>
                </a:solidFill>
                <a:latin typeface="Pretendard"/>
                <a:ea typeface="Pretendard"/>
                <a:cs typeface="Pretendard"/>
              </a:rPr>
              <a:t>트래픽 디벨로퍼</a:t>
            </a:r>
            <a:r>
              <a:rPr sz="1500" b="0">
                <a:solidFill>
                  <a:srgbClr val="C9C2BA"/>
                </a:solidFill>
                <a:latin typeface="Pretendard"/>
                <a:ea typeface="Pretendard"/>
                <a:cs typeface="Pretendard"/>
              </a:rPr>
              <a:t>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48640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BY PROJECT RENT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BUILDING → TRAFFIC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90063" y="6455664"/>
            <a:ext cx="663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7A7570"/>
                </a:solidFill>
                <a:latin typeface="Pretendard"/>
                <a:ea typeface="Pretendard"/>
                <a:cs typeface="Pretendard"/>
              </a:rPr>
              <a:t>BY PROJECT RENT ·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