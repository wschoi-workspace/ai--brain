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AEF"/>
                </a:solidFill>
                <a:latin typeface="Arial"/>
              </a:defRPr>
            </a:pPr>
            <a:r>
              <a:t>40-MINUTE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0F0F8"/>
                </a:solidFill>
                <a:latin typeface="Arial"/>
              </a:defRPr>
            </a:pPr>
            <a:r>
              <a:t>건물의 첫인상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A78BFA"/>
                </a:solidFill>
                <a:latin typeface="Arial"/>
              </a:defRPr>
            </a:pPr>
            <a:r>
              <a:t>파사드와 쇼윈도우의 비즈니스 심리학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898B0"/>
                </a:solidFill>
                <a:latin typeface="Arial"/>
              </a:defRPr>
            </a:pPr>
            <a:r>
              <a:t>"예쁘니까"가 아니라 "돈이 되니까".</a:t>
            </a:r>
          </a:p>
          <a:p>
            <a:pPr>
              <a:spcBef>
                <a:spcPts val="400"/>
              </a:spcBef>
              <a:defRPr sz="1500" b="0">
                <a:solidFill>
                  <a:srgbClr val="9898B0"/>
                </a:solidFill>
                <a:latin typeface="Arial"/>
              </a:defRPr>
            </a:pPr>
            <a:r>
              <a:t>부동산 가치 × 브랜드 첫인상 × 커뮤니케이션 파급력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38912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C040"/>
                </a:solidFill>
                <a:latin typeface="Arial"/>
              </a:defRPr>
            </a:pPr>
            <a:r>
              <a:t>3.18x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74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명동 1층 vs 2층</a:t>
            </a:r>
            <a:br/>
            <a:r>
              <a:t>임대료 격차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438912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4572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D399"/>
                </a:solidFill>
                <a:latin typeface="Arial"/>
              </a:defRPr>
            </a:pPr>
            <a:r>
              <a:t>+50%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5074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파사드 리노베이션</a:t>
            </a:r>
            <a:br/>
            <a:r>
              <a:t>후 매출 증가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38912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572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472B6"/>
                </a:solidFill>
                <a:latin typeface="Arial"/>
              </a:defRPr>
            </a:pPr>
            <a:r>
              <a:t>$40M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074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Glossier 매장</a:t>
            </a:r>
            <a:br/>
            <a:r>
              <a:t>Earned Media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438912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4572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Arial"/>
              </a:defRPr>
            </a:pPr>
            <a:r>
              <a:t>7,891억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074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젠틀몬스터 그룹</a:t>
            </a:r>
            <a:br/>
            <a:r>
              <a:t>2024 매출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AEF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8"/>
                </a:solidFill>
                <a:latin typeface="Arial"/>
              </a:defRPr>
            </a:pPr>
            <a:r>
              <a:t>오늘의 강의 구조 (40분)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B0"/>
                </a:solidFill>
                <a:latin typeface="Arial"/>
              </a:defRPr>
            </a:pPr>
            <a:r>
              <a:t>왜 중요한가 → 얼마나 효과적인가 → 누가 증명했는가 → 어떻게 작동하는가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515600" cy="73152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6078"/>
                </a:solidFill>
                <a:latin typeface="Arial"/>
              </a:defRPr>
            </a:pPr>
            <a:r>
              <a:t>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0116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8"/>
                </a:solidFill>
                <a:latin typeface="Arial"/>
              </a:defRPr>
            </a:pPr>
            <a:r>
              <a:t>왜 1층 임대료가 2층의 3배인가?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2011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06078"/>
                </a:solidFill>
                <a:latin typeface="Arial"/>
              </a:defRPr>
            </a:pPr>
            <a:r>
              <a:t>2분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3042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0"/>
                </a:solidFill>
                <a:latin typeface="Arial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10515600" cy="73152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Arial"/>
              </a:defRPr>
            </a:pPr>
            <a:r>
              <a:t>Part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9260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8"/>
                </a:solidFill>
                <a:latin typeface="Arial"/>
              </a:defRPr>
            </a:pPr>
            <a:r>
              <a:t>부동산 가치 — 1층이 중요한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9260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06078"/>
                </a:solidFill>
                <a:latin typeface="Arial"/>
              </a:defRPr>
            </a:pPr>
            <a:r>
              <a:t>10분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2186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0"/>
                </a:solidFill>
                <a:latin typeface="Arial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10515600" cy="73152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40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Arial"/>
              </a:defRPr>
            </a:pPr>
            <a:r>
              <a:t>Part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84047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8"/>
                </a:solidFill>
                <a:latin typeface="Arial"/>
              </a:defRPr>
            </a:pPr>
            <a:r>
              <a:t>브랜드 첫인상 — 파사드의 가치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8404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06078"/>
                </a:solidFill>
                <a:latin typeface="Arial"/>
              </a:defRPr>
            </a:pPr>
            <a:r>
              <a:t>12분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133087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0"/>
                </a:solidFill>
                <a:latin typeface="Arial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10515600" cy="73152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548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72B6"/>
                </a:solidFill>
                <a:latin typeface="Arial"/>
              </a:defRPr>
            </a:pPr>
            <a:r>
              <a:t>Part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75487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8"/>
                </a:solidFill>
                <a:latin typeface="Arial"/>
              </a:defRPr>
            </a:pPr>
            <a:r>
              <a:t>커뮤니케이션 — 파급력의 메커니즘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47548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06078"/>
                </a:solidFill>
                <a:latin typeface="Arial"/>
              </a:defRPr>
            </a:pPr>
            <a:r>
              <a:t>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474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0"/>
                </a:solidFill>
                <a:latin typeface="Arial"/>
              </a:defRPr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731520" y="5577840"/>
            <a:ext cx="10515600" cy="73152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692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Arial"/>
              </a:defRPr>
            </a:pPr>
            <a:r>
              <a:t>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66927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8"/>
                </a:solidFill>
                <a:latin typeface="Arial"/>
              </a:defRPr>
            </a:pPr>
            <a:r>
              <a:t>핵심 정리 + Q&amp;A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56692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06078"/>
                </a:solidFill>
                <a:latin typeface="Arial"/>
              </a:defRPr>
            </a:pPr>
            <a:r>
              <a:t>6분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9618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0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AEF"/>
                </a:solidFill>
                <a:latin typeface="Arial"/>
              </a:defRPr>
            </a:pPr>
            <a:r>
              <a:t>OPENING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515600" cy="1828800"/>
          </a:xfrm>
          <a:prstGeom prst="roundRect">
            <a:avLst/>
          </a:prstGeom>
          <a:solidFill>
            <a:srgbClr val="141228"/>
          </a:solidFill>
          <a:ln w="12700">
            <a:solidFill>
              <a:srgbClr val="7C6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49808"/>
            <a:ext cx="411480" cy="411480"/>
          </a:xfrm>
          <a:prstGeom prst="roundRect">
            <a:avLst/>
          </a:prstGeom>
          <a:solidFill>
            <a:srgbClr val="7C6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0F0F8"/>
                </a:solidFill>
              </a:defRPr>
            </a:pPr>
            <a: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8"/>
                </a:solidFill>
                <a:latin typeface="Arial"/>
              </a:defRPr>
            </a:pPr>
            <a:r>
              <a:t>명동 1층 임대료는 ㎡당 월 296,700원.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8"/>
                </a:solidFill>
                <a:latin typeface="Arial"/>
              </a:defRPr>
            </a:pPr>
            <a:r>
              <a:t>같은 건물 2층은 93,200원. 왜 1층이 3.18배 비싼 걸까요?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B0"/>
                </a:solidFill>
                <a:latin typeface="Arial"/>
              </a:defRPr>
            </a:pPr>
            <a:r>
              <a:t>"사람이 많이 보니까"라고 답하면 50점입니다. 오늘 100점짜리 답을 찾아보겠습니다.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8"/>
                </a:solidFill>
                <a:latin typeface="Arial"/>
              </a:defRPr>
            </a:pPr>
            <a:r>
              <a:t>한국부동산원 층별 효용비율 (1층=100%)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8"/>
                </a:solidFill>
                <a:latin typeface="Arial"/>
              </a:defRPr>
            </a:pPr>
            <a:r>
              <a:t>1층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3675887"/>
            <a:ext cx="5486400" cy="274320"/>
          </a:xfrm>
          <a:prstGeom prst="round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59" y="3657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8"/>
                </a:solidFill>
                <a:latin typeface="Arial"/>
              </a:defRPr>
            </a:pPr>
            <a:r>
              <a:t>2층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4224527"/>
            <a:ext cx="3341217" cy="274320"/>
          </a:xfrm>
          <a:prstGeom prst="roundRect">
            <a:avLst/>
          </a:prstGeom>
          <a:solidFill>
            <a:srgbClr val="989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5777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898B0"/>
                </a:solidFill>
                <a:latin typeface="Arial"/>
              </a:defRPr>
            </a:pPr>
            <a:r>
              <a:t>60.9%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8"/>
                </a:solidFill>
                <a:latin typeface="Arial"/>
              </a:defRPr>
            </a:pPr>
            <a:r>
              <a:t>6~10층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4773168"/>
            <a:ext cx="2902305" cy="274320"/>
          </a:xfrm>
          <a:prstGeom prst="roundRect">
            <a:avLst/>
          </a:prstGeom>
          <a:solidFill>
            <a:srgbClr val="26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6865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6078"/>
                </a:solidFill>
                <a:latin typeface="Arial"/>
              </a:defRPr>
            </a:pPr>
            <a:r>
              <a:t>52.9%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8"/>
                </a:solidFill>
                <a:latin typeface="Arial"/>
              </a:defRPr>
            </a:pPr>
            <a:r>
              <a:t>지하1층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5321807"/>
            <a:ext cx="1931212" cy="274320"/>
          </a:xfrm>
          <a:prstGeom prst="roundRect">
            <a:avLst/>
          </a:prstGeom>
          <a:solidFill>
            <a:srgbClr val="26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25772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6078"/>
                </a:solidFill>
                <a:latin typeface="Arial"/>
              </a:defRPr>
            </a:pPr>
            <a:r>
              <a:t>35.2%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8"/>
                </a:solidFill>
                <a:latin typeface="Arial"/>
              </a:defRPr>
            </a:pPr>
            <a:r>
              <a:t>글로벌 비교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3657600"/>
            <a:ext cx="4846320" cy="201168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840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C040"/>
                </a:solidFill>
                <a:latin typeface="Arial"/>
              </a:defRPr>
            </a:pPr>
            <a:r>
              <a:t>NYC 5th Avenue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160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1층 $2,300+/sqft/년 (CBRE 2025)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526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Arial"/>
              </a:defRPr>
            </a:pPr>
            <a:r>
              <a:t>NYC 1층 vs 지하층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846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$200 vs $40/sqft → 5배 차이 (The Real Deal)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6AEF"/>
                </a:solidFill>
                <a:latin typeface="Arial"/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0F0F8"/>
                </a:solidFill>
                <a:latin typeface="Arial"/>
              </a:defRPr>
            </a:pPr>
            <a:r>
              <a:t>1층이 중요한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8B0"/>
                </a:solidFill>
                <a:latin typeface="Arial"/>
              </a:defRPr>
            </a:pPr>
            <a:r>
              <a:t>부동산 가치 관점 — 1층은 건물 전체의 가치를 결정하는 앵커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C040"/>
                </a:solidFill>
                <a:latin typeface="Arial"/>
              </a:defRPr>
            </a:pPr>
            <a:r>
              <a:t>PART 1 — 부동산 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8"/>
                </a:solidFill>
                <a:latin typeface="Arial"/>
              </a:defRPr>
            </a:pPr>
            <a:r>
              <a:t>1층 공실이 건물 전체를 죽인다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F4444"/>
                </a:solidFill>
                <a:latin typeface="Arial"/>
              </a:defRPr>
            </a:pPr>
            <a:r>
              <a:t>-20%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공실 건물의</a:t>
            </a:r>
            <a:br/>
            <a:r>
              <a:t>인근 부동산 가치 하락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필라델피아 &amp; 콜럼버스 연구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54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737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F4444"/>
                </a:solidFill>
                <a:latin typeface="Arial"/>
              </a:defRPr>
            </a:pPr>
            <a:r>
              <a:t>4.7조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240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필라델피아 공실로</a:t>
            </a:r>
            <a:br/>
            <a:r>
              <a:t>총 가계 자산 감소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Lincoln Institute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554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737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F4444"/>
                </a:solidFill>
                <a:latin typeface="Arial"/>
              </a:defRPr>
            </a:pPr>
            <a:r>
              <a:t>-8.7%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40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차압 매물 0.9km 이내</a:t>
            </a:r>
            <a:br/>
            <a:r>
              <a:t>부동산 가치 하락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Cleveland Fed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554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737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D399"/>
                </a:solidFill>
                <a:latin typeface="Arial"/>
              </a:defRPr>
            </a:pPr>
            <a:r>
              <a:t>7x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240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Active vs Dead</a:t>
            </a:r>
            <a:br/>
            <a:r>
              <a:t>Frontage 보행자 차이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Jan Gehl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515600" cy="137160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566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C040"/>
                </a:solidFill>
                <a:latin typeface="Arial"/>
              </a:defRPr>
            </a:pPr>
            <a:r>
              <a:t>Jan Gehl — Cities for People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8404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8"/>
                </a:solidFill>
                <a:latin typeface="Arial"/>
              </a:defRPr>
            </a:pPr>
            <a:r>
              <a:t>1층이 활성화된 거리 vs 텅 빈 벽으로 막힌 거리의 보행자 수 차이 = 7배</a:t>
            </a:r>
          </a:p>
          <a:p>
            <a:pPr>
              <a:spcBef>
                <a:spcPts val="600"/>
              </a:spcBef>
              <a:defRPr sz="1300" b="0">
                <a:solidFill>
                  <a:srgbClr val="9898B0"/>
                </a:solidFill>
                <a:latin typeface="Arial"/>
              </a:defRPr>
            </a:pPr>
            <a:r>
              <a:t>"죽은 전면(Dead Frontage)"은 보행자 통행량을 최대 40% 감소시킴</a:t>
            </a:r>
          </a:p>
          <a:p>
            <a:pPr>
              <a:spcBef>
                <a:spcPts val="400"/>
              </a:spcBef>
              <a:defRPr sz="1300" b="0">
                <a:solidFill>
                  <a:srgbClr val="9898B0"/>
                </a:solidFill>
                <a:latin typeface="Arial"/>
              </a:defRPr>
            </a:pPr>
            <a:r>
              <a:t>→ 1층이 죽으면 거리가 죽고, 거리가 죽으면 건물이 죽는다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10515600" cy="137160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12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Arial"/>
              </a:defRPr>
            </a:pPr>
            <a:r>
              <a:t>반대로: 좋은 1층 테넌트 = 건물 전체 가치 상승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4864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8"/>
                </a:solidFill>
                <a:latin typeface="Arial"/>
              </a:defRPr>
            </a:pPr>
            <a:r>
              <a:t>Whole Foods 1층 입점 → 상층 주거 임대료 +6.0% (RCLCO 2023)</a:t>
            </a:r>
          </a:p>
          <a:p>
            <a:pPr>
              <a:spcBef>
                <a:spcPts val="400"/>
              </a:spcBef>
              <a:defRPr sz="1300" b="0">
                <a:solidFill>
                  <a:srgbClr val="9898B0"/>
                </a:solidFill>
                <a:latin typeface="Arial"/>
              </a:defRPr>
            </a:pPr>
            <a:r>
              <a:t>복합용도 건물 내 리테일 임대료: 상권 대비 15~25% 높음 (CoStar/ICSC)</a:t>
            </a:r>
          </a:p>
          <a:p>
            <a:pPr>
              <a:spcBef>
                <a:spcPts val="400"/>
              </a:spcBef>
              <a:defRPr sz="1300" b="1">
                <a:solidFill>
                  <a:srgbClr val="34D399"/>
                </a:solidFill>
                <a:latin typeface="Arial"/>
              </a:defRPr>
            </a:pPr>
            <a:r>
              <a:t>도산대로 럭셔리 1층 입점 후 건물 가치 40~60% 상승 (5년간)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C040"/>
                </a:solidFill>
                <a:latin typeface="Arial"/>
              </a:defRPr>
            </a:pPr>
            <a:r>
              <a:t>PART 1 —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8"/>
                </a:solidFill>
                <a:latin typeface="Arial"/>
              </a:defRPr>
            </a:pPr>
            <a:r>
              <a:t>성수동의 변신 — 파사드가 동네를 바꾸다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201168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성수동 2018년 공장 거리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463040"/>
            <a:ext cx="3291840" cy="201168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블루보틀 성수 유리 파사드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463040"/>
            <a:ext cx="3566160" cy="201168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240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514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현재 성수동 플래그십 거리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C040"/>
                </a:solidFill>
                <a:latin typeface="Arial"/>
              </a:defRPr>
            </a:pPr>
            <a:r>
              <a:t>6x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주말 방문객</a:t>
            </a:r>
            <a:br/>
            <a:r>
              <a:t>5만→30만+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2018→2024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C040"/>
                </a:solidFill>
                <a:latin typeface="Arial"/>
              </a:defRPr>
            </a:pPr>
            <a:r>
              <a:t>+50%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1층 임대료</a:t>
            </a:r>
            <a:br/>
            <a:r>
              <a:t>5년간 상승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983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서울 3배 속도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C040"/>
                </a:solidFill>
                <a:latin typeface="Arial"/>
              </a:defRPr>
            </a:pPr>
            <a:r>
              <a:t>2,500만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팝업 50평</a:t>
            </a:r>
            <a:br/>
            <a:r>
              <a:t>하루 최고 임대료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983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연무장길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Arial"/>
              </a:defRPr>
            </a:pPr>
            <a:r>
              <a:t>14층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하우스노웨어</a:t>
            </a:r>
            <a:br/>
            <a:r>
              <a:t>2025 오픈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983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젠틀몬스터 성수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69280"/>
            <a:ext cx="10515600" cy="822960"/>
          </a:xfrm>
          <a:prstGeom prst="roundRect">
            <a:avLst/>
          </a:prstGeom>
          <a:solidFill>
            <a:srgbClr val="1A1810"/>
          </a:solidFill>
          <a:ln w="12700">
            <a:solidFill>
              <a:srgbClr val="3A3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607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8"/>
                </a:solidFill>
                <a:latin typeface="Arial"/>
              </a:defRPr>
            </a:pPr>
            <a:r>
              <a:t>핵심: 성수동은 "건물이 좋아져서" 비싸진 게 아닙니다. "1층 매장의 파사드가 매력적으로 바뀌면서" 동네 전체가 바뀐 겁니다.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6AEF"/>
                </a:solidFill>
                <a:latin typeface="Arial"/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0F0F8"/>
                </a:solidFill>
                <a:latin typeface="Arial"/>
              </a:defRPr>
            </a:pPr>
            <a:r>
              <a:t>파사드가 가지는 첫인상의 가치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8B0"/>
                </a:solidFill>
                <a:latin typeface="Arial"/>
              </a:defRPr>
            </a:pPr>
            <a:r>
              <a:t>브랜드 관점 — 0.05초의 판단이 매출, 가격, 경험을 결정한다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Arial"/>
              </a:defRPr>
            </a:pPr>
            <a:r>
              <a:t>PART 2 — 브랜드 첫인상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8"/>
                </a:solidFill>
                <a:latin typeface="Arial"/>
              </a:defRPr>
            </a:pPr>
            <a:r>
              <a:t>0.05초의 판단 — 첫인상이 모든 것을 결정한다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C040"/>
                </a:solidFill>
                <a:latin typeface="Arial"/>
              </a:defRPr>
            </a:pPr>
            <a:r>
              <a:t>24%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쇼윈도 → 구매 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4명 중 1명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46304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C040"/>
                </a:solidFill>
                <a:latin typeface="Arial"/>
              </a:defRPr>
            </a:pPr>
            <a:r>
              <a:t>76%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488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매장 내 구매 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6060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파사드가 입장권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C040"/>
                </a:solidFill>
                <a:latin typeface="Arial"/>
              </a:defRPr>
            </a:pPr>
            <a:r>
              <a:t>62%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쇼윈도 → 충동구매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10명 중 6명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46304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645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C040"/>
                </a:solidFill>
                <a:latin typeface="Arial"/>
              </a:defRPr>
            </a:pPr>
            <a:r>
              <a:t>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1488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첫 방문 이유 = 외관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060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FIT 연구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832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D399"/>
                </a:solidFill>
                <a:latin typeface="Arial"/>
              </a:defRPr>
            </a:pPr>
            <a:r>
              <a:t>+35%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파사드 리노베이션</a:t>
            </a:r>
            <a:br/>
            <a:r>
              <a:t>→ 유입 증가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262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3개월 이내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33832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D399"/>
                </a:solidFill>
                <a:latin typeface="Arial"/>
              </a:defRPr>
            </a:pPr>
            <a:r>
              <a:t>+50%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069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파사드 리노베이션</a:t>
            </a:r>
            <a:br/>
            <a:r>
              <a:t>→ 매출 증가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5262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6개월 내 ROI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3832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D399"/>
                </a:solidFill>
                <a:latin typeface="Arial"/>
              </a:defRPr>
            </a:pPr>
            <a:r>
              <a:t>+44%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069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리모델링 후</a:t>
            </a:r>
            <a:br/>
            <a:r>
              <a:t>신규 고객 매출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5262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Monash Univ.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3832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D399"/>
                </a:solidFill>
                <a:latin typeface="Arial"/>
              </a:defRPr>
            </a:pPr>
            <a:r>
              <a:t>300%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069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비주얼 머천다이징</a:t>
            </a:r>
            <a:br/>
            <a:r>
              <a:t>투자 ROI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5262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Contra Vision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394960"/>
            <a:ext cx="10515600" cy="1097280"/>
          </a:xfrm>
          <a:prstGeom prst="roundRect">
            <a:avLst/>
          </a:prstGeom>
          <a:solidFill>
            <a:srgbClr val="101A14"/>
          </a:solidFill>
          <a:ln w="12700">
            <a:solidFill>
              <a:srgbClr val="153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4864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8"/>
                </a:solidFill>
                <a:latin typeface="Arial"/>
              </a:defRPr>
            </a:pPr>
            <a:r>
              <a:t>파사드를 바꿨더니 유입 +35%, 매출 +50%. 마케팅 캠페인이 아니라 파사드 하나를 바꾼 효과.</a:t>
            </a:r>
            <a:br/>
            <a:r>
              <a:t>TV 광고 15초와 달리, 이 효과는 건물 수명인 10~30년 동안 지속됩니다.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Arial"/>
              </a:defRPr>
            </a:pPr>
            <a:r>
              <a:t>PART 2 — CASE: APPLE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8"/>
                </a:solidFill>
                <a:latin typeface="Arial"/>
              </a:defRPr>
            </a:pPr>
            <a:r>
              <a:t>유리 한 장이 만든 세계 최고 매출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28600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5th Ave 글래스 큐브 야경</a:t>
            </a:r>
            <a:br/>
            <a:r>
              <a:t>15장 유리 패널, 32ft 정육면체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291840" cy="228600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Marina Bay Sands 수상 매장</a:t>
            </a:r>
            <a:br/>
            <a:r>
              <a:t>직경 30m 유리 구체, 물 위에 부유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566160" cy="228600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286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560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내부에서 올려다본 유리 천장</a:t>
            </a:r>
            <a:br/>
            <a:r>
              <a:t>77,000sqft 매장에 자연광 유입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D399"/>
                </a:solidFill>
                <a:latin typeface="Arial"/>
              </a:defRPr>
            </a:pPr>
            <a:r>
              <a:t>$7M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글래스 큐브</a:t>
            </a:r>
            <a:br/>
            <a:r>
              <a:t>초기 투자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402336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D399"/>
                </a:solidFill>
                <a:latin typeface="Arial"/>
              </a:defRPr>
            </a:pPr>
            <a:r>
              <a:t>$440M+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709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5th Ave</a:t>
            </a:r>
            <a:br/>
            <a:r>
              <a:t>연매출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402336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D399"/>
                </a:solidFill>
                <a:latin typeface="Arial"/>
              </a:defRPr>
            </a:pPr>
            <a:r>
              <a:t>$5,546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709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sqft당 매출</a:t>
            </a:r>
            <a:br/>
            <a:r>
              <a:t>세계 1위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02336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60A5FA"/>
                </a:solidFill>
                <a:latin typeface="Arial"/>
              </a:defRPr>
            </a:pPr>
            <a:r>
              <a:t>+15%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09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인접 소매점</a:t>
            </a:r>
            <a:br/>
            <a:r>
              <a:t>유입 증가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402336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D399"/>
                </a:solidFill>
                <a:latin typeface="Arial"/>
              </a:defRPr>
            </a:pPr>
            <a:r>
              <a:t>2,900%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709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ROI</a:t>
            </a:r>
            <a:br/>
            <a:r>
              <a:t>(매년 반복)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760720"/>
            <a:ext cx="10515600" cy="8229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80644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투명성 = 브랜드 철학의 물리적 선언. "전망-피난처 이론": 안이 보이면 안전하다고 느끼고, 진입 장벽 극도로 낮아짐.</a:t>
            </a:r>
            <a:br/>
            <a:r>
              <a:t>$15M 투자 → $440M 연매출. ROI 2,900%. 건물이 서 있는 한 매년 반복.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Arial"/>
              </a:defRPr>
            </a:pPr>
            <a:r>
              <a:t>PART 2 — CASE: HERMÈS GINZA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8"/>
                </a:solidFill>
                <a:latin typeface="Arial"/>
              </a:defRPr>
            </a:pPr>
            <a:r>
              <a:t>쇼윈도우 하나에 6억 원을 쓰는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B0"/>
                </a:solidFill>
                <a:latin typeface="Arial"/>
              </a:defRPr>
            </a:pPr>
            <a:r>
              <a:t>렌조 피아노 설계 (2001) — 13,000개 맞춤 유리 블록, 광고 0원, 앰배서더 0명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28600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긴자 메종 주간 전체 외관</a:t>
            </a:r>
            <a:br/>
            <a:r>
              <a:t>13,000개 유리 블록 = 스카프 직물 질감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645920"/>
            <a:ext cx="3291840" cy="228600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8346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야간 등불(Lantern) 효과</a:t>
            </a:r>
            <a:br/>
            <a:r>
              <a:t>유리 블록이 내부 빛을 은은하게 확산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45920"/>
            <a:ext cx="3566160" cy="228600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2560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83463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유리 블록 클로즈업</a:t>
            </a:r>
            <a:br/>
            <a:r>
              <a:t>45cm×45cm, 하나하나 수공예 제작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C040"/>
                </a:solidFill>
                <a:latin typeface="Arial"/>
              </a:defRPr>
            </a:pPr>
            <a:r>
              <a:t>13,000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수공예</a:t>
            </a:r>
            <a:br/>
            <a:r>
              <a:t>유리 블록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42976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4480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C040"/>
                </a:solidFill>
                <a:latin typeface="Arial"/>
              </a:defRPr>
            </a:pPr>
            <a:r>
              <a:t>~6.5억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983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쇼윈도 1개</a:t>
            </a:r>
            <a:br/>
            <a:r>
              <a:t>설치 비용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42976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4480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C040"/>
                </a:solidFill>
                <a:latin typeface="Arial"/>
              </a:defRPr>
            </a:pPr>
            <a:r>
              <a:t>+30%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983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아이코닉 파사드</a:t>
            </a:r>
            <a:br/>
            <a:r>
              <a:t>보행 유입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42976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4480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C040"/>
                </a:solidFill>
                <a:latin typeface="Arial"/>
              </a:defRPr>
            </a:pPr>
            <a:r>
              <a:t>$93.7B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983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브랜드 가치</a:t>
            </a:r>
            <a:br/>
            <a:r>
              <a:t>(2025)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943600"/>
            <a:ext cx="10515600" cy="64008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9893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신호 이론: 13,000개 수공예 유리 블록 = 위조 불가능한 품질 신호. 앵커링: 미술관급 파사드 → 버킨백 가격이 "당연한 것"이 됨.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Arial"/>
              </a:defRPr>
            </a:pPr>
            <a:r>
              <a:t>PART 2 — CASE: GENTLE MONSTER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8"/>
                </a:solidFill>
                <a:latin typeface="Arial"/>
              </a:defRPr>
            </a:pPr>
            <a:r>
              <a:t>안경을 파는 미술관 — 매장의 85%가 아트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0312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7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하우스도산 외관</a:t>
            </a:r>
            <a:br/>
            <a:r>
              <a:t>5층 브루탈리즘 콘크리트, 곡면 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291840" cy="210312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46887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1층 아트 인스톨레이션</a:t>
            </a:r>
            <a:br/>
            <a:r>
              <a:t>매 시즌 전체 교체, 키네틱 조각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566160" cy="210312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194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46887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상층부 아트 환경 + 안경 진열</a:t>
            </a:r>
            <a:br/>
            <a:r>
              <a:t>면적 85% 아트, 15% 제품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Arial"/>
              </a:defRPr>
            </a:pPr>
            <a:r>
              <a:t>7,891억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아이아이컴바인드</a:t>
            </a:r>
            <a:br/>
            <a:r>
              <a:t>2024 매출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영업이익률</a:t>
            </a:r>
            <a:br/>
            <a:r>
              <a:t>2,338억원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Arial"/>
              </a:defRPr>
            </a:pPr>
            <a:r>
              <a:t>60~70%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외국인</a:t>
            </a:r>
            <a:br/>
            <a:r>
              <a:t>구매 비중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Arial"/>
              </a:defRPr>
            </a:pPr>
            <a:r>
              <a:t>2x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해외 매출</a:t>
            </a:r>
            <a:br/>
            <a:r>
              <a:t>1년간 성장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C040"/>
                </a:solidFill>
                <a:latin typeface="Arial"/>
              </a:defRPr>
            </a:pPr>
            <a:r>
              <a:t>+60%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도산대로 부동산</a:t>
            </a:r>
            <a:br/>
            <a:r>
              <a:t>5년간 상승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669280"/>
            <a:ext cx="10515600" cy="91440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7150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"안경을 팔기 위해 안경을 보여주지 않는다." 매장 면적의 85%가 아트 인스톨레이션. 매 시즌 전체 인테리어를 교체하여</a:t>
            </a:r>
            <a:br/>
            <a:r>
              <a:t>"영구적 새로움" 창출. 결과: 하우스도산 하나가 도산대로 전체의 부동산 가치를 5년간 40~60% 올림.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Arial"/>
              </a:defRPr>
            </a:pPr>
            <a:r>
              <a:t>PART 2 — CASE: AESOP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8"/>
                </a:solidFill>
                <a:latin typeface="Arial"/>
              </a:defRPr>
            </a:pPr>
            <a:r>
              <a:t>"No Two Stores Alike" — 같은 브랜드, 다른 얼굴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0312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7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이솝 가로수길 (서울)</a:t>
            </a:r>
            <a:br/>
            <a:r>
              <a:t>한옥 영감 목재 + 미니멀 유리 전면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291840" cy="210312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46887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이솝 긴자 (도쿄)</a:t>
            </a:r>
            <a:br/>
            <a:r>
              <a:t>수백 개 재활용 신문지 튜브 파사드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566160" cy="210312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194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46887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시그니처 앰버 보틀 월</a:t>
            </a:r>
            <a:br/>
            <a:r>
              <a:t>어느 매장에나 공통 — 유일한 일관성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B923C"/>
                </a:solidFill>
                <a:latin typeface="Arial"/>
              </a:defRPr>
            </a:pPr>
            <a:r>
              <a:t>914억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이솝코리아</a:t>
            </a:r>
            <a:br/>
            <a:r>
              <a:t>2021 매출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전년 대비 2배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B923C"/>
                </a:solidFill>
                <a:latin typeface="Arial"/>
              </a:defRPr>
            </a:pPr>
            <a:r>
              <a:t>75%+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매출 중</a:t>
            </a:r>
            <a:br/>
            <a:r>
              <a:t>오프라인 비중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B923C"/>
                </a:solidFill>
                <a:latin typeface="Arial"/>
              </a:defRPr>
            </a:pPr>
            <a:r>
              <a:t>#2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한국 =</a:t>
            </a:r>
            <a:br/>
            <a:r>
              <a:t>글로벌 2위 시장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B923C"/>
                </a:solidFill>
                <a:latin typeface="Arial"/>
              </a:defRPr>
            </a:pPr>
            <a:r>
              <a:t>3조원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기업 가치</a:t>
            </a:r>
            <a:br/>
            <a:r>
              <a:t>(로레알 인수)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669280"/>
            <a:ext cx="10515600" cy="91440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7150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매장마다 다른 건축가가 그 지역의 문화와 소재를 반영하여 설계. 호박색 보틀과 미니멀 사이니지만 일정하고 나머지는 전부 다름.</a:t>
            </a:r>
            <a:br/>
            <a:r>
              <a:t>각 매장이 "발견의 대상" → 여행지에서 이솝을 찾는 것 자체가 경험 → "골목 매장"이 3조원 기업가치를 만든 비결 = 공간이 곧 브랜딩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6AEF"/>
                </a:solidFill>
                <a:latin typeface="Arial"/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0F0F8"/>
                </a:solidFill>
                <a:latin typeface="Arial"/>
              </a:defRPr>
            </a:pPr>
            <a:r>
              <a:t>파급력의 메커니즘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8B0"/>
                </a:solidFill>
                <a:latin typeface="Arial"/>
              </a:defRPr>
            </a:pPr>
            <a:r>
              <a:t>커뮤니케이션 관점 — 파사드는 24시간 자가증식하는 미디어다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72B6"/>
                </a:solidFill>
                <a:latin typeface="Arial"/>
              </a:defRPr>
            </a:pPr>
            <a:r>
              <a:t>PART 3 — 커뮤니케이션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8"/>
                </a:solidFill>
                <a:latin typeface="Arial"/>
              </a:defRPr>
            </a:pPr>
            <a:r>
              <a:t>파사드는 24시간 작동하는 미디어다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114800"/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비교 항목</a:t>
                      </a:r>
                    </a:p>
                  </a:txBody>
                  <a:tcPr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TV / 디지털 광고</a:t>
                      </a:r>
                    </a:p>
                  </a:txBody>
                  <a:tcPr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파사드 / 쇼윈도우</a:t>
                      </a:r>
                    </a:p>
                  </a:txBody>
                  <a:tcPr>
                    <a:solidFill>
                      <a:srgbClr val="1E1E3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수명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15~30초 (단발)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10~30년 (영구적)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누적 노출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캠페인 기간 한정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24/7 × 365 × 수십 년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주의 포착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배너 맹시 CTR 0.05%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보행자 정지율 20~40%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감각 채널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시각+청각 (2D)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시각+촉각+공간감 (3D)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신호 신뢰도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누구나 집행 가능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높은 투자 = 위조 불가능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CPM 추이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연 15~20% 상승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시간이 갈수록 하락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잔여 가치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캠페인 종료 시 0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자산 가치로 축적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577840"/>
            <a:ext cx="10515600" cy="914400"/>
          </a:xfrm>
          <a:prstGeom prst="roundRect">
            <a:avLst/>
          </a:prstGeom>
          <a:solidFill>
            <a:srgbClr val="1A1018"/>
          </a:solidFill>
          <a:ln w="12700">
            <a:solidFill>
              <a:srgbClr val="3A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6692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8"/>
                </a:solidFill>
                <a:latin typeface="Arial"/>
              </a:defRPr>
            </a:pPr>
            <a:r>
              <a:t>TV 광고 15초에 수억 원. 끝나면 가치 = 0. 파사드는 한 번 투자하면 10~30년 동안 24시간 작동.</a:t>
            </a:r>
            <a:br/>
            <a:r>
              <a:t>시간이 갈수록 노출당 비용 하락. 광고와 달리 건물 자산으로 축적.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72B6"/>
                </a:solidFill>
                <a:latin typeface="Arial"/>
              </a:defRPr>
            </a:pPr>
            <a:r>
              <a:t>PART 3 — CASE: GLOSSIER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8"/>
                </a:solidFill>
                <a:latin typeface="Arial"/>
              </a:defRPr>
            </a:pPr>
            <a:r>
              <a:t>광고비 0원, 520억의 미디어 가치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0312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7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NYC "Glossier Canyon"</a:t>
            </a:r>
            <a:br/>
            <a:r>
              <a:t>밀레니얼 핑크 곡선형 셀피 공간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291840" cy="210312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46887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LA 매장 핑크 타일 외관</a:t>
            </a:r>
            <a:br/>
            <a:r>
              <a:t>레트로 주유소 스타일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566160" cy="210312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194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46887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고객이 매장에서 셀피</a:t>
            </a:r>
            <a:br/>
            <a:r>
              <a:t>공간 자체가 콘텐츠 스튜디오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472B6"/>
                </a:solidFill>
                <a:latin typeface="Arial"/>
              </a:defRPr>
            </a:pPr>
            <a:r>
              <a:t>280만+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인스타그램</a:t>
            </a:r>
            <a:br/>
            <a:r>
              <a:t>해시태그 게시물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472B6"/>
                </a:solidFill>
                <a:latin typeface="Arial"/>
              </a:defRPr>
            </a:pPr>
            <a:r>
              <a:t>$40M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Earned Media</a:t>
            </a:r>
            <a:br/>
            <a:r>
              <a:t>Value (520억)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472B6"/>
                </a:solidFill>
                <a:latin typeface="Arial"/>
              </a:defRPr>
            </a:pPr>
            <a:r>
              <a:t>0원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전통</a:t>
            </a:r>
            <a:br/>
            <a:r>
              <a:t>광고비 지출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472B6"/>
                </a:solidFill>
                <a:latin typeface="Arial"/>
              </a:defRPr>
            </a:pPr>
            <a:r>
              <a:t>+40%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인스타 매장</a:t>
            </a:r>
            <a:br/>
            <a:r>
              <a:t>첫방문 유입↑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69280"/>
            <a:ext cx="10515600" cy="91440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7150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매장 자체를 "찍고 싶은 공간"으로 설계. 고객이 사진 찍고 → 올리고 → 그걸 본 사람이 방문하고 → 또 찍고.</a:t>
            </a:r>
            <a:br/>
            <a:r>
              <a:t>이 자기강화 루프(self-reinforcing loop)가 280만 건의 포스팅과 520억원의 미디어 가치를 만듦. 현재 84% 리테일러가 이 모델을 따름.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72B6"/>
                </a:solidFill>
                <a:latin typeface="Arial"/>
              </a:defRPr>
            </a:pPr>
            <a:r>
              <a:t>PART 3 — CASE: COEX WAVE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8"/>
                </a:solidFill>
                <a:latin typeface="Arial"/>
              </a:defRPr>
            </a:pPr>
            <a:r>
              <a:t>건물 벽 하나로 1억 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0312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7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정면 3D 파도 일루전</a:t>
            </a:r>
            <a:br/>
            <a:r>
              <a:t>1,620㎡ LED (80m×20m)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291840" cy="210312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46887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측면 → 평면 LED 확인</a:t>
            </a:r>
            <a:br/>
            <a:r>
              <a:t>anamorphic 기법 특정 각도 전용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566160" cy="210312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194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78"/>
                </a:solidFill>
                <a:latin typeface="Arial"/>
              </a:defRPr>
            </a:pPr>
            <a:r>
              <a:t>[IMAGE 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46887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0"/>
                </a:solidFill>
                <a:latin typeface="Arial"/>
              </a:defRPr>
            </a:pPr>
            <a:r>
              <a:t>야간 교차로 전경</a:t>
            </a:r>
            <a:br/>
            <a:r>
              <a:t>보행자들이 서서 촬영하는 모습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Arial"/>
              </a:defRPr>
            </a:pPr>
            <a:r>
              <a:t>1억+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소셜 미디어</a:t>
            </a:r>
            <a:br/>
            <a:r>
              <a:t>조회수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설치 수주 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Arial"/>
              </a:defRPr>
            </a:pPr>
            <a:r>
              <a:t>3~4x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3D 빌보드</a:t>
            </a:r>
            <a:br/>
            <a:r>
              <a:t>시청 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983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일반 광고 대비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프리미엄</a:t>
            </a:r>
            <a:br/>
            <a:r>
              <a:t>인식 소비자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840480"/>
            <a:ext cx="2423160" cy="15087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4023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Arial"/>
              </a:defRPr>
            </a:pPr>
            <a:r>
              <a:t>58%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526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SNS</a:t>
            </a:r>
            <a:br/>
            <a:r>
              <a:t>공유 의향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69280"/>
            <a:ext cx="10515600" cy="91440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150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건물 벽 LED 영상이 1억 뷰 = BTS 뮤직비디오 급. 광고비 0원, 사람들이 자발적으로 촬영 및 공유.</a:t>
            </a:r>
            <a:br/>
            <a:r>
              <a:t>설치 후 건물 임대 프리미엄 상승 → 미디어 파사드 = 건물 자산 가치를 높이는 투자. 제작: d'strict, 4개월 소요.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72B6"/>
                </a:solidFill>
                <a:latin typeface="Arial"/>
              </a:defRPr>
            </a:pPr>
            <a:r>
              <a:t>PART 3 — 파급력 종합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8"/>
                </a:solidFill>
                <a:latin typeface="Arial"/>
              </a:defRPr>
            </a:pPr>
            <a:r>
              <a:t>커뮤니케이션 파급력 — 숫자 총정리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  <a:gridCol w="155448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브랜드</a:t>
                      </a:r>
                    </a:p>
                  </a:txBody>
                  <a:tcPr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파급력 지표</a:t>
                      </a:r>
                    </a:p>
                  </a:txBody>
                  <a:tcPr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비용 대비 효과</a:t>
                      </a:r>
                    </a:p>
                  </a:txBody>
                  <a:tcPr>
                    <a:solidFill>
                      <a:srgbClr val="1E1E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Glossier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472B6"/>
                          </a:solidFill>
                          <a:latin typeface="Arial"/>
                        </a:defRPr>
                      </a:pPr>
                      <a:r>
                        <a:t>280만 포스팅, EMV $40M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광고비 0원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Coex 파도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472B6"/>
                          </a:solidFill>
                          <a:latin typeface="Arial"/>
                        </a:defRPr>
                      </a:pPr>
                      <a:r>
                        <a:t>1억+ 소셜 조회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건물 임대 프리미엄 상승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Gentle Monster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472B6"/>
                          </a:solidFill>
                          <a:latin typeface="Arial"/>
                        </a:defRPr>
                      </a:pPr>
                      <a:r>
                        <a:t>연 EMV 50~80억원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매 시즌 교체 → 영구적 새로움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Selfridges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472B6"/>
                          </a:solidFill>
                          <a:latin typeface="Arial"/>
                        </a:defRPr>
                      </a:pPr>
                      <a:r>
                        <a:t>연 EMV £15~20M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문화 플랫폼 포지셔닝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Apple 매장 오픈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472B6"/>
                          </a:solidFill>
                          <a:latin typeface="Arial"/>
                        </a:defRPr>
                      </a:pPr>
                      <a:r>
                        <a:t>오픈당 EMV $5~10M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인접 소매점 유입 +15%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371600"/>
            <a:ext cx="5212080" cy="502920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72B6"/>
                </a:solidFill>
                <a:latin typeface="Arial"/>
              </a:defRPr>
            </a:pPr>
            <a:r>
              <a:t>구전(WOM) &amp; Earned Media 효과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745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Arial"/>
              </a:defRPr>
            </a:pPr>
            <a:r>
              <a:t>5x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7451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8"/>
                </a:solidFill>
                <a:latin typeface="Arial"/>
              </a:defRPr>
            </a:pPr>
            <a:r>
              <a:t>WOM 판매 전환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유료 미디어 대비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423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Arial"/>
              </a:defRPr>
            </a:pPr>
            <a:r>
              <a:t>200%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8"/>
                </a:solidFill>
                <a:latin typeface="Arial"/>
              </a:defRPr>
            </a:pPr>
            <a:r>
              <a:t>WOM 고객 지출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일반 고객 대비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71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Arial"/>
              </a:defRPr>
            </a:pPr>
            <a:r>
              <a:t>37%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971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8"/>
                </a:solidFill>
                <a:latin typeface="Arial"/>
              </a:defRPr>
            </a:pPr>
            <a:r>
              <a:t>WOM 고객 유지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971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더 오래 유지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5204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Arial"/>
              </a:defRPr>
            </a:pPr>
            <a:r>
              <a:t>$5.50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52043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8"/>
                </a:solidFill>
                <a:latin typeface="Arial"/>
              </a:defRPr>
            </a:pPr>
            <a:r>
              <a:t>Earned Media 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5204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투자 $1당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690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Arial"/>
              </a:defRPr>
            </a:pPr>
            <a:r>
              <a:t>+29%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06907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8"/>
                </a:solidFill>
                <a:latin typeface="Arial"/>
              </a:defRPr>
            </a:pPr>
            <a:r>
              <a:t>UGC 활용 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0690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웹 전환율 증가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Arial"/>
              </a:defRPr>
            </a:pPr>
            <a:r>
              <a:t>3x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617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8"/>
                </a:solidFill>
                <a:latin typeface="Arial"/>
              </a:defRPr>
            </a:pPr>
            <a:r>
              <a:t>감정적 브랜드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더 많은 WOM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16635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Arial"/>
              </a:defRPr>
            </a:pPr>
            <a:r>
              <a:t>4x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16635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8"/>
                </a:solidFill>
                <a:latin typeface="Arial"/>
              </a:defRPr>
            </a:pPr>
            <a:r>
              <a:t>OOH 브랜드 회상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51663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온라인 광고 대비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715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Arial"/>
              </a:defRPr>
            </a:pPr>
            <a:r>
              <a:t>+40%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715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8"/>
                </a:solidFill>
                <a:latin typeface="Arial"/>
              </a:defRPr>
            </a:pPr>
            <a:r>
              <a:t>인스타 매장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첫방문 유입 증가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72B6"/>
                </a:solidFill>
                <a:latin typeface="Arial"/>
              </a:defRPr>
            </a:pPr>
            <a:r>
              <a:t>PART 3 — 메커니즘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8"/>
                </a:solidFill>
                <a:latin typeface="Arial"/>
              </a:defRPr>
            </a:pPr>
            <a:r>
              <a:t>파사드가 작동하는 7단계 심리학적 플로우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44752"/>
            <a:ext cx="146304" cy="146304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9264" y="1609344"/>
            <a:ext cx="36576" cy="512064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80160" y="1344168"/>
            <a:ext cx="9875520" cy="512064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3898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C040"/>
                </a:solidFill>
                <a:latin typeface="Arial"/>
              </a:defRPr>
            </a:pPr>
            <a:r>
              <a:t>반복 노출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3898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8"/>
                </a:solidFill>
                <a:latin typeface="Arial"/>
              </a:defRPr>
            </a:pPr>
            <a:r>
              <a:t>단순노출효과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38988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0"/>
                </a:solidFill>
                <a:latin typeface="Arial"/>
              </a:defRPr>
            </a:pPr>
            <a:r>
              <a:t>무의식적 호감 → 5회 노출로 선호도 60%↑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157984"/>
            <a:ext cx="146304" cy="14630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9264" y="2322576"/>
            <a:ext cx="36576" cy="512064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80160" y="2057400"/>
            <a:ext cx="9875520" cy="512064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103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Arial"/>
              </a:defRPr>
            </a:pPr>
            <a:r>
              <a:t>시각적 충격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1031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8"/>
                </a:solidFill>
                <a:latin typeface="Arial"/>
              </a:defRPr>
            </a:pPr>
            <a:r>
              <a:t>주의 경제학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031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0"/>
                </a:solidFill>
                <a:latin typeface="Arial"/>
              </a:defRPr>
            </a:pPr>
            <a:r>
              <a:t>하루 10,000개 광고 중 '멈춤' → 정지율 800배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2871216"/>
            <a:ext cx="146304" cy="146304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" y="3035808"/>
            <a:ext cx="36576" cy="512064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280160" y="2770632"/>
            <a:ext cx="9875520" cy="512064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28163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6"/>
                </a:solidFill>
                <a:latin typeface="Arial"/>
              </a:defRPr>
            </a:pPr>
            <a:r>
              <a:t>아름다운 파사드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8163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8"/>
                </a:solidFill>
                <a:latin typeface="Arial"/>
              </a:defRPr>
            </a:pPr>
            <a:r>
              <a:t>후광 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81635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0"/>
                </a:solidFill>
                <a:latin typeface="Arial"/>
              </a:defRPr>
            </a:pPr>
            <a:r>
              <a:t>내부 모든 것이 좋아 보임 → 사용성 50%↑ 인식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358444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" y="3749039"/>
            <a:ext cx="36576" cy="512064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80160" y="3483864"/>
            <a:ext cx="9875520" cy="512064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35295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Arial"/>
              </a:defRPr>
            </a:pPr>
            <a:r>
              <a:t>높은 투자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52958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8"/>
                </a:solidFill>
                <a:latin typeface="Arial"/>
              </a:defRPr>
            </a:pPr>
            <a:r>
              <a:t>신호 이론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52958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0"/>
                </a:solidFill>
                <a:latin typeface="Arial"/>
              </a:defRPr>
            </a:pPr>
            <a:r>
              <a:t>'진짜 좋은 브랜드' 신뢰 → 위조 불가능한 신호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4297680"/>
            <a:ext cx="146304" cy="146304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9264" y="4462272"/>
            <a:ext cx="36576" cy="512064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280160" y="4197096"/>
            <a:ext cx="9875520" cy="512064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424281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Arial"/>
              </a:defRPr>
            </a:pPr>
            <a:r>
              <a:t>가격 앵커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24281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8"/>
                </a:solidFill>
                <a:latin typeface="Arial"/>
              </a:defRPr>
            </a:pPr>
            <a:r>
              <a:t>앵커링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24281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0"/>
                </a:solidFill>
                <a:latin typeface="Arial"/>
              </a:defRPr>
            </a:pPr>
            <a:r>
              <a:t>'이 가격은 합리적' → WTP +25%</a:t>
            </a:r>
          </a:p>
        </p:txBody>
      </p:sp>
      <p:sp>
        <p:nvSpPr>
          <p:cNvPr id="34" name="Oval 33"/>
          <p:cNvSpPr/>
          <p:nvPr/>
        </p:nvSpPr>
        <p:spPr>
          <a:xfrm>
            <a:off x="914400" y="5010912"/>
            <a:ext cx="146304" cy="14630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9264" y="5175504"/>
            <a:ext cx="36576" cy="512064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280160" y="4910328"/>
            <a:ext cx="9875520" cy="512064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3040" y="49560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Arial"/>
              </a:defRPr>
            </a:pPr>
            <a:r>
              <a:t>첫/마지막 인상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956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8"/>
                </a:solidFill>
                <a:latin typeface="Arial"/>
              </a:defRPr>
            </a:pPr>
            <a:r>
              <a:t>피크-엔드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9560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0"/>
                </a:solidFill>
                <a:latin typeface="Arial"/>
              </a:defRPr>
            </a:pPr>
            <a:r>
              <a:t>전체 기억 품질 결정 → 경험을 bookend</a:t>
            </a:r>
          </a:p>
        </p:txBody>
      </p:sp>
      <p:sp>
        <p:nvSpPr>
          <p:cNvPr id="40" name="Oval 39"/>
          <p:cNvSpPr/>
          <p:nvPr/>
        </p:nvSpPr>
        <p:spPr>
          <a:xfrm>
            <a:off x="914400" y="5724144"/>
            <a:ext cx="146304" cy="146304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280160" y="5623559"/>
            <a:ext cx="9875520" cy="512064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63040" y="566927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6"/>
                </a:solidFill>
                <a:latin typeface="Arial"/>
              </a:defRPr>
            </a:pPr>
            <a:r>
              <a:t>SNS 공유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566927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8"/>
                </a:solidFill>
                <a:latin typeface="Arial"/>
              </a:defRPr>
            </a:pPr>
            <a:r>
              <a:t>사회적 증거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5669279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0"/>
                </a:solidFill>
                <a:latin typeface="Arial"/>
              </a:defRPr>
            </a:pPr>
            <a:r>
              <a:t>자기강화 루프 → WOM 판매 전환 5배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AEF"/>
                </a:solidFill>
                <a:latin typeface="Arial"/>
              </a:defRPr>
            </a:pPr>
            <a: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8"/>
                </a:solidFill>
                <a:latin typeface="Arial"/>
              </a:defRPr>
            </a:pPr>
            <a:r>
              <a:t>3가지 관점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365760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C040"/>
                </a:solidFill>
                <a:latin typeface="Arial"/>
              </a:defRPr>
            </a:pPr>
            <a:r>
              <a:t>부동산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8"/>
                </a:solidFill>
                <a:latin typeface="Arial"/>
              </a:defRPr>
            </a:pPr>
            <a:r>
              <a:t>1층이 건물 전체의</a:t>
            </a:r>
            <a:br/>
            <a:r>
              <a:t>가치를 결정한다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926080"/>
            <a:ext cx="2560320" cy="18288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898B0"/>
                </a:solidFill>
                <a:latin typeface="Arial"/>
              </a:defRPr>
            </a:pPr>
            <a:r>
              <a:t>공실 → -20% / 좋은 1층 → 전체 +20%</a:t>
            </a:r>
            <a:br/>
            <a:r>
              <a:t>Whole Foods 입점 → 상층 +6%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63040"/>
            <a:ext cx="3474720" cy="365760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Arial"/>
              </a:defRPr>
            </a:pPr>
            <a:r>
              <a:t>브랜드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8"/>
                </a:solidFill>
                <a:latin typeface="Arial"/>
              </a:defRPr>
            </a:pPr>
            <a:r>
              <a:t>파사드는 0.05초의</a:t>
            </a:r>
            <a:br/>
            <a:r>
              <a:t>가격 정당화 장치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59" y="2926080"/>
            <a:ext cx="2560320" cy="18288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1089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898B0"/>
                </a:solidFill>
                <a:latin typeface="Arial"/>
              </a:defRPr>
            </a:pPr>
            <a:r>
              <a:t>리노베이션 → 매출 +50%</a:t>
            </a:r>
            <a:br/>
            <a:r>
              <a:t>환경 프라이밍 → WTP +25%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474720" cy="365760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472B6"/>
                </a:solidFill>
                <a:latin typeface="Arial"/>
              </a:defRPr>
            </a:pPr>
            <a:r>
              <a:t>커뮤니케이션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8"/>
                </a:solidFill>
                <a:latin typeface="Arial"/>
              </a:defRPr>
            </a:pPr>
            <a:r>
              <a:t>파사드는 24시간</a:t>
            </a:r>
            <a:br/>
            <a:r>
              <a:t>자가증식하는 미디어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2926080"/>
            <a:ext cx="2560320" cy="18288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1089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898B0"/>
                </a:solidFill>
                <a:latin typeface="Arial"/>
              </a:defRPr>
            </a:pPr>
            <a:r>
              <a:t>Glossier EMV $40M / Coex 1억뷰</a:t>
            </a:r>
            <a:br/>
            <a:r>
              <a:t>WOM 판매전환 5배 / EMV ROI $5.50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94960"/>
            <a:ext cx="10515600" cy="1097280"/>
          </a:xfrm>
          <a:prstGeom prst="roundRect">
            <a:avLst/>
          </a:prstGeom>
          <a:solidFill>
            <a:srgbClr val="141228"/>
          </a:solidFill>
          <a:ln w="12700">
            <a:solidFill>
              <a:srgbClr val="7C6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440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Arial"/>
              </a:defRPr>
            </a:pPr>
            <a:r>
              <a:t>ROI FORMULA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715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8"/>
                </a:solidFill>
                <a:latin typeface="Arial"/>
              </a:defRPr>
            </a:pPr>
            <a:r>
              <a:t>파사드 ROI = 매출 증가(+32~50%) + 유동인구(+23~35%) + Earned Media($수천만~수백억) + 부동산 프리미엄(+7~12%) + 브랜드 자산(장기)</a:t>
            </a:r>
            <a:br/>
            <a:r>
              <a:t>투자 회수 기간: 2~3년 (리모델링 주기 7~10년 대비)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8B0"/>
                </a:solidFill>
                <a:latin typeface="Arial"/>
              </a:defRPr>
            </a:pPr>
            <a:r>
              <a:t>처음에 질문했죠.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0F0F8"/>
                </a:solidFill>
                <a:latin typeface="Arial"/>
              </a:defRPr>
            </a:pPr>
            <a:r>
              <a:t>"왜 1층이 3배 비싼가."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8B0"/>
                </a:solidFill>
                <a:latin typeface="Arial"/>
              </a:defRPr>
            </a:pPr>
            <a:r>
              <a:t>100점짜리 답: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9898B0"/>
                </a:solidFill>
                <a:latin typeface="Arial"/>
              </a:defRPr>
            </a:pPr>
            <a:r>
              <a:t>1층의 파사드는</a:t>
            </a:r>
          </a:p>
          <a:p>
            <a:pPr algn="ctr">
              <a:spcBef>
                <a:spcPts val="1200"/>
              </a:spcBef>
              <a:defRPr sz="2000" b="1">
                <a:solidFill>
                  <a:srgbClr val="F0C040"/>
                </a:solidFill>
                <a:latin typeface="Arial"/>
              </a:defRPr>
            </a:pPr>
            <a:r>
              <a:t>건물의 가치를 결정하고 (부동산)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34D399"/>
                </a:solidFill>
                <a:latin typeface="Arial"/>
              </a:defRPr>
            </a:pPr>
            <a:r>
              <a:t>브랜드의 가격을 정당화하며 (앵커링)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F472B6"/>
                </a:solidFill>
                <a:latin typeface="Arial"/>
              </a:defRPr>
            </a:pPr>
            <a:r>
              <a:t>고객이 자발적으로 만드는 수백억의 미디어를 생성합니다 (커뮤니케이션)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A78BFA"/>
                </a:solidFill>
                <a:latin typeface="Arial"/>
              </a:defRPr>
            </a:pPr>
            <a:r>
              <a:t>"파사드에 1원을 투자하면,</a:t>
            </a:r>
            <a:br/>
            <a:r>
              <a:t>그것은 건축비가 아니라 수십 년간 작동하는 브랜드 자산에 대한 투자입니다."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06078"/>
                </a:solidFill>
                <a:latin typeface="Arial"/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6078"/>
                </a:solidFill>
                <a:latin typeface="Arial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8"/>
                </a:solidFill>
                <a:latin typeface="Arial"/>
              </a:defRPr>
            </a:pPr>
            <a:r>
              <a:t>이미지 소싱 가이드 — 총 21컷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2926080"/>
                <a:gridCol w="28346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케이스</a:t>
                      </a:r>
                    </a:p>
                  </a:txBody>
                  <a:tcPr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이미지 1</a:t>
                      </a:r>
                    </a:p>
                  </a:txBody>
                  <a:tcPr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이미지 2</a:t>
                      </a:r>
                    </a:p>
                  </a:txBody>
                  <a:tcPr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이미지 3</a:t>
                      </a:r>
                    </a:p>
                  </a:txBody>
                  <a:tcPr>
                    <a:solidFill>
                      <a:srgbClr val="1E1E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성수동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2018 공장 거리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블루보틀 유리 파사드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현재 플래그십 거리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Apple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5th Ave 큐브 야경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Marina Bay 수상매장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내부 유리 천장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Hermès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긴자 주간 전체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야간 등불 효과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유리 블록 클로즈업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Gentle Monster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하우스도산 외관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1층 설치 작품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상층부 아트+제품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Aesop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가로수길 한옥+유리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긴자 신문지 튜브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앰버 보틀 월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Glossier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NYC 핑크 캐니언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LA 핑크 외관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고객 셀피 모습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Coex 파도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정면 3D 파도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측면 평면 확인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898B0"/>
                          </a:solidFill>
                          <a:latin typeface="Arial"/>
                        </a:defRPr>
                      </a:pPr>
                      <a:r>
                        <a:t>야간 교차로 전경</a:t>
                      </a:r>
                    </a:p>
                  </a:txBody>
                  <a:tcPr>
                    <a:solidFill>
                      <a:srgbClr val="16162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Arial"/>
              </a:defRPr>
            </a:pPr>
            <a:r>
              <a:t>소싱 권장: ArchDaily, Dezeen, Archdaily Korea (고화질 건축 사진) / 브랜드 공식 프레스킷 / Pinterest 큐레이션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