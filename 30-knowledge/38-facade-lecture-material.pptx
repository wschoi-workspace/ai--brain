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6AEF"/>
                </a:solidFill>
                <a:latin typeface="Arial"/>
              </a:defRPr>
            </a:pPr>
            <a:r>
              <a:t>LECTURE MATERIAL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F0F8"/>
                </a:solidFill>
                <a:latin typeface="Arial"/>
              </a:defRPr>
            </a:pPr>
            <a:r>
              <a:t>건물의 첫인상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78BFA"/>
                </a:solidFill>
                <a:latin typeface="Arial"/>
              </a:defRPr>
            </a:pPr>
            <a:r>
              <a:t>파사드와 쇼윈도우의 비즈니스 심리학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898B0"/>
                </a:solidFill>
                <a:latin typeface="Arial"/>
              </a:defRPr>
            </a:pPr>
            <a:r>
              <a:t>"예쁘니까"가 아니라 "돈이 되니까".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898B0"/>
                </a:solidFill>
                <a:latin typeface="Arial"/>
              </a:defRPr>
            </a:pPr>
            <a:r>
              <a:t>브랜드와 건물이 외벽에 투자해야 하는 정량적 이유와 심리학적 메커니즘.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57200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800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0C040"/>
                </a:solidFill>
                <a:latin typeface="Arial"/>
              </a:defRPr>
            </a:pPr>
            <a:r>
              <a:t>24%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49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구매 결정이</a:t>
            </a:r>
            <a:br/>
            <a:r>
              <a:t>파사드에서 시작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457200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4800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Arial"/>
              </a:defRPr>
            </a:pPr>
            <a:r>
              <a:t>+50%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349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파사드 리노베이션 후</a:t>
            </a:r>
            <a:br/>
            <a:r>
              <a:t>매출 증가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57200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4800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472B6"/>
                </a:solidFill>
                <a:latin typeface="Arial"/>
              </a:defRPr>
            </a:pPr>
            <a:r>
              <a:t>$40M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349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Glossier 매장 디자인</a:t>
            </a:r>
            <a:br/>
            <a:r>
              <a:t>획득 미디어 가치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457200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4800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0A5FA"/>
                </a:solidFill>
                <a:latin typeface="Arial"/>
              </a:defRPr>
            </a:pPr>
            <a:r>
              <a:t>+12.4%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5349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차별화 파사드</a:t>
            </a:r>
            <a:br/>
            <a:r>
              <a:t>임대료 프리미엄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6AEF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8"/>
                </a:solidFill>
                <a:latin typeface="Arial"/>
              </a:defRPr>
            </a:pPr>
            <a:r>
              <a:t>오늘의 강의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898B0"/>
                </a:solidFill>
                <a:latin typeface="Arial"/>
              </a:defRPr>
            </a:pPr>
            <a:r>
              <a:t>왜 중요한가 → 얼마나 효과적인가 → 왜 작동하는가 → 누가 증명했는가 → 어떻게 진화했는가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457200" cy="45720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A78BF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93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왜 파사드인가 — 첫인상의 비즈니스 가치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042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브랜드와 건물에 있어 '보여지는 것'이 매출과 직결되는 이유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61488"/>
            <a:ext cx="457200" cy="45720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A78BFA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43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숫자로 증명하는 파사드의 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540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보행 전환, 매출, 미디어 가치, 자산 프리미엄 — 40+ 데이터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11296"/>
            <a:ext cx="457200" cy="45720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A78BFA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93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심리학이 설명하는 메커니즘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039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10가지 행동경제학/인지심리학 이론으로 '왜 작동하는가'를 해부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61104"/>
            <a:ext cx="457200" cy="45720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A78BFA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4281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케이스 스터디 — 돈으로 증명한 브랜드들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537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Apple, Hermes, Glossier, Coex 파도 — 구체적 숫자와 전략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10912"/>
            <a:ext cx="457200" cy="45720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A78BFA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99262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파사드의 진화 — 벽에서 미디어로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03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7단계 진화: 기능 → 장식 → 스토리 → 건축 → 디지털 →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457200" cy="45720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A78BFA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742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Takeaway — 파사드는 비용이 아니라 자산이다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60533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전통 광고와의 비교, ROI 공식, 6가지 핵심 인사이트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6AEF"/>
                </a:solidFill>
                <a:latin typeface="Arial"/>
              </a:defRPr>
            </a:pPr>
            <a:r>
              <a:t>CHAPTER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0F0F8"/>
                </a:solidFill>
                <a:latin typeface="Arial"/>
              </a:defRPr>
            </a:pPr>
            <a:r>
              <a:t>왜 파사드인가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898B0"/>
                </a:solidFill>
                <a:latin typeface="Arial"/>
              </a:defRPr>
            </a:pPr>
            <a:r>
              <a:t>첫인상의 비즈니스 가치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1097280"/>
          </a:xfrm>
          <a:prstGeom prst="roundRect">
            <a:avLst/>
          </a:prstGeom>
          <a:solidFill>
            <a:srgbClr val="15132A"/>
          </a:solidFill>
          <a:ln w="12700">
            <a:solidFill>
              <a:srgbClr val="7C6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411480" cy="411480"/>
          </a:xfrm>
          <a:prstGeom prst="roundRect">
            <a:avLst/>
          </a:prstGeom>
          <a:solidFill>
            <a:srgbClr val="7C6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0F0F8"/>
                </a:solidFill>
              </a:defRPr>
            </a:pPr>
            <a: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8"/>
                </a:solidFill>
                <a:latin typeface="Arial"/>
              </a:defRPr>
            </a:pPr>
            <a:r>
              <a:t>건물의 파사드가 단순히 '예쁘면 좋은 것'이 아니라</a:t>
            </a:r>
            <a:br/>
            <a:r>
              <a:t>비즈니스에 실질적 영향을 미친다고 말할 수 있는 근거는?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515600" cy="301752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Arial"/>
              </a:defRPr>
            </a:pPr>
            <a:r>
              <a:t>핵심 전제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898B0"/>
                </a:solidFill>
                <a:latin typeface="Arial"/>
              </a:defRPr>
            </a:pPr>
            <a:r>
              <a:t>사람이 건물 앞을 지나가는 순간, 뇌는 0.05초 만에 첫인상을 형성합니다.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400" b="0">
                <a:solidFill>
                  <a:srgbClr val="9898B0"/>
                </a:solidFill>
                <a:latin typeface="Arial"/>
              </a:defRPr>
            </a:pPr>
            <a:r>
              <a:t>이 첫인상은 단순한 감상이 아닙니다.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400" b="0">
                <a:solidFill>
                  <a:srgbClr val="9898B0"/>
                </a:solidFill>
                <a:latin typeface="Arial"/>
              </a:defRPr>
            </a:pPr>
            <a:r>
              <a:t>"들어갈 것인가, 지나칠 것인가"를 결정하는 무의식적 판단이며,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400" b="0">
                <a:solidFill>
                  <a:srgbClr val="9898B0"/>
                </a:solidFill>
                <a:latin typeface="Arial"/>
              </a:defRPr>
            </a:pPr>
            <a:r>
              <a:t>이 판단이 곧 매출, 임대료, 브랜드 자산으로 직결됩니다.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400" b="0">
                <a:solidFill>
                  <a:srgbClr val="9898B0"/>
                </a:solidFill>
                <a:latin typeface="Arial"/>
              </a:defRPr>
            </a:pPr>
          </a:p>
          <a:p>
            <a:pPr algn="l">
              <a:spcBef>
                <a:spcPts val="200"/>
              </a:spcBef>
              <a:spcAft>
                <a:spcPts val="0"/>
              </a:spcAft>
              <a:defRPr sz="1400" b="1">
                <a:solidFill>
                  <a:srgbClr val="F0F0F8"/>
                </a:solidFill>
                <a:latin typeface="Arial"/>
              </a:defRPr>
            </a:pPr>
            <a:r>
              <a:t>• 고객이 매장에 들어오기 전에 구매 의향이 결정됩니다.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400" b="1">
                <a:solidFill>
                  <a:srgbClr val="F0F0F8"/>
                </a:solidFill>
                <a:latin typeface="Arial"/>
              </a:defRPr>
            </a:pPr>
            <a:r>
              <a:t>• 건물의 외관이 내부 상품의 가격 정당성을 만듭니다.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400" b="1">
                <a:solidFill>
                  <a:srgbClr val="F0F0F8"/>
                </a:solidFill>
                <a:latin typeface="Arial"/>
              </a:defRPr>
            </a:pPr>
            <a:r>
              <a:t>• 파사드 하나가 연간 수십억 원의 무료 미디어를 생성합니다.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400" b="1">
                <a:solidFill>
                  <a:srgbClr val="F0F0F8"/>
                </a:solidFill>
                <a:latin typeface="Arial"/>
              </a:defRPr>
            </a:pPr>
            <a:r>
              <a:t>• 차별화된 파사드는 같은 위치에서 임대료를 12%까지 높입니다.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6AEF"/>
                </a:solidFill>
                <a:latin typeface="Arial"/>
              </a:defRPr>
            </a:pPr>
            <a:r>
              <a:t>CHAPTER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8"/>
                </a:solidFill>
                <a:latin typeface="Arial"/>
              </a:defRPr>
            </a:pPr>
            <a:r>
              <a:t>파사드가 결정하는 3가지 비즈니스 변수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320040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0F0F8"/>
                </a:solidFill>
                <a:latin typeface="Arial"/>
              </a:defRPr>
            </a:pPr>
            <a:r>
              <a:t>유입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898B0"/>
                </a:solidFill>
                <a:latin typeface="Arial"/>
              </a:defRPr>
            </a:pPr>
            <a:r>
              <a:t>보행자가 멈추는가,</a:t>
            </a:r>
            <a:br/>
            <a:r>
              <a:t>지나치는가.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C040"/>
                </a:solidFill>
                <a:latin typeface="Arial"/>
              </a:defRPr>
            </a:pPr>
            <a:r>
              <a:t>쇼윈도 → 충동구매 62%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118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6078"/>
                </a:solidFill>
                <a:latin typeface="Arial"/>
              </a:defRPr>
            </a:pPr>
            <a:r>
              <a:t>shopPOPdisplays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54480"/>
            <a:ext cx="3383280" cy="320040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0F0F8"/>
                </a:solidFill>
                <a:latin typeface="Arial"/>
              </a:defRPr>
            </a:pPr>
            <a:r>
              <a:t>가격 인식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2860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898B0"/>
                </a:solidFill>
                <a:latin typeface="Arial"/>
              </a:defRPr>
            </a:pPr>
            <a:r>
              <a:t>"비싸도 괜찮다"는</a:t>
            </a:r>
            <a:br/>
            <a:r>
              <a:t>느낌이 드는가.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200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D399"/>
                </a:solidFill>
                <a:latin typeface="Arial"/>
              </a:defRPr>
            </a:pPr>
            <a:r>
              <a:t>환경 프라이밍 → WTP +25%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6118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6078"/>
                </a:solidFill>
                <a:latin typeface="Arial"/>
              </a:defRPr>
            </a:pPr>
            <a:r>
              <a:t>Tversky &amp; Kahneman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383280" cy="320040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0F0F8"/>
                </a:solidFill>
                <a:latin typeface="Arial"/>
              </a:defRPr>
            </a:pPr>
            <a:r>
              <a:t>자산 가치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2860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898B0"/>
                </a:solidFill>
                <a:latin typeface="Arial"/>
              </a:defRPr>
            </a:pPr>
            <a:r>
              <a:t>건물 자체의 가치가</a:t>
            </a:r>
            <a:br/>
            <a:r>
              <a:t>올라가는가.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00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0A5FA"/>
                </a:solidFill>
                <a:latin typeface="Arial"/>
              </a:defRPr>
            </a:pPr>
            <a:r>
              <a:t>곡면 파사드 → 임대료 +12.4%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6118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6078"/>
                </a:solidFill>
                <a:latin typeface="Arial"/>
              </a:defRPr>
            </a:pPr>
            <a:r>
              <a:t>Tandfonline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10515600" cy="1371600"/>
          </a:xfrm>
          <a:prstGeom prst="roundRect">
            <a:avLst/>
          </a:prstGeom>
          <a:solidFill>
            <a:srgbClr val="1C1A10"/>
          </a:solidFill>
          <a:ln w="12700">
            <a:solidFill>
              <a:srgbClr val="3A3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C040"/>
                </a:solidFill>
                <a:latin typeface="Arial"/>
              </a:defRPr>
            </a:pPr>
            <a:r>
              <a:t>강의 포인트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4864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8"/>
                </a:solidFill>
                <a:latin typeface="Arial"/>
              </a:defRPr>
            </a:pPr>
            <a:r>
              <a:t>파사드의 가치는 "예쁘다/안 예쁘다"의 주관적 판단이 아닙니다.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0F0F8"/>
                </a:solidFill>
                <a:latin typeface="Arial"/>
              </a:defRPr>
            </a:pPr>
            <a:r>
              <a:t>"유입률, 객단가, 임대료"라는 정량적 비즈니스 지표로 측정할 수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6AEF"/>
                </a:solidFill>
                <a:latin typeface="Arial"/>
              </a:defRPr>
            </a:pPr>
            <a:r>
              <a:t>CHAPTER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8"/>
                </a:solidFill>
                <a:latin typeface="Arial"/>
              </a:defRPr>
            </a:pPr>
            <a:r>
              <a:t>숫자로 증명하는 파사드의 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C040"/>
                </a:solidFill>
                <a:latin typeface="Arial"/>
              </a:defRPr>
            </a:pPr>
            <a:r>
              <a:t>● 유입과 전환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0C040"/>
                </a:solidFill>
                <a:latin typeface="Arial"/>
              </a:defRPr>
            </a:pPr>
            <a:r>
              <a:t>76%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구매 결정이</a:t>
            </a:r>
            <a:br/>
            <a:r>
              <a:t>매장 안에서 발생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POPAI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01168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2402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0C040"/>
                </a:solidFill>
                <a:latin typeface="Arial"/>
              </a:defRPr>
            </a:pPr>
            <a:r>
              <a:t>24%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쇼윈도가</a:t>
            </a:r>
            <a:br/>
            <a:r>
              <a:t>구매 결정에 영향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00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NPD Group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2402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0C040"/>
                </a:solidFill>
                <a:latin typeface="Arial"/>
              </a:defRPr>
            </a:pPr>
            <a:r>
              <a:t>62%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쇼윈도에 의한</a:t>
            </a:r>
            <a:br/>
            <a:r>
              <a:t>충동구매 비율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shopPOPdisplays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01168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2402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0C040"/>
                </a:solidFill>
                <a:latin typeface="Arial"/>
              </a:defRPr>
            </a:pPr>
            <a:r>
              <a:t>+35%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파사드 리노베이션 후</a:t>
            </a:r>
            <a:br/>
            <a:r>
              <a:t>유동인구 증가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200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PRL Glass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Arial"/>
              </a:defRPr>
            </a:pPr>
            <a:r>
              <a:t>● 매출 임팩트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617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Arial"/>
              </a:defRPr>
            </a:pPr>
            <a:r>
              <a:t>+50%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6635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파사드 리노베이션 후</a:t>
            </a:r>
            <a:br/>
            <a:r>
              <a:t>매출 증가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PRL Glass (6개월 ROI)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438912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617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Arial"/>
              </a:defRPr>
            </a:pPr>
            <a:r>
              <a:t>+44%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16635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리모델링 후</a:t>
            </a:r>
            <a:br/>
            <a:r>
              <a:t>신규 고객 매출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577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Monash University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38912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617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Arial"/>
              </a:defRPr>
            </a:pPr>
            <a:r>
              <a:t>+32%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6635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디지털 사이니지</a:t>
            </a:r>
            <a:br/>
            <a:r>
              <a:t>도입 매장 매출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77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AIScreen (2025)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438912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4617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Arial"/>
              </a:defRPr>
            </a:pPr>
            <a:r>
              <a:t>300%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516635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비주얼 머천다이징</a:t>
            </a:r>
            <a:br/>
            <a:r>
              <a:t>투자 ROI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5577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Contra Vision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6AEF"/>
                </a:solidFill>
                <a:latin typeface="Arial"/>
              </a:defRPr>
            </a:pPr>
            <a:r>
              <a:t>CHAPTER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72B6"/>
                </a:solidFill>
                <a:latin typeface="Arial"/>
              </a:defRPr>
            </a:pPr>
            <a:r>
              <a:t>● 미디어 가치 &amp; 자산 프리미엄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472B6"/>
                </a:solidFill>
                <a:latin typeface="Arial"/>
              </a:defRPr>
            </a:pPr>
            <a:r>
              <a:t>$40M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Glossier 매장 디자인</a:t>
            </a:r>
            <a:br/>
            <a:r>
              <a:t>Earned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520억원 상당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28016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508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472B6"/>
                </a:solidFill>
                <a:latin typeface="Arial"/>
              </a:defRPr>
            </a:pPr>
            <a:r>
              <a:t>1억+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Coex 파도 일루전</a:t>
            </a:r>
            <a:br/>
            <a:r>
              <a:t>소셜 미디어 조회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68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설치 수주 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28016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B923C"/>
                </a:solidFill>
                <a:latin typeface="Arial"/>
              </a:defRPr>
            </a:pPr>
            <a:r>
              <a:t>+12.4%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곡면 파사드 건물</a:t>
            </a:r>
            <a:br/>
            <a:r>
              <a:t>임대료 프리미엄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Tandfonline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28016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508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B923C"/>
                </a:solidFill>
                <a:latin typeface="Arial"/>
              </a:defRPr>
            </a:pPr>
            <a:r>
              <a:t>2~3년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파사드 리모델링</a:t>
            </a:r>
            <a:br/>
            <a:r>
              <a:t>투자 회수 기간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468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78"/>
                </a:solidFill>
                <a:latin typeface="Arial"/>
              </a:defRPr>
            </a:pPr>
            <a:r>
              <a:t>Monash Univ.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00400"/>
            <a:ext cx="10515600" cy="1463040"/>
          </a:xfrm>
          <a:prstGeom prst="roundRect">
            <a:avLst/>
          </a:prstGeom>
          <a:solidFill>
            <a:srgbClr val="0F1A15"/>
          </a:solidFill>
          <a:ln w="12700">
            <a:solidFill>
              <a:srgbClr val="153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Arial"/>
              </a:defRPr>
            </a:pPr>
            <a:r>
              <a:t>핵심 해석 — Monash University 연구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61188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8"/>
                </a:solidFill>
                <a:latin typeface="Arial"/>
              </a:defRPr>
            </a:pPr>
            <a:r>
              <a:t>신규 고객 매출 +44% vs 기존 고객 매출 +10%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300" b="0">
                <a:solidFill>
                  <a:srgbClr val="9898B0"/>
                </a:solidFill>
                <a:latin typeface="Arial"/>
              </a:defRPr>
            </a:pPr>
            <a:r>
              <a:t>→ 파사드 리모델링은 "기존 고객을 더 쓰게 하는 것"이 아니라 "새로운 고객을 끌어오는 것"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300" b="0">
                <a:solidFill>
                  <a:srgbClr val="9898B0"/>
                </a:solidFill>
                <a:latin typeface="Arial"/>
              </a:defRPr>
            </a:pPr>
            <a:r>
              <a:t>→ 리모델링 후 신규 고객 재방문율도 +16% (1년간 지속). 파사드 = "고객 획득 채널"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46320"/>
            <a:ext cx="10515600" cy="1554480"/>
          </a:xfrm>
          <a:prstGeom prst="roundRect">
            <a:avLst/>
          </a:prstGeom>
          <a:solidFill>
            <a:srgbClr val="1A1018"/>
          </a:solidFill>
          <a:ln w="12700">
            <a:solidFill>
              <a:srgbClr val="3A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6"/>
                </a:solidFill>
                <a:latin typeface="Arial"/>
              </a:defRPr>
            </a:pPr>
            <a:r>
              <a:t>핵심 해석 — Glossier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5780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8"/>
                </a:solidFill>
                <a:latin typeface="Arial"/>
              </a:defRPr>
            </a:pPr>
            <a:r>
              <a:t>광고비 0원. 대신 매장 자체를 '찍고 싶은 공간'으로 설계.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300" b="0">
                <a:solidFill>
                  <a:srgbClr val="9898B0"/>
                </a:solidFill>
                <a:latin typeface="Arial"/>
              </a:defRPr>
            </a:pPr>
            <a:r>
              <a:t>고객이 자발적으로 280만 건의 인스타그램 포스팅 → $40M(520억) 미디어 가치.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300" b="0">
                <a:solidFill>
                  <a:srgbClr val="9898B0"/>
                </a:solidFill>
                <a:latin typeface="Arial"/>
              </a:defRPr>
            </a:pPr>
            <a:r>
              <a:t>파사드/매장 디자인이 곧 마케팅 비용을 대체. 현재 84% 리테일러가 이 모델을 따름.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6AEF"/>
                </a:solidFill>
                <a:latin typeface="Arial"/>
              </a:defRPr>
            </a:pPr>
            <a:r>
              <a:t>CHAPTER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8"/>
                </a:solidFill>
                <a:latin typeface="Arial"/>
              </a:defRPr>
            </a:pPr>
            <a:r>
              <a:t>심리학이 설명하는 메커니즘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898B0"/>
                </a:solidFill>
                <a:latin typeface="Arial"/>
              </a:defRPr>
            </a:pPr>
            <a:r>
              <a:t>파사드가 효과적인 것은 "느낌" 때문이 아닙니다.</a:t>
            </a:r>
            <a:br/>
            <a:r>
              <a:t>인간의 인지 구조가 그렇게 설계되어 있기 때문입니다.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0515600" cy="914400"/>
          </a:xfrm>
          <a:prstGeom prst="roundRect">
            <a:avLst/>
          </a:prstGeom>
          <a:solidFill>
            <a:srgbClr val="15132A"/>
          </a:solidFill>
          <a:ln w="12700">
            <a:solidFill>
              <a:srgbClr val="7C6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8"/>
                </a:solidFill>
                <a:latin typeface="Arial"/>
              </a:defRPr>
            </a:pPr>
            <a:r>
              <a:t>왜 사람들은 에르메스 매장 앞에서 멈추고, 옆 건물은 그냥 지나칠까?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3383280" cy="128016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04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20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단순노출효과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반복 노출 → 무의식적 호감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8"/>
                </a:solidFill>
                <a:latin typeface="Arial"/>
              </a:defRPr>
            </a:pPr>
            <a:r>
              <a:t>Zajonc, 1968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383280"/>
            <a:ext cx="3383280" cy="128016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520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520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앵커링 효과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첫인상이 가격 기준점 설정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51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8"/>
                </a:solidFill>
                <a:latin typeface="Arial"/>
              </a:defRPr>
            </a:pPr>
            <a:r>
              <a:t>Kahneman, 1974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383280"/>
            <a:ext cx="3383280" cy="128016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520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520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신호 이론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비용 높은 신호 = 신뢰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251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8"/>
                </a:solidFill>
                <a:latin typeface="Arial"/>
              </a:defRPr>
            </a:pPr>
            <a:r>
              <a:t>Spence, 1973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92040"/>
            <a:ext cx="3383280" cy="128016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029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선택적 주의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949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3D 파사드가 주의 필터 통과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60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8"/>
                </a:solidFill>
                <a:latin typeface="Arial"/>
              </a:defRPr>
            </a:pPr>
            <a:r>
              <a:t>Broadbent, 1958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892040"/>
            <a:ext cx="3383280" cy="128016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5029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72B6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미적-사용성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3949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아름다운 것 = 더 좋은 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760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8"/>
                </a:solidFill>
                <a:latin typeface="Arial"/>
              </a:defRPr>
            </a:pPr>
            <a:r>
              <a:t>Kurosu, 1995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892040"/>
            <a:ext cx="3383280" cy="128016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5029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Kaplan 매트릭스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3949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일관성×복잡성×신비감 균형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760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8"/>
                </a:solidFill>
                <a:latin typeface="Arial"/>
              </a:defRPr>
            </a:pPr>
            <a:r>
              <a:t>Kaplan &amp; Kaplan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6AEF"/>
                </a:solidFill>
                <a:latin typeface="Arial"/>
              </a:defRPr>
            </a:pPr>
            <a:r>
              <a:t>CHAPTER 3 — 핵심 이론 상세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10515600" cy="274320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85800"/>
            <a:ext cx="457200" cy="365760"/>
          </a:xfrm>
          <a:prstGeom prst="roundRect">
            <a:avLst/>
          </a:prstGeom>
          <a:solidFill>
            <a:srgbClr val="7C6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0F0F8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8"/>
                </a:solidFill>
                <a:latin typeface="Arial"/>
              </a:defRPr>
            </a:pPr>
            <a:r>
              <a:t>단순노출효과  Mere Exposure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8"/>
                </a:solidFill>
                <a:latin typeface="Arial"/>
              </a:defRPr>
            </a:pPr>
            <a:r>
              <a:t>Robert Zajonc, 1968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C040"/>
                </a:solidFill>
                <a:latin typeface="Arial"/>
              </a:defRPr>
            </a:pPr>
            <a:r>
              <a:t>무엇인가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어떤 대상에 반복적으로 노출되는 것만으로 호감이 증가.</a:t>
            </a:r>
            <a:br/>
            <a:r>
              <a:t>의식적 주의 불필요. 노출 사실을 기억 못 해도 효과 발생.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Arial"/>
              </a:defRPr>
            </a:pPr>
            <a:r>
              <a:t>왜 파사드에 중요한가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TV광고 15초, 디지털 광고는 스킵. 파사드는 수명 10~30년.</a:t>
            </a:r>
            <a:br/>
            <a:r>
              <a:t>매일 출퇴근 보행자에게 연간 수백 번 무의식적 노출.</a:t>
            </a:r>
            <a:br/>
            <a:r>
              <a:t>파사드는 세상에서 가장 긴 광고.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737360"/>
            <a:ext cx="4937760" cy="1554480"/>
          </a:xfrm>
          <a:prstGeom prst="roundRect">
            <a:avLst/>
          </a:prstGeom>
          <a:solidFill>
            <a:srgbClr val="2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8288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C040"/>
                </a:solidFill>
                <a:latin typeface="Arial"/>
              </a:defRPr>
            </a:pPr>
            <a: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단 1~5회 노출만으로</a:t>
            </a:r>
            <a:br/>
            <a:r>
              <a:t>선호도가 60% 증가합니다.</a:t>
            </a:r>
            <a:br/>
            <a:r>
              <a:t>파사드 앞을 5번 지나가면,</a:t>
            </a:r>
            <a:br/>
            <a:r>
              <a:t>이미 그 브랜드를 좋아하기 시작한 것.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10515600" cy="274320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703320"/>
            <a:ext cx="457200" cy="365760"/>
          </a:xfrm>
          <a:prstGeom prst="roundRect">
            <a:avLst/>
          </a:prstGeom>
          <a:solidFill>
            <a:srgbClr val="7C6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0F0F8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8"/>
                </a:solidFill>
                <a:latin typeface="Arial"/>
              </a:defRPr>
            </a:pPr>
            <a:r>
              <a:t>앵커링 효과  Anchoring Effect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8"/>
                </a:solidFill>
                <a:latin typeface="Arial"/>
              </a:defRPr>
            </a:pPr>
            <a:r>
              <a:t>Tversky &amp; Kahneman, 1974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09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C040"/>
                </a:solidFill>
                <a:latin typeface="Arial"/>
              </a:defRPr>
            </a:pPr>
            <a:r>
              <a:t>무엇인가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37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처음 접한 정보를 기준점(앵커)으로 삼아 이후 판단을 조정.</a:t>
            </a:r>
            <a:br/>
            <a:r>
              <a:t>첫 번째 인상이 모든 후속 판단의 '정상 범위'를 결정.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Arial"/>
              </a:defRPr>
            </a:pPr>
            <a:r>
              <a:t>왜 파사드에 중요한가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5778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에르메스 긴자 메종의 유리 블록 파사드를 본 고객은</a:t>
            </a:r>
            <a:br/>
            <a:r>
              <a:t>문을 열기 전에 이미 '미술관급 브랜드'라는 앵커가 설정.</a:t>
            </a:r>
            <a:br/>
            <a:r>
              <a:t>이 앵커 위에서 버킨백 가격이 '당연한 것'이 됨.</a:t>
            </a:r>
            <a:br/>
            <a:r>
              <a:t>파사드 = 가격 정당화 장치.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709160"/>
            <a:ext cx="4937760" cy="1554480"/>
          </a:xfrm>
          <a:prstGeom prst="roundRect">
            <a:avLst/>
          </a:prstGeom>
          <a:solidFill>
            <a:srgbClr val="2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8006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0A5FA"/>
                </a:solidFill>
                <a:latin typeface="Arial"/>
              </a:defRPr>
            </a:pPr>
            <a:r>
              <a:t>+25%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892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환경적 프라이밍(파사드 포함)이</a:t>
            </a:r>
            <a:br/>
            <a:r>
              <a:t>지불의향(WTP)을 최대 25% 변화.</a:t>
            </a:r>
            <a:br/>
            <a:r>
              <a:t>같은 상품도 환경에 따라</a:t>
            </a:r>
            <a:br/>
            <a:r>
              <a:t>'비싸다' 또는 '합리적이다'가 달라짐.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6AEF"/>
                </a:solidFill>
                <a:latin typeface="Arial"/>
              </a:defRPr>
            </a:pPr>
            <a:r>
              <a:t>CHAPTER 3 — 핵심 이론 상세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10515600" cy="274320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85800"/>
            <a:ext cx="457200" cy="365760"/>
          </a:xfrm>
          <a:prstGeom prst="roundRect">
            <a:avLst/>
          </a:prstGeom>
          <a:solidFill>
            <a:srgbClr val="7C6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0F0F8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8"/>
                </a:solidFill>
                <a:latin typeface="Arial"/>
              </a:defRPr>
            </a:pPr>
            <a:r>
              <a:t>신호 이론  Costly Signaling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8"/>
                </a:solidFill>
                <a:latin typeface="Arial"/>
              </a:defRPr>
            </a:pPr>
            <a:r>
              <a:t>Michael Spence, 1973 / Zahavi 핸디캡 원리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C040"/>
                </a:solidFill>
                <a:latin typeface="Arial"/>
              </a:defRPr>
            </a:pPr>
            <a:r>
              <a:t>무엇인가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비용이 많이 드는 신호일수록 신뢰도가 높음.</a:t>
            </a:r>
            <a:br/>
            <a:r>
              <a:t>가짜로 만들 수 없는 신호만이 진짜 정보를 전달.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Arial"/>
              </a:defRPr>
            </a:pPr>
            <a:r>
              <a:t>왜 파사드에 중요한가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인스타 광고 100만원이면 누구나 가능.</a:t>
            </a:r>
            <a:br/>
            <a:r>
              <a:t>건물 파사드에 수십억 투자는 위조 불가능.</a:t>
            </a:r>
            <a:br/>
            <a:r>
              <a:t>Bergdorf 홀리데이 윈도우: 100명 장인 투입.</a:t>
            </a:r>
            <a:br/>
            <a:r>
              <a:t>에르메스 윈도우 1개: $500K(6.5억원).</a:t>
            </a:r>
            <a:br/>
            <a:r>
              <a:t>= '위조 불가능한 품질 신호'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737360"/>
            <a:ext cx="4937760" cy="1554480"/>
          </a:xfrm>
          <a:prstGeom prst="roundRect">
            <a:avLst/>
          </a:prstGeom>
          <a:solidFill>
            <a:srgbClr val="2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Arial"/>
              </a:defRPr>
            </a:pPr>
            <a:r>
              <a:t>신호의 신뢰도 공식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8"/>
                </a:solidFill>
                <a:latin typeface="Arial"/>
              </a:defRPr>
            </a:pPr>
            <a:r>
              <a:t>신뢰도 = 신호 비용  ÷  위조 가능성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97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0"/>
                </a:solidFill>
                <a:latin typeface="Arial"/>
              </a:defRPr>
            </a:pPr>
            <a:r>
              <a:t>파사드: 비용 높음 + 위조 불가</a:t>
            </a:r>
            <a:br/>
            <a:r>
              <a:t>= 가장 신뢰도 높은 브랜드 신호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515600" cy="274320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703320"/>
            <a:ext cx="457200" cy="365760"/>
          </a:xfrm>
          <a:prstGeom prst="roundRect">
            <a:avLst/>
          </a:prstGeom>
          <a:solidFill>
            <a:srgbClr val="7C6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0F0F8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8"/>
                </a:solidFill>
                <a:latin typeface="Arial"/>
              </a:defRPr>
            </a:pPr>
            <a:r>
              <a:t>선택적 주의 &amp; 배너 맹시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8"/>
                </a:solidFill>
                <a:latin typeface="Arial"/>
              </a:defRPr>
            </a:pPr>
            <a:r>
              <a:t>Broadbent (1958), Simons &amp; Chabris (1999)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09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923C"/>
                </a:solidFill>
                <a:latin typeface="Arial"/>
              </a:defRPr>
            </a:pPr>
            <a:r>
              <a:t>핵심 역설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37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인간은 하루 4,000~10,000개 광고에 노출되지만</a:t>
            </a:r>
            <a:br/>
            <a:r>
              <a:t>대부분 무의식적으로 걸러냄 = 배너 맹시.</a:t>
            </a:r>
            <a:br/>
            <a:r>
              <a:t>디지털 배너 CTR = 0.05%</a:t>
            </a:r>
            <a:br/>
            <a:br/>
            <a:r>
              <a:t>하지만 파사드는 3차원 물리적 현저성으로</a:t>
            </a:r>
            <a:br/>
            <a:r>
              <a:t>주의 필터를 강제 통과. 보행자 정지율 20~40%.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709160"/>
            <a:ext cx="4937760" cy="1554480"/>
          </a:xfrm>
          <a:prstGeom prst="roundRect">
            <a:avLst/>
          </a:prstGeom>
          <a:solidFill>
            <a:srgbClr val="22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48006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B923C"/>
                </a:solidFill>
                <a:latin typeface="Arial"/>
              </a:defRPr>
            </a:pPr>
            <a:r>
              <a:t>800x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892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파사드 정지율(20~40%)</a:t>
            </a:r>
            <a:br/>
            <a:r>
              <a:t>vs 배너 CTR(0.05%)</a:t>
            </a:r>
            <a:br/>
            <a:br/>
            <a:r>
              <a:t>파사드의 주의 포착력은</a:t>
            </a:r>
            <a:br/>
            <a:r>
              <a:t>디지털 광고의 최대 800배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6AEF"/>
                </a:solidFill>
                <a:latin typeface="Arial"/>
              </a:defRPr>
            </a:pPr>
            <a:r>
              <a:t>CHAPTER 3 — 메커니즘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8"/>
                </a:solidFill>
                <a:latin typeface="Arial"/>
              </a:defRPr>
            </a:pPr>
            <a:r>
              <a:t>파사드가 작동하는 9단계 심리학적 플로우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536192"/>
            <a:ext cx="164592" cy="164592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1719072"/>
            <a:ext cx="36576" cy="36576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417320"/>
            <a:ext cx="9601200" cy="475488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C040"/>
                </a:solidFill>
                <a:latin typeface="Arial"/>
              </a:defRPr>
            </a:pPr>
            <a:r>
              <a:t>반복 노출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463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0"/>
                </a:solidFill>
                <a:latin typeface="Arial"/>
              </a:defRPr>
            </a:pPr>
            <a:r>
              <a:t>단순노출 효과 → 무의식적 브랜드 선호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103120"/>
            <a:ext cx="164592" cy="164592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8408" y="2286000"/>
            <a:ext cx="36576" cy="36576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1984248"/>
            <a:ext cx="9601200" cy="475488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0299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Arial"/>
              </a:defRPr>
            </a:pPr>
            <a:r>
              <a:t>시각적 충격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0299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0"/>
                </a:solidFill>
                <a:latin typeface="Arial"/>
              </a:defRPr>
            </a:pPr>
            <a:r>
              <a:t>주의 경제학 + Kaplan 신비감 → 주의 획득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2670048"/>
            <a:ext cx="164592" cy="164592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78408" y="2852928"/>
            <a:ext cx="36576" cy="36576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371600" y="2551176"/>
            <a:ext cx="9601200" cy="475488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25968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6"/>
                </a:solidFill>
                <a:latin typeface="Arial"/>
              </a:defRPr>
            </a:pPr>
            <a:r>
              <a:t>심미적 판단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59689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0"/>
                </a:solidFill>
                <a:latin typeface="Arial"/>
              </a:defRPr>
            </a:pPr>
            <a:r>
              <a:t>미적-사용성 + 후광 → '좋은 브랜드' 기대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3236976"/>
            <a:ext cx="164592" cy="16459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8408" y="3419856"/>
            <a:ext cx="36576" cy="36576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3118104"/>
            <a:ext cx="9601200" cy="475488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3163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Arial"/>
              </a:defRPr>
            </a:pPr>
            <a:r>
              <a:t>신뢰 형성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16382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0"/>
                </a:solidFill>
                <a:latin typeface="Arial"/>
              </a:defRPr>
            </a:pPr>
            <a:r>
              <a:t>신호 이론 → 건축 투자 = 품질 증명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3803904"/>
            <a:ext cx="164592" cy="16459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" y="3986784"/>
            <a:ext cx="36576" cy="36576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71600" y="3685032"/>
            <a:ext cx="9601200" cy="475488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730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Arial"/>
              </a:defRPr>
            </a:pPr>
            <a:r>
              <a:t>진입 유인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73075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0"/>
                </a:solidFill>
                <a:latin typeface="Arial"/>
              </a:defRPr>
            </a:pPr>
            <a:r>
              <a:t>전망-피난처 + 가독성 → 본능적 안전감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370832"/>
            <a:ext cx="164592" cy="16459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8408" y="4553712"/>
            <a:ext cx="36576" cy="36576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371600" y="4251960"/>
            <a:ext cx="9601200" cy="475488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5448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Arial"/>
              </a:defRPr>
            </a:pPr>
            <a:r>
              <a:t>가격 수용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2976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0"/>
                </a:solidFill>
                <a:latin typeface="Arial"/>
              </a:defRPr>
            </a:pPr>
            <a:r>
              <a:t>앵커링 → 프리미엄 가격 수용 범위 확장</a:t>
            </a:r>
          </a:p>
        </p:txBody>
      </p:sp>
      <p:sp>
        <p:nvSpPr>
          <p:cNvPr id="34" name="Oval 33"/>
          <p:cNvSpPr/>
          <p:nvPr/>
        </p:nvSpPr>
        <p:spPr>
          <a:xfrm>
            <a:off x="914400" y="4937760"/>
            <a:ext cx="164592" cy="164592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8408" y="5120640"/>
            <a:ext cx="36576" cy="36576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371600" y="4818888"/>
            <a:ext cx="9601200" cy="475488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54480" y="48646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C040"/>
                </a:solidFill>
                <a:latin typeface="Arial"/>
              </a:defRPr>
            </a:pPr>
            <a:r>
              <a:t>체류 연장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486460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0"/>
                </a:solidFill>
                <a:latin typeface="Arial"/>
              </a:defRPr>
            </a:pPr>
            <a:r>
              <a:t>분위기 이론(PAD) → 체류시간+지출 증가</a:t>
            </a:r>
          </a:p>
        </p:txBody>
      </p:sp>
      <p:sp>
        <p:nvSpPr>
          <p:cNvPr id="39" name="Oval 38"/>
          <p:cNvSpPr/>
          <p:nvPr/>
        </p:nvSpPr>
        <p:spPr>
          <a:xfrm>
            <a:off x="914400" y="5504688"/>
            <a:ext cx="164592" cy="16459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8408" y="5687568"/>
            <a:ext cx="36576" cy="36576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71600" y="5385816"/>
            <a:ext cx="9601200" cy="475488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54480" y="5431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Arial"/>
              </a:defRPr>
            </a:pPr>
            <a:r>
              <a:t>기억 각인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543153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0"/>
                </a:solidFill>
                <a:latin typeface="Arial"/>
              </a:defRPr>
            </a:pPr>
            <a:r>
              <a:t>피크-엔드 → 전체 경험의 기억 품질 결정</a:t>
            </a:r>
          </a:p>
        </p:txBody>
      </p:sp>
      <p:sp>
        <p:nvSpPr>
          <p:cNvPr id="44" name="Oval 43"/>
          <p:cNvSpPr/>
          <p:nvPr/>
        </p:nvSpPr>
        <p:spPr>
          <a:xfrm>
            <a:off x="914400" y="6071616"/>
            <a:ext cx="164592" cy="164592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371600" y="5952744"/>
            <a:ext cx="9601200" cy="475488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54480" y="59984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6"/>
                </a:solidFill>
                <a:latin typeface="Arial"/>
              </a:defRPr>
            </a:pPr>
            <a:r>
              <a:t>자발적 확산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599846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0"/>
                </a:solidFill>
                <a:latin typeface="Arial"/>
              </a:defRPr>
            </a:pPr>
            <a:r>
              <a:t>Social Proof → SNS 공유 → 자기강화 루프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Arial"/>
              </a:defRPr>
            </a:pPr>
            <a:r>
              <a:t>CHAPTER 4 — CASE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8"/>
                </a:solidFill>
                <a:latin typeface="Arial"/>
              </a:defRPr>
            </a:pPr>
            <a:r>
              <a:t>Apple Store — 유리 한 장이 만든 세계 최고 매출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898B0"/>
                </a:solidFill>
                <a:latin typeface="Arial"/>
              </a:defRPr>
            </a:pPr>
            <a:r>
              <a:t>투명성이라는 브랜드 철학을 건축으로 번역한 전략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Arial"/>
              </a:defRPr>
            </a:pPr>
            <a:r>
              <a:t>$7M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초기 투자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73736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965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Arial"/>
              </a:defRPr>
            </a:pPr>
            <a:r>
              <a:t>$15M+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2019 리빌드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73736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965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Arial"/>
              </a:defRPr>
            </a:pPr>
            <a:r>
              <a:t>$440M+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5th Ave 연매출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59" y="173736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59" y="1965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Arial"/>
              </a:defRPr>
            </a:pPr>
            <a:r>
              <a:t>$5,546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59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sqft당 매출 (1위)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73736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1965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0A5FA"/>
                </a:solidFill>
                <a:latin typeface="Arial"/>
              </a:defRPr>
            </a:pPr>
            <a:r>
              <a:t>+15%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인접 소매점 유입↑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66160"/>
            <a:ext cx="10515600" cy="29260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657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Arial"/>
              </a:defRPr>
            </a:pPr>
            <a:r>
              <a:t>전략 해부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93192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0"/>
                </a:solidFill>
                <a:latin typeface="Arial"/>
              </a:defRPr>
            </a:pPr>
            <a:r>
              <a:t>Apple Store의 유리 파사드는 디자인 선택이 아니라 '우리는 숨길 것이 없다'는 철학의 물리적 선언.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898B0"/>
                </a:solidFill>
                <a:latin typeface="Arial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300" b="0">
                <a:solidFill>
                  <a:srgbClr val="9898B0"/>
                </a:solidFill>
                <a:latin typeface="Arial"/>
              </a:defRPr>
            </a:pPr>
            <a:r>
              <a:t>전망-피난처 이론: 유리 파사드 → 안을 들여다보고 싶은 본능(전망) 충족 + '안전하다'는 느낌(피난처) 충족 → 진입 장벽 극도로 낮아짐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898B0"/>
                </a:solidFill>
                <a:latin typeface="Arial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300" b="0">
                <a:solidFill>
                  <a:srgbClr val="9898B0"/>
                </a:solidFill>
                <a:latin typeface="Arial"/>
              </a:defRPr>
            </a:pPr>
            <a:r>
              <a:t>신호 이론: 유리 건축은 매우 비싸고 기술적으로 어려움 → '이 정도 기술력과 투자 여력'이라는 위조 불가능한 신호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898B0"/>
                </a:solidFill>
                <a:latin typeface="Arial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300" b="1">
                <a:solidFill>
                  <a:srgbClr val="F0F0F8"/>
                </a:solidFill>
                <a:latin typeface="Arial"/>
              </a:defRPr>
            </a:pPr>
            <a:r>
              <a:t>결과: $15M 투자 → 연 $440M 매출. ROI 약 2,900%. 건물 수명 동안 매년 반복.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C040"/>
                </a:solidFill>
                <a:latin typeface="Arial"/>
              </a:defRPr>
            </a:pPr>
            <a:r>
              <a:t>CHAPTER 4 — CASE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8"/>
                </a:solidFill>
                <a:latin typeface="Arial"/>
              </a:defRPr>
            </a:pPr>
            <a:r>
              <a:t>Hermes — 쇼윈도우 하나에 5억 원을 쓰는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898B0"/>
                </a:solidFill>
                <a:latin typeface="Arial"/>
              </a:defRPr>
            </a:pPr>
            <a:r>
              <a:t>광고 없이, 앰배서더 없이. 공간과 상품 자체로만 커뮤니케이션하는 전략.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0C040"/>
                </a:solidFill>
                <a:latin typeface="Arial"/>
              </a:defRPr>
            </a:pPr>
            <a:r>
              <a:t>$500K+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윈도우 1개 비용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73736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65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0C040"/>
                </a:solidFill>
                <a:latin typeface="Arial"/>
              </a:defRPr>
            </a:pPr>
            <a:r>
              <a:t>+30%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보행 유입 프리미엄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0C040"/>
                </a:solidFill>
                <a:latin typeface="Arial"/>
              </a:defRPr>
            </a:pPr>
            <a:r>
              <a:t>$93.7B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브랜드 가치 (2025)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737360"/>
            <a:ext cx="2468880" cy="15544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965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0C040"/>
                </a:solidFill>
                <a:latin typeface="Arial"/>
              </a:defRPr>
            </a:pPr>
            <a:r>
              <a:t>0원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898B0"/>
                </a:solidFill>
                <a:latin typeface="Arial"/>
              </a:defRPr>
            </a:pPr>
            <a:r>
              <a:t>광고비 / 앰배서더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66160"/>
            <a:ext cx="10515600" cy="29260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657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C040"/>
                </a:solidFill>
                <a:latin typeface="Arial"/>
              </a:defRPr>
            </a:pPr>
            <a:r>
              <a:t>전략 해부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3192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0"/>
                </a:solidFill>
                <a:latin typeface="Arial"/>
              </a:defRPr>
            </a:pPr>
            <a:r>
              <a:t>에르메스 전략의 핵심은 'Counter-signaling'(역신호). 대부분의 럭셔리가 셀럽을 쓸 때, 에르메스는 상품과 공간 자체만으로 소통.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898B0"/>
                </a:solidFill>
                <a:latin typeface="Arial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300" b="0">
                <a:solidFill>
                  <a:srgbClr val="9898B0"/>
                </a:solidFill>
                <a:latin typeface="Arial"/>
              </a:defRPr>
            </a:pPr>
            <a:r>
              <a:t>신호 이론의 극단적 적용: 쇼윈도우 하나에 $500K(6.5억)을 투자하는 것은 '광고비'가 아니라 '우리 브랜드의 디테일과 장인정신'이라는 신뢰 신호.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898B0"/>
                </a:solidFill>
                <a:latin typeface="Arial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300" b="0">
                <a:solidFill>
                  <a:srgbClr val="9898B0"/>
                </a:solidFill>
                <a:latin typeface="Arial"/>
              </a:defRPr>
            </a:pPr>
            <a:r>
              <a:t>앵커링: 긴자 메종의 유리 블록 파사드(렌조 피아노, 2001)는 밤에 등불처럼 빛남. 고객이 문을 열기 전에 '미술관에 들어가는' 기대 → 버킨백 가격이 '당연한 것'이 됨.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898B0"/>
                </a:solidFill>
                <a:latin typeface="Arial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300" b="1">
                <a:solidFill>
                  <a:srgbClr val="F0F0F8"/>
                </a:solidFill>
                <a:latin typeface="Arial"/>
              </a:defRPr>
            </a:pPr>
            <a:r>
              <a:t>Vogue, AD 등 글로벌 미디어가 자발적으로 보도. 광고비 0원에 수십억 원의 미디어 가치.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72B6"/>
                </a:solidFill>
                <a:latin typeface="Arial"/>
              </a:defRPr>
            </a:pPr>
            <a:r>
              <a:t>CHAPTER 4 — CASE 03 &amp; 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5029200" cy="274320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72B6"/>
                </a:solidFill>
                <a:latin typeface="Arial"/>
              </a:defRPr>
            </a:pPr>
            <a:r>
              <a:t>GLOSSIER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8"/>
                </a:solidFill>
                <a:latin typeface="Arial"/>
              </a:defRPr>
            </a:pPr>
            <a:r>
              <a:t>광고비 0원, 520억의 미디어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472B6"/>
                </a:solidFill>
                <a:latin typeface="Arial"/>
              </a:defRPr>
            </a:pPr>
            <a:r>
              <a:t>280만+ 인스타그램 해시태그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8"/>
                </a:solidFill>
                <a:latin typeface="Arial"/>
              </a:defRPr>
            </a:pPr>
            <a:r>
              <a:t>Earned Media Value  $40M (520억원)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매장 자체를 '찍고 싶은 공간'으로 설계.</a:t>
            </a:r>
            <a:br/>
            <a:r>
              <a:t>고객이 자발적으로 콘텐츠를 생성하는 구조.</a:t>
            </a:r>
            <a:br/>
            <a:r>
              <a:t>전통 광고비 $40M은 수개월 소진.</a:t>
            </a:r>
            <a:br/>
            <a:r>
              <a:t>매장 디자인은 매년 가치가 재생산.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822960"/>
            <a:ext cx="5029200" cy="274320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rial"/>
              </a:defRPr>
            </a:pPr>
            <a:r>
              <a:t>COEX SM TOWN 파도 일루전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8"/>
                </a:solidFill>
                <a:latin typeface="Arial"/>
              </a:defRPr>
            </a:pPr>
            <a:r>
              <a:t>건물 벽 하나로 1억 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D3EE"/>
                </a:solidFill>
                <a:latin typeface="Arial"/>
              </a:defRPr>
            </a:pPr>
            <a:r>
              <a:t>1억+ 소셜 미디어 조회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8"/>
                </a:solidFill>
                <a:latin typeface="Arial"/>
              </a:defRPr>
            </a:pPr>
            <a:r>
              <a:t>설치 후 건물 임대 프리미엄 상승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Kaplan '신비감(Mystery)' 극대화.</a:t>
            </a:r>
            <a:br/>
            <a:r>
              <a:t>익숙한 도시에서 예상 밖의 시각 경험.</a:t>
            </a:r>
            <a:br/>
            <a:r>
              <a:t>3D 빌보드 시청 시간: 일반 광고의 3~4배.</a:t>
            </a:r>
            <a:br/>
            <a:r>
              <a:t>68% 소비자: '프리미엄' 브랜드 인식.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515600" cy="274320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8"/>
                </a:solidFill>
                <a:latin typeface="Arial"/>
              </a:defRPr>
            </a:pPr>
            <a:r>
              <a:t>한국 학술 연구 — 정량적 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89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Arial"/>
              </a:defRPr>
            </a:pPr>
            <a:r>
              <a:t>쇼윈도 디스플레이와 구매의도 (KCI)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389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컨셉/스토리 중심 &gt; 시즌/코디네이션 중심 → 매장 진입+긍정 태도 형성에 더 효과적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74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Arial"/>
              </a:defRPr>
            </a:pPr>
            <a:r>
              <a:t>디지털 vs AI 미디어 파사드 (KCI)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074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AI 미디어 파사드가 몰입성, 인지적 요소에서 유의미하게 높은 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760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Arial"/>
              </a:defRPr>
            </a:pPr>
            <a:r>
              <a:t>백화점 쇼윈도 현상학적 특성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5760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예술적 오브제 활용이 브랜드의 심리적 가치 향상에 기여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6AEF"/>
                </a:solidFill>
                <a:latin typeface="Arial"/>
              </a:defRPr>
            </a:pPr>
            <a:r>
              <a:t>CHAPTER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8"/>
                </a:solidFill>
                <a:latin typeface="Arial"/>
              </a:defRPr>
            </a:pPr>
            <a:r>
              <a:t>파사드의 진화 — 벽에서 미디어로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6078"/>
                </a:solidFill>
                <a:latin typeface="Arial"/>
              </a:defRPr>
            </a:pPr>
            <a: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463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8"/>
                </a:solidFill>
                <a:latin typeface="Arial"/>
              </a:defRPr>
            </a:pPr>
            <a:r>
              <a:t>~1800s</a:t>
            </a:r>
          </a:p>
        </p:txBody>
      </p:sp>
      <p:sp>
        <p:nvSpPr>
          <p:cNvPr id="6" name="Oval 5"/>
          <p:cNvSpPr/>
          <p:nvPr/>
        </p:nvSpPr>
        <p:spPr>
          <a:xfrm>
            <a:off x="2560320" y="1536192"/>
            <a:ext cx="128016" cy="128016"/>
          </a:xfrm>
          <a:prstGeom prst="ellipse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6040" y="1682496"/>
            <a:ext cx="36576" cy="530352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4447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보호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46304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기능적 외벽. 돌/벽돌/목재. 르네상스: 장식+비례로 권위 표현.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762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6078"/>
                </a:solidFill>
                <a:latin typeface="Arial"/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1762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8"/>
                </a:solidFill>
                <a:latin typeface="Arial"/>
              </a:defRPr>
            </a:pPr>
            <a:r>
              <a:t>1800s</a:t>
            </a:r>
          </a:p>
        </p:txBody>
      </p:sp>
      <p:sp>
        <p:nvSpPr>
          <p:cNvPr id="12" name="Oval 11"/>
          <p:cNvSpPr/>
          <p:nvPr/>
        </p:nvSpPr>
        <p:spPr>
          <a:xfrm>
            <a:off x="2560320" y="2249424"/>
            <a:ext cx="128016" cy="128016"/>
          </a:xfrm>
          <a:prstGeom prst="ellipse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40" y="2395728"/>
            <a:ext cx="36576" cy="530352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1579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상업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17627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1829 봉마르셰 최초 쇼윈도우. 판유리+전기 조명 → 야간 디스플레이.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8895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898B0"/>
                </a:solidFill>
                <a:latin typeface="Arial"/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8895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8"/>
                </a:solidFill>
                <a:latin typeface="Arial"/>
              </a:defRPr>
            </a:pPr>
            <a:r>
              <a:t>1920~60s</a:t>
            </a:r>
          </a:p>
        </p:txBody>
      </p:sp>
      <p:sp>
        <p:nvSpPr>
          <p:cNvPr id="18" name="Oval 17"/>
          <p:cNvSpPr/>
          <p:nvPr/>
        </p:nvSpPr>
        <p:spPr>
          <a:xfrm>
            <a:off x="2560320" y="2962656"/>
            <a:ext cx="128016" cy="128016"/>
          </a:xfrm>
          <a:prstGeom prst="ellipse">
            <a:avLst/>
          </a:prstGeom>
          <a:solidFill>
            <a:srgbClr val="989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06040" y="3108960"/>
            <a:ext cx="36576" cy="530352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28712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극장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889504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Gene Moore(Tiffany's): 윈도우를 예술로. 마네킹, 조명, 내러티브.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Arial"/>
              </a:defRPr>
            </a:pPr>
            <a:r>
              <a:t>Phase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6027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8"/>
                </a:solidFill>
                <a:latin typeface="Arial"/>
              </a:defRPr>
            </a:pPr>
            <a:r>
              <a:t>1970~2000s</a:t>
            </a:r>
          </a:p>
        </p:txBody>
      </p:sp>
      <p:sp>
        <p:nvSpPr>
          <p:cNvPr id="24" name="Oval 23"/>
          <p:cNvSpPr/>
          <p:nvPr/>
        </p:nvSpPr>
        <p:spPr>
          <a:xfrm>
            <a:off x="2560320" y="3675887"/>
            <a:ext cx="128016" cy="12801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06040" y="3822191"/>
            <a:ext cx="36576" cy="530352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35844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건축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602736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Koolhaas 프라다($87M), Apple 유리 파사드. 스타 건축가 시대.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3159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Arial"/>
              </a:defRPr>
            </a:pPr>
            <a:r>
              <a:t>Phase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3159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8"/>
                </a:solidFill>
                <a:latin typeface="Arial"/>
              </a:defRPr>
            </a:pPr>
            <a:r>
              <a:t>2000~15</a:t>
            </a:r>
          </a:p>
        </p:txBody>
      </p:sp>
      <p:sp>
        <p:nvSpPr>
          <p:cNvPr id="30" name="Oval 29"/>
          <p:cNvSpPr/>
          <p:nvPr/>
        </p:nvSpPr>
        <p:spPr>
          <a:xfrm>
            <a:off x="2560320" y="4389120"/>
            <a:ext cx="128016" cy="12801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06040" y="4535424"/>
            <a:ext cx="36576" cy="530352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0" y="4297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디지털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4315968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Bloomberg LED 파사드, Burberry 디지털 플래그십(유입+50%).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rial"/>
              </a:defRPr>
            </a:pPr>
            <a:r>
              <a:t>Phase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5029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8"/>
                </a:solidFill>
                <a:latin typeface="Arial"/>
              </a:defRPr>
            </a:pPr>
            <a:r>
              <a:t>2015~Now</a:t>
            </a:r>
          </a:p>
        </p:txBody>
      </p:sp>
      <p:sp>
        <p:nvSpPr>
          <p:cNvPr id="36" name="Oval 35"/>
          <p:cNvSpPr/>
          <p:nvPr/>
        </p:nvSpPr>
        <p:spPr>
          <a:xfrm>
            <a:off x="2560320" y="5102352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06040" y="5248656"/>
            <a:ext cx="36576" cy="530352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0" y="50109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체험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0" y="502920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Coex 파도(1억뷰), Sphere($2.3B), Glossier(매장=콘텐츠).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7424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rial"/>
              </a:defRPr>
            </a:pPr>
            <a:r>
              <a:t>Phase 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20" y="574243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8"/>
                </a:solidFill>
                <a:latin typeface="Arial"/>
              </a:defRPr>
            </a:pPr>
            <a:r>
              <a:t>Emerging</a:t>
            </a:r>
          </a:p>
        </p:txBody>
      </p:sp>
      <p:sp>
        <p:nvSpPr>
          <p:cNvPr id="42" name="Oval 41"/>
          <p:cNvSpPr/>
          <p:nvPr/>
        </p:nvSpPr>
        <p:spPr>
          <a:xfrm>
            <a:off x="2560320" y="5815583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26080" y="57241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0" y="5742431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개인 반응형, 에너지 생산, 디지털 트윈. AI 파사드 &gt; 디지털 파사드.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6537960"/>
            <a:ext cx="10515600" cy="0"/>
          </a:xfrm>
          <a:prstGeom prst="roundRect">
            <a:avLst/>
          </a:prstGeom>
          <a:solidFill>
            <a:srgbClr val="0F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78BFA"/>
                </a:solidFill>
                <a:latin typeface="Arial"/>
              </a:defRPr>
            </a:pPr>
            <a:r>
              <a:t>보호(Shelter) → 장식 → 스토리 → 브랜드 → 미디어 → 경험 플랫폼 → 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6AEF"/>
                </a:solidFill>
                <a:latin typeface="Arial"/>
              </a:defRPr>
            </a:pPr>
            <a:r>
              <a:t>CHAPTER 6 —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8"/>
                </a:solidFill>
                <a:latin typeface="Arial"/>
              </a:defRPr>
            </a:pPr>
            <a:r>
              <a:t>파사드는 비용이 아니라 자산이다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898B0"/>
                </a:solidFill>
                <a:latin typeface="Arial"/>
              </a:defRPr>
            </a:pPr>
            <a:r>
              <a:t>전통 광고와 파사드, 같은 예산이라면 어디에 투자할 것인가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비교 항목</a:t>
                      </a:r>
                    </a:p>
                  </a:txBody>
                  <a:tcPr>
                    <a:solidFill>
                      <a:srgbClr val="22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TV / 디지털 광고</a:t>
                      </a:r>
                    </a:p>
                  </a:txBody>
                  <a:tcPr>
                    <a:solidFill>
                      <a:srgbClr val="22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파사드 / 쇼윈도우</a:t>
                      </a:r>
                    </a:p>
                  </a:txBody>
                  <a:tcPr>
                    <a:solidFill>
                      <a:srgbClr val="2222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수명</a:t>
                      </a:r>
                    </a:p>
                  </a:txBody>
                  <a:tcPr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15~30초 (단발)</a:t>
                      </a:r>
                    </a:p>
                  </a:txBody>
                  <a:tcPr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10~30년 (영구적)</a:t>
                      </a:r>
                    </a:p>
                  </a:txBody>
                  <a:tcPr>
                    <a:solidFill>
                      <a:srgbClr val="1A1A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누적 노출</a:t>
                      </a:r>
                    </a:p>
                  </a:txBody>
                  <a:tcPr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캠페인 기간 한정</a:t>
                      </a:r>
                    </a:p>
                  </a:txBody>
                  <a:tcPr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24/7 × 365 × 수십 년</a:t>
                      </a:r>
                    </a:p>
                  </a:txBody>
                  <a:tcPr>
                    <a:solidFill>
                      <a:srgbClr val="1A1A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주의 포착</a:t>
                      </a:r>
                    </a:p>
                  </a:txBody>
                  <a:tcPr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배너 맹시 CTR 0.05%</a:t>
                      </a:r>
                    </a:p>
                  </a:txBody>
                  <a:tcPr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보행자 정지율 20~40%</a:t>
                      </a:r>
                    </a:p>
                  </a:txBody>
                  <a:tcPr>
                    <a:solidFill>
                      <a:srgbClr val="1A1A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감각 채널</a:t>
                      </a:r>
                    </a:p>
                  </a:txBody>
                  <a:tcPr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시각+청각 (2D)</a:t>
                      </a:r>
                    </a:p>
                  </a:txBody>
                  <a:tcPr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시각+촉각+공간감 (3D+다감각)</a:t>
                      </a:r>
                    </a:p>
                  </a:txBody>
                  <a:tcPr>
                    <a:solidFill>
                      <a:srgbClr val="1A1A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신호 신뢰도</a:t>
                      </a:r>
                    </a:p>
                  </a:txBody>
                  <a:tcPr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누구나 집행 가능</a:t>
                      </a:r>
                    </a:p>
                  </a:txBody>
                  <a:tcPr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높은 투자 = 위조 불가능</a:t>
                      </a:r>
                    </a:p>
                  </a:txBody>
                  <a:tcPr>
                    <a:solidFill>
                      <a:srgbClr val="1A1A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CPM 추이</a:t>
                      </a:r>
                    </a:p>
                  </a:txBody>
                  <a:tcPr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연 15~20% 상승</a:t>
                      </a:r>
                    </a:p>
                  </a:txBody>
                  <a:tcPr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시간이 갈수록 하락</a:t>
                      </a:r>
                    </a:p>
                  </a:txBody>
                  <a:tcPr>
                    <a:solidFill>
                      <a:srgbClr val="1A1A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8"/>
                          </a:solidFill>
                          <a:latin typeface="Arial"/>
                        </a:defRPr>
                      </a:pPr>
                      <a:r>
                        <a:t>잔여 가치</a:t>
                      </a:r>
                    </a:p>
                  </a:txBody>
                  <a:tcPr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06078"/>
                          </a:solidFill>
                          <a:latin typeface="Arial"/>
                        </a:defRPr>
                      </a:pPr>
                      <a:r>
                        <a:t>캠페인 종료 시 0</a:t>
                      </a:r>
                    </a:p>
                  </a:txBody>
                  <a:tcPr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자산 가치로 축적</a:t>
                      </a:r>
                    </a:p>
                  </a:txBody>
                  <a:tcPr>
                    <a:solidFill>
                      <a:srgbClr val="1A1A2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577840"/>
            <a:ext cx="10515600" cy="1005840"/>
          </a:xfrm>
          <a:prstGeom prst="roundRect">
            <a:avLst/>
          </a:prstGeom>
          <a:solidFill>
            <a:srgbClr val="15132A"/>
          </a:solidFill>
          <a:ln w="12700">
            <a:solidFill>
              <a:srgbClr val="7C6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Arial"/>
              </a:defRPr>
            </a:pPr>
            <a:r>
              <a:t>ROI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897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8"/>
                </a:solidFill>
                <a:latin typeface="Arial"/>
              </a:defRPr>
            </a:pPr>
            <a:r>
              <a:t>파사드 ROI = 매출 증가(+32~50%) + 유동인구 전환(+23~35%) + Earned Media($수천만) + 자산 프리미엄(+7~12%) + 브랜드 자산(장기)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6AEF"/>
                </a:solidFill>
                <a:latin typeface="Arial"/>
              </a:defRPr>
            </a:pPr>
            <a:r>
              <a:t>CHAPTER 6 — 6가지 핵심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8"/>
                </a:solidFill>
                <a:latin typeface="Arial"/>
              </a:defRPr>
            </a:pPr>
            <a:r>
              <a:t>오늘 기억해야 할 6가지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146304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A2A5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영구적 미디어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광고는 만료되지만, 파사드는 수십 년간 24/7</a:t>
            </a:r>
            <a:br/>
            <a:r>
              <a:t>인상을 생성. 누적 ROI는 어떤 매체보다 높다.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146304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A2A5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인스타그램 효과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01168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포토제닉한 파사드 → 고객이 자발적으로</a:t>
            </a:r>
            <a:br/>
            <a:r>
              <a:t>콘텐츠 생산. Glossier: 520억원 미디어 가치.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5120640" cy="146304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A2A5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37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후광 효과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033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인상적 파사드 → 내부 모든 것의 인식을 격상.</a:t>
            </a:r>
            <a:br/>
            <a:r>
              <a:t>같은 상품도 파사드에 따라 가격 평가가 달라진다.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54680"/>
            <a:ext cx="5120640" cy="146304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A2A5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337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고객 획득 채널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7033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파사드 리모델링 → 신규 고객 매출 +44%,</a:t>
            </a:r>
            <a:br/>
            <a:r>
              <a:t>재방문율 +16%. 파사드는 '고객 획득' 도구.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5120640" cy="146304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A2A50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029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자산 프리미엄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9496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차별화 파사드 → 임대료 +10~12% 높이고,</a:t>
            </a:r>
            <a:br/>
            <a:r>
              <a:t>투자 회수는 2~3년. 비용이 아니라 자산 투자.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846320"/>
            <a:ext cx="5120640" cy="146304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983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A2A50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029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8"/>
                </a:solidFill>
                <a:latin typeface="Arial"/>
              </a:defRPr>
            </a:pPr>
            <a:r>
              <a:t>주의 경제의 역설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39496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0"/>
                </a:solidFill>
                <a:latin typeface="Arial"/>
              </a:defRPr>
            </a:pPr>
            <a:r>
              <a:t>디지털 광고 피로 심화 → 물리적 파사드의</a:t>
            </a:r>
            <a:br/>
            <a:r>
              <a:t>주의 획득력 상대적 강화. 배너 맹시 시대의 기회.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78BFA"/>
                </a:solidFill>
                <a:latin typeface="Arial"/>
              </a:defRPr>
            </a:pPr>
            <a:r>
              <a:t>"파사드에 1원을 투자하면,</a:t>
            </a:r>
            <a:br/>
            <a:r>
              <a:t>그것은 건축비가 아니라</a:t>
            </a:r>
            <a:br/>
            <a:r>
              <a:t>수십 년간 작동하는</a:t>
            </a:r>
            <a:br/>
            <a:r>
              <a:t>브랜드 자산에 대한 투자다."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4114800"/>
            <a:ext cx="1828800" cy="45720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78BFA"/>
                </a:solidFill>
                <a:latin typeface="Arial"/>
              </a:defRPr>
            </a:pPr>
            <a:r>
              <a:t>단순노출 → 장기 투자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4114800"/>
            <a:ext cx="1828800" cy="45720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78BFA"/>
                </a:solidFill>
                <a:latin typeface="Arial"/>
              </a:defRPr>
            </a:pPr>
            <a:r>
              <a:t>앵커링 → 가격 정당화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4114800"/>
            <a:ext cx="1828800" cy="45720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78BFA"/>
                </a:solidFill>
                <a:latin typeface="Arial"/>
              </a:defRPr>
            </a:pPr>
            <a:r>
              <a:t>신호 이론 → 신뢰 증명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114800"/>
            <a:ext cx="1828800" cy="45720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78BFA"/>
                </a:solidFill>
                <a:latin typeface="Arial"/>
              </a:defRPr>
            </a:pPr>
            <a:r>
              <a:t>주의 경제 → 주의 획득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4114800"/>
            <a:ext cx="1828800" cy="45720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78BFA"/>
                </a:solidFill>
                <a:latin typeface="Arial"/>
              </a:defRPr>
            </a:pPr>
            <a:r>
              <a:t>피크-엔드 → 기억 지배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035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06078"/>
                </a:solidFill>
                <a:latin typeface="Arial"/>
              </a:defRPr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