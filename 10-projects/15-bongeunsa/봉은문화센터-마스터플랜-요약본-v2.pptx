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1352252"/>
            <a:ext cx="1046480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30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BONGEUN CULTURE CENTER · MASTER PLAN 2026 · 요약본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1771352"/>
            <a:ext cx="10464800" cy="1284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000"/>
              </a:lnSpc>
            </a:pPr>
            <a:r>
              <a:rPr sz="4350" spc="-1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불교는 이 시대와</a:t>
            </a:r>
          </a:p>
          <a:p>
            <a:pPr algn="l">
              <a:lnSpc>
                <a:spcPct val="114000"/>
              </a:lnSpc>
            </a:pPr>
            <a:r>
              <a:rPr sz="4350" spc="-1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어떻게 만날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3221236"/>
            <a:ext cx="10464800" cy="463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20" spc="71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 답을 처음으로 세우는 장소 — 봉은문화센터</a:t>
            </a:r>
          </a:p>
          <a:p>
            <a:pPr algn="l">
              <a:lnSpc>
                <a:spcPct val="140000"/>
              </a:lnSpc>
            </a:pPr>
            <a:r>
              <a:rPr sz="1120" spc="71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Bongeunsa Buddhist Culture &amp; Wellness Destination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4240411"/>
            <a:ext cx="2478088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5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4402336"/>
            <a:ext cx="2478088" cy="412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불교는 이 시대와</a:t>
            </a:r>
          </a:p>
          <a:p>
            <a:pPr algn="l">
              <a:lnSpc>
                <a:spcPct val="145000"/>
              </a:lnSpc>
            </a:pP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어떻게 만날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8538" y="4240411"/>
            <a:ext cx="2478088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5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538" y="4402336"/>
            <a:ext cx="2478088" cy="412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Contemporary Flagship</a:t>
            </a:r>
          </a:p>
          <a:p>
            <a:pPr algn="l">
              <a:lnSpc>
                <a:spcPct val="145000"/>
              </a:lnSpc>
            </a:pP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6 Zone · 5 Core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775" y="4240411"/>
            <a:ext cx="2478088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5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5" y="4402336"/>
            <a:ext cx="2478088" cy="412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재임대 연 30억</a:t>
            </a:r>
          </a:p>
          <a:p>
            <a:pPr algn="l">
              <a:lnSpc>
                <a:spcPct val="145000"/>
              </a:lnSpc>
            </a:pP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세후 약 27.1억 · 08-11 발주처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3012" y="4240411"/>
            <a:ext cx="2478088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5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재무모델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3012" y="4402336"/>
            <a:ext cx="2478088" cy="412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v1.1 · 15케이스 판정</a:t>
            </a:r>
          </a:p>
          <a:p>
            <a:pPr algn="l">
              <a:lnSpc>
                <a:spcPct val="145000"/>
              </a:lnSpc>
            </a:pP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2026.08.21 · Project 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5112841"/>
            <a:ext cx="10464800" cy="4183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이 문서는 </a:t>
            </a:r>
            <a:r>
              <a:rPr sz="94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건물 활용 계획서가 아닙니다.</a:t>
            </a: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앞의 여섯 장은 공간을 한 번도 말하지 않습니다 — </a:t>
            </a:r>
            <a:r>
              <a:rPr sz="94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한국 불교가 왜 지금 상징적 거점을 가져야 하는가</a:t>
            </a: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를 먼저 세우고, 그 답으로 봉은문화센터가 등장합니다. 그리고 마지막에 </a:t>
            </a:r>
            <a:r>
              <a:rPr sz="94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그것이 재무적으로 성립하는 조건</a:t>
            </a: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까지 증명합니다.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한국 불교는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다음 Stage</a:t>
            </a: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로 가야 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종교의 영향력은 약해졌지만 정신적 삶에 대한 수요는 사라지지 않았습니다. 그리고 불교는 그 수요에 답할 자산을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이미 가지고 있습니다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— 다만 그 자산이 종교 내부의 언어와 공간에 흩어져 있을 뿐입니다.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54270" y="5105400"/>
            <a:ext cx="1215430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6505575"/>
            <a:ext cx="211494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1 — The Change &amp; 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7177" y="6505575"/>
            <a:ext cx="129252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02 / 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1432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243882"/>
            <a:ext cx="10896600" cy="2080171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533602"/>
            <a:ext cx="3517850" cy="171479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4743152"/>
            <a:ext cx="698748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7000" y="4533602"/>
            <a:ext cx="3517850" cy="171479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37025" y="4743152"/>
            <a:ext cx="698748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26301" y="4533602"/>
            <a:ext cx="3517999" cy="1714798"/>
          </a:xfrm>
          <a:prstGeom prst="rect">
            <a:avLst/>
          </a:prstGeom>
          <a:noFill/>
          <a:ln w="9525">
            <a:solidFill>
              <a:srgbClr val="3F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6326" y="4743152"/>
            <a:ext cx="698748" cy="180975"/>
          </a:xfrm>
          <a:prstGeom prst="rect">
            <a:avLst/>
          </a:prstGeom>
          <a:solidFill>
            <a:srgbClr val="252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33972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3년째 답이 나오지 않은 이유는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질문이 틀렸기 때문입니다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같은 질문을 계속하면 답은 계속 같습니다 —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재임대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. 질문의 층위가 답의 차원을 정합니다.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2615357"/>
            <a:ext cx="9988550" cy="9645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2550" spc="-5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프로젝트의 질문은 </a:t>
            </a:r>
            <a:r>
              <a:rPr sz="2550" spc="-5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6,188㎡를 어떻게 채울 것인가</a:t>
            </a:r>
            <a:r>
              <a:rPr sz="2550" spc="-5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가 아닙니다.</a:t>
            </a:r>
          </a:p>
          <a:p>
            <a:pPr algn="ctr">
              <a:lnSpc>
                <a:spcPct val="145000"/>
              </a:lnSpc>
            </a:pPr>
            <a:r>
              <a:rPr sz="2550" spc="-5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한국 불교가 </a:t>
            </a:r>
            <a:r>
              <a:rPr sz="2550" spc="-5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다음 세대와 세계를 어떻게 만날 것인가</a:t>
            </a:r>
            <a:r>
              <a:rPr sz="2550" spc="-5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3725912"/>
            <a:ext cx="9988550" cy="2520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70000"/>
              </a:lnSpc>
            </a:pP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공간은 출발점이 아니라 </a:t>
            </a:r>
            <a:r>
              <a:rPr sz="105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불교의 변화가 구현되는 결과물</a:t>
            </a: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이 순서를 뒤집으면 결론은 언제나 “재임대가 낫다”로 돌아옵니다 — 이미 3년간 답이 나오지 않은 질문이기 때문입니다.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743152"/>
            <a:ext cx="72414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잘못된 질문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038427"/>
            <a:ext cx="3143200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건물을 어떻게 채울 것인가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5377904"/>
            <a:ext cx="3143200" cy="705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공실 해소만이 목적이면 결론은 재임대입니다. 시설 담당의 문제로 축소되고, 수백 페이지의 리서치는 근거자료로 소비됩니다.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7025" y="4743152"/>
            <a:ext cx="72414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잘못된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7025" y="5038427"/>
            <a:ext cx="3143200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얼마를 벌 수 있는가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7025" y="5377904"/>
            <a:ext cx="3143200" cy="4787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수익만이 기준이면 전통사찰법 제6조가 상위에서 차단합니다. 법이 허용하지 않는 답은 답이 아닙니다.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326" y="4743152"/>
            <a:ext cx="72414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우리의 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326" y="5038427"/>
            <a:ext cx="3143349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불교는 이 시대와 어떻게 만나야 하는가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6326" y="5377904"/>
            <a:ext cx="3143349" cy="705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종단이 결정 주체가 되고, 리서치는 그 전략을 뒷받침하는 증거가 됩니다. 그 답을 실현하는 </a:t>
            </a: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최초의 물리적 장소</a:t>
            </a: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가 뒤에 등장합니다.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6505575"/>
            <a:ext cx="142736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01. 질문의 층위를 먼저 바꿉니다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3903" y="6505575"/>
            <a:ext cx="129579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3450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3054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722811"/>
            <a:ext cx="3517850" cy="1850827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7725" y="2932361"/>
            <a:ext cx="369391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37000" y="2722811"/>
            <a:ext cx="3517850" cy="1850827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7025" y="2932361"/>
            <a:ext cx="369391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26301" y="2722811"/>
            <a:ext cx="3517999" cy="1850827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6326" y="2932361"/>
            <a:ext cx="369391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706987"/>
            <a:ext cx="10896600" cy="1257598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35594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종교를 찾는 사람은 줄었는데,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정신과 수양을 찾는 사람은 늘었습니다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800225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줄어드는 것은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신도 수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이고, 늘어나는 것은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명상·수행·정신문화를 소비하는 사람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같은 시장이 아닙니다.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932361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227636"/>
            <a:ext cx="3143200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호감도 54.4점 — 이미 1위입니다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541365"/>
            <a:ext cx="3143200" cy="867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한국리서치 종교인식조사 호감도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100점 만점 54.4점으로 1위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(점수이며 %가 아닙니다). 별개로 멘션 2,809건 크롤링에서는 진정성 61.7·부정 3.5%. 비어 있는 자리는 하나 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‘현대적 깊이’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7025" y="2932361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세대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7025" y="3227636"/>
            <a:ext cx="3143200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불교박람회 관람객 10명 중 8명이 2030입니다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7025" y="3541365"/>
            <a:ext cx="31432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불교박람회 방문객의 2030 비중 약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80%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 명상·템플스테이·힙불교 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귀속이 아니라 경험으로 소비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하기 시작했습니다. 불교는 종교가 아닌 문화로, 일상으로의 가능성을 증명했습니다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6326" y="2932361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세계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6326" y="3227636"/>
            <a:ext cx="3143349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외국인 100명 중 2명만 종교를 보러 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326" y="3541365"/>
            <a:ext cx="3143349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봉은사 방문 외국인의 종교·순례 활동은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2.0%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반면 목적지 선택 시 역사·전통 체험 고려는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46.6%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전체 20.6%의 2.26배. 문을 여는 열쇠는 포교가 아니라 문화입니다.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75" y="4859387"/>
            <a:ext cx="10331450" cy="97819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그래서 불교의 질문도 달라져야 합니다. </a:t>
            </a: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종교를 넘어서 일상으로. 삶의 자세로</a:t>
            </a:r>
          </a:p>
          <a:p>
            <a:pPr algn="ctr">
              <a:lnSpc>
                <a:spcPct val="145000"/>
              </a:lnSpc>
            </a:pPr>
            <a:r>
              <a:rPr sz="1420" spc="-34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“어떻게 신도를 늘릴 것인가”에서</a:t>
            </a:r>
          </a:p>
          <a:p>
            <a:pPr algn="ctr">
              <a:lnSpc>
                <a:spcPct val="145000"/>
              </a:lnSpc>
            </a:pPr>
            <a:r>
              <a:rPr sz="1720" spc="-3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“불교의 정신문화가 현대인의 삶 속에 어떻게 들어갈 것인가”</a:t>
            </a: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로.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⚠️ 2.0%와 46.6%는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설문 문항과 분모가 다른 별개 지표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 — 두 값을 나눈 배수는 성립하지 않으므로 쓰지 않습니다. 동일 문항 내 비교치인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46.6% vs 전체 20.6% = 2.26배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만 사용합니다.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6505575"/>
            <a:ext cx="222106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02. Religion의 축소, Wellness·Lifestyle의 성장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3308" y="6505575"/>
            <a:ext cx="129639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684609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771650"/>
            <a:ext cx="5381625" cy="297120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50" y="3971330"/>
            <a:ext cx="2481262" cy="4572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76612" y="2523530"/>
            <a:ext cx="2481262" cy="1905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62675" y="1771650"/>
            <a:ext cx="5381625" cy="297120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34125" y="4085630"/>
            <a:ext cx="2481262" cy="342900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91588" y="2523530"/>
            <a:ext cx="2481262" cy="1905000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857155"/>
            <a:ext cx="10896600" cy="10638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71675" y="5453658"/>
            <a:ext cx="8610600" cy="1238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71675" y="5453658"/>
            <a:ext cx="688777" cy="12382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71675" y="5657255"/>
            <a:ext cx="8610600" cy="1238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71675" y="5657255"/>
            <a:ext cx="344388" cy="12382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MARKET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533400"/>
            <a:ext cx="710009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수요는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사라진 것이 아니라 옮겨갔습니다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두 나라에서 먼저 확인됐습니다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"종교는 줄고 정신·수양은 는다"는 국내에 시계열이 없습니다. 먼저 간 두 시장의 숫자로 방향을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1924050"/>
            <a:ext cx="506412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미국 성인 명상률 4.1% → 17.3%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2095500"/>
            <a:ext cx="5064125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10년 만에 4.2배 · NHIS 권위값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5184" y="3809405"/>
            <a:ext cx="25444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9351" y="4485680"/>
            <a:ext cx="24626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6750" y="2361605"/>
            <a:ext cx="30638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17.3%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9372" y="4485680"/>
            <a:ext cx="26114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4125" y="1924050"/>
            <a:ext cx="506412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일본 마인드풀니스 시장 450 → 2,500억엔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125" y="2095500"/>
            <a:ext cx="5064125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3년 만에 5.5배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7530" y="3923705"/>
            <a:ext cx="39985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450억엔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6438" y="4485680"/>
            <a:ext cx="26203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0196" y="2361605"/>
            <a:ext cx="48929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2,500억엔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859" y="4485680"/>
            <a:ext cx="26412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" y="5009555"/>
            <a:ext cx="105791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그런데 한국 불교의 청년 관여는 이만큼입니다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50" y="5181005"/>
            <a:ext cx="105791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0~100% 축 · 같은 눈금에 놓으면 보입니다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" y="5447109"/>
            <a:ext cx="10922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18-29세 침투율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0" y="5448895"/>
            <a:ext cx="730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 spc="-17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150" y="5650706"/>
            <a:ext cx="10922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주간활동 참여율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0" y="5652492"/>
            <a:ext cx="730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 spc="-17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6006703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두 시장이 각각 4.2배·약 5.5배로 커지는 동안 한국 불교의 청년 관여는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침투 8% · 주간활동 4%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에 머물렀습니다. 수요가 없는 것이 아니라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수요가 불교 바깥에서 채워지고 있다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는 뜻입니다.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미국: NHIS 성인 명상률(2012·2022). 일부 인용되는 18.3%가 아니라 17.3%가 권위값입니다. 일본: 마인드풀니스 시장 규모(2020·2023). 한국 명상 시장의 연도별 시계열은 확보된 것이 없어 넣지 않았습니다.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6505575"/>
            <a:ext cx="186387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명상·마인드풀니스 시장 · 미국·일본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76136" y="6505575"/>
            <a:ext cx="129356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6601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986683"/>
            <a:ext cx="3543300" cy="159960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71675" y="3576638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71675" y="3576638"/>
            <a:ext cx="1140321" cy="2095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71675" y="3910012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71675" y="3910012"/>
            <a:ext cx="1103858" cy="2095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71675" y="4243388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71675" y="4243388"/>
            <a:ext cx="726579" cy="20955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4350" y="2986683"/>
            <a:ext cx="3543300" cy="159960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48325" y="3576638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48325" y="3576638"/>
            <a:ext cx="1107579" cy="209550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48325" y="3910012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48325" y="3910012"/>
            <a:ext cx="979289" cy="209550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48325" y="4243388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48325" y="4243388"/>
            <a:ext cx="813346" cy="20955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986683"/>
            <a:ext cx="3543300" cy="159960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4975" y="3576638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4975" y="3576638"/>
            <a:ext cx="100459" cy="20955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4975" y="3910012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4975" y="3910012"/>
            <a:ext cx="50155" cy="20955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4975" y="4243388"/>
            <a:ext cx="1257300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4975" y="4243388"/>
            <a:ext cx="622250" cy="209550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PERCEPTION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533400"/>
            <a:ext cx="79141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 DATA+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자산은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호감이고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, 부채는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고령화입니다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둘이 한 몸입니다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봉은사가 물려받는 것은 교세가 아니라 호감입니다. 다만 그 호감이 관여로 넘어가지 않는 구간이 정확히 우리가 설계할 자리입니다.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3139083"/>
            <a:ext cx="32258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호감도 — 1위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" y="3310533"/>
            <a:ext cx="32258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한국리서치 종교인식조사 · 100점 만점 </a:t>
            </a:r>
            <a:r>
              <a:rPr sz="819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점수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(%가 아님)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" y="3606998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불교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4700" y="3609975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54.4점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" y="3940373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천주교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4700" y="3943350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52.7점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150" y="4273748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개신교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4700" y="4276725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34.7점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5800" y="3139083"/>
            <a:ext cx="32258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진정성 지수 — 1위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5800" y="3310533"/>
            <a:ext cx="32258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멘션 2,809건 크롤링 · 0~100 척도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5800" y="3606998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불교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1350" y="3609975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61.7점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5800" y="3940373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명상·웰니스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1350" y="3943350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54.5점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5800" y="4273748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기독교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1350" y="4276725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45.3점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2450" y="3139083"/>
            <a:ext cx="32258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그런데 청년 관여 — 꼴찌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2450" y="3310533"/>
            <a:ext cx="32258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0~100% 축 · 전 종교 중 최저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2450" y="3606998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18-29세 침투율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8000" y="3609975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72450" y="3940373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주간활동 참여율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68000" y="3943350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72450" y="4273748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신자 중 60대+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68000" y="4276725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43~56%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672012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호감과 진정성은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3군 중 1위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인데 청년 침투는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8%로 전 종교 중 최저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 — 호감이 관여로 번역되지 않는 저관여 구조입니다. 무엇을 말할지도 이미 나와 있습니다. 불교 멘션 토픽은 수행·명상 42.6% · 힙·현대화 37.5% · F&amp;B·웰니스 34.3%로,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셋 다 전통·역사 12.9%의 세 배 안팎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 — 불교는 이미 ‘전통’이 아니라 ‘체험’으로 이야기되고 있습니다.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한국리서치 종교인식조사(2025) · 자체 멘션 크롤링 2,809건(2026). 토픽 비율은 중복 집계라 합이 100%가 되지 않습니다.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505575"/>
            <a:ext cx="174466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종교 인식 3지표 · 2025~2026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74350" y="6505575"/>
            <a:ext cx="129535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3450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1210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337471"/>
            <a:ext cx="3530501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337471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162276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337471"/>
            <a:ext cx="28575" cy="83433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8676" y="3337471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0601" y="3337471"/>
            <a:ext cx="3530650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0601" y="3337471"/>
            <a:ext cx="35306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0601" y="4162276"/>
            <a:ext cx="35306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0601" y="3337471"/>
            <a:ext cx="28575" cy="83433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1725" y="3337471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3650" y="3337471"/>
            <a:ext cx="3530501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3650" y="3337471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3650" y="4162276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3650" y="3337471"/>
            <a:ext cx="28575" cy="83433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34626" y="3337471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700" y="4324201"/>
            <a:ext cx="3517850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7725" y="4533751"/>
            <a:ext cx="369391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7000" y="4324201"/>
            <a:ext cx="3517850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37025" y="4533751"/>
            <a:ext cx="369391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6301" y="4324201"/>
            <a:ext cx="3517999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6326" y="4533751"/>
            <a:ext cx="369391" cy="180975"/>
          </a:xfrm>
          <a:prstGeom prst="rect">
            <a:avLst/>
          </a:prstGeom>
          <a:solidFill>
            <a:srgbClr val="45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THREE OPENINGS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533400"/>
            <a:ext cx="43750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고민이 지금이어야 하는 이유 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세 가지 가능성이 동시에 열리고 있습니다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1800225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하나만 열려도 기회지만,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셋이 겹치는 구간은 길지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499396"/>
            <a:ext cx="3174901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트래픽증가 31.6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만 → 50~70만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3849886"/>
            <a:ext cx="3174901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삼성동 유동인구 — 2031년 GBC·영동대로 복합개발 완료 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0626" y="3499396"/>
            <a:ext cx="31750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MZ비중 80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0626" y="3849886"/>
            <a:ext cx="31750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불교박람회 관람객 중 2030 비중 — 경험 소비 세대의 유입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3675" y="3499396"/>
            <a:ext cx="3174901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외국인 관광객 · 54.0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3675" y="3849886"/>
            <a:ext cx="3174901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봉은사 방문 외국인 중 유럽+미주 비중 ·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97.5%가 개별여행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4533751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시장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4829026"/>
            <a:ext cx="3143200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강남이 두 배가 됩니다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5142756"/>
            <a:ext cx="31432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GBC·영동대로 복합개발이 2031년 완료됩니다. 봉은사는 그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한복판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에 있습니다. 준비된 상태로 맞을 것인가, 지나간 뒤에 볼 것인가의 문제입니다.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7025" y="4533751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세대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7025" y="4829026"/>
            <a:ext cx="3143200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지금 세대가 열려 있습니다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7025" y="5142756"/>
            <a:ext cx="31432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MZ가 불교를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종교가 아니라 경험으로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소비하기 시작했습니다. 이 문은 계속 열려 있지 않습니다 — 지금 접점을 만들지 않으면 다른 카테고리가 그 자리를 가져갑니다.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6326" y="4533751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관광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6326" y="4829026"/>
            <a:ext cx="3143349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외국인은 이미 개별로 옵니다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6326" y="5142756"/>
            <a:ext cx="3143349" cy="4462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단체 패키지가 아니라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97.5%가 개별여행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OTA·후기 기반이라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콘텐츠만 좋으면 유통이 저절로 붙는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구조입니다.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셋은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봉은사가 만든 조건이 아니라 주어진 조건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 만들 수 없는 것을 기다릴 필요는 없지만, 이미 온 것을 놓칠 이유도 없습니다.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6505575"/>
            <a:ext cx="167024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02+. 시장 · 세대 · 관광이 겹치는 구간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2833" y="6505575"/>
            <a:ext cx="128686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6601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062758"/>
            <a:ext cx="10896600" cy="344745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50" y="4100512"/>
            <a:ext cx="2049661" cy="10953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5011" y="4243388"/>
            <a:ext cx="2049810" cy="95250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1021" y="4252912"/>
            <a:ext cx="2049810" cy="9429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97030" y="3709988"/>
            <a:ext cx="2049810" cy="1485900"/>
          </a:xfrm>
          <a:prstGeom prst="rect">
            <a:avLst/>
          </a:prstGeom>
          <a:solidFill>
            <a:srgbClr val="2A2A2A"/>
          </a:solidFill>
          <a:ln w="9525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3040" y="2814638"/>
            <a:ext cx="2049810" cy="2381250"/>
          </a:xfrm>
          <a:prstGeom prst="rect">
            <a:avLst/>
          </a:prstGeom>
          <a:solidFill>
            <a:srgbClr val="2A2A2A"/>
          </a:solidFill>
          <a:ln w="9525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TRAFFIC INFLECTION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533400"/>
            <a:ext cx="79141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02+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지금은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2019년보다 14% 줄어 있습니다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그리고 그 뒤에 두 배가 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세 가지가 동시에 열린다는 주장의 첫 축입니다. 늘어난다는 것만 말하지 않고, 지금 줄고 있다는 것부터 놓습니다.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215158"/>
            <a:ext cx="105791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삼성역 상권 일일 유동인구 — 지금이 저점입니다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386608"/>
            <a:ext cx="105791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실선 = 실측 · 점선 = 전망(하단값 기준으로 그렸습니다)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283" y="3938588"/>
            <a:ext cx="33079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36.8만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2211" y="5253038"/>
            <a:ext cx="24894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7590" y="4081462"/>
            <a:ext cx="33005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32.2만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9411" y="5253038"/>
            <a:ext cx="24626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827" y="4090988"/>
            <a:ext cx="31159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31.6만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7533" y="5253038"/>
            <a:ext cx="26218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0943" y="3548062"/>
            <a:ext cx="42738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50~70만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971" y="5253038"/>
            <a:ext cx="44732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2031 전망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8675" y="2652712"/>
            <a:ext cx="48379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80~100만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8200" y="5253038"/>
            <a:ext cx="46474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2036 전망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5595938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지금 결정의 근거가 “사람이 많아서”가 아니라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“아직 저점이어서”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라는 것이 이 그래프의 요지입니다. GBC 준공(2031)·GTX-A 완전개통(2028)·영동대로 환승센터(2028)가 겹치면 현재 대비 60~120% 증가가 전망됩니다. 준비 기간을 역산하면 지금 착수해야 그 구간에 문이 열려 있습니다.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삼성역 상권 유동인구 실측(2019·2021·2025 1분기). 2031·2036 전망은 </a:t>
            </a:r>
            <a:r>
              <a:rPr sz="79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C등급 추정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이라 점선으로 두고 하단값(50만·80만) 기준으로 그렸습니다.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6505575"/>
            <a:ext cx="194930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삼성역 상권 유동인구 · 2019~2036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5094" y="6505575"/>
            <a:ext cx="129460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1451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33821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123033"/>
            <a:ext cx="684014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7914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63055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18197" y="2123033"/>
            <a:ext cx="684014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8411" y="2123033"/>
            <a:ext cx="814983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9594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4735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79877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5018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0159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45301" y="2123033"/>
            <a:ext cx="578941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0442" y="2123033"/>
            <a:ext cx="696962" cy="342900"/>
          </a:xfrm>
          <a:prstGeom prst="rect">
            <a:avLst/>
          </a:prstGeom>
          <a:solidFill>
            <a:srgbClr val="242424"/>
          </a:solidFill>
          <a:ln w="9525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2580233"/>
            <a:ext cx="10896600" cy="390525"/>
          </a:xfrm>
          <a:prstGeom prst="rect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" y="3027908"/>
            <a:ext cx="10896600" cy="3905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700" y="3475583"/>
            <a:ext cx="10896600" cy="3905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700" y="3923258"/>
            <a:ext cx="10896600" cy="3905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700" y="4370933"/>
            <a:ext cx="10896600" cy="403771"/>
          </a:xfrm>
          <a:prstGeom prst="rect">
            <a:avLst/>
          </a:prstGeom>
          <a:noFill/>
          <a:ln w="9525">
            <a:solidFill>
              <a:srgbClr val="3F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700" y="4869954"/>
            <a:ext cx="10896600" cy="931366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533400"/>
            <a:ext cx="359221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새로 만들 것이 없습니다 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봉은사는 이미 다 가지고 있습니다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1328738"/>
            <a:ext cx="10922000" cy="396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부족한 것은 콘텐츠가 아니라 고객 관점으로의 콘텐츠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번역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1514475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열두 가지는 지금 종교 안의 언어로만 존재합니다.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123033"/>
            <a:ext cx="709414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선(禪)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7914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명상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3055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수행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8197" y="2123033"/>
            <a:ext cx="709414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차(茶)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8411" y="2123033"/>
            <a:ext cx="840383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사찰음식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9594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공예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4735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건축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79877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자연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5018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예술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0159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철학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5301" y="2123033"/>
            <a:ext cx="604341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휴식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0442" y="2123033"/>
            <a:ext cx="722362" cy="368300"/>
          </a:xfrm>
          <a:prstGeom prst="rect">
            <a:avLst/>
          </a:prstGeom>
          <a:noFill/>
        </p:spPr>
        <p:txBody>
          <a:bodyPr wrap="square" lIns="161925" rIns="161925" tIns="76200" bIns="76200" anchor="t"/>
          <a:lstStyle/>
          <a:p>
            <a:pPr algn="l">
              <a:lnSpc>
                <a:spcPct val="140000"/>
              </a:lnSpc>
            </a:pPr>
            <a:r>
              <a:rPr sz="1090" spc="-1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공동체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775" y="2708821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62075" y="2675483"/>
            <a:ext cx="4669433" cy="2254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BUDDHIST ASSET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선·명상·차·음식·공예 — 지금은 종교 내부의 언어로만 존재합니다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775" y="3156496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2075" y="3123158"/>
            <a:ext cx="5501680" cy="2254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CONTEMPORARY EXPERIENCE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귀속을 요구하지 않는 경험으로 재구성 — 누구나 들어올 수 있게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775" y="3604171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2075" y="3570833"/>
            <a:ext cx="4076204" cy="2254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WELLNESS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몸과 마음으로 겪는 것 — 명상·선·호흡·다도 (정신문화 웰니스)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775" y="4051846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2075" y="4018508"/>
            <a:ext cx="2626023" cy="2254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LIFESTYLE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음식·물건·습관으로 일상에 남는 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775" y="4506069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62075" y="4466183"/>
            <a:ext cx="3575397" cy="2386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CULTURE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한국을 대표하는 문화 카테고리로 — 안과 밖 모두에게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075" y="5031879"/>
            <a:ext cx="10255250" cy="632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불교의 미래 확장은 </a:t>
            </a:r>
            <a:r>
              <a:rPr sz="1650" spc="-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종교성을 없애는 것이 아니라</a:t>
            </a: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,</a:t>
            </a:r>
          </a:p>
          <a:p>
            <a:pPr algn="ctr">
              <a:lnSpc>
                <a:spcPct val="145000"/>
              </a:lnSpc>
            </a:pP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종교가 가진 깊이를 </a:t>
            </a:r>
            <a:r>
              <a:rPr sz="1650" spc="-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현대인이 경험할 수 있는 라이프스타일의 언어로 번역</a:t>
            </a: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하는 것입니다.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588704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⚠️ Wellness의 범위를 고정합니다 — 피트니스·요가·필라테스는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전통사찰법상 불가(Tier3)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이며, 본 계획의 Wellness는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명상·선·호흡·다도·사찰음식·공예 — 정신문화 웰니스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로 한정합니다. 국비(문체부) 요건이 포교 사업을 배제하므로 이 정의가 곧 재원 트랙의 조건입니다.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6505575"/>
            <a:ext cx="419779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03. Buddhist Asset → Contemporary Experience → Wellness → Lifestyle → Culture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74350" y="6505575"/>
            <a:ext cx="129535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15230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5033218"/>
            <a:ext cx="10896600" cy="931366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05578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42428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79278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16128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52978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89828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7700" y="2771626"/>
          <a:ext cx="10896600" cy="213300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98513"/>
                <a:gridCol w="3268861"/>
                <a:gridCol w="3595836"/>
                <a:gridCol w="2833390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축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지금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바뀌어야 하는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그래서 필요한 장치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언어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법문·교리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먼저 배워야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들어올 수 있습니다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 없이 몸으로 통하는 경험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앉아보면 아는 것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부터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전시 · 명상 드롭인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새벽 예불 · 연중 행사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생활 리듬 밖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에 있습니다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점심시간 · 퇴근 후 · 주말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비어 있는 시간에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들어갑니다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점심 회차권 · 야간 개방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가격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보시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값이 안 보여서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오히려 부담스럽습니다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3천원부터 시작하는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보이는 가격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4단 레벨링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OPEN → MASS → FINE → PREMIUM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경내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마음먹고 들어가야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곳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도심 1층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지나가다 들어오는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곳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무료 개방 로비 · 전시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신도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귀속을 요구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반복만 요구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멤버십 · 커뮤니티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WHAT MUST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533400"/>
            <a:ext cx="440630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종교가 아니라 일상이 되려면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다섯 가지가 바뀌어야 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불교를 바꾸자는 것이 아닙니다.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사람이 닿는 방식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을 바꾸자는 것입니다.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5195143"/>
            <a:ext cx="10255250" cy="632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 라이프스타일. 다섯 가지를 </a:t>
            </a:r>
            <a:r>
              <a:rPr sz="1650" spc="-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한 곳에서 동시에 바꿔볼 수 있는 자리</a:t>
            </a: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가 필요합니다 —</a:t>
            </a:r>
          </a:p>
          <a:p>
            <a:pPr algn="ctr">
              <a:lnSpc>
                <a:spcPct val="145000"/>
              </a:lnSpc>
            </a:pP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흩어진 사찰에서 하나씩 바꾸는 방식으로는 </a:t>
            </a:r>
            <a:r>
              <a:rPr sz="1650" spc="-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검증도, 확산도 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다섯은 교리를 건드리지 않습니다.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바깥은 문화의 언어로 열고, 안은 종교의 근거로 지탱하는 구조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이며 — 뒤에서 보겠지만 이 양립이 법적 합법성의 조건이기도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6505575"/>
            <a:ext cx="160640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03+. 언어 · 시간 · 가격 · 공간 · 관계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2655" y="6505575"/>
            <a:ext cx="127704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그런데 지금,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불교를 경험하려면 </a:t>
            </a: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어디로 가야 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질문에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 곳을 댈 수 있어야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문화가 됩니다.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한국 불교에는 훌륭한 콘텐츠가 많지만, 그것을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한자리에서, 늘 열려 있는 상태로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경험할 대표적인, 상징적인 장소가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4578" y="5105400"/>
            <a:ext cx="1375122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237197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2 — The Missing Piece &amp; Why a Flagship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9175" y="6505575"/>
            <a:ext cx="126052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35756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4939754"/>
            <a:ext cx="10896600" cy="1024830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90815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48322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85172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22022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79529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7700" y="2623989"/>
          <a:ext cx="10896600" cy="21776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79290"/>
                <a:gridCol w="4140696"/>
                <a:gridCol w="4576614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현재의 접점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무엇이 강한가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무엇이 없는가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불교박람회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젊은 세대에게 불교를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문화로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경험하게 만드는 가장 좋은 접점 — 2030 비중 약 80%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1회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이벤트</a:t>
                      </a: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입니다. 끝나면 갈 곳이 없습니다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템플스테이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가장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깊은 경험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. 문체부·조계종 공식 사업으로 제도적 기반도 있습니다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전국 사찰에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분산</a:t>
                      </a: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돼 있고, 도심에서 반나절에 닿기 어렵습니다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개별 사찰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훌륭한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문화유산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이자 진짜 공간 — 대체 불가능한 진정성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관광객에게는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보고 떠나는</a:t>
                      </a: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경험이 되기 쉽습니다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불교미술 · 사찰음식</a:t>
                      </a:r>
                      <a:br/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명상 · 선 · 공예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영역이 독자적 깊이를 갖춘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완성된 콘텐츠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서로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연결되지 않은 채</a:t>
                      </a: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각기 다른 장소·시간에 흩어져 있습니다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MISSING PIECE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361156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1년에 한 번, 전국에 흩어져,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보고 나면 끝납니다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각각은 훌륭합니다. 문제는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시간이 한정되고, 장소가 흩어지고, 경험이 이어지지 않습니다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는 것입니다.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5120729"/>
            <a:ext cx="10217150" cy="688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800" spc="-3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한국 불교에는 수많은 훌륭한 콘텐츠가 있지만,</a:t>
            </a:r>
          </a:p>
          <a:p>
            <a:pPr algn="ctr">
              <a:lnSpc>
                <a:spcPct val="145000"/>
              </a:lnSpc>
            </a:pPr>
            <a:r>
              <a:rPr sz="1800" spc="-3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그것을 현대적으로 집약해 보여주는 </a:t>
            </a:r>
            <a:r>
              <a:rPr sz="1800" spc="-3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상설 Flagship Destination이 없습니다</a:t>
            </a:r>
            <a:r>
              <a:rPr sz="1800" spc="-3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이것이 이 프로젝트가 채우려는 빈칸입니다 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새 콘텐츠를 만드는 것이 아니라, 이미 있는 것을 한자리에 모아 상설로 만드는 것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 그래서 필요한 것은 또 하나의 사찰이 아니라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한국 불교의 Contemporary Flagship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6505575"/>
            <a:ext cx="208101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04. 이벤트 · 분산 · 스쳐 지나감 — 세 개의 빈칸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3548" y="6505575"/>
            <a:ext cx="127615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32333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641253"/>
            <a:ext cx="5362575" cy="217095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641253"/>
            <a:ext cx="5362575" cy="2857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802684"/>
            <a:ext cx="53625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641253"/>
            <a:ext cx="9525" cy="217095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750" y="2641253"/>
            <a:ext cx="9525" cy="217095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2869853"/>
            <a:ext cx="1048345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725" y="2641253"/>
            <a:ext cx="5362575" cy="217095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2641253"/>
            <a:ext cx="5362575" cy="285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725" y="4802684"/>
            <a:ext cx="53625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725" y="2641253"/>
            <a:ext cx="9525" cy="217095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34775" y="2641253"/>
            <a:ext cx="9525" cy="217095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750" y="2869853"/>
            <a:ext cx="1392585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4945559"/>
            <a:ext cx="10896600" cy="1302841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WHY A FLAGSHIP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33400"/>
            <a:ext cx="357733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국기원 하나가 태권도를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50개국이 찾아오는 목적지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로 만들었습니다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상징은 스스로 벌지 않습니다 —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 분야 전체의 인식을 바꾸고, 주변이 벌게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869853"/>
            <a:ext cx="1073745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CASE 01 · 태권도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165128"/>
            <a:ext cx="4987925" cy="256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국기원 — 태권도의 주소는 강남입니다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491805"/>
            <a:ext cx="4987925" cy="867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1972년 설립 · 서울 강남구 테헤란로7길 32.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태권도 중앙도장으로서 세계 본부 기능을 수행하며 품단증과 자격증을 발행합니다. 국기원이 주최하는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세계태권도한마당에는 매년 50개국 이상 5천여 명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 참가하고(1992년 첫 개최), 주한 외국인 태권도 교육 참가는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연평균 약 156,000명 · 약 6,400회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(2021~2023)에 이릅니다.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419302"/>
            <a:ext cx="4987925" cy="2278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국기원 공식(세계태권도한마당·외국인 보급사업), 위키백과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2869853"/>
            <a:ext cx="1417985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CASE 02 · 같은 코엑스권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0" y="3165128"/>
            <a:ext cx="4987925" cy="256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별마당 도서관 — 수익 0원이 만든 1,700만 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3491805"/>
            <a:ext cx="4987925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직접 수익은 0원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그런데 코엑스몰 방문객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1,700만 명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과 인근 매장 매출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2배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를 만들었습니다. 상징 공간은 스스로 벌지 않고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주변이 벌게 합니다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봉은사 바로 옆, 같은 강남에서 이미 증명된 논리입니다.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4208859"/>
            <a:ext cx="4987925" cy="2278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논리가 뒤에서 “전시를 왜 수익 엔진이 아닌데도 중심에 두는가”의 근거가 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5126534"/>
            <a:ext cx="10255250" cy="66059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태권도의 상징 거점은 </a:t>
            </a:r>
            <a:r>
              <a:rPr sz="1720" spc="-3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이미 강남에 있습니다</a:t>
            </a: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  <a:p>
            <a:pPr algn="ctr">
              <a:lnSpc>
                <a:spcPct val="145000"/>
              </a:lnSpc>
            </a:pP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1,200년의 한국 불교에는 </a:t>
            </a:r>
            <a:r>
              <a:rPr sz="1720" spc="-3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아직 없습니다</a:t>
            </a: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" y="5856982"/>
            <a:ext cx="10255250" cy="2358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필요한 것은 총본산이나 행정 중심이 아닙니다 —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일반인과 외국인의 관점에서 “한국 불교를 경험하려면 어디로 가야 하는가”에 답할 수 있는 장소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6505575"/>
            <a:ext cx="221570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05. Physical Symbol — 상징이 인식을 만듭니다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0423" y="6505575"/>
            <a:ext cx="127927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13891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5037832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8675" y="5199757"/>
            <a:ext cx="995511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5037832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3175" y="5199757"/>
            <a:ext cx="1325017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261213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318720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376227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433734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491242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7700" y="2327970"/>
          <a:ext cx="10896600" cy="2590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43373"/>
                <a:gridCol w="4140696"/>
                <a:gridCol w="5012531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상징이 만드는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태권도에서 일어난 일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불교에서 일어날 수 있는 일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① 주소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“태권도를 배우려면?”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강남 테헤란로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라고 답할 수 있게 됐습니다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“한국 불교를 경험하려면?”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봉은사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라고 답할 수 있게 됩니다. 지금은 답이 여러 개거나 없습니다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② 표준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품·단 심사와 커리큘럼의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기준이 한 곳에서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전시·프로그램·상품의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포맷과 품질 기준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 생깁니다 — 전국 사찰이 각자 처음부터 만들지 않아도 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③ 유입 경로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세계태권도한마당에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매년 50개국 이상 5천여 명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 모입니다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OTA·여행사·호텔 컨시어지·MICE가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연결할 대상이 생깁니다.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지금은 보낼 곳이 없어 못 팝니다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④ 수출 단위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주한 외국인 교육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연 15.6만 명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규모의 보급 사업이 돌아갑니다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검증된 프로그램·상품이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전국 사찰과 해외로 나가는 단위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 됩니다 — 봉은사가 원본을 만듭니다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WHAT A SYMBOL CREATES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533400"/>
            <a:ext cx="439291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불교문화의 상징이 생기면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네 가지가 따라옵니다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국기원이 태권도에 만들어준 것을 하나씩 옮겨 적으면,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봉은사가 무엇이 될 수 있는지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가 보입니다.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5199757"/>
            <a:ext cx="102091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순서가 중요합니다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5437882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상징이 먼저, 확산은 그다음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5700712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국기원이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1972년에 먼저 섰고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, 세계화는 그 뒤에 따라왔습니다.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흩어진 채로는 표준도 유입도 만들어지지 않습니다 — 명확한 상징성을 가진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 곳이 먼저 서야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175" y="5199757"/>
            <a:ext cx="135041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그리고 이미 증명됐습니다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3175" y="5437882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같은 강남, 같은 코엑스권에서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3175" y="5700712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별마당 도서관은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직접 수익 0원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으로 코엑스몰 방문객 1,700만 명과 인근 매장 매출 2배를 만들었습니다.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상징은 스스로 벌지 않고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주변이 벌게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6505575"/>
            <a:ext cx="176296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05+. 주소 · 표준 · 유입 경로 · 수출 단위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9679" y="6505575"/>
            <a:ext cx="128002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3426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131046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131046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11584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131046"/>
            <a:ext cx="28575" cy="994321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8025" y="3131046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9950" y="3131046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9950" y="3131046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950" y="411584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9950" y="3131046"/>
            <a:ext cx="28575" cy="994321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0275" y="3131046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131046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131046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11584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131046"/>
            <a:ext cx="28575" cy="994321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2525" y="3131046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4450" y="3131046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4450" y="3131046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4450" y="411584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4450" y="3131046"/>
            <a:ext cx="28575" cy="994321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34775" y="3131046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4277767"/>
            <a:ext cx="3530501" cy="122009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675" y="4439692"/>
            <a:ext cx="468362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0601" y="4277767"/>
            <a:ext cx="3530650" cy="122009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11576" y="4439692"/>
            <a:ext cx="369391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3650" y="4277767"/>
            <a:ext cx="3530501" cy="1220093"/>
          </a:xfrm>
          <a:prstGeom prst="rect">
            <a:avLst/>
          </a:prstGeom>
          <a:solidFill>
            <a:srgbClr val="242424"/>
          </a:solidFill>
          <a:ln w="9525">
            <a:solidFill>
              <a:srgbClr val="3F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4625" y="4439692"/>
            <a:ext cx="369391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700" y="5612160"/>
            <a:ext cx="10896600" cy="636240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WHY BONGEUNSA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533400"/>
            <a:ext cx="35966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1,200년과 강남을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동시에 가진 곳은 하나뿐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입니다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정통성·입지·규모·접근성을 하나씩 가진 곳은 많습니다.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넷을 동시에 가진 곳은 없습니다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— 그래서 아무도 흉내낼 수 없습니다.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3292971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1,200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3643461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Authenticity — 794년(신라 원성왕 10년) 견성암 창건, 1499년 ‘봉은사’ 사액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9975" y="3292971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강남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·삼성동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9975" y="3643461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Contemporary Location — 가장 현대적인 서울의 한복판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2225" y="3292971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31.6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만→50~70만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2225" y="3643461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삼성동 유동인구 — 2031년 GBC·영동대로 복합개발 완료 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475" y="3292971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6,188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475" y="3643461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봉은문화회관 1~2층 — 1,872평(도면 실측 정정). 1층 3,478 + 2층 2,710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75" y="4439692"/>
            <a:ext cx="49376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접근성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675" y="4687342"/>
            <a:ext cx="3193951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외국인은 이미 문 앞까지 와 있습니다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4950172"/>
            <a:ext cx="3193951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국내 최대 MICE 클러스터와 도보 거리. 외국인 방문객이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이미 오고 있는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자리에 있습니다 — 유치가 아니라 전환의 문제입니다.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1576" y="4439692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제약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1576" y="4687342"/>
            <a:ext cx="319410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일반 상업은 법이 막고 있습니다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1576" y="4950172"/>
            <a:ext cx="319410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전통사찰법 제6조가 건축법 위에서 차단합니다. 프랜차이즈 카페·일반 음식점·일반 소매·일반 숙박·피트니스는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Tier3 불가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4625" y="4439692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역설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4625" y="4687342"/>
            <a:ext cx="3193951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막혀 있다는 것은, 아무나 못 한다는 뜻입니다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4625" y="4950172"/>
            <a:ext cx="3193951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아무나 못 한다는 뜻입니다. 정통성·강남 입지·6,188㎡를 동시에 가진 주체는 봉은사뿐 —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누구도 흉내낼 수 없습니다.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2025" y="5764560"/>
            <a:ext cx="10293350" cy="356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800" spc="-3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봉은사는 가장 전통적인 불교와 </a:t>
            </a:r>
            <a:r>
              <a:rPr sz="1800" spc="-3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가장 현대적인 서울</a:t>
            </a:r>
            <a:r>
              <a:rPr sz="1800" spc="-3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만나는 장소.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6505575"/>
            <a:ext cx="301312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06. Authenticity × Location × Scale — 동시에 가진 유일한 주체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92507" y="6505575"/>
            <a:ext cx="127719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1567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575149"/>
            <a:ext cx="2609850" cy="115431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575149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719935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575149"/>
            <a:ext cx="28575" cy="1154311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8025" y="3575149"/>
            <a:ext cx="9525" cy="115431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9950" y="3575149"/>
            <a:ext cx="2609850" cy="115431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9950" y="3575149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950" y="4719935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9950" y="3575149"/>
            <a:ext cx="28575" cy="1154311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0275" y="3575149"/>
            <a:ext cx="9525" cy="115431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575149"/>
            <a:ext cx="2609850" cy="115431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575149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719935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575149"/>
            <a:ext cx="28575" cy="1154311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2525" y="3575149"/>
            <a:ext cx="9525" cy="115431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4450" y="3575149"/>
            <a:ext cx="2609850" cy="115431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4450" y="3575149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4450" y="4719935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4450" y="3575149"/>
            <a:ext cx="28575" cy="1154311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34775" y="3575149"/>
            <a:ext cx="9525" cy="115431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4900910"/>
            <a:ext cx="10896600" cy="1347490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CLOSING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533400"/>
            <a:ext cx="44107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06+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그런데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결정의 창이 닫히고 있습니다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조건은 다 갖췄습니다. 남은 변수는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시간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 — 그리고 이건 우리가 늘릴 수 없습니다.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737074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의사결정 후 반영 3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4087564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총무원장 임기 만료 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결재 임계경로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9975" y="3737074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유권해석 · 5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9975" y="4087564"/>
            <a:ext cx="2254250" cy="5053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사찰이 아닌 문화공간으로서 유권해석 필요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9975" y="4247555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유권해석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전부 미제출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9975" y="4407545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회신 폭이 수익 천장을 5.6배 움직입니다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2225" y="3737074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820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만원/일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2225" y="4087564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공실 기회비용 — 결정을 미루는 동안 매일 쌓입니다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475" y="3737074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비어있던 기간 3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475" y="4087564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이미 비어 있던 기간 · 누적 기회비용 약 90억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975" y="5053310"/>
            <a:ext cx="10331450" cy="7433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950" spc="-39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결정을 미루는 것도 </a:t>
            </a:r>
            <a:r>
              <a:rPr sz="1950" spc="-39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하나의 결정</a:t>
            </a:r>
            <a:r>
              <a:rPr sz="1950" spc="-39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입니다 —</a:t>
            </a:r>
          </a:p>
          <a:p>
            <a:pPr algn="ctr">
              <a:lnSpc>
                <a:spcPct val="145000"/>
              </a:lnSpc>
            </a:pPr>
            <a:r>
              <a:rPr sz="1950" spc="-39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다만 그 결정의 값이 </a:t>
            </a:r>
            <a:r>
              <a:rPr sz="1950" spc="-39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하루 820만원</a:t>
            </a:r>
            <a:r>
              <a:rPr sz="1950" spc="-39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일 뿐입니다.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975" y="5885557"/>
            <a:ext cx="10331450" cy="2358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유권해석은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제출해야 회신이 옵니다.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그리고 회신이 오기 전에는 무엇을 팔 수 있는지 자체가 미정이라 공간 설계도, 예산 확정도, 운영 주체 선정도 시작할 수 없습니다 —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Phase 0이 전체 일정의 목입니다.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6505575"/>
            <a:ext cx="162649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06+. 9.27 임계경로 · 하루 820만원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90870" y="6505575"/>
            <a:ext cx="127883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69739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33625" y="2791123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3625" y="2791123"/>
            <a:ext cx="1842046" cy="142875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3625" y="2991148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54573" y="2991148"/>
            <a:ext cx="828824" cy="14287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3625" y="3191173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75671" y="3191173"/>
            <a:ext cx="3684240" cy="142875"/>
          </a:xfrm>
          <a:prstGeom prst="rect">
            <a:avLst/>
          </a:prstGeom>
          <a:solidFill>
            <a:srgbClr val="2A2A2A"/>
          </a:solidFill>
          <a:ln w="9525">
            <a:solidFill>
              <a:srgbClr val="8B7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3625" y="3391198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5671" y="3391198"/>
            <a:ext cx="368350" cy="14287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3625" y="3591223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5671" y="3591223"/>
            <a:ext cx="368350" cy="14287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3625" y="3791248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5671" y="3791248"/>
            <a:ext cx="1842046" cy="14287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3625" y="3991273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38962" y="3991273"/>
            <a:ext cx="368350" cy="14287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3625" y="4191298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38962" y="4191298"/>
            <a:ext cx="920948" cy="142875"/>
          </a:xfrm>
          <a:prstGeom prst="rect">
            <a:avLst/>
          </a:prstGeom>
          <a:solidFill>
            <a:srgbClr val="2A2A2A"/>
          </a:solidFill>
          <a:ln w="9525">
            <a:solidFill>
              <a:srgbClr val="8B7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3625" y="4391323"/>
            <a:ext cx="9210675" cy="14287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9911" y="4391323"/>
            <a:ext cx="368350" cy="14287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533400"/>
            <a:ext cx="795139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06+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주변이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전부 2028~2032년에 끝납니다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그 전에 열려 있어야 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결정의 창이 닫힌다는 말의 실체입니다. 우리가 늘릴 수 없는 것은 이 일정표이고, 맞출 수 있는 것은 우리 착수 시점뿐입니다.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794099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봉은문화센터 · 결정의 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994124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법난기념관 실시설계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94149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법난기념관 본공사 </a:t>
            </a:r>
            <a:r>
              <a:rPr sz="72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(연도 미명시)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394174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GTX-A 삼성역 완전 개통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594199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영동대로 복합환승센터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794224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GTX-C 완공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994249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GBC 준공 </a:t>
            </a:r>
            <a:r>
              <a:rPr sz="72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(5조 2,400억)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4194274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위례신사선 개통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4394299"/>
            <a:ext cx="1625600" cy="162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잠실 MICE 준공 </a:t>
            </a:r>
            <a:r>
              <a:rPr sz="72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(3조 3,000억)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3625" y="4638973"/>
            <a:ext cx="252363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2487" y="4638973"/>
            <a:ext cx="251768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3714" y="4638973"/>
            <a:ext cx="253702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6206" y="4638973"/>
            <a:ext cx="252809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6615" y="4638973"/>
            <a:ext cx="256381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14361" y="4638973"/>
            <a:ext cx="255339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4867573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보라색 막대가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우리가 통제할 수 있는 유일한 구간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 나머지는 전부 남이 정한 일정입니다. 법난기념관 본공사는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연도가 문서에 명시돼 있지 않아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실시설계 완료(2027.12) 이후로 추정해 점선으로 뒀습니다.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GTX-A/C·영동대로 복합환승센터·GBC·위례신사선·잠실 MICE 공표 일정 · 법난기념관 설계 일정표(계획 3개월 → 중간 15개월 → 실시 10개월). GBC 준공 연도는 원자료 간 2028/2031 불일치가 있어 2031년 말 목표를 따랐습니다.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6505575"/>
            <a:ext cx="205973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삼성동 개발 파이프라인 · 2026~2036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97269" y="6505575"/>
            <a:ext cx="127243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그래서 봉은문화센터는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무엇, 어떤 존재가 되어야 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여기에서 처음으로 최종안을 선언합니다.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앞의 여섯 장에 동의했다면, 이제 우리가 해야 할 고민은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봉은문화센터를 어떤 형태로 만들 것인가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2729" y="5105400"/>
            <a:ext cx="1406971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109026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3 — The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91614" y="6505575"/>
            <a:ext cx="127808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24296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472035"/>
            <a:ext cx="10896600" cy="1682055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344591"/>
            <a:ext cx="3517850" cy="190380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344591"/>
            <a:ext cx="3517850" cy="2857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6238875"/>
            <a:ext cx="3517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344591"/>
            <a:ext cx="9525" cy="190380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56025" y="4344591"/>
            <a:ext cx="9525" cy="190380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725" y="4573191"/>
            <a:ext cx="1077218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7000" y="4344591"/>
            <a:ext cx="3517850" cy="190380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7000" y="4344591"/>
            <a:ext cx="3517850" cy="285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7000" y="6238875"/>
            <a:ext cx="3517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7000" y="4344591"/>
            <a:ext cx="9525" cy="190380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45326" y="4344591"/>
            <a:ext cx="9525" cy="190380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37025" y="4573191"/>
            <a:ext cx="1152227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6301" y="4344591"/>
            <a:ext cx="3517999" cy="190380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6301" y="4344591"/>
            <a:ext cx="3517999" cy="28575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6301" y="6238875"/>
            <a:ext cx="351799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6301" y="4344591"/>
            <a:ext cx="9525" cy="190380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34775" y="4344591"/>
            <a:ext cx="9525" cy="190380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6326" y="4573191"/>
            <a:ext cx="567333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533400"/>
            <a:ext cx="349696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서울 도심에서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불교문화를 하루치로 경험하는 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공식 명칭은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서울 도심형 K-Buddhism 문화·웰니스 체험 거점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120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Buddhist Culture &amp; Wellness Destination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— 국비 대응 포지셔닝과 같은 문장입니다.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425" y="2843510"/>
            <a:ext cx="9988550" cy="9645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2550" spc="-5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봉은문화센터를 서울을 대표하는</a:t>
            </a:r>
          </a:p>
          <a:p>
            <a:pPr algn="ctr">
              <a:lnSpc>
                <a:spcPct val="145000"/>
              </a:lnSpc>
            </a:pPr>
            <a:r>
              <a:rPr sz="2550" spc="-5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Buddhist Culture &amp; Wellness Destination</a:t>
            </a:r>
            <a:r>
              <a:rPr sz="2550" spc="-51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으로 만듭니다.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573191"/>
            <a:ext cx="110261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MZ · 젊은 세대에게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4868466"/>
            <a:ext cx="3143200" cy="4882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주말에 갈 곳이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하나 늘어납니다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5426571"/>
            <a:ext cx="31432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전시·미디어아트·선 체험·클래스·굿즈·커뮤니티. 종교 귀속을 요구하지 않습니다. 도보권 직장인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112,349명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 반복 방문의 기반이 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7025" y="4573191"/>
            <a:ext cx="117762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Global Visitor에게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7025" y="4868466"/>
            <a:ext cx="3143200" cy="4882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한국에서 반드시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들러야 할 한 곳이 생깁니다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7025" y="5426571"/>
            <a:ext cx="31432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Temple Sightseeing이 아니라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K-Buddhist Experience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를 팝니다. 유럽+미주 54.0%,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97.5%가 개별여행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OTA·후기 기반으로 설계합니다.(외국인 대상 문화관광의 관점이 존재)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6326" y="4573191"/>
            <a:ext cx="592733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불교계에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6326" y="4868466"/>
            <a:ext cx="3143349" cy="4882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다음 불교를 먼저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실험해보는 자리가 생깁니다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6326" y="5426571"/>
            <a:ext cx="3143349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여기서 검증된 것이 전국 사찰로 갑니다. 봉은문화센터는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결과물이 아니라 Test Bed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 — 이 논리는 PART 7에서 다시 다룹니다.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6505575"/>
            <a:ext cx="155401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07. 세 주체에게 각각 무엇이 되는가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90870" y="6505575"/>
            <a:ext cx="127883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05854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5033218"/>
            <a:ext cx="10896600" cy="931366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60751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18259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75766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33273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90780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7700" y="2323356"/>
          <a:ext cx="10896600" cy="2590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97175"/>
                <a:gridCol w="2833092"/>
                <a:gridCol w="2942034"/>
                <a:gridCol w="2724299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 건물의 조건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그래서 가능해지는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그것이 만드는 결과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최종 효과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무주 대공간</a:t>
                      </a:r>
                      <a:br/>
                      <a:r>
                        <a:rPr sz="819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통층 6~8m · 300~350평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국내 사찰이 못 받는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대형 기획전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을 수용합니다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기획사가 먼저 찾아옵니다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제작비를 외부가 댑니다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전시를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적자 없이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돌립니다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1층 3,478㎡</a:t>
                      </a:r>
                      <a:br/>
                      <a:r>
                        <a:rPr sz="819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도심 접면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무료 개방 로비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를 크게 둘 수 있습니다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진입장벽이 0이 됩니다 — 마음먹지 않아도 들어옵니다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유료 전환의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모수가 최대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 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코엑스 도보권</a:t>
                      </a:r>
                      <a:br/>
                      <a:r>
                        <a:rPr sz="819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국내 최대 MICE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외국인·기업이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이미 문 앞에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와 있습니다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유치 비용이 아니라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전환 설계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 문제가 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마케팅비 없이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모수 확보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경내이면서</a:t>
                      </a:r>
                      <a:br/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독립 동선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수행 공간과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물리적으로 분리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 운영합니다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“수행 환경을 해치지 않습니다”가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설계로 입증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제6조 제3항 단서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를 충족합니다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WHY THIS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431254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넷을 동시에 갖춘 건물은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국내에 없습니다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비전은 선언이 아니라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건물 조건에서 도출되는 결론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이어야 합니다 — 네 개의 사슬이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5195143"/>
            <a:ext cx="10255250" cy="632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넷을 </a:t>
            </a:r>
            <a:r>
              <a:rPr sz="1650" spc="-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동시에 갖춘 공간은 국내에 없습니다</a:t>
            </a: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</a:t>
            </a:r>
          </a:p>
          <a:p>
            <a:pPr algn="ctr">
              <a:lnSpc>
                <a:spcPct val="145000"/>
              </a:lnSpc>
            </a:pPr>
            <a:r>
              <a:rPr sz="1650" spc="-33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그래서 이 비전은 봉은사에서만 성립합니다.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특히 마지막 행이 중요합니다.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같은 사업이라도 어디서 하느냐가 합법성을 바꿉니다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경내 한복판이 아니라 독립 동선을 가진 별동이기 때문에, 수행 환경 훼손 없이 운영한다는 것을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말이 아니라 도면으로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보일 수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6505575"/>
            <a:ext cx="183827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07+. 건물 조건 → 가능성 → 결과 →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7177" y="6505575"/>
            <a:ext cx="129252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3450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87263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690366"/>
            <a:ext cx="5353050" cy="19880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690366"/>
            <a:ext cx="5353050" cy="2857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668887"/>
            <a:ext cx="53530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690366"/>
            <a:ext cx="9525" cy="19880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91225" y="2690366"/>
            <a:ext cx="9525" cy="19880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2918966"/>
            <a:ext cx="860971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0" y="2690366"/>
            <a:ext cx="5353050" cy="19880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1250" y="2690366"/>
            <a:ext cx="5353050" cy="285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250" y="4668887"/>
            <a:ext cx="53530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2690366"/>
            <a:ext cx="9525" cy="19880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34775" y="2690366"/>
            <a:ext cx="9525" cy="19880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1275" y="2918966"/>
            <a:ext cx="875854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4811762"/>
            <a:ext cx="3549551" cy="11528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625" y="4964162"/>
            <a:ext cx="884188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1076" y="4811762"/>
            <a:ext cx="3549700" cy="11528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3001" y="4964162"/>
            <a:ext cx="884188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4600" y="4811762"/>
            <a:ext cx="3549551" cy="11528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525" y="4964162"/>
            <a:ext cx="884188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WHO 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533400"/>
            <a:ext cx="512663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07++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지금 가장 매력있는 타깃 고객은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둘뿐입니다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MZ와 외국인 관광객 — 나머지는 보조축으로 내립니다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1800225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타겟을 좁힌 이유는 취향이 아니라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근거의 비대칭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918966"/>
            <a:ext cx="88637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PRIMARY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214241"/>
            <a:ext cx="4978400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MZ · 도보권 직장인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553718"/>
            <a:ext cx="4978400" cy="2520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이들이 반복해서 와야 “문화적 목적지”가 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856583"/>
            <a:ext cx="49784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불교박람회 2030 비중 약 80%. 종교 귀속이 아니라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경험 소비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접근합니다.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방문 이유가 되는 것 — 전시 · 미디어아트 · 선 체험 · 클래스 · 굿즈 · 다원.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도보권 직장인 112,349명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(A등급 실측)이 반복 방문의 기반이며, 점심 회차권이 첫 접점입니다.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2918966"/>
            <a:ext cx="901254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PRIMARY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275" y="3214241"/>
            <a:ext cx="4978400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Global Visitor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275" y="3553718"/>
            <a:ext cx="4978400" cy="2520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사찰 관람이 아니라 </a:t>
            </a: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한국 불교 경험</a:t>
            </a: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을 팝니다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275" y="3856583"/>
            <a:ext cx="49784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유럽인 방문률 20.99%(일본 0.63%), 유럽+미주 54.0%,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97.5%가 개별여행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단체 패키지가 아니라 개별 예약·OTA·후기 기반 상품이어야 합니다.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목적은 종교(2.0%)가 아니라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역사·전통 체험(46.6%)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코엑스 MICE 제휴가 1차 채널입니다.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4964162"/>
            <a:ext cx="90958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SECONDARY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" y="5202287"/>
            <a:ext cx="325110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강남 로컬 · 프리미엄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5442793"/>
            <a:ext cx="3251101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멤버십·기수제. 반복 매출의 축이지만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국내 사례 0건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갱신율 검증 전까지 보조축.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3001" y="4964162"/>
            <a:ext cx="90958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SECONDARY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3001" y="5202287"/>
            <a:ext cx="325125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기업 · B2B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3001" y="5442793"/>
            <a:ext cx="3251250" cy="2196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단가는 시장가 실측이 있으나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연간 수주 건수는 미검증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 수익 보완축.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525" y="4964162"/>
            <a:ext cx="90958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SECONDARY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525" y="5202287"/>
            <a:ext cx="325110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신도 · 전국 사찰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525" y="5442793"/>
            <a:ext cx="3251101" cy="2196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추모·IP 유통의 고객.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다른 P&amp;L로 분리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해 관리합니다.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MZ·외국인은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실측 데이터가 있고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, 프리미엄 멤버십은 국내 검증 사례가 없습니다. 그래서 앞의 둘에 집중하고 나머지는 수익 보완축으로 분리합니다.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6505575"/>
            <a:ext cx="161295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07++. Primary 2 + Secondary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93548" y="6505575"/>
            <a:ext cx="127615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84132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322314"/>
            <a:ext cx="5381625" cy="292834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50" y="2912269"/>
            <a:ext cx="5038725" cy="3429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150" y="3331369"/>
            <a:ext cx="1108472" cy="361950"/>
          </a:xfrm>
          <a:prstGeom prst="rect">
            <a:avLst/>
          </a:prstGeom>
          <a:solidFill>
            <a:srgbClr val="2A2A2A"/>
          </a:solidFill>
          <a:ln w="9525">
            <a:solidFill>
              <a:srgbClr val="E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62675" y="2322314"/>
            <a:ext cx="5381625" cy="292834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34125" y="3245644"/>
            <a:ext cx="2481262" cy="1304925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91588" y="3074194"/>
            <a:ext cx="2481262" cy="1476375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CONVERSION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533400"/>
            <a:ext cx="86672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07++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외국인은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이미 와 있습니다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팔 것이 없었을 뿐입니다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타깃을 외국인으로 좁힌 근거는 인지도가 아니라 전환 손실입니다. 모수는 이미 확보돼 있고 새는 지점이 분명합니다.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474714"/>
            <a:ext cx="506412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방문은 60만인데 결제는 1만입니다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646164"/>
            <a:ext cx="5064125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봉은사 외국인 · 연간 · 전환율 2~10% 추정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026569"/>
            <a:ext cx="870148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봉은사 방문 외국인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5188" y="2997994"/>
            <a:ext cx="674737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-22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10만~61만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455194"/>
            <a:ext cx="447774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유료 참여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8414" y="3426619"/>
            <a:ext cx="211733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-22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1만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3779044"/>
            <a:ext cx="5064125" cy="325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현행 공급은 목요 템플라이프 주 1회(2시간·30,000원)와 금요 요가(정원 16명)가 전부입니다 — 지불 의사는 이미 검증됐고 부족한 것은 빈도와 유통입니다.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4125" y="2474714"/>
            <a:ext cx="506412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수요는 늘고, 공급은 오히려 줄었습니다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4125" y="2646164"/>
            <a:ext cx="5064125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전국 템플스테이 외국인 순인원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4491" y="3083719"/>
            <a:ext cx="46578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48,843명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5694" y="4607719"/>
            <a:ext cx="26337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4752" y="2912269"/>
            <a:ext cx="44033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55,515명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3752" y="4607719"/>
            <a:ext cx="26218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4125" y="4817269"/>
            <a:ext cx="5064125" cy="3254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외국인 증가율 </a:t>
            </a:r>
            <a:r>
              <a:rPr sz="79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+13.7%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는 전체 증가율(5.1%)의 2.7배입니다. 그런데 </a:t>
            </a:r>
            <a:r>
              <a:rPr sz="79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외국인 대응 사찰 비중은 19.9%(2022) → 19.6%(2025)로 오히려 떨어졌습니다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(31/158개).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5336381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사업의 기회는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사람을 더 데려오는 것이 아니라 이미 온 사람에게 팔 것을 만드는 것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 전국 단위에서도 같은 그림입니다 — 외국인 수요는 전체의 2.7배 속도로 느는데 대응하는 사찰 비중은 도리어 줄었습니다.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봉은사 외국인 방문 추정 10만(자체 추산)~61만(2025 조사 기반) · 유료 참여 1만은 2018년 추정치라 연도가 섞여 있습니다. 템플스테이 외국인 순인원(2024·2025) · 대응 사찰 31/158개.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6505575"/>
            <a:ext cx="177174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외국인 전환 구조 · 2024~2026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8070" y="6505575"/>
            <a:ext cx="129163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봉은사에 사람은 이미 많이 옵니다.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다만 사람들이 머물 이유가 없을 뿐입니다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봉은사의 문제는 인지도도, 접근성도 아닙니다. 사람은 이미 많이 오고 있습니다.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방문이 경험으로 전환되지 않을 뿐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그래서 바꿔야 하는 것은 건물이 아니라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경험의 구조와 목표 지표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7725" y="5105400"/>
            <a:ext cx="1431975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192072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4 — Experience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4945" y="6505575"/>
            <a:ext cx="129475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3450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3426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6919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6138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5356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4575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3794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3012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32231" y="4086523"/>
            <a:ext cx="1312069" cy="54292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6919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6138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5356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4575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3794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3012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32231" y="5019973"/>
            <a:ext cx="1312069" cy="716012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EXPERIENCE TRANSFORMATION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533400"/>
            <a:ext cx="35966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세 단계로 끝나던 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고객여정을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여덟 단계로 늘립니다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1800225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목적지를 만든다는 것은 건물을 짓는 일이 아니라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머물 이유를 다섯 개 더 만드는 일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3886498"/>
            <a:ext cx="1092200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99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TODAY — 세 칸에서 끝납니다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" y="421034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43627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Visit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2644" y="421034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2644" y="43627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1862" y="421034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1862" y="43627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Leave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1081" y="42103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42103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9519" y="42103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8738" y="42103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7956" y="421034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4819948"/>
            <a:ext cx="1092200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99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FUTURE — 여덟 칸을 만듭니다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425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425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Visit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425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옵니다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2644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2644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Discover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2644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이해합니다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1862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1862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Experience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1862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명상·선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1081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1081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Rest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081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머뭅니다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0300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0300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Eat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0300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차·음식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9519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79519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Shop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79519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가져갑니다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48738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48738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Stay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8738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묵습니다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17956" y="5143798"/>
            <a:ext cx="116601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7956" y="5296198"/>
            <a:ext cx="1166019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Share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17956" y="5477173"/>
            <a:ext cx="1166019" cy="1603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퍼뜨립니다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외국인에게는 특히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2시간 이상 체류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를 목표로 합니다. 다만 이것은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목표치이지 현재값과의 비교가 아닙니다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다음 장에서 그 이유를 밝힙니다.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6505575"/>
            <a:ext cx="346853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08. Discover → Experience → Rest → Taste → Shop → Stay → Share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75689" y="6505575"/>
            <a:ext cx="129401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1567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257104"/>
            <a:ext cx="5362575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69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7725" y="3466654"/>
            <a:ext cx="369391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81725" y="3257104"/>
            <a:ext cx="5362575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3F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1750" y="3466654"/>
            <a:ext cx="468362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5049887"/>
            <a:ext cx="2631281" cy="91469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50498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5955060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5049887"/>
            <a:ext cx="28575" cy="914698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9456" y="5049887"/>
            <a:ext cx="9525" cy="91469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2806" y="5049887"/>
            <a:ext cx="2631281" cy="91469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2806" y="50498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2806" y="5955060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2806" y="5049887"/>
            <a:ext cx="28575" cy="914698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24562" y="5049887"/>
            <a:ext cx="9525" cy="91469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7912" y="5049887"/>
            <a:ext cx="2631281" cy="91469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7912" y="50498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7912" y="5955060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7912" y="5049887"/>
            <a:ext cx="28575" cy="914698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9669" y="5049887"/>
            <a:ext cx="9525" cy="91469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3019" y="5049887"/>
            <a:ext cx="2631281" cy="91469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3019" y="50498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3019" y="5955060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3019" y="5049887"/>
            <a:ext cx="28575" cy="914698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34775" y="5049887"/>
            <a:ext cx="9525" cy="91469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NEW 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533400"/>
            <a:ext cx="44107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08+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먼저 인정해야합니다.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우리는 고객의 체류시간을 모릅니다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숫자가 없다는 사실이 이 프로젝트의 첫 번째 발견입니다.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그래서 무엇을 목표로 삼을지부터 바꿉니다.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3466654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사실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3761929"/>
            <a:ext cx="4987925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고객의 체류시간을 알 수 있는 장치는 아예 없습니다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4075658"/>
            <a:ext cx="4987925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흔히 인용되는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“20~30분”은 관찰 인상이지 실측이 아닙니다.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근거를 찾을 수 없어 본 계획에서는 수치로 쓰지 않습니다. 무료입장이라 입장 집계도 없고, 방문객 모수 추정은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10만~61만으로 6.1배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벌어져 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0" y="3466654"/>
            <a:ext cx="49376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그래서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1750" y="3761929"/>
            <a:ext cx="4987925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그래서 방문객 수를 목표로 걸지 않습니다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4075658"/>
            <a:ext cx="4987925" cy="4462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모수가 6.1배로 흔들리는 값 위에 목표를 쌓으면 전부 흔들립니다.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측정체계 가동을 개관 2년차 과제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명시하고, 개관 후 첫 실측으로 기준선을 잡는 것을 1년차의 성과로 정의합니다.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519276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얼마나 머무는가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75" y="5433268"/>
            <a:ext cx="2313781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체류시간 · 외국인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2시간+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목표</a:t>
            </a:r>
          </a:p>
          <a:p>
            <a:pPr algn="l">
              <a:lnSpc>
                <a:spcPct val="17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Stay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3781" y="519276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몇 명이 해보는가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3781" y="5433268"/>
            <a:ext cx="2313781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방문 → 유료 경험 전환율</a:t>
            </a:r>
          </a:p>
          <a:p>
            <a:pPr algn="l">
              <a:lnSpc>
                <a:spcPct val="17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Experience Conversion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8888" y="519276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얼마를 쓰는가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8888" y="5433268"/>
            <a:ext cx="2313781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1인당 소비 · 식음·상품 합산</a:t>
            </a:r>
          </a:p>
          <a:p>
            <a:pPr algn="l">
              <a:lnSpc>
                <a:spcPct val="17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Spend per Visitor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3994" y="519276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다시 오는가, 알리는가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3994" y="5433268"/>
            <a:ext cx="2313781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재방문율 · 후기·SNS 확산</a:t>
            </a:r>
          </a:p>
          <a:p>
            <a:pPr algn="l">
              <a:lnSpc>
                <a:spcPct val="17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Revisit &amp; Share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다섯 지표는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공간이 아니라 경험을 재는 자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 방문객 수는 늘려도 세 칸에서 끝나면 아무것도 바뀌지 않습니다.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6505575"/>
            <a:ext cx="202639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08+. 방문객 수 → 체류·전환·소비·재방문·확산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77029" y="6505575"/>
            <a:ext cx="129267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9723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4754017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8675" y="4915942"/>
            <a:ext cx="907703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4754017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3175" y="4915942"/>
            <a:ext cx="1028105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237296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274146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310996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368503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426010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462860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7700" y="2088803"/>
          <a:ext cx="10896600" cy="25461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79290"/>
                <a:gridCol w="2724150"/>
                <a:gridCol w="2724150"/>
                <a:gridCol w="3269010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무엇을 사는가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MZ · 도보권 직장인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GLOBAL VISITOR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그래서 필요한 엔진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볼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전시·미디어아트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SNS에 올릴 장면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한국 불교를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한자리에서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이해할 서사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4ECDC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■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CULTURE · 전시 3,300㎡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해볼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점심 명상 3~5천원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가볍게 반복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다도·사찰음식 원데이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1~3만원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8B7EF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■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EXPERIENCE · 4단 레벨링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먹을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전통다원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일상 소비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사찰음식 코스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5~8만원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여기 아니면 못 먹는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FB84D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■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TASTE · 매출 1위 31.4억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5750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가져갈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굿즈·라이프스타일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객단가 6,400~12,000원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기념이 아니라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쓸 물건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F6B9D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■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RETAIL · 구매전환 15~28%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더 깊이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멤버십·기수제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관계로 전환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템플스테이 연계 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하루로 확장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7A9E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■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DEEP · 2기 조건부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FROM TARGET TO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533400"/>
            <a:ext cx="52263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08++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타깃 · MZ는 자주 오고,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외국인은 한 번에 많이 씁니다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공간을 먼저 나누고 사업을 끼워넣은 것이 아닙니다 —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누가 무엇에 돈을 쓰는지에서 거꾸로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짰습니다.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4915942"/>
            <a:ext cx="933103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MZ가 만드는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5154067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빈도 — 자주 옵니다. 그리고 널리 퍼트립니다. (강력한 바이럴)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5416897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도보권 직장인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112,349명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 객단가는 낮지만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반복이 매출을 만듭니다.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점심 회차권이 입구이고 멤버십이 출구입니다.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3175" y="4915942"/>
            <a:ext cx="1053505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외국인이 만드는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3175" y="5154067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객단가 — 한 번에 많이 씁니다(강력한 소비력)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3175" y="5416897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한 번 오고 다시 안 오지만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코스·체험·상품을 묶어서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삽니다.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97.5%가 개별여행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이라 후기가 다음 손님을 데려옵니다.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두 집단의 소비 패턴이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정반대라서 서로를 보완합니다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MZ가 평일 낮과 비수기를 채우고, 외국인이 객단가와 성수기를 올립니다.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6505575"/>
            <a:ext cx="199856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08++. 타겟이 사는 것에서 엔진을 도출합니다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5243" y="6505575"/>
            <a:ext cx="129445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봉은문화센터에 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머물 이유를 만드는 </a:t>
            </a: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다섯 개의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여기에서 공간과 사업모델이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처음 등장합니다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. 세 개의 경쟁안(A·B·C)은 내려놓았습니다.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대신 하나의 Destination을 구성하는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엔진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으로 실행 관점에서 집중해야 할 때입니다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3444" y="5105400"/>
            <a:ext cx="1396256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327521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5 — Culture · Experience · Taste · Retail · Deep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1791" y="6505575"/>
            <a:ext cx="128790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56792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943648"/>
            <a:ext cx="28575" cy="3580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358878"/>
            <a:ext cx="28575" cy="35808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774109"/>
            <a:ext cx="28575" cy="3580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5189339"/>
            <a:ext cx="28575" cy="35808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5604570"/>
            <a:ext cx="28575" cy="142875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CONTENT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533400"/>
            <a:ext cx="59332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층마다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파는 것이 다릅니다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어디에 두느냐가 이미 사업 모델입니다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엔진을 하나씩 보기 전에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건물 전체의 지도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를 먼저 폅니다. 위로 갈수록 유료·예약제, 아래로 갈수록 무료·개방입니다.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943648"/>
            <a:ext cx="145415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2층 테라스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096048"/>
            <a:ext cx="14541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767㎡ · 옥외 · 신규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8375" y="3943648"/>
            <a:ext cx="8416925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야외 미디어아트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450㎡ · </a:t>
            </a: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F&amp;B 외부석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200㎡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8375" y="4168378"/>
            <a:ext cx="8416925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팀랩 야외 정원형 — 기존 공간에 빛만 얹어 건축 개입 없음. 시즌·야간(연등·나이트마켓)과 계절로 나눠 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29900" y="3943648"/>
            <a:ext cx="939800" cy="383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860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밤 · 시즌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358878"/>
            <a:ext cx="145415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511278"/>
            <a:ext cx="14541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2,710㎡ · 점유 81%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8375" y="4358878"/>
            <a:ext cx="8416925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기획전 트랙A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1,200㎡ · </a:t>
            </a: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트랙B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800㎡ · </a:t>
            </a: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교육·체험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200㎡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8375" y="4583609"/>
            <a:ext cx="8416925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2트랙 동시 운영. 대관은 전용면적 없이 </a:t>
            </a: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회기와 회기 사이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에 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9900" y="4358878"/>
            <a:ext cx="939800" cy="383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860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유료 · 예약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4774109"/>
            <a:ext cx="145415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926509"/>
            <a:ext cx="14541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3,478㎡ · 점유 66%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8375" y="4774109"/>
            <a:ext cx="8416925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개방 로비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500㎡ · </a:t>
            </a: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상설 전시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1,000㎡ · </a:t>
            </a: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F&amp;B 5축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809㎡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8375" y="4998839"/>
            <a:ext cx="8416925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다이닝·다원·아카데미·곡차·편집샵이 한 묶음. 여유 1,169㎡ — 리테일·다이닝을 키울 자리가 남음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9900" y="4774109"/>
            <a:ext cx="939800" cy="383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860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무료 → 유료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5189339"/>
            <a:ext cx="1454150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지하 1층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5341739"/>
            <a:ext cx="14541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3,744㎡ · 점유 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8375" y="5189339"/>
            <a:ext cx="8416925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봉안 2,000기</a:t>
            </a:r>
            <a:r>
              <a:rPr sz="101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451평 — </a:t>
            </a:r>
            <a:r>
              <a:rPr sz="1010">
                <a:solidFill>
                  <a:srgbClr val="D9A34B"/>
                </a:solidFill>
                <a:latin typeface="Pretendard"/>
                <a:ea typeface="Pretendard"/>
                <a:cs typeface="Pretendard"/>
              </a:rPr>
              <a:t>조건부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8375" y="5414070"/>
            <a:ext cx="8416925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법정 상한 5,000기의 40%만 사용. </a:t>
            </a: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과업 범위 밖이라 계약 변경·장사법·종단 합의·전용 동선이 선결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9900" y="5189339"/>
            <a:ext cx="939800" cy="383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분양 · 관계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25" y="5604570"/>
            <a:ext cx="14541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3층 · 지하 2~4층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8375" y="5609332"/>
            <a:ext cx="9331325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과업 범위 밖 — 3층 2,030㎡ / 지하2~4층 6,769㎡. 용도 미정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5871270"/>
            <a:ext cx="10922000" cy="4025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읽는 법 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같은 콘텐츠를 층으로 나눈 것이 아니라, 층마다 다른 관계를 팝니다.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1층은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처음 온 사람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을 받고, 2층은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다시 온 사람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을 받고, 테라스는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밤에 오는 사람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을, 지하는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평생 남는 관계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를 받습니다. 이어지는 다섯 개 엔진은 이 배치 위에서 각각 무엇을 파는지를 설명합니다.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6505575"/>
            <a:ext cx="133687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SPACE. 층별 콘텐츠 레이아웃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5987" y="6505575"/>
            <a:ext cx="129371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649486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91859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13945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236031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58117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280203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302289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324375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346462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368548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390634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412720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434806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456892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" y="478978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700" y="501064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700" y="523150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700" y="545236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700" y="567322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" y="589409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7700" y="1771650"/>
          <a:ext cx="10896600" cy="412879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68861"/>
                <a:gridCol w="1307455"/>
                <a:gridCol w="1198513"/>
                <a:gridCol w="5121771"/>
              </a:tblGrid>
              <a:tr h="153293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면적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연 매출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수익 라인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45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 · 공간이 있어야 버는 것 —</a:t>
                      </a:r>
                      <a:r>
                        <a:rPr sz="900" spc="45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75.8억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1층 · F&amp;B 5축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809㎡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33.4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사찰음식 다이닝 28.8 + 전통다원 4.6</a:t>
                      </a: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조리 게이트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1층 · 리테일 편집샵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165㎡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19.0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편집샵 + 온라인 — 구매전환 21.5% 실측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2층 · 기획전 2트랙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2,000㎡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10.3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입장 + 해설 + 심화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2층 · 교육·체험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8.8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교육·체험 8.2 + 사찰운영자 아카데미 0.6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2층 테라스 · 야외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767㎡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4.3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시즌·야간 — 야외 미디어아트와 면적 공유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1층 · 상설 전시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무료 개방 — 집객·법적 안전판.</a:t>
                      </a:r>
                      <a:r>
                        <a:rPr sz="900">
                          <a:solidFill>
                            <a:srgbClr val="B8B8B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실질 기여 13.6억 중 86%가 간접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1층 · 개방 로비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무료 체류 — 유료 전환의 모수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45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B · 전용면적 없이 버는 것 —</a:t>
                      </a:r>
                      <a:r>
                        <a:rPr sz="900" spc="45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29.2억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멤버십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라운지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14.2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갱신율이 전부 — 1년차가 아니라 5개년 곡선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명상·회차권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기생형 — 방을 주면 이익이 4분의 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장묘 의례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영대공양·컨시어지 — 시설 없이 서비스만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기업 B2B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출강 — 공사 중에도 파는 유일한 라인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0㎡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1.8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기획전 회기 사이 유휴 회전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본편 계상 합계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105.0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75.8 (72%) + B 29.2 (28%)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45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 · 미루거나 조건부 — 본편 합계에 넣지 않음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숙박·체류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CAPEX 52.3억에 기준 매출 3.9억 — 가동률 실측 후 재판단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2086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지하1층 · 봉안 2,000기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451평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20.0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400기·500만원 가정 ·</a:t>
                      </a:r>
                      <a:r>
                        <a:rPr sz="900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계약 변경·장사법·종단 합의·전용 동선</a:t>
                      </a: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 선결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REVENUE BY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533400"/>
            <a:ext cx="674886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SPACE+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매출의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28%는 방이 없어도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나옵니다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공간별 기대수익입니다.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정상가동 기준 단일점 종합 검토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— 시나리오(보수/기준/낙관)가 아니라 구성을 보는 표입니다.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5981402"/>
            <a:ext cx="10922000" cy="4968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표가 말하는 것 둘. ①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가장 작은 구획이 가장 많이 법니다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F&amp;B는 1층 면적의 23%로 매출의 32%를 만들고, 그 전액이 조리 게이트 하나에 걸려 있습니다. ②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매출의 28%는 전용면적이 0입니다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멤버십·명상·B2B·대관·장묘 의례는 방이 아니라 시간과 관계를 팝니다. 이것이 면적을 늘리는 대신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같은 공간을 여러 번 파는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이 모델의 구조입니다. </a:t>
            </a:r>
          </a:p>
          <a:p>
            <a:pPr algn="l">
              <a:lnSpc>
                <a:spcPct val="150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⚠️ 단일점 종합 검토(정상가동) 값이라 시나리오 그리드(보수/기준/낙관)와 성격이 다릅니다 — 여기는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구성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을, 뒤의 판정 그리드는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조건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을 보여줍니다.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6505575"/>
            <a:ext cx="187756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SPACE+. 공간별 기대수익 · 정상가동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5243" y="6505575"/>
            <a:ext cx="129445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78831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9950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704630"/>
            <a:ext cx="28575" cy="5524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380905"/>
            <a:ext cx="2645569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83744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575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575" y="492397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575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575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8044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8044" y="4380905"/>
            <a:ext cx="2645569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8044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8044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4088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40919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40919" y="492397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40919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40919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8388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8388" y="4380905"/>
            <a:ext cx="2645569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8388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8388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84431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262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91262" y="492397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262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91262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98731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98731" y="4380905"/>
            <a:ext cx="2645569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98731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98731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534775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41606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41606" y="492397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41606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41606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7700" y="5648325"/>
            <a:ext cx="10896600" cy="600075"/>
          </a:xfrm>
          <a:prstGeom prst="rect">
            <a:avLst/>
          </a:prstGeom>
          <a:solidFill>
            <a:srgbClr val="2A2A2A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CULTURE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533400"/>
            <a:ext cx="82490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ENGINE 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Exhibition &amp; Culture Experience Museum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불교문화전시 3,300㎡ 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사람을 데려오는 엔진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1762125"/>
            <a:ext cx="1092200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단순 전시대관장이 아닙니다. 1~2개 층 규모의 </a:t>
            </a:r>
            <a:r>
              <a:rPr sz="101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Museum Anchor</a:t>
            </a: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로 위계를 올립니다 — 전용 3,300㎡(약 1,000평).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775" y="3799880"/>
            <a:ext cx="10512425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DEFINITION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775" y="3952280"/>
            <a:ext cx="10512425" cy="234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“강남의 전시장”이 아니라 </a:t>
            </a:r>
            <a:r>
              <a:rPr sz="1160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강남의 문화적 Anchor이자 한국 불교의 Contemporary Museum</a:t>
            </a: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사람을 데려오는 것이 이 엔진의 임무입니다.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50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구성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75049" y="4495205"/>
            <a:ext cx="41027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3,300㎡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050" y="4685705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상설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1,000㎡ — 성보·서사, 무료 개방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050" y="4847779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기획전 A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1,200㎡ — 블록버스터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050" y="5009852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기획전 B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800㎡ — 2트랙 동시 운영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050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미디어아트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300㎡ — 공모 전제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1394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연간 캘린더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8920" y="4495205"/>
            <a:ext cx="286742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2~3회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31394" y="4685705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자체·공동 기획전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기준 연 2~3회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31394" y="4847779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낙관 시 4회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낙관 드라이버에 해당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31394" y="5009852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상시 대관 — 회기 사이 유휴 회전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31394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비수기 실내 콘텐츠 필수 </a:t>
            </a:r>
            <a:r>
              <a:rPr sz="860">
                <a:solidFill>
                  <a:srgbClr val="D9A34B"/>
                </a:solidFill>
                <a:latin typeface="Pretendard"/>
                <a:ea typeface="Pretendard"/>
                <a:cs typeface="Pretendard"/>
              </a:rPr>
              <a:t>(3~5월 57.6% 편중)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1738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콘텐츠 범위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95854" y="4495205"/>
            <a:ext cx="190153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확장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81738" y="4685705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Buddhist Art · Zen · Meditation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1738" y="4847779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Wellness · Craft · Design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81738" y="5009852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Media Art · Contemporary Culture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81738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불교미술에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한정하지 않습니다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2081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법적 지위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93810" y="4495205"/>
            <a:ext cx="24254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Tier1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32081" y="4685705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전시·뮤지엄 9건 중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8건 Tier1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2081" y="4847779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유권해석 불요 — 즉시 착수 가능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27331" y="5019377"/>
            <a:ext cx="1429593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3법을 동시에 통과하는 유일 용도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32081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계약 목적문에 명시된 기능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8675" y="5805488"/>
            <a:ext cx="400447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750" spc="90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정직하게</a:t>
            </a:r>
          </a:p>
          <a:p>
            <a:pPr algn="l">
              <a:lnSpc>
                <a:spcPct val="150000"/>
              </a:lnSpc>
            </a:pPr>
            <a:r>
              <a:rPr sz="750" spc="90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말할 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56122" y="5762625"/>
            <a:ext cx="9462591" cy="396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전시는 돈을 버는 엔진이 아닙니다.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㎡당 영업이익 13만원으로 대관(32~39만)보다 낮고 다이닝 5축(206만)의 6%, 단독 회수 8.9년입니다. 그래도 중심에 두는 이유는 실질 기여 13.6억의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86%가 </a:t>
            </a:r>
          </a:p>
          <a:p>
            <a:pPr algn="l">
              <a:lnSpc>
                <a:spcPct val="15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다른 서비스들이 돈을 벌게 하는 간접 기여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이고, 3법을 동시에 통과하는 유일 용도이기 때문입니다 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별마당 도서관과 같은 성격의 투자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6505575"/>
            <a:ext cx="284048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ENGINE 01. Exhibition Anchor — 집객 · 법적 안전판 · 정체성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3903" y="6505575"/>
            <a:ext cx="129579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78831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881062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58853" y="3244453"/>
            <a:ext cx="369391" cy="219521"/>
          </a:xfrm>
          <a:prstGeom prst="rect">
            <a:avLst/>
          </a:prstGeom>
          <a:solidFill>
            <a:srgbClr val="2D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58853" y="3664000"/>
            <a:ext cx="468362" cy="219521"/>
          </a:xfrm>
          <a:prstGeom prst="rect">
            <a:avLst/>
          </a:prstGeom>
          <a:solidFill>
            <a:srgbClr val="433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58853" y="4083546"/>
            <a:ext cx="468362" cy="219521"/>
          </a:xfrm>
          <a:prstGeom prst="rect">
            <a:avLst/>
          </a:prstGeom>
          <a:solidFill>
            <a:srgbClr val="433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8853" y="4503093"/>
            <a:ext cx="599777" cy="219521"/>
          </a:xfrm>
          <a:prstGeom prst="rect">
            <a:avLst/>
          </a:prstGeom>
          <a:solidFill>
            <a:srgbClr val="393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932164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932164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5916960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4932164"/>
            <a:ext cx="28575" cy="994321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8025" y="4932164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9950" y="4932164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9950" y="4932164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9950" y="5916960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9950" y="4932164"/>
            <a:ext cx="28575" cy="994321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10275" y="4932164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932164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932164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5916960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932164"/>
            <a:ext cx="28575" cy="994321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2525" y="4932164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34450" y="4932164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4450" y="4932164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4450" y="5916960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4450" y="4932164"/>
            <a:ext cx="28575" cy="994321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34775" y="4932164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7700" y="313809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7700" y="355763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700" y="397718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700" y="439673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7700" y="481627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7700" y="2815828"/>
          <a:ext cx="10896600" cy="20067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79290"/>
                <a:gridCol w="1198513"/>
                <a:gridCol w="1525488"/>
                <a:gridCol w="5993309"/>
              </a:tblGrid>
              <a:tr h="3286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구성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면적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역할과 조달 방식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41954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상설 · 성보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1,000㎡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무료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집객·법적 안전판·정체성.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매출 0이 정상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무료 개방이 로비 체류를 만들고 그 체류가 다른 엔진으로 갑니다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41954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기획전 A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1,200㎡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FFB84D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대관료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블록버스터.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제작비는 기획사가 댑니다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직접 만들면 적자, 남이 만들게 하면 흑자 · 공동기획 개발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41954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기획전 B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800㎡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FFB84D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대관료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2트랙 동시 운영. 회기 사이 유휴는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대관으로 회전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시켜 전용면적 없이 매출을 만듭니다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41954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미디어아트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300㎡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D9A34B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공모 전제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국가유산청 공모를 전제로 합니다.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공모 실패 시 이 칸은 비웁니다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자체 예산으로 채우지 않습니다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INSIDE 3,300㎡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533400"/>
            <a:ext cx="906462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ENGINE 01+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전시 콘텐츠 넷 중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둘은 매출이 0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입니다 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그리고 그것이 이모델의 핵심 의도입니다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1762125"/>
            <a:ext cx="1092200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전시를 수익 사업으로 설계하면 실패합니다. </a:t>
            </a:r>
            <a:r>
              <a:rPr sz="101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집객유도와 법적 안전판이 이 엔진의 임무</a:t>
            </a: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5094089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13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만원/㎡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5444579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㎡당 영업이익 — 대관(32~39만)보다 낮고 다이닝 5축(206만)의 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975" y="5094089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8.9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9975" y="5444579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전시 단독 회수기간 · 전 라인 중 면적 효율 최하위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2225" y="5094089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86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2225" y="5444579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실질 기여 13.6억 중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간접 기여 비중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남을 벌게 하는 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475" y="5094089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/9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475" y="5444579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전시 아이템 중 Tier1 — 유권해석 없이 즉시 착수 가능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면적을 2.3배로 키우면서도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매출은 비례로 올리지 않았습니다.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3,300㎡의 실제 효과는 매출 증가가 아니라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기획전 2트랙 동시 운영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이고, 그것이 대관 회전으로 잡힙니다. 연 회기는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기준 2~3회 · 낙관 4회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6505575"/>
            <a:ext cx="219754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ENGINE 01+. 3,300㎡의 내부 구성과 조달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90423" y="6505575"/>
            <a:ext cx="127927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7171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81572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396407"/>
            <a:ext cx="2645569" cy="136207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100" y="4025057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" y="4189363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" y="435366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451797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8044" y="3396407"/>
            <a:ext cx="2645569" cy="136207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50444" y="4025057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50444" y="4189363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50444" y="435366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0444" y="451797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8388" y="3396407"/>
            <a:ext cx="2645569" cy="136207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788" y="4025057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788" y="4189363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788" y="435366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788" y="451797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98731" y="3396407"/>
            <a:ext cx="2645569" cy="136207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1131" y="4025057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1131" y="4189363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1131" y="435366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1131" y="451797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4882307"/>
            <a:ext cx="5381625" cy="136609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625" y="5034707"/>
            <a:ext cx="599777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2675" y="4882307"/>
            <a:ext cx="5381625" cy="136609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600" y="5034707"/>
            <a:ext cx="599777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533400"/>
            <a:ext cx="84112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ENGINE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문화체험상품 · 같은 콘텐츠를 네 개의 가격으로...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사람들을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머무르게 하는 엔진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1762125"/>
            <a:ext cx="10922000" cy="4111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보는 불교에서 직접 해보는 불교로. 같은 콘텐츠를 </a:t>
            </a:r>
            <a:r>
              <a:rPr sz="101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다른 깊이와 다른 가격</a:t>
            </a: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으로 설계합니다.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1955006"/>
            <a:ext cx="1092200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타깃별 레벨링이 핵심입니다.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3539282"/>
            <a:ext cx="2366169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50" spc="105">
                <a:solidFill>
                  <a:srgbClr val="7A9E7E"/>
                </a:solidFill>
                <a:latin typeface="Pretendard SemiBold"/>
                <a:ea typeface="Pretendard SemiBold"/>
                <a:cs typeface="Pretendard SemiBold"/>
              </a:rPr>
              <a:t>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" y="3748832"/>
            <a:ext cx="23661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무료 ~ 5,000원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" y="3958382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점심 선(禪) 회차권 3~5천원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" y="4122688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드롭인 명상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" y="4286994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상설전 무료 개방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4451300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도보권 직장인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112,349명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대상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0444" y="3539282"/>
            <a:ext cx="2366169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50" spc="105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MASS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0444" y="3748832"/>
            <a:ext cx="23661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1~3만원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0444" y="3958382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외국인 문화체험 상품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0444" y="4122688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다도·사찰음식 원데이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0444" y="4286994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전시 해설 프로그램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0444" y="4451300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OTA·여행사 유통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788" y="3539282"/>
            <a:ext cx="2366169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50" spc="105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FINE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788" y="3748832"/>
            <a:ext cx="23661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5~10만원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788" y="3958382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심화 클래스 (정원 16~20)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788" y="4122688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공예·인경 체험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788" y="4286994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연 300~800회차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788" y="4451300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가동률 50~75% 가정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1131" y="3539282"/>
            <a:ext cx="2366169" cy="177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50" spc="105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PREMIUM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1131" y="3748832"/>
            <a:ext cx="23661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500~1,000만원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1131" y="3958382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임원 기수제 (6개월 과정)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1131" y="4122688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법인 멤버십 · 기업 리트리트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1131" y="4286994"/>
            <a:ext cx="2366169" cy="189706"/>
          </a:xfrm>
          <a:prstGeom prst="rect">
            <a:avLst/>
          </a:prstGeom>
          <a:noFill/>
        </p:spPr>
        <p:txBody>
          <a:bodyPr wrap="square" lIns="85725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Corporate Wellness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6856" y="4460825"/>
            <a:ext cx="621754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국내 사례 0건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625" y="5034707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진짜 병목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625" y="5282357"/>
            <a:ext cx="5083175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수요가 아니라 공급이 상한입니다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625" y="5532388"/>
            <a:ext cx="5083175" cy="6080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 라인을 합치면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 2,402회 = 주 46회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의 진행이 필요합니다. 그런데 템플스테이 사찰당 평균 운영 인력은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2.27명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이고 재직 1년 미만 퇴직률이 60~66%입니다. </a:t>
            </a:r>
            <a:r>
              <a:rPr sz="900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이 인력으로 주 46회는 불가능합니다.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봉은사 진행 가능 인원은 아직 확인되지 않았습니다.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4600" y="5034707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설계 원칙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4600" y="5282357"/>
            <a:ext cx="5083175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무료가 유료를 먹지 않게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4600" y="5532388"/>
            <a:ext cx="5083175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무제한 회원은 회차권을 다시 사지 않습니다 — 이미 이중계상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1.0억을 차감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했습니다. OPEN은 유입 장치이지 매출 라인이 아니며, MASS 이상으로 올리는 전환율이 실제 KPI입니다.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6505575"/>
            <a:ext cx="244757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ENGINE 02. OPEN → MASS → FINE → PREMIUM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74945" y="6505575"/>
            <a:ext cx="129475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78831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819001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380905"/>
            <a:ext cx="2645569" cy="1905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83744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575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575" y="492397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575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575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044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8044" y="4380905"/>
            <a:ext cx="2645569" cy="1905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8044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8044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4088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40919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40919" y="492397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40919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40919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8388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8388" y="4380905"/>
            <a:ext cx="2645569" cy="1905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8388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8388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84431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91262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262" y="4923979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91262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262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98731" y="4380905"/>
            <a:ext cx="2645569" cy="105787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98731" y="4380905"/>
            <a:ext cx="2645569" cy="19050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98731" y="5429250"/>
            <a:ext cx="264556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98731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34775" y="4380905"/>
            <a:ext cx="9525" cy="105787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1606" y="4761905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41606" y="5086052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41606" y="5248126"/>
            <a:ext cx="28575" cy="285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7700" y="5648325"/>
            <a:ext cx="10896600" cy="600075"/>
          </a:xfrm>
          <a:prstGeom prst="rect">
            <a:avLst/>
          </a:prstGeom>
          <a:solidFill>
            <a:srgbClr val="2A2A2A"/>
          </a:solidFill>
          <a:ln w="9525">
            <a:solidFill>
              <a:srgbClr val="705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TASTE &amp; LIFESTYLE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533400"/>
            <a:ext cx="844401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ENGINE 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불교식문화체험 F&amp;B · 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매출 1위 31.4억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가장 쉬운 입구이자 가장 큰 관문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1762125"/>
            <a:ext cx="1092200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전 라인 중 매출 1위(기준 31.4억)이자, </a:t>
            </a:r>
            <a:r>
              <a:rPr sz="101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단 하나의 유권해석에 전부가 걸려 있는</a:t>
            </a: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엔진입니다.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050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DINING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0812" y="4495205"/>
            <a:ext cx="494506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기준 23.5억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050" y="4685705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사찰음식 코스 5~8만원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050" y="4847779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좌석 60~80 · 회전 1.0~1.8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50" y="5009852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발우공양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실측 앵커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보유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영업일 280~320일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31394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TEA HOUSE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12891" y="4495205"/>
            <a:ext cx="422771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기준 7.9억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1394" y="4685705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전통다원 — 시행령 제7조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명문 허용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31394" y="4847779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객단가 1.5~2.5만원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1394" y="5009852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좌석 60~80 · 소형 35석안 채택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31394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Tier1 — 유권해석 불요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81738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확장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95854" y="4495205"/>
            <a:ext cx="190153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정성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738" y="4685705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차 · 발효 · 채식 · 절식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81738" y="4847779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기물 · 선물 · 식품 리테일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1738" y="5009852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Temple Food Lab (연구 기능)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81738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Taste → Retail 연결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32081" y="4495205"/>
            <a:ext cx="24042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82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리스크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63895" y="4495205"/>
            <a:ext cx="272455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비대칭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32081" y="4685705"/>
            <a:ext cx="2404269" cy="349548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식품위생법 미신고 영업 —</a:t>
            </a:r>
          </a:p>
          <a:p>
            <a:pPr algn="l">
              <a:lnSpc>
                <a:spcPct val="148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징역 3년 / 벌금 3,000만원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32081" y="5009852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전통사찰법 벌칙(500만원)보다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훨씬 무겁습니다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2081" y="5171926"/>
            <a:ext cx="2404269" cy="187474"/>
          </a:xfrm>
          <a:prstGeom prst="rect">
            <a:avLst/>
          </a:prstGeom>
          <a:noFill/>
        </p:spPr>
        <p:txBody>
          <a:bodyPr wrap="square" lIns="95250" rIns="0" tIns="0" bIns="0" anchor="t"/>
          <a:lstStyle/>
          <a:p>
            <a:pPr algn="l">
              <a:lnSpc>
                <a:spcPct val="148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순서를 틀리면 안 되는 이유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8675" y="5876925"/>
            <a:ext cx="575766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750" spc="90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THE GATE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31441" y="5762625"/>
            <a:ext cx="8102005" cy="396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조리 해소 여부가 이 사업의 1차 결정 변수입니다.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조리가 열리지 않으면(G1L) 기준 케이스 매출은 70.5억 → 39.0억으로 떨어지고 5년 내 회계흑자에 도달하지 못합니다. </a:t>
            </a:r>
          </a:p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문체부 질의 3건의 회신 폭이 곧 경제성입니다 —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총무원장 임기가 임계경로.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핵심은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먹는 공간 하나를 만드는 것이 아니라 불교적 생활문화를 경험하게 하는 것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6505575"/>
            <a:ext cx="224904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ENGINE 03. Dining · Tea House · Food Retail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71671" y="6505575"/>
            <a:ext cx="129802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7171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82108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380780"/>
            <a:ext cx="28575" cy="76200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371380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12479" y="4371380"/>
            <a:ext cx="1507778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77407" y="4371380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2186" y="4371380"/>
            <a:ext cx="1507778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7113" y="4371380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892" y="4371380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36671" y="4371380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5076527"/>
            <a:ext cx="3543300" cy="117187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625" y="5228927"/>
            <a:ext cx="599777" cy="180975"/>
          </a:xfrm>
          <a:prstGeom prst="rect">
            <a:avLst/>
          </a:prstGeom>
          <a:solidFill>
            <a:srgbClr val="353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4350" y="5076527"/>
            <a:ext cx="3543300" cy="117187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6275" y="5228927"/>
            <a:ext cx="369391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5076527"/>
            <a:ext cx="3543300" cy="117187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2925" y="5228927"/>
            <a:ext cx="599777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RETAIL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533400"/>
            <a:ext cx="84648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ENGINE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Goods Shop 전시+불교라이프스타일굿즈편집샵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전시를 집까지 가져가게 하는 Upselling 엔진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1762125"/>
            <a:ext cx="10922000" cy="4111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전시와 Retail을 하나의 생태계로 묶습니다.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1955006"/>
            <a:ext cx="1092200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전시에서 발굴한 작가·주제·공예를 상품으로 전환하고 검증해 밖으로 내보냅니다.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3476030"/>
            <a:ext cx="10512425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3628430"/>
            <a:ext cx="10512425" cy="44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불교문화 영역의 </a:t>
            </a:r>
            <a:r>
              <a:rPr sz="1160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대표적인 Museum Retail Brand</a:t>
            </a: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를 만듭니다 </a:t>
            </a:r>
          </a:p>
          <a:p>
            <a:pPr algn="l">
              <a:lnSpc>
                <a:spcPct val="142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국립중앙박물관의 ‘뮷즈’가 하는 역할을 불교문화 영역에서 봉은문화센터가 가져갑니다.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457105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590455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Exhibition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작가·IP·주제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8679" y="4457105"/>
            <a:ext cx="1380778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8679" y="4590455"/>
            <a:ext cx="1380778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Goods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3607" y="4457105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3607" y="4590455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Museum Shop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1차 판매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8386" y="4457105"/>
            <a:ext cx="1380778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8386" y="4590455"/>
            <a:ext cx="1380778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Market Test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실판매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3313" y="4457105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3313" y="4590455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Production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본생산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8092" y="4457105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8092" y="4590455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Bongeunsa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Brand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2871" y="4457105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2871" y="4590455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전국 사찰·박물관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온라인 유통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625" y="5228927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FA37E"/>
                </a:solidFill>
                <a:latin typeface="Pretendard SemiBold"/>
                <a:ea typeface="Pretendard SemiBold"/>
                <a:cs typeface="Pretendard SemiBold"/>
              </a:rPr>
              <a:t>실측 보유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" y="5476577"/>
            <a:ext cx="324485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구매전환 15~28%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625" y="5726609"/>
            <a:ext cx="3244850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방문 모수 × 구매전환 × 객단가 6,400~12,000원(뮷즈 역산). 기준 4.9억 · 낙관 17.7억.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전환율은 A등급 실측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6275" y="5228927"/>
            <a:ext cx="3947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전환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6275" y="5476577"/>
            <a:ext cx="324485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매장을 줄이면 온라인이 늡니다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6275" y="5726609"/>
            <a:ext cx="3244850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매장을 25평으로 줄였을 때 온라인 비중이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40% → 60%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올랐습니다. 면적이 아니라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IP와 채널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 매출을 만듭니다.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2925" y="5228927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근거 없음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2925" y="5476577"/>
            <a:ext cx="324485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확산 단계는 수치화하지 않습니다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2925" y="5726609"/>
            <a:ext cx="3244850" cy="4138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전국 사찰 도매·IP 로열티·온라인 구독은 </a:t>
            </a:r>
            <a:r>
              <a:rPr sz="9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단가 근거가 0건</a:t>
            </a: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</a:t>
            </a:r>
          </a:p>
          <a:p>
            <a:pPr algn="l">
              <a:lnSpc>
                <a:spcPct val="170000"/>
              </a:lnSpc>
            </a:pPr>
            <a:r>
              <a:rPr sz="90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본 계획에서는 방향으로만 서술하고 매출로 계상하기는 어렵습니다.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6505575"/>
            <a:ext cx="421878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ENGINE 04. Exhibition → IP → Product → Shop → Test → Production → Distribution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0927" y="6505575"/>
            <a:ext cx="129877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6393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062758"/>
            <a:ext cx="10896600" cy="344745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50" y="4976812"/>
            <a:ext cx="1695450" cy="219075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90800" y="4814888"/>
            <a:ext cx="1695450" cy="38100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62450" y="4529138"/>
            <a:ext cx="1695450" cy="66675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34100" y="4338638"/>
            <a:ext cx="1695450" cy="85725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5750" y="3967162"/>
            <a:ext cx="1695450" cy="1228725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77400" y="2814638"/>
            <a:ext cx="1695450" cy="238125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MUSEUM RETAIL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78933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E04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뮷즈는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5년에 11배가 됐습니다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그 시장이 불교문화 쪽에는 비어 있습니다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엔진이 롤모델로 삼는 것의 실제 성장 곡선입니다. 문화유산 기반 라이프스타일 상품 시장이 지난 5년 실제로 열렸습니다.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215158"/>
            <a:ext cx="105791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국립중앙박물관 ‘뮷즈’ 연매출 37.6 → 413.4억원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2386608"/>
            <a:ext cx="105791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2020 → 2025 · 5년간 약 11배 · 초기 3~4년 저성장 뒤 급변점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2512" y="4814888"/>
            <a:ext cx="31397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37.6억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8557" y="5253038"/>
            <a:ext cx="26203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5232" y="4652962"/>
            <a:ext cx="33183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65.9억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095" y="5253038"/>
            <a:ext cx="24626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1999" y="4367212"/>
            <a:ext cx="36160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116.9억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2303" y="5253038"/>
            <a:ext cx="26114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4571" y="4176712"/>
            <a:ext cx="37976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149.8억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2465" y="5253038"/>
            <a:ext cx="26412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8900" y="3805238"/>
            <a:ext cx="37455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212.8억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4412" y="5253038"/>
            <a:ext cx="26337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5936" y="2652712"/>
            <a:ext cx="38362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413.4억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6658" y="5253038"/>
            <a:ext cx="26218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5595938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읽어야 할 것은 배수가 아니라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기울기의 모양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 — 초기 3~4년은 완만하고 2024년 이후 꺾여 올라갑니다. 리테일은 개관 첫해에 터지는 사업이 아니라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전시 IP가 쌓인 뒤 급변점이 오는 사업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이고, 이것이 이 엔진을 1기부터 여는 이유입니다. 2026년 상반기만으로 이미 218억원(2025년 상반기 114.8억의 1.9배)입니다.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언론 보도 인용 연도별 매출(2020~2024) · 2025년 413억3,700만원. 채널별 귀속 구분은 재검증 대상이라 넣지 않았습니다.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6505575"/>
            <a:ext cx="192772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국립중앙박물관 뮷즈 · 2020~2025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3903" y="6505575"/>
            <a:ext cx="129579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35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78831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902643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142357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12479" y="3142357"/>
            <a:ext cx="1507778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77407" y="3142357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42186" y="3142357"/>
            <a:ext cx="1507778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7113" y="3142357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1892" y="3142357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36671" y="3142357"/>
            <a:ext cx="1507629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26525" y="4285655"/>
            <a:ext cx="683419" cy="219521"/>
          </a:xfrm>
          <a:prstGeom prst="rect">
            <a:avLst/>
          </a:prstGeom>
          <a:solidFill>
            <a:srgbClr val="333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26525" y="5318373"/>
            <a:ext cx="808881" cy="219521"/>
          </a:xfrm>
          <a:prstGeom prst="rect">
            <a:avLst/>
          </a:prstGeom>
          <a:solidFill>
            <a:srgbClr val="36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417929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459883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521201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563155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7700" y="3857030"/>
          <a:ext cx="10896599" cy="17808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3092"/>
                <a:gridCol w="5012382"/>
                <a:gridCol w="3051125"/>
              </a:tblGrid>
              <a:tr h="3286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단계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 단계에서 결정되는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근거 상태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41954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01~03 · 매장 판매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방문 모수 × 구매전환 15~28% × 객단가 6,400~12,000원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A등급 실측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 4.9억 · 낙관 17.7억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61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04 · 시장 검증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무엇이 팔리는지를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매장에서 먼저 확인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하고 본생산으로 넘긴다 — 재고 리스크를 앞단에서 끊습니다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매장 축소 시 온라인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40% → 60%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41954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05~07 · 확산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전국 사찰 도매 · IP 로열티 · 온라인 구독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단가 근거 0건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매출 미계상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EXHIBITION →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533400"/>
            <a:ext cx="928043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ENGINE 04+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Goods Shop 매장에서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팔린 것만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외부 리테일시장으로 확장합니다.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1762125"/>
            <a:ext cx="10922000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1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사이클이 돌면 </a:t>
            </a:r>
            <a:r>
              <a:rPr sz="101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전시가 콘텐츠 공급원이 되고, 리테일이 그 검증장이 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228082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3361432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Exhibition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작가·IP·주제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8679" y="3228082"/>
            <a:ext cx="1380778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8679" y="3361432"/>
            <a:ext cx="1380778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Goods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개발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3607" y="3228082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3607" y="3361432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Museum Shop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1차 판매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8386" y="3228082"/>
            <a:ext cx="1380778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8386" y="3361432"/>
            <a:ext cx="1380778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Market Test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실판매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3313" y="3228082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3313" y="3361432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Production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본생산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8092" y="3228082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8092" y="3361432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Bongeunsa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Brand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2871" y="3228082"/>
            <a:ext cx="138062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2871" y="3361432"/>
            <a:ext cx="1380629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전국 사찰·박물관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온라인 유통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5871270"/>
            <a:ext cx="10922000" cy="4025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국립중앙박물관 ‘뮷즈’가 하는 역할을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불교문화 영역에서 봉은사가 가져갑니다.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다만 면적이 아니라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IP와 채널이 매출을 만듭니다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매장을 25평으로 줄였을 때 오히려 온라인 비중이 올랐습니다. 확산 단계(05~07)는 방향으로만 서술하고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수치는 봉은사에서 실측이 나온 뒤에 붙입니다.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6505575"/>
            <a:ext cx="216584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ENGINE 04+. 검증을 앞단에 두는 상품화 사이클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2117" y="6505575"/>
            <a:ext cx="129758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36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6216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817662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078212"/>
            <a:ext cx="2609850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07821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903018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078212"/>
            <a:ext cx="28575" cy="834330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8025" y="3078212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9950" y="3078212"/>
            <a:ext cx="2609850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9950" y="307821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950" y="3903018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9950" y="3078212"/>
            <a:ext cx="28575" cy="834330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0275" y="3078212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078212"/>
            <a:ext cx="2609850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07821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03018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078212"/>
            <a:ext cx="28575" cy="834330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2525" y="3078212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4450" y="3078212"/>
            <a:ext cx="2609850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4450" y="3078212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4450" y="3903018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4450" y="3078212"/>
            <a:ext cx="28575" cy="834330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34775" y="3078212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4036368"/>
            <a:ext cx="3549551" cy="166970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" y="4179243"/>
            <a:ext cx="1001316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1076" y="4036368"/>
            <a:ext cx="3549700" cy="166970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73476" y="4179243"/>
            <a:ext cx="869900" cy="180975"/>
          </a:xfrm>
          <a:prstGeom prst="rect">
            <a:avLst/>
          </a:prstGeom>
          <a:solidFill>
            <a:srgbClr val="353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4600" y="4036368"/>
            <a:ext cx="3549551" cy="1669703"/>
          </a:xfrm>
          <a:prstGeom prst="rect">
            <a:avLst/>
          </a:prstGeom>
          <a:solidFill>
            <a:srgbClr val="242424"/>
          </a:solidFill>
          <a:ln w="9525">
            <a:solidFill>
              <a:srgbClr val="4747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47000" y="4179243"/>
            <a:ext cx="1339602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DEEP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533400"/>
            <a:ext cx="843062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ENGINE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Stay · 고객의 체류를 2시간에서 24시간으로...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단, 시작부터 숙박모델을 짓지 않습니다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1762125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방향은 맞습니다. 그러나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1기에는 짓지 않습니다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— 지금 지으면 사업 전체가 흔들립니다. 재무모델의 판정을 그대로 싣습니다.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3240137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52.3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3590627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숙박 CAPEX — 전 라인 중 최대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9975" y="3240137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3.9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9975" y="3590627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기준 케이스 연 매출 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가치 파괴 라인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3240137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12→9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2225" y="3590627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Phase 2 강등 시 회수기간 (기준 케이스)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4475" y="3240137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5→3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475" y="3590627"/>
            <a:ext cx="22542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Phase 2 강등 시 회수기간 (낙관 케이스)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" y="4179243"/>
            <a:ext cx="1026716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STAY · 법적 전제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4417368"/>
            <a:ext cx="3270151" cy="2117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9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‘고급 숙박업’은 불가능합니다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" y="4651325"/>
            <a:ext cx="3270151" cy="583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일반 숙박시설은 전통사찰법상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Tier3 — 불가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성립하는 경로는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템플스테이 하나뿐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(문체부+조계종 공식 사업이라 Tier1).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도심 템플스테이 가동률 실측(B-07)이 0건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이라 지금은 객실 수·박단가를 논할 수 없습니다.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3476" y="4179243"/>
            <a:ext cx="895300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FA37E"/>
                </a:solidFill>
                <a:latin typeface="Pretendard SemiBold"/>
                <a:ea typeface="Pretendard SemiBold"/>
                <a:cs typeface="Pretendard SemiBold"/>
              </a:rPr>
              <a:t>STAY · 지금은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3476" y="4417368"/>
            <a:ext cx="3270300" cy="2117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9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본원 프로그램 연계로 대응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3476" y="4651325"/>
            <a:ext cx="3270300" cy="583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체류 연장 수요는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봉은사 본원 템플스테이와의 프로그램 연계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받습니다. 시설 투자는 가동률 실측 확보 후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Phase 2에서 단계 분할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(23.3 → 19.9 → 9.1억)로 재판단합니다. 포기가 아니라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순서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000" y="4179243"/>
            <a:ext cx="136500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MEMORIAL · 독립 P&amp;L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7000" y="4417368"/>
            <a:ext cx="3270151" cy="2117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9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추모는 다른 사업입니다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47000" y="4651325"/>
            <a:ext cx="3270151" cy="956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49재·추모·봉안 연계. 화장률 95.1%·자연장 선호 45.4%로 수요는 초과 상태이고 장사법상 종교단체 신고로 가능합니다. 지하 실측이 나오면서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지하1층에 2,000기(451평) 시작안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 검토 가능해졌습니다 — 법정 상한 5,000기의 40%만 쓰고 증설 여지를 남깁니다.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다만 지하는 과업 범위 밖이라 계약 변경이 전제이고, 본 계획의 매출에는 계상하지 않습니다.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588704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검증 순서를 고정합니다 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① 법적 가능 여부 → ② 종단 수용성 → ③ 시설 요건 → ④ 객단가 → ⑤ 수요.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순서를 뒤집어 객단가부터 계산하면 구 92억 모델의 실패를 반복합니다. 이 엔진은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2시간 → 하루 → 반복 방문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으로 관계의 깊이를 확장하는 역할이며, 그 시점은 실측이 정합니다.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6505575"/>
            <a:ext cx="272038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ENGINE 05. Stay(Phase 2 조건부) · Memorial(독립 P&amp;L)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78517" y="6505575"/>
            <a:ext cx="129118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37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60512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153370"/>
            <a:ext cx="5381625" cy="1266230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71675" y="3743325"/>
            <a:ext cx="3095625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71675" y="3743325"/>
            <a:ext cx="2971800" cy="20955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71675" y="4076700"/>
            <a:ext cx="3095625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71675" y="4076700"/>
            <a:ext cx="1021556" cy="20955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62675" y="3153370"/>
            <a:ext cx="5381625" cy="1266230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86650" y="3743325"/>
            <a:ext cx="3095625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86650" y="3743325"/>
            <a:ext cx="2971800" cy="209550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86650" y="4076700"/>
            <a:ext cx="3095625" cy="20955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86650" y="4076700"/>
            <a:ext cx="612874" cy="20955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SEASONALITY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533400"/>
            <a:ext cx="785912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E05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 매출을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12로 나누면 안 됩니다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이 입지는 3~5월에 몰립니다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숙박을 1기에 짓지 않는 판단의 두 번째 근거입니다. 가동률 가정이 계절성 위에서만 성립합니다.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305770"/>
            <a:ext cx="506412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3개월이 1년의 절반을 가져갑니다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477220"/>
            <a:ext cx="5064125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RXR 진성 후기 4,330건의 게시일 분포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3773686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3~5월 </a:t>
            </a:r>
            <a:r>
              <a:rPr sz="7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(3개월)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3025" y="3776662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57.6%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4107061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8~12월 </a:t>
            </a:r>
            <a:r>
              <a:rPr sz="78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(5개월)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3025" y="4110038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19.8%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4125" y="3305770"/>
            <a:ext cx="506412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월 평균으로 환산하면 4.8배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4125" y="3477220"/>
            <a:ext cx="5064125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같은 값을 개월 수로 나눈 것입니다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125" y="3773686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3~5월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8000" y="3776662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19.2%/월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4107061"/>
            <a:ext cx="1092200" cy="1742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8~12월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00" y="4110038"/>
            <a:ext cx="73025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 spc="-19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4.0%/월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450532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평준화 가정은 이 입지에서 성립하지 않습니다.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고정비가 큰 라인(숙박·상설 전시)일수록 이 편중에 직접 노출됩니다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CAPEX 52.3억을 1기에 넣지 않는 이유이자, 실내 콘텐츠와 비수기 프로그램을 먼저 설계해야 하는 이유입니다.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RXR 진성 후기 4,330건의 게시일 분포(2026). 원장에는 이 편중이 “8.2배 격차”로도 적혀 있으나 구간 비(2.9배)로도 월 평균 비(4.8배)로도 재현되지 않아 </a:t>
            </a:r>
            <a:r>
              <a:rPr sz="79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표기하지 않았습니다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확인 대기 항목입니다.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6505575"/>
            <a:ext cx="192310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계절 편중 · RXR 진성 후기 4,330건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2861" y="6505575"/>
            <a:ext cx="129683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38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6216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56792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329160"/>
            <a:ext cx="3549551" cy="11562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329160"/>
            <a:ext cx="3549551" cy="2857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475881"/>
            <a:ext cx="35495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329160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87726" y="2329160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1076" y="2329160"/>
            <a:ext cx="3549700" cy="11562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1076" y="2329160"/>
            <a:ext cx="3549700" cy="2857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1076" y="3475881"/>
            <a:ext cx="35497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1076" y="2329160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1250" y="2329160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4600" y="2329160"/>
            <a:ext cx="3549551" cy="11562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4600" y="2329160"/>
            <a:ext cx="3549551" cy="285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4600" y="3475881"/>
            <a:ext cx="35495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4600" y="2329160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34626" y="2329160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700" y="3609231"/>
            <a:ext cx="3549551" cy="11562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700" y="3609231"/>
            <a:ext cx="3549551" cy="28575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700" y="4755952"/>
            <a:ext cx="35495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" y="3609231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7726" y="3609231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1076" y="3609231"/>
            <a:ext cx="3549700" cy="11562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1076" y="3609231"/>
            <a:ext cx="3549700" cy="28575"/>
          </a:xfrm>
          <a:prstGeom prst="rect">
            <a:avLst/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1076" y="4755952"/>
            <a:ext cx="35497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1076" y="3609231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1250" y="3609231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4600" y="3609231"/>
            <a:ext cx="3549551" cy="115624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4600" y="3609231"/>
            <a:ext cx="3549551" cy="28575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4600" y="4755952"/>
            <a:ext cx="35495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4600" y="3609231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34626" y="3609231"/>
            <a:ext cx="9525" cy="115624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7700" y="510678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7700" y="540563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7700" y="570448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47700" y="4879777"/>
          <a:ext cx="10896601" cy="8310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43373"/>
                <a:gridCol w="5666333"/>
                <a:gridCol w="1198513"/>
                <a:gridCol w="1089571"/>
                <a:gridCol w="1198811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시나리오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구성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합계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가용 대비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 β안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전시 1,450 / F&amp;B 691 / 대관 1,500 / 숙박+명상 2,645 / 로비 2,568 + 리테일 800 + 교육 500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10,685㎡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−1,817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대관 포기 불가피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8B7EF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Destination 안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전시 3,300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/ F&amp;B 1,000 / 리테일 800 / 교육 500 / 명상 500 / 로비 2,568</a:t>
                      </a:r>
                      <a:r>
                        <a:rPr sz="94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(숙박 0 · 대관 전용 0)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8,668㎡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+200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둘 다 해결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SPACE ALLOCATION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533400"/>
            <a:ext cx="59332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숙박을 미루자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전시가 두 배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가 됐습니다 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문제는 여기서 풀렸습니다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1762125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두 달간 프로젝트를 막고 있던 것은 “대관을 접느냐”였습니다. 답은 대관이 아니라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숙박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에 있었습니다.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" y="2500610"/>
            <a:ext cx="941884" cy="206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spc="48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EXHIBITION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76191" y="2538710"/>
            <a:ext cx="47501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3,300㎡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" y="2757785"/>
            <a:ext cx="3232051" cy="205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사람을 끌어오는 엔진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150" y="3004393"/>
            <a:ext cx="3232051" cy="354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상설 + 기획전 2트랙 + 미디어아트. 대관은 회기 사이 회전으로 흡수.</a:t>
            </a:r>
          </a:p>
          <a:p>
            <a:pPr algn="l">
              <a:lnSpc>
                <a:spcPct val="150000"/>
              </a:lnSpc>
            </a:pPr>
            <a:r>
              <a:rPr sz="860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Tier1 — 9건 중 8건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2526" y="2500610"/>
            <a:ext cx="1012130" cy="206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spc="48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EXPERIENCE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9716" y="2538710"/>
            <a:ext cx="47501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1,000㎡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2526" y="2757785"/>
            <a:ext cx="3232200" cy="205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머무르게 하는 엔진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2526" y="3004393"/>
            <a:ext cx="3232200" cy="354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명상·선·호흡·다도·공예. 4단 레벨링.</a:t>
            </a:r>
          </a:p>
          <a:p>
            <a:pPr algn="l">
              <a:lnSpc>
                <a:spcPct val="150000"/>
              </a:lnSpc>
            </a:pPr>
            <a:r>
              <a:rPr sz="860">
                <a:solidFill>
                  <a:srgbClr val="D9A34B"/>
                </a:solidFill>
                <a:latin typeface="Pretendard"/>
                <a:ea typeface="Pretendard"/>
                <a:cs typeface="Pretendard"/>
              </a:rPr>
              <a:t>Tier2 — 유권해석 필요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6050" y="2500610"/>
            <a:ext cx="539452" cy="206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spc="48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TASTE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23091" y="2538710"/>
            <a:ext cx="47501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1,000㎡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66050" y="2757785"/>
            <a:ext cx="3232051" cy="205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가장 쉬운 입구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6050" y="3004393"/>
            <a:ext cx="3232051" cy="354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사찰음식 다이닝 + 전통다원. 매출 1위(기준 31.4억).</a:t>
            </a:r>
          </a:p>
          <a:p>
            <a:pPr algn="l">
              <a:lnSpc>
                <a:spcPct val="150000"/>
              </a:lnSpc>
            </a:pPr>
            <a:r>
              <a:rPr sz="860">
                <a:solidFill>
                  <a:srgbClr val="D9A34B"/>
                </a:solidFill>
                <a:latin typeface="Pretendard"/>
                <a:ea typeface="Pretendard"/>
                <a:cs typeface="Pretendard"/>
              </a:rPr>
              <a:t>조리 게이트에 종속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" y="3780681"/>
            <a:ext cx="574873" cy="206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spc="48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RETAIL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6352" y="3818781"/>
            <a:ext cx="374848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800㎡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150" y="4037856"/>
            <a:ext cx="3232051" cy="205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가지고 가는 엔진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9150" y="4284464"/>
            <a:ext cx="3232051" cy="354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뮤지엄숍·굿즈·라이프스타일. 전시 IP를 상품으로.</a:t>
            </a:r>
          </a:p>
          <a:p>
            <a:pPr algn="l">
              <a:lnSpc>
                <a:spcPct val="150000"/>
              </a:lnSpc>
            </a:pPr>
            <a:r>
              <a:rPr sz="860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Tier1 — 구매전환 실측 보유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2526" y="3780681"/>
            <a:ext cx="444500" cy="206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spc="48">
                <a:solidFill>
                  <a:srgbClr val="7A9E7E"/>
                </a:solidFill>
                <a:latin typeface="Pretendard SemiBold"/>
                <a:ea typeface="Pretendard SemiBold"/>
                <a:cs typeface="Pretendard SemiBold"/>
              </a:rPr>
              <a:t>STAY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91239" y="3818781"/>
            <a:ext cx="433487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Phase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92526" y="4037856"/>
            <a:ext cx="3232200" cy="205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가장 깊게 머무는 엔진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92526" y="4284464"/>
            <a:ext cx="3232200" cy="189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템플스테이 경로로만 성립. </a:t>
            </a:r>
            <a:r>
              <a:rPr sz="860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1기 배제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CAPEX 52.3억 대비 매출 3.9억.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6050" y="3780681"/>
            <a:ext cx="889347" cy="206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spc="48">
                <a:solidFill>
                  <a:srgbClr val="8A8A8A"/>
                </a:solidFill>
                <a:latin typeface="Pretendard SemiBold"/>
                <a:ea typeface="Pretendard SemiBold"/>
                <a:cs typeface="Pretendard SemiBold"/>
              </a:rPr>
              <a:t>MEMORIAL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83243" y="3818781"/>
            <a:ext cx="214858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옵션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66050" y="4037856"/>
            <a:ext cx="3232051" cy="205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1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종교적 프리미엄 서비스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66050" y="4284464"/>
            <a:ext cx="3232051" cy="189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49재·추모·봉안 연계. 고객도 수익구조도 달라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독립 P&amp;L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분리.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588704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순서가 중요합니다 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대관을 접어서 전시를 키운 것이 아닙니다.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숙박(2,645㎡)을 미뤄 생긴 여유로 전시를 키웠고, 커진 전시홀이 대관을 흡수했습니다. 1층 3,478㎡가 목적지, 2층 2,710㎡가 수익축입니다 — 도면 실측 정정으로 1층이 절반 가까이 작아져 전시를 층으로 나눴습니다. ⚠️ 명상을 자원원장 기준(선방 450+다경실 350=800㎡)으로 잡으면 100㎡ 초과 — 로비에서 흡수 가능.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층별 기능배치도·동선도는 미보유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로 공간기획 단계에서 확정합니다.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6505575"/>
            <a:ext cx="179794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SPACE. 면적 정합 — α/β 딜레마의 해소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72117" y="6505575"/>
            <a:ext cx="129758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39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649486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039243"/>
            <a:ext cx="5362575" cy="1965127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039243"/>
            <a:ext cx="5362575" cy="2857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994845"/>
            <a:ext cx="53625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039243"/>
            <a:ext cx="9525" cy="1965127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750" y="2039243"/>
            <a:ext cx="9525" cy="1965127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2267843"/>
            <a:ext cx="1683693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725" y="2039243"/>
            <a:ext cx="5362575" cy="1965127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2039243"/>
            <a:ext cx="5362575" cy="285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725" y="3994845"/>
            <a:ext cx="536257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725" y="2039243"/>
            <a:ext cx="9525" cy="1965127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34775" y="2039243"/>
            <a:ext cx="9525" cy="1965127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750" y="2267843"/>
            <a:ext cx="1654671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4137720"/>
            <a:ext cx="10896600" cy="1754684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" y="4137720"/>
            <a:ext cx="10896600" cy="28575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700" y="588287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700" y="4137720"/>
            <a:ext cx="9525" cy="17546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34775" y="4137720"/>
            <a:ext cx="9525" cy="17546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725" y="4366320"/>
            <a:ext cx="1889075" cy="180975"/>
          </a:xfrm>
          <a:prstGeom prst="rect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FLOOR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533400"/>
            <a:ext cx="674886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SPACE+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1층에 다 들어가지 않아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층으로 나눴습니다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그런데 전시는 늘었습니다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도면 실측으로 1층이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3,477.75㎡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임이 확인됐습니다. 전시 3,300을 1층에 넣으면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94.9%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를 차지해 로비도 못 만듭니다.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267843"/>
            <a:ext cx="1709093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1층 · 3,478㎡ — 점유 66.4%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2563118"/>
            <a:ext cx="4987925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들어오게 하고, 머물게 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2902595"/>
            <a:ext cx="4987925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개방 로비 500㎡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무료 체류·집객의 출발점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상설 전시 1,000㎡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성보·서사, 무료 개방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F&amp;B 5축 809㎡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다이닝·다원·아카데미·곡차·편집샵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619649"/>
            <a:ext cx="4987925" cy="2196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여유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1,169㎡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가 남아 리테일·다이닝을 키울 자리가 실내에 아직 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2267843"/>
            <a:ext cx="168007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2층 · 2,710㎡ — 점유 81.2%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0" y="2563118"/>
            <a:ext cx="4987925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기획전과 관계를 만듭니다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2902595"/>
            <a:ext cx="4987925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기획전 트랙A 1,200㎡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블록버스터·기획사 대관 구조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기획전 트랙B 800㎡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2트랙 동시 운영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교육·체험 200㎡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기수제 심화 과정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3619649"/>
            <a:ext cx="4987925" cy="2196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대관은 전용면적 없이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기획전 회기 사이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에 돌립니다.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4366320"/>
            <a:ext cx="1914475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2층 테라스 · 767.51㎡ — 신규 자원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4661595"/>
            <a:ext cx="10521950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야외를 남는 공간이 아니라 전시장으로 씁니다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5001071"/>
            <a:ext cx="10521950" cy="4462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야외 미디어아트 450㎡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팀랩 야외 정원형. 기존 공간에 빛만 얹어 건축 개입이 없어 보존구역 현상변경 부담이 가장 낮습니다 · 시즌·야간(연등·나이트마켓)과 계절로 나눠 씁니다</a:t>
            </a:r>
          </a:p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F&amp;B 외부석 200㎡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주방은 실내, 좌석만 계절 한정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5507682"/>
            <a:ext cx="10521950" cy="2196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배정 면적이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0㎡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였던 시즌·야간 라인(매출 4.3억)에 물리적 자리가 생깁니다.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6006703"/>
            <a:ext cx="10922000" cy="4025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전시 총량은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3,450㎡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(실내 3,000 + 야외 450)로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오히려 150㎡ 늘었습니다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면적을 줄여 푼 것이 아니라 옥외를 전시장으로 편입해 풀었습니다. ⚠️ 층별 기능배치도·동선도는 미보유이고, 기획전이 2층으로 올라가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2층 벽체 철거 범위와 통층 6~8m 구간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을 공간기획 단계에서 확인해야 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6505575"/>
            <a:ext cx="221034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SPACE+. 1층 체류 · 2층 기획전 · 테라스 야외전시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3308" y="6505575"/>
            <a:ext cx="129639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40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31044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771650"/>
            <a:ext cx="3543300" cy="164827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771650"/>
            <a:ext cx="3543300" cy="28575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410396"/>
            <a:ext cx="35433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1771650"/>
            <a:ext cx="9525" cy="164827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81475" y="1771650"/>
            <a:ext cx="9525" cy="164827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2000250"/>
            <a:ext cx="911870" cy="180975"/>
          </a:xfrm>
          <a:prstGeom prst="rect">
            <a:avLst/>
          </a:prstGeom>
          <a:solidFill>
            <a:srgbClr val="34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4350" y="1771650"/>
            <a:ext cx="3543300" cy="164827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4350" y="1771650"/>
            <a:ext cx="3543300" cy="2857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4350" y="3410396"/>
            <a:ext cx="35433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4350" y="1771650"/>
            <a:ext cx="9525" cy="164827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8125" y="1771650"/>
            <a:ext cx="9525" cy="164827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4375" y="2000250"/>
            <a:ext cx="769293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771650"/>
            <a:ext cx="3543300" cy="164827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771650"/>
            <a:ext cx="3543300" cy="285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3410396"/>
            <a:ext cx="35433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771650"/>
            <a:ext cx="9525" cy="164827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34775" y="1771650"/>
            <a:ext cx="9525" cy="164827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1025" y="2000250"/>
            <a:ext cx="868263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" y="3543746"/>
            <a:ext cx="10896600" cy="826294"/>
          </a:xfrm>
          <a:prstGeom prst="rect">
            <a:avLst/>
          </a:prstGeom>
          <a:solidFill>
            <a:srgbClr val="212121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700" y="4484340"/>
            <a:ext cx="5381625" cy="144705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4484340"/>
            <a:ext cx="538162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7700" y="5921871"/>
            <a:ext cx="538162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700" y="4484340"/>
            <a:ext cx="28575" cy="1447056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19800" y="4484340"/>
            <a:ext cx="9525" cy="144705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2675" y="4484340"/>
            <a:ext cx="5381625" cy="144705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2675" y="4484340"/>
            <a:ext cx="538162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2675" y="5921871"/>
            <a:ext cx="538162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2675" y="4484340"/>
            <a:ext cx="28575" cy="1447056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34775" y="4484340"/>
            <a:ext cx="9525" cy="144705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MEMORIAL · OPTIONAL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533400"/>
            <a:ext cx="756444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SPACE++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지하가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그대로 남아 있습니다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다만 지금 결정할 일은 아닙니다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1·2층 배치가 끝나도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지하1층 3,744㎡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가 비어 있습니다. 봉안은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과업 범위 밖의 순차 검토 과제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로 남깁니다.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2000250"/>
            <a:ext cx="937270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규모 · 2,000기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2295525"/>
            <a:ext cx="3168650" cy="256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451평이면 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2622203"/>
            <a:ext cx="3168650" cy="6326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봉안단 0.35㎡/기 · 봉안단 면적 비율 47% 기준. 지하1층의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39.8%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, 법정 상한 5,000기의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40%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만 씁니다.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나머지 682평은 증설분과 다른 용도로 남습니다.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4375" y="2000250"/>
            <a:ext cx="794693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수익 · 조건부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4375" y="2295525"/>
            <a:ext cx="3168650" cy="256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5년차에 다 팝니다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4375" y="2622203"/>
            <a:ext cx="3168650" cy="6326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연 400기 · 분양가 500만원 가정 시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 20.0억 · 5년 누적 106억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CAPEX 20~49억 · 회수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2.5~4.2년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판정 기준(운영 흑자·10년 회수) 안에 넉넉히 듭니다.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1025" y="2000250"/>
            <a:ext cx="893663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상품 · 프리미엄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1025" y="2295525"/>
            <a:ext cx="3168650" cy="256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단가를 층으로 나눕니다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1025" y="2622203"/>
            <a:ext cx="3168650" cy="6326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프리미엄 봉안 서비스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개별 보관 기간과 예우 수준으로 등급을 나눠 같은 시설 안에서 단가를 층화합니다.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영대공양·정기 추모를 묶으면 1회 분양이 아니라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평생 관계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가 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658046"/>
            <a:ext cx="1063625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11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순차 진행 — 한 번에 짓지 않습니다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839021"/>
            <a:ext cx="10636250" cy="4421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1단계 2,000기 · 451평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→ 소진율 70% 도달 시 판단 →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2단계 3,500기 · 788평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3단계 5,000기 · 1,126평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(법정 상한)</a:t>
            </a:r>
          </a:p>
          <a:p>
            <a:pPr algn="l">
              <a:lnSpc>
                <a:spcPct val="175000"/>
              </a:lnSpc>
            </a:pPr>
            <a:r>
              <a:rPr sz="94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증설분은 각 338평. 모두 지하1층 안에서 수용됩니다 — 층을 넓힐 필요가 없습니다.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775" y="4674840"/>
            <a:ext cx="4987925" cy="2246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추가 고려사항 넷 — 전부 선결입니다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775" y="4931271"/>
            <a:ext cx="4987925" cy="8350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① 계약 범위 변경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지하는 과업(1·2층) 밖입니다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② 장사법 원문 확인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종교단체 상한 5,000기·신도 및 가족 대상 요건·시설 기준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③ 종단 합의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MEMORIAL을 미룬 이유가 원래 이것이었습니다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④ 전용 동선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조문객과 관람객이 섞이면 안 됩니다. 전용 출입구·엘리베이터가 없으면 성립하지 않습니다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1750" y="4674840"/>
            <a:ext cx="4987925" cy="2246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규모를 줄이는 것이 곧 리스크 관리입니다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1750" y="4931271"/>
            <a:ext cx="4987925" cy="8350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일본은 90.1%가 불교식 장례를 치르면서도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“장례에만 집중하는 사원”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이라는 경멸 속에 30년간 약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2,300만 명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 절과 인연을 끊었습니다.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5,000기는 “절이 봉안 사업을 한다”로 읽히고,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2,000기는 “신도를 위한 시설을 갖췄다”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읽힙니다. 소진이 더디거나 여론이 흔들리면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증설을 멈추는 것이 곧 출구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6045696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페이지의 위치 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본 계획의 매출에는 계상하지 않습니다.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1·2층 사업이 성립하는지는 봉안 없이 판정했고(뒤의 판정 그리드), 봉안은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 판정과 무관하게 별도로 검토할 다음 단계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 다만 지하가 비어 있는 한 이 선택지는 계속 남아 있고, 선결 4건은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지금 물어두면 회신을 기다리는 동안 함께 진행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할 수 있습니다.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6505575"/>
            <a:ext cx="196671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SPACE++. 봉안 2,000기 — 순차 검토 과제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90721" y="6505575"/>
            <a:ext cx="127897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41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문화와 수익은 서로 </a:t>
            </a: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싸우지 않습니다.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운영형 콘텐츠 드라이브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모델의 핵심은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공익성과 수익성이 충돌하지 않습니다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는 것입니다.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좋은 불교 콘텐츠가 집객과 수익을 만들고, 그 수익이 다시 콘텐츠를 강화합니다.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4989" y="5105400"/>
            <a:ext cx="1414711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123090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6 — The Flywheel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4201" y="6505575"/>
            <a:ext cx="129549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42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3450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3426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126135"/>
            <a:ext cx="2645569" cy="97631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98044" y="3126135"/>
            <a:ext cx="2645569" cy="97631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48388" y="3126135"/>
            <a:ext cx="2645569" cy="97631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98731" y="3126135"/>
            <a:ext cx="2645569" cy="97631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207222"/>
            <a:ext cx="2645569" cy="97631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8044" y="4207222"/>
            <a:ext cx="2645569" cy="976312"/>
          </a:xfrm>
          <a:prstGeom prst="rect">
            <a:avLst/>
          </a:prstGeom>
          <a:noFill/>
          <a:ln w="9525">
            <a:solidFill>
              <a:srgbClr val="3F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8388" y="4207222"/>
            <a:ext cx="2645569" cy="97631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8731" y="4207222"/>
            <a:ext cx="2645569" cy="97631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5383560"/>
            <a:ext cx="10896600" cy="581025"/>
          </a:xfrm>
          <a:prstGeom prst="rect">
            <a:avLst/>
          </a:prstGeom>
          <a:solidFill>
            <a:srgbClr val="2A2A2A"/>
          </a:solidFill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FLYWHEEL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533400"/>
            <a:ext cx="35966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문화가 사람을 부르고, 사람이 돈을 만들고,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그 돈이 다시 문화를 만듭니다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800225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바퀴가 돌지 않으면 다섯 엔진은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그냥 다섯 개의 시설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엔진을 바퀴로 만드는 것이 이 장의 핵심입니다.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259485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421410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640485"/>
            <a:ext cx="2366169" cy="354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좋은 전시와 콘텐츠를 만듭니다 — 연 2~3회 기획전, 상설 무료 개방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444" y="3259485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0444" y="3421410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ATTRACT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444" y="3640485"/>
            <a:ext cx="2366169" cy="354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MZ와 외국인이 찾아옵니다 — 종교 귀속을 요구하지 않는 입구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788" y="3259485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788" y="3421410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788" y="3640485"/>
            <a:ext cx="2366169" cy="189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불교·선·정신문화 웰니스를 몸으로 경험합니다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1131" y="3259485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1131" y="3421410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STAY &amp;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1131" y="3640485"/>
            <a:ext cx="2366169" cy="189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체류시간이 늘고, 늘어난 시간이 소비로 전환됩니다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340572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4502497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4721572"/>
            <a:ext cx="2366169" cy="189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Retail · F&amp;B · Program에서 수익이 만들어집니다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0444" y="4340572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0444" y="4502497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CONTENT INVESTMENT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0444" y="4721572"/>
            <a:ext cx="2366169" cy="3540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수익과 관심이 다시 새 콘텐츠에 투자됩니다 — </a:t>
            </a:r>
            <a:r>
              <a:rPr sz="86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여기가 순환의 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788" y="4340572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788" y="4502497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BRAND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788" y="4721572"/>
            <a:ext cx="2366169" cy="189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봉은사와 한국 불교의 브랜드 가치가 올라갑니다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1131" y="4340572"/>
            <a:ext cx="2366169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8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1131" y="4502497"/>
            <a:ext cx="2366169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20" spc="2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MORE VISITORS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1131" y="4721572"/>
            <a:ext cx="2366169" cy="189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다시 방문이 증가한다 → 01로 돌아갑니다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5559772"/>
            <a:ext cx="48766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08 → 01</a:t>
            </a:r>
          </a:p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LOOP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3335" y="5488335"/>
            <a:ext cx="9926340" cy="396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공익성과 수익성이 서로 충돌하는 모델이 아닙니다.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좋은 불교 콘텐츠가 집객과 수익을 만들고, 그 수익이 다시 콘텐츠를 강화하는 구조입니다 — 그래서 “문화를 위해 수익을 포기합니다”도 “수익을 위해 문화를 희생합니다”도 이 모델의 선택지가 아닙니다.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단, 이 바퀴는 저절로 돌지 않습니다.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06 CONTENT INVESTMENT를 실행할 조직이 없으면 바퀴는 05에서 멈춥니다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PART 8에서 그 조직을 다룹니다.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6505575"/>
            <a:ext cx="446985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09. Culture → Attract → Experience → Spend → Revenue → Content → Brand → Visitors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70927" y="6505575"/>
            <a:ext cx="129877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43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Business model 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여기서 되는 것만 </a:t>
            </a: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밖으로 내보냅니다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여기서 검증된 것이 밖으로 나갑니다.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봉은문화센터는 단순한 문화센터가 아니라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한국 불교의 새로운 콘텐츠·서비스·비즈니스 모델을 실증하는 Test Bed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7086" y="5105400"/>
            <a:ext cx="1312614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217432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7 — From Bongeunsa to K-Buddhism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0331" y="6505575"/>
            <a:ext cx="12993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44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1432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735461"/>
            <a:ext cx="1768376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3226" y="2735461"/>
            <a:ext cx="1768525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8900" y="2735461"/>
            <a:ext cx="1768376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4426" y="2735461"/>
            <a:ext cx="1768525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0101" y="2735461"/>
            <a:ext cx="1768525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75775" y="2735461"/>
            <a:ext cx="1768525" cy="58132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3488234"/>
            <a:ext cx="10896600" cy="531465"/>
          </a:xfrm>
          <a:prstGeom prst="rect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4114949"/>
            <a:ext cx="10896600" cy="53146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4741664"/>
            <a:ext cx="10896600" cy="531465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5368379"/>
            <a:ext cx="10896600" cy="558105"/>
          </a:xfrm>
          <a:prstGeom prst="rect">
            <a:avLst/>
          </a:prstGeom>
          <a:noFill/>
          <a:ln w="9525">
            <a:solidFill>
              <a:srgbClr val="3F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FROM BONGEUNSA TO K-BUDDHISM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533400"/>
            <a:ext cx="33972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봉은사는 목적지이자 한국불교 진화의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시험대입니다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전국 사찰이 각자 처음부터 시작할 필요가 없어진다 —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봉은사에서 되는 것만 골라 가져갑니다.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2821186"/>
            <a:ext cx="1641376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2954536"/>
            <a:ext cx="1641376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전시를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만듭니다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9426" y="2821186"/>
            <a:ext cx="164152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9426" y="2954536"/>
            <a:ext cx="1641525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프로그램을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개발합니다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100" y="2821186"/>
            <a:ext cx="1641376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5100" y="2954536"/>
            <a:ext cx="1641376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상품을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만듭니다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0626" y="2821186"/>
            <a:ext cx="164152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626" y="2954536"/>
            <a:ext cx="1641525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외국인 반응을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검증합니다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6301" y="2821186"/>
            <a:ext cx="164152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6301" y="2954536"/>
            <a:ext cx="1641525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MZ 반응을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확인합니다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1975" y="2821186"/>
            <a:ext cx="164152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57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1975" y="2954536"/>
            <a:ext cx="1641525" cy="301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사업성을</a:t>
            </a:r>
          </a:p>
          <a:p>
            <a:pPr algn="ctr">
              <a:lnSpc>
                <a:spcPct val="132000"/>
              </a:lnSpc>
            </a:pP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검증합니다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3687217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2075" y="3640634"/>
            <a:ext cx="3810397" cy="2520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봉은사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Flagship — 실증의 무대. 여기서 되는 것만 다음 칸으로 갑니다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75" y="4313932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075" y="4267349"/>
            <a:ext cx="4262686" cy="2520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서울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도심 사찰 네트워크 — 같은 조건(접근성·외국인·MZ)을 공유하는 첫 확산권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775" y="4940647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2075" y="4894064"/>
            <a:ext cx="3909814" cy="2520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전국 사찰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검증된 프로그램·상품·운영 매뉴얼의 공급 — IP와 유통의 실체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775" y="5580757"/>
            <a:ext cx="34925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9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2075" y="5520779"/>
            <a:ext cx="3474343" cy="2787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해외</a:t>
            </a:r>
            <a:r>
              <a:rPr sz="105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K-Spiritual Culture로 — 한국 불교의 국제적 브랜드 가치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⚠️ 확산 단계는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매출로 계상하지 않습니다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전국 사찰 도매·IP 로열티·온라인 구독은 단가 근거가 0건입니다. 본 계획에서는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방향과 구조로만 서술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하고, 수치는 봉은사에서 실측이 나온 뒤에 붙입니다.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6505575"/>
            <a:ext cx="201002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10. Test Bed — 봉은사에서 검증하고 밖으로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3159" y="6505575"/>
            <a:ext cx="129654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45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66838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467570"/>
            <a:ext cx="3543300" cy="2637830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50" y="4486275"/>
            <a:ext cx="742950" cy="3048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38300" y="3781425"/>
            <a:ext cx="742950" cy="10096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57450" y="3476625"/>
            <a:ext cx="742950" cy="13144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76600" y="3219450"/>
            <a:ext cx="742950" cy="157162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4350" y="2467570"/>
            <a:ext cx="3543300" cy="2637830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5800" y="4752975"/>
            <a:ext cx="742950" cy="38100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14950" y="3457575"/>
            <a:ext cx="742950" cy="1333500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34100" y="4267200"/>
            <a:ext cx="742950" cy="523875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53250" y="3219450"/>
            <a:ext cx="742950" cy="1571625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467570"/>
            <a:ext cx="3543300" cy="2637830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2450" y="4686300"/>
            <a:ext cx="579090" cy="1047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7740" y="3848100"/>
            <a:ext cx="579239" cy="9429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83179" y="3543300"/>
            <a:ext cx="579090" cy="12477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38470" y="3228975"/>
            <a:ext cx="579090" cy="156210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93760" y="3219450"/>
            <a:ext cx="579090" cy="157162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PRECEDENT · TEMPLESTAY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533400"/>
            <a:ext cx="69378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10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확산은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가설이 아닙니다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템플스테이가 23년에 걸쳐 이미 한 번 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봉은사에서 검증된 것이 전국으로 간다는 구조는 새로운 제안이 아닙니다. 같은 종단이 같은 방식으로 한 번 성공시킨 선례가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2619970"/>
            <a:ext cx="32258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참여 사찰 33 → 170개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2791420"/>
            <a:ext cx="32258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2002 → 2025 · 23년간 5배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5736" y="4324350"/>
            <a:ext cx="15517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307" y="4848225"/>
            <a:ext cx="26203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9110" y="3619500"/>
            <a:ext cx="18658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4038" y="4848225"/>
            <a:ext cx="39672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2011~12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0968" y="3314700"/>
            <a:ext cx="20116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1053" y="4848225"/>
            <a:ext cx="26114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2648" y="3057525"/>
            <a:ext cx="19625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608" y="4848225"/>
            <a:ext cx="26218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5800" y="2619970"/>
            <a:ext cx="32258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 참가자 2,558 → 349,236명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5800" y="2791420"/>
            <a:ext cx="32258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코로나에 61% 급감했다가 역대 최고로 복귀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6335" y="4591050"/>
            <a:ext cx="30713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2,558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8957" y="4848225"/>
            <a:ext cx="26203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3572" y="3295650"/>
            <a:ext cx="43110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294,796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4655" y="4848225"/>
            <a:ext cx="24894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1028" y="4105275"/>
            <a:ext cx="39449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115,957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7257" y="4848225"/>
            <a:ext cx="26203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7705" y="3057525"/>
            <a:ext cx="43944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349,236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6258" y="4848225"/>
            <a:ext cx="26218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2450" y="2619970"/>
            <a:ext cx="32258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국고 지원 18 → 250억원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2450" y="2791420"/>
            <a:ext cx="3225800" cy="1772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확산의 실제 엔진은 콘텐츠가 아니라 재정이었다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1611" y="4524375"/>
            <a:ext cx="22616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18억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1816" y="4848225"/>
            <a:ext cx="26575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84159" y="3686175"/>
            <a:ext cx="29165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150억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1720" y="4848225"/>
            <a:ext cx="25653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30370" y="3381375"/>
            <a:ext cx="30995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200억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2220" y="4848225"/>
            <a:ext cx="24626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87595" y="3067050"/>
            <a:ext cx="30623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248억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6170" y="4848225"/>
            <a:ext cx="24894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42737" y="3057525"/>
            <a:ext cx="30653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-16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250억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64317" y="4848225"/>
            <a:ext cx="26337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519112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세 지표가 같은 방향으로 움직였습니다 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사찰 수 5배 · 참가자 136배 · 국고 14배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. 다만 순서가 중요합니다.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국고가 먼저 붙고(2004~2007년에 18억 → 150억) 사찰이 따라 늘었습니다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확산의 엔진은 콘텐츠가 아니라 재정이었습니다. 봉은문화센터의 국비 확보가 조건이 아니라 확산 속도 그 자체인 이유입니다. </a:t>
            </a: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출처 — 한국불교문화사업단 템플스테이 통계(2002~2025, 순인원 기준) · 문체부 예산안. 참가자 누적은 순인원 4,184,390명(연인원 8,234,397명)입니다.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6505575"/>
            <a:ext cx="202698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DATA. 템플스테이 확산 3지표 · 2002~2025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1373" y="6505575"/>
            <a:ext cx="129832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46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그런데 목적지의 핵심은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건물로 만들어지는 것이 아닙니다. 본질은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사업의 진짜 자산은 건물이 아니라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매년 새로 만들어지는 콘텐츠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관리하는 사업이 아니라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계속 만들어내는 사업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이며, 그 차이가 조직의 성격을 바꿉니다.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2757" y="5105400"/>
            <a:ext cx="1416943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175582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8 — Content is the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7773" y="6505575"/>
            <a:ext cx="129192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47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4489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29244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401193"/>
            <a:ext cx="10896600" cy="1619994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211687"/>
            <a:ext cx="5353050" cy="1714798"/>
          </a:xfrm>
          <a:prstGeom prst="rect">
            <a:avLst/>
          </a:prstGeom>
          <a:solidFill>
            <a:srgbClr val="242424"/>
          </a:solidFill>
          <a:ln w="9525">
            <a:solidFill>
              <a:srgbClr val="69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4421237"/>
            <a:ext cx="501551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0" y="4211687"/>
            <a:ext cx="5353050" cy="1714798"/>
          </a:xfrm>
          <a:prstGeom prst="rect">
            <a:avLst/>
          </a:prstGeom>
          <a:solidFill>
            <a:srgbClr val="242424"/>
          </a:solidFill>
          <a:ln w="9525">
            <a:solidFill>
              <a:srgbClr val="3F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91275" y="4421237"/>
            <a:ext cx="331291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CONTENT IS THE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533400"/>
            <a:ext cx="31784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준공은 끝이 아니라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시작입니다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366838"/>
            <a:ext cx="10922000" cy="512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건물을 다 지은 날부터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매일 새 콘텐츠를 만들어야 하는 사업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시작됩니다.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61061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공간이나 사업모델만큼 조직이 중요한 이유입니다.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658368"/>
            <a:ext cx="10064750" cy="7710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2020" spc="-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사업의 핵심 자산은 건물이 아니라</a:t>
            </a:r>
          </a:p>
          <a:p>
            <a:pPr algn="ctr">
              <a:lnSpc>
                <a:spcPct val="145000"/>
              </a:lnSpc>
            </a:pPr>
            <a:r>
              <a:rPr sz="2020" spc="-4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지속적으로 업데이트되는 불교라이프스타일 콘텐츠</a:t>
            </a:r>
            <a:r>
              <a:rPr sz="2020" spc="-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537347"/>
            <a:ext cx="10064750" cy="2520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70000"/>
              </a:lnSpc>
            </a:pP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매년 최소 2~3개의 기획전(낙관 4개) · 시즌별 문화 프로그램 · 외국인 관광상품 · 웰니스 프로그램 · F&amp;B · 상품 · 작가 협업 · 기업 프로그램이 </a:t>
            </a:r>
            <a:r>
              <a:rPr sz="105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계속 개발되어야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421237"/>
            <a:ext cx="52695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716512"/>
            <a:ext cx="4978400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관리하는 사업 </a:t>
            </a: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Facility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055989"/>
            <a:ext cx="4978400" cy="4787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공간을 준공하고 임차인·이용자를 받아 관리하는 사업. 준공이 끝이고, 이후는 유지의 문제입니다. 이 관점에서는 </a:t>
            </a: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개관 이후에 할 일이 줄어듭니다.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4421237"/>
            <a:ext cx="356691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4716512"/>
            <a:ext cx="4978400" cy="2696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4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만들어내는 사업 </a:t>
            </a:r>
            <a:r>
              <a:rPr sz="98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Content &amp; Destination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5055989"/>
            <a:ext cx="4978400" cy="705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준공 이후부터 </a:t>
            </a: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매일 콘텐츠를 생산</a:t>
            </a:r>
            <a:r>
              <a:rPr sz="105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해야 하는 사업. 전시가 매년 바뀌고, 프로그램이 계속 개발되고, 상품이 계속 만들어지고, 브랜드와 작가가 협업하고, 기업 프로그램이 영업되어야 합니다. 이 관점에서는 </a:t>
            </a:r>
            <a:r>
              <a:rPr sz="105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개관이 출발점입니다.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앞 장 Flywheel의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06 CONTENT INVESTMENT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가 실행되지 않으면 바퀴는 05에서 멈춥니다. 그 실행 주체가 다음 장의 조직입니다.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6505575"/>
            <a:ext cx="316865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11. Facility Management ≠ Content &amp; Destination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2117" y="6505575"/>
            <a:ext cx="129758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48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4489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08670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410248"/>
            <a:ext cx="2110680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44105" y="3410248"/>
            <a:ext cx="2110680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0511" y="3410248"/>
            <a:ext cx="2110829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37065" y="3410248"/>
            <a:ext cx="2110680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33471" y="3410248"/>
            <a:ext cx="2110829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051995"/>
            <a:ext cx="2110680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4105" y="4051995"/>
            <a:ext cx="2110680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0511" y="4051995"/>
            <a:ext cx="2110829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37065" y="4051995"/>
            <a:ext cx="2110680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33471" y="4051995"/>
            <a:ext cx="2110829" cy="556022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4760416"/>
            <a:ext cx="5362575" cy="148798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8200" y="4931866"/>
            <a:ext cx="1127075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725" y="4760416"/>
            <a:ext cx="5362575" cy="1487984"/>
          </a:xfrm>
          <a:prstGeom prst="rect">
            <a:avLst/>
          </a:prstGeom>
          <a:solidFill>
            <a:srgbClr val="242424"/>
          </a:solidFill>
          <a:ln w="9525">
            <a:solidFill>
              <a:srgbClr val="705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2225" y="4931866"/>
            <a:ext cx="1226046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NEW ORGANIZATION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533400"/>
            <a:ext cx="334070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열 가지를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하나의 팀이 맡아야 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1366838"/>
            <a:ext cx="10922000" cy="512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전담 조직 또는 장기 전문 운영 파트너 · </a:t>
            </a:r>
            <a:r>
              <a:rPr sz="1200">
                <a:solidFill>
                  <a:srgbClr val="7A7A7A"/>
                </a:solidFill>
                <a:latin typeface="Pretendard Medium"/>
                <a:ea typeface="Pretendard Medium"/>
                <a:cs typeface="Pretendard Medium"/>
              </a:rPr>
              <a:t>Content &amp; Destination Management Team는 구축 및 전문가들과의 협력체계는 필수입니다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3524548"/>
            <a:ext cx="1888430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Content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723382"/>
            <a:ext cx="1888430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콘텐츠 기획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7930" y="3524548"/>
            <a:ext cx="1888430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Exhibition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7930" y="3723382"/>
            <a:ext cx="1888430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전시 운영·기획사 협상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4336" y="3524548"/>
            <a:ext cx="1888579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Wellness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4336" y="3723382"/>
            <a:ext cx="1888579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명상·클래스 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890" y="3524548"/>
            <a:ext cx="1888430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Tourism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890" y="3723382"/>
            <a:ext cx="1888430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OTA·여행사·컨시어지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7296" y="3524548"/>
            <a:ext cx="1888579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7296" y="3723382"/>
            <a:ext cx="1888579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채널·캠페인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4166295"/>
            <a:ext cx="1888430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Community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4365129"/>
            <a:ext cx="1888430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멤버십·재방문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7930" y="4166295"/>
            <a:ext cx="1888430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B2B Sales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67930" y="4365129"/>
            <a:ext cx="1888430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기업 영업·Partnership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4336" y="4166295"/>
            <a:ext cx="1888579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Retail 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4336" y="4365129"/>
            <a:ext cx="1888579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상품 기획·바잉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890" y="4166295"/>
            <a:ext cx="1888430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F&amp;B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890" y="4365129"/>
            <a:ext cx="1888430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다이닝·다원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7296" y="4166295"/>
            <a:ext cx="1888579" cy="1861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IP &amp; Product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7296" y="4365129"/>
            <a:ext cx="1888579" cy="1539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5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상품 개발·유통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931866"/>
            <a:ext cx="1152475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조직 자체가 바뀌어야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5179516"/>
            <a:ext cx="5006975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행사를 알리는 일에서, 사람을 불러오는 일로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5464671"/>
            <a:ext cx="5006975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신도 + 행사 중심 홍보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로는 이 모델이 돌지 않습니다.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Target · Content · Community · Tourism · Partnership 중심의 Growth Marketing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으로 조직의 성격 자체가 바뀌어야 합니다. 공사 기간이 마케팅의 1기다 — 개관 후에 알리기 시작하면 늦습니다.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2225" y="4931866"/>
            <a:ext cx="1251446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이것이 재무 조건입니다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2225" y="5179516"/>
            <a:ext cx="5006975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조직이 없으면 뒤의 재무도 없습니다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2225" y="5464671"/>
            <a:ext cx="5006975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전담 조직 또는 장기 전문 운영 파트너가 필요하며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3년을 기본 단위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봅니다. </a:t>
            </a:r>
            <a:r>
              <a:rPr sz="980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이 조직 없이는 낙관 드라이버(뒤의 조건 03)가 실행되지 않고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, 낙관 없이는 재임대를 넘지 못합니다 — 즉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조직은 재무 조건의 일부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6505575"/>
            <a:ext cx="192028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12. CDM Team — 10기능 통합 · 3년 단위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373" y="6505575"/>
            <a:ext cx="129832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49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4489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9022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921943"/>
            <a:ext cx="3530501" cy="196348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921943"/>
            <a:ext cx="3530501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875907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921943"/>
            <a:ext cx="9525" cy="196348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8676" y="2921943"/>
            <a:ext cx="9525" cy="196348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6775" y="4001988"/>
            <a:ext cx="30923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0601" y="2921943"/>
            <a:ext cx="3530650" cy="196348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0601" y="2921943"/>
            <a:ext cx="3530650" cy="1905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0601" y="4875907"/>
            <a:ext cx="35306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601" y="2921943"/>
            <a:ext cx="9525" cy="196348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1725" y="2921943"/>
            <a:ext cx="9525" cy="196348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9676" y="4192488"/>
            <a:ext cx="30925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3650" y="2921943"/>
            <a:ext cx="3530501" cy="196348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3650" y="2921943"/>
            <a:ext cx="3530501" cy="1905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650" y="4875907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3650" y="2921943"/>
            <a:ext cx="9525" cy="196348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34626" y="2921943"/>
            <a:ext cx="9525" cy="1963489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32725" y="4001988"/>
            <a:ext cx="30923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" y="5037832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69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675" y="5199757"/>
            <a:ext cx="468362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5037832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3175" y="5199757"/>
            <a:ext cx="599777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THREE 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533400"/>
            <a:ext cx="41562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12+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오는 이유가 다르면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만나는 채널도 달라야 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1366838"/>
            <a:ext cx="10922000" cy="512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같은 공간이지만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오는 이유도, 만나는 채널도, 사는 것도 다릅니다.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3131493"/>
            <a:ext cx="3117751" cy="2767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800" spc="-18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MZ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775" y="3420963"/>
            <a:ext cx="3117751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 spc="78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DOMESTIC · YOUNG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75" y="3687663"/>
            <a:ext cx="3117751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940">
                <a:solidFill>
                  <a:srgbClr val="F5F5F5"/>
                </a:solidFill>
                <a:latin typeface="Pretendard Medium"/>
                <a:ea typeface="Pretendard Medium"/>
                <a:cs typeface="Pretendard Medium"/>
              </a:rPr>
              <a:t>전시 → 인플루언서 → SNS → 방문 → 경험 → 커뮤니티 → 재방문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775" y="4001988"/>
            <a:ext cx="3117751" cy="518319"/>
          </a:xfrm>
          <a:prstGeom prst="rect">
            <a:avLst/>
          </a:prstGeom>
          <a:noFill/>
        </p:spPr>
        <p:txBody>
          <a:bodyPr wrap="square" lIns="0" rIns="0" tIns="114300" bIns="0" anchor="t"/>
          <a:lstStyle/>
          <a:p>
            <a:pPr algn="l">
              <a:lnSpc>
                <a:spcPct val="15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핵심은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재방문 루프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도보권 직장인 112,349명에게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점심 회차권 3~5천원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으로 첫 접점을 만들고 멤버십으로 올립니다.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9676" y="3131493"/>
            <a:ext cx="3117900" cy="2767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800" spc="-18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GLOBAL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9676" y="3420963"/>
            <a:ext cx="3117900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 spc="78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INBOUND · 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9676" y="3687663"/>
            <a:ext cx="3117900" cy="40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940">
                <a:solidFill>
                  <a:srgbClr val="F5F5F5"/>
                </a:solidFill>
                <a:latin typeface="Pretendard Medium"/>
                <a:ea typeface="Pretendard Medium"/>
                <a:cs typeface="Pretendard Medium"/>
              </a:rPr>
              <a:t>관광상품 → OTA·여행사 → 호텔 컨시어지 → 인플루언서 → 예약 → 경험 → 후기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9676" y="4192488"/>
            <a:ext cx="3117900" cy="518319"/>
          </a:xfrm>
          <a:prstGeom prst="rect">
            <a:avLst/>
          </a:prstGeom>
          <a:noFill/>
        </p:spPr>
        <p:txBody>
          <a:bodyPr wrap="square" lIns="0" rIns="0" tIns="114300" bIns="0" anchor="t"/>
          <a:lstStyle/>
          <a:p>
            <a:pPr algn="l">
              <a:lnSpc>
                <a:spcPct val="155000"/>
              </a:lnSpc>
            </a:pP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97.5%가 개별여행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단체 패키지가 아니라 개별 예약·후기 기반으로 설계합니다.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코엑스 MICE 제휴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가 1차 채널.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2725" y="3131493"/>
            <a:ext cx="3117751" cy="2767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800" spc="-18">
                <a:solidFill>
                  <a:srgbClr val="FF6B9D"/>
                </a:solidFill>
                <a:latin typeface="Pretendard SemiBold"/>
                <a:ea typeface="Pretendard SemiBold"/>
                <a:cs typeface="Pretendard SemiBold"/>
              </a:rPr>
              <a:t>B2B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2725" y="3420963"/>
            <a:ext cx="3117751" cy="15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60" spc="78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CORPORATE · MICE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2725" y="3687663"/>
            <a:ext cx="3117751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940">
                <a:solidFill>
                  <a:srgbClr val="F5F5F5"/>
                </a:solidFill>
                <a:latin typeface="Pretendard Medium"/>
                <a:ea typeface="Pretendard Medium"/>
                <a:cs typeface="Pretendard Medium"/>
              </a:rPr>
              <a:t>기업 웰니스 → MICE → 브랜드 협업 → 연간 계약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2725" y="4001988"/>
            <a:ext cx="3117751" cy="518319"/>
          </a:xfrm>
          <a:prstGeom prst="rect">
            <a:avLst/>
          </a:prstGeom>
          <a:noFill/>
        </p:spPr>
        <p:txBody>
          <a:bodyPr wrap="square" lIns="0" rIns="0" tIns="114300" bIns="0" anchor="t"/>
          <a:lstStyle/>
          <a:p>
            <a:pPr algn="l">
              <a:lnSpc>
                <a:spcPct val="155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강남 GBD의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같은 HR·복리후생 예산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을 멤버십과 B2B가 함께 겨냥합니다 — 중복 계상은 이미 차감했습니다.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5199757"/>
            <a:ext cx="49376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계절성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75" y="5437882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연매출을 12로 나누면 안 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675" y="5700712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방문이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3~5월에 57.6%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몰리고 8~12월 다섯 달은 19.8%입니다 —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8.2배 격차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비수기 실내 콘텐츠가 없으면 연 단위 계획이 무너집니다.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3175" y="5199757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채널 원칙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3175" y="5437882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광고보다 채널과 조직이 먼저입니다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3175" y="5700712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세 경로 모두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유통이 먼저 붙어야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상품이 팔립니다.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OTA 등재·여행사 계약·기업 리스트는 개관 전에 확보합니다.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6505575"/>
            <a:ext cx="181178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12+. MZ · Global · B2B — 경로별 설계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6136" y="6505575"/>
            <a:ext cx="129356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50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3450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71636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747492"/>
            <a:ext cx="1768376" cy="850999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3226" y="3747492"/>
            <a:ext cx="1768525" cy="850999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8900" y="3747492"/>
            <a:ext cx="1768376" cy="850999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4426" y="3747492"/>
            <a:ext cx="1768525" cy="850999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0101" y="3747492"/>
            <a:ext cx="1768525" cy="850999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75775" y="3747492"/>
            <a:ext cx="1768525" cy="850999"/>
          </a:xfrm>
          <a:prstGeom prst="rect">
            <a:avLst/>
          </a:prstGeom>
          <a:noFill/>
          <a:ln w="9525">
            <a:solidFill>
              <a:srgbClr val="3B3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769941"/>
            <a:ext cx="3543300" cy="119464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9150" y="4931866"/>
            <a:ext cx="599777" cy="180975"/>
          </a:xfrm>
          <a:prstGeom prst="rect">
            <a:avLst/>
          </a:prstGeom>
          <a:solidFill>
            <a:srgbClr val="353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4350" y="4769941"/>
            <a:ext cx="3543300" cy="119464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5800" y="4931866"/>
            <a:ext cx="599777" cy="180975"/>
          </a:xfrm>
          <a:prstGeom prst="rect">
            <a:avLst/>
          </a:prstGeom>
          <a:solidFill>
            <a:srgbClr val="353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4769941"/>
            <a:ext cx="3543300" cy="1194643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2450" y="4931866"/>
            <a:ext cx="599777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PRE-OPEN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533400"/>
            <a:ext cx="497036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12++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개관 후에 알리기 시작하면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이미 늦습니다.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오픈과 동시에 첫1년이 핵심입니다.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1800225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공사 기간이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마케팅의 1기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 — 봉은문화센터가 다시 문을 열었을 때 이미 줄이 서 있어야 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3871317"/>
            <a:ext cx="1622326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공사 D-18M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4023717"/>
            <a:ext cx="1622326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채널 구축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" y="4204692"/>
            <a:ext cx="1622326" cy="295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OTA 등재</a:t>
            </a:r>
          </a:p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영어 결제 복구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8951" y="3871317"/>
            <a:ext cx="162247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D-12M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8951" y="4023717"/>
            <a:ext cx="162247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파일럿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8951" y="4204692"/>
            <a:ext cx="1622475" cy="295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점심 회차권</a:t>
            </a:r>
          </a:p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소규모 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4625" y="3871317"/>
            <a:ext cx="1622326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D-9M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4625" y="4023717"/>
            <a:ext cx="1622326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B2B 선영업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4625" y="4204692"/>
            <a:ext cx="1622326" cy="295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기업 출강</a:t>
            </a:r>
          </a:p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회당 150~300만원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0151" y="3871317"/>
            <a:ext cx="162247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D-6M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0151" y="4023717"/>
            <a:ext cx="162247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캘린더 공표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0151" y="4204692"/>
            <a:ext cx="1622475" cy="295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개관 시즌</a:t>
            </a:r>
          </a:p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기획전 라인업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5826" y="3871317"/>
            <a:ext cx="162247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D-3M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5826" y="4023717"/>
            <a:ext cx="162247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미디어·인플루언서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5826" y="4204692"/>
            <a:ext cx="1622475" cy="295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프리뷰</a:t>
            </a:r>
          </a:p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사전 예약 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1500" y="3871317"/>
            <a:ext cx="1622475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OPEN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1500" y="4023717"/>
            <a:ext cx="1622475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개관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61500" y="4204692"/>
            <a:ext cx="1622475" cy="295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첫날부터</a:t>
            </a:r>
          </a:p>
          <a:p>
            <a:pPr algn="ctr">
              <a:lnSpc>
                <a:spcPct val="135000"/>
              </a:lnSpc>
            </a:pPr>
            <a:r>
              <a:rPr sz="79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예약 보유 상태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4931866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FA37E"/>
                </a:solidFill>
                <a:latin typeface="Pretendard SemiBold"/>
                <a:ea typeface="Pretendard SemiBold"/>
                <a:cs typeface="Pretendard SemiBold"/>
              </a:rPr>
              <a:t>지금 가능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150" y="5169991"/>
            <a:ext cx="3225800" cy="2246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기업 출강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150" y="5416897"/>
            <a:ext cx="322580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회당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150~300만원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 공간 없이 지금도 가능하며,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개관 후 B2B의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고객 리스트가 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5800" y="4931866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FA37E"/>
                </a:solidFill>
                <a:latin typeface="Pretendard SemiBold"/>
                <a:ea typeface="Pretendard SemiBold"/>
                <a:cs typeface="Pretendard SemiBold"/>
              </a:rPr>
              <a:t>지금 가능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5800" y="5169991"/>
            <a:ext cx="3225800" cy="2246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영어 템플라이프 상시화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5800" y="5416897"/>
            <a:ext cx="322580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본원 프로그램을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영어로 상시 운영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하면 개관 전에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외국인 후기와 OTA 평점이 쌓입니다.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2450" y="4931866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선행 필수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2450" y="5169991"/>
            <a:ext cx="3225800" cy="2246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OTA 등재 · 영어 결제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2450" y="5416897"/>
            <a:ext cx="322580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개별여행 97.5%인데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결제가 막히면 유입이 전환되지 않습니다.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채널은 하루아침에 열리지 않습니다.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 구간의 투자는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유권해석 결과와 무관하게 회수됩니다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어느 게이트로 나오든 채널과 고객 리스트는 남습니다.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6505575"/>
            <a:ext cx="186372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12++. 공사 18개월을 마케팅 1기로 씁니다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92507" y="6505575"/>
            <a:ext cx="127719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51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그래서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봉은문화회관은 되는 사업인가?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수익성을 위해 문화성을 희생하는 것이 아니라,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문화적 매력을 높여 방문·체류·소비를 증가시키는 구조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다만 그 구조가 실제로 성립하는지는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조건으로 답합니다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— 하나의 예측 숫자는 반드시 틀리기 때문입니다.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4989" y="5105400"/>
            <a:ext cx="1414711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247079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9 — Business Model &amp; Financial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7029" y="6505575"/>
            <a:ext cx="129267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52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1451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11944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85040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14925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44810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74694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04579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34464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79841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509726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539611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569495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7700" y="2623393"/>
          <a:ext cx="10896600" cy="307791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43373"/>
                <a:gridCol w="2833092"/>
                <a:gridCol w="1416546"/>
                <a:gridCol w="980629"/>
                <a:gridCol w="871686"/>
                <a:gridCol w="3051274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ENGINE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해당 라인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기준 매출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CAPEX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상태 · 대기 근거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4ECDC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R1 EXHIBITION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기획전·상설·해설·심화 + 회기 회전 대관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RL-01 · 08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10.4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24.7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실단가 B-02 · 해설 B-11 · 가용일 B-12</a:t>
                      </a:r>
                      <a:r>
                        <a:rPr sz="86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전부 대기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8B7EF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R2 EXPERIENCE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명상·선·교육·클래스·관광 패키지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RL-05 · 06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7.8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3.2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모수 A등급 · 가동률 B-05 대기 ·</a:t>
                      </a:r>
                      <a:r>
                        <a:rPr sz="86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인력이 상한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FB84D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R3 TASTE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사찰음식 다이닝 · 전통다원 · 식품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RL-02 · 03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31.4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14.6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단가 A등급 · 회전 B-03 대기 ·</a:t>
                      </a:r>
                      <a:r>
                        <a:rPr sz="86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조리 게이트 종속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F6B9D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R4 RETAIL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뮤지엄숍 · 굿즈 · 라이프스타일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RL-04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4.9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구매전환 A등급 실측 · 객단가는 뮷즈 역산 앵커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7A9E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R5 STAY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Buddhist Wellness Stay · 템플스테이 연계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RL-09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(52.3)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Phase 2 강등</a:t>
                      </a: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가동률 B-07 확보 후 재판단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45377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8A8A8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R6 MEMORIAL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49재 · 추모 · 봉안 연계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RL-11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451평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20.0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조건부</a:t>
                      </a: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2,000기 시작안. 지하는 과업 범위 밖이라</a:t>
                      </a:r>
                      <a:r>
                        <a:rPr sz="860">
                          <a:solidFill>
                            <a:srgbClr val="B8B8B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계약 변경·장사법·종단 합의·전용 동선</a:t>
                      </a: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넷이 선결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R7 B2B · 멤버십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기업 웰니스·연수·MICE · 법인/임원 멤버십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RL-07 · 10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9.7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단가 실측 · 수주건수 B-06 · 갱신율 B-08</a:t>
                      </a:r>
                      <a:r>
                        <a:rPr sz="86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국내 사례 0건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R8 IP · 유통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제조 · 타 사찰 공급 · 라이선스 · 온라인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RL-12·14·15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단가 근거 0건</a:t>
                      </a:r>
                      <a:r>
                        <a:rPr sz="86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정성 서술만, 매출 미계상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합계 (권고경로 G2L)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라인 기준값 합 64.2억 →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정상가동 70.5억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(멤버십 갱신곡선 1.82배 반영)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70.5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104.0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6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건물 57.5억 + 라인 46.5억 (기준 케이스)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BUSINESS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533400"/>
            <a:ext cx="337344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여덟 개 의 비지니스엔진 중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셋은 매출을 0으로 뒀습니다. 운영형성장모델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1328738"/>
            <a:ext cx="10922000" cy="396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봉은문화센터는 단순하게 모든 모델이 돈을 벌기 위해 구성될 수 없는 공간입니다. 지속가능하기 위해서는 운영형 성장모델이 필요합니다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1514475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근거가 없는 것을 넣으면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나머지 숫자의 신뢰까지 무너집니다.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엔진별로 따로 계산해야 무엇을 뺄지 판단할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588704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단위 억원.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여덟 개 중 셋(R5·R6·R8)은 매출 0으로 둡니다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근거가 없는 것을 넣으면 전체 숫자의 신뢰가 무너집니다. 대외 문서는 R1~R8, 내부 재무는 RL 코드를 쓰며 매핑은 이 표가 정본입니다. ⚠️ 위 값은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시나리오 그리드 모델의 ‘기준’ 드라이버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 본편 Appendix의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단일점 종합 검토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(정상가동 123.6억)는 라인 검토서 권고안을 모은 것이라 같은 라인도 값이 다릅니다 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두 표를 나란히 놓고 더하지 말 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6505575"/>
            <a:ext cx="198412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13. 8 Revenue Engines — P&amp;L Unit 분리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3903" y="6505575"/>
            <a:ext cx="129579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53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13879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39168" y="5229969"/>
            <a:ext cx="260003" cy="1333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95103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220434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45764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271095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296425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321756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347087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372417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397748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423078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448409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473739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" y="499070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700" y="524400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700" y="549731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700" y="575062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7700" y="1771650"/>
          <a:ext cx="10896600" cy="398531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68897"/>
                <a:gridCol w="947440"/>
                <a:gridCol w="1065907"/>
                <a:gridCol w="1065907"/>
                <a:gridCol w="1184374"/>
                <a:gridCol w="1065907"/>
                <a:gridCol w="947440"/>
                <a:gridCol w="1065907"/>
                <a:gridCol w="1184821"/>
              </a:tblGrid>
              <a:tr h="18573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게이트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케이스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매출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세후이익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현금흐름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총투자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참고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50" spc="45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G0 좁게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2.7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−17.8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−9.5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98.7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−0.66x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−12.9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−5.8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86.2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−0.48x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낙관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−4.5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1.7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73.7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−0.16x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G1 중간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−19.1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−6.2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154.2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−0.70x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43.0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−4.7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141.7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−0.17x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낙관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109.1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29.3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129.2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0.68x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G1L 중간·선별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9.4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−14.9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−6.5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101.9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−0.55x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39.0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6.3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89.4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−0.04x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낙관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101.6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76.9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G2 넓게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−17.3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−3.2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168.8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−0.64x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74.4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156.3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0.10x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D9A34B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부분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낙관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41.6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143.8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1.09x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B7EF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G2L 넓게·선별</a:t>
                      </a:r>
                      <a:r>
                        <a:rPr sz="75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권고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보수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−13.1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−3.4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116.5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15+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−0.48x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5.9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104.0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0.22x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  <a:tr h="253305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낙관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32.1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39.8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91.5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3년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1.19x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성립</a:t>
                      </a:r>
                    </a:p>
                  </a:txBody>
                  <a:tcPr marT="12700" marB="12700" marL="95250" marR="95250" anchor="ctr">
                    <a:noFill/>
                  </a:tcPr>
                </a:tc>
                <a:tc>
                  <a:txBody>
                    <a:bodyPr wrap="square"/>
                    <a:lstStyle/>
                    <a:p/>
                  </a:txBody>
                  <a:tcPr marT="12700" marB="12700" marL="50800" marR="50800" anchor="ctr">
                    <a:noFill/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FINANCIAL FEASIBILITY · KEY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533400"/>
            <a:ext cx="339279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15개 중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다섯 칸이 성립합니다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권고 경로는 낙관 없이도 넘습니다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판정 기준은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①5년 운영 흑자 ②투자 회수 10년 이내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재임대 세후 27.1억은 참고선으로 함께 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5914132"/>
            <a:ext cx="10922000" cy="543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단위 억원 · 정상가동 기준 ·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finance/model.py v1.1 재실행으로 전량 재현 가능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(손계산 0). 읽는 법 세 가지 — ①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유권해석이 좁으면 어떤 설계도 소용없습니다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(G0 전 시나리오 적자) ②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선별이 판정을 가릅니다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(숙박 제외만으로 기준 12→9년, 낙관 5→3년) ③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권고 경로 G2L은 기준 실행에서 이미 성립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합니다 — 세후 5.9억 흑자·회수 9년으로 낙관 없이 통과. 재임대 27.1억을 넘는 칸은 여전히 낙관 둘뿐이지만 그것은 판정선이 아니라 참고선입니다. 권고경로 매출의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82.3%가 게이트 뒤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에 있고 그중 </a:t>
            </a:r>
            <a:r>
              <a:rPr sz="819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조리 게이트 단독이 44.7%</a:t>
            </a:r>
            <a:r>
              <a:rPr sz="819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 — 지금 열 수 있는 것은 12.5억(17.7%)뿐입니다.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6505575"/>
            <a:ext cx="172829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14. 게이트 5 × 시나리오 3 판정 그리드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3159" y="6505575"/>
            <a:ext cx="129654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54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95436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541687"/>
            <a:ext cx="2631281" cy="173474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5416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266902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541687"/>
            <a:ext cx="28575" cy="1734741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69456" y="2541687"/>
            <a:ext cx="9525" cy="173474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2806" y="2541687"/>
            <a:ext cx="2631281" cy="173474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2806" y="25416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2806" y="4266902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2806" y="2541687"/>
            <a:ext cx="28575" cy="1734741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4562" y="2541687"/>
            <a:ext cx="9525" cy="173474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7912" y="2541687"/>
            <a:ext cx="2631281" cy="173474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7912" y="25416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7912" y="4266902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7912" y="2541687"/>
            <a:ext cx="28575" cy="1734741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9669" y="2541687"/>
            <a:ext cx="9525" cy="173474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3019" y="2541687"/>
            <a:ext cx="2631281" cy="173474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3019" y="2541687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3019" y="4266902"/>
            <a:ext cx="263128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3019" y="2541687"/>
            <a:ext cx="28575" cy="1734741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34775" y="2541687"/>
            <a:ext cx="9525" cy="173474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462726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7700" y="492611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700" y="522495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7700" y="552380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7700" y="4400252"/>
          <a:ext cx="10896599" cy="11299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68861"/>
                <a:gridCol w="1525488"/>
                <a:gridCol w="1525488"/>
                <a:gridCol w="1525488"/>
                <a:gridCol w="1525488"/>
                <a:gridCol w="1525786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G2L · 기준 5개년</a:t>
                      </a:r>
                      <a:r>
                        <a:rPr sz="790" spc="47">
                          <a:solidFill>
                            <a:srgbClr val="7A7A7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(2027 부분운영 · 2028 개관 가정)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2027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2028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2029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2030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2031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총매출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1.4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42.8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68.5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69.7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영업이익</a:t>
                      </a:r>
                      <a:r>
                        <a:rPr sz="819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공통비 차감 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−1.6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12.3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15.2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15.8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세후이익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−2.8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−2.8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2.3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5.0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5.5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FOUR CONDITIONS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533400"/>
            <a:ext cx="420836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14+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네 조건 중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앞의 둘이면 성립합니다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나머지는 가속 요인입니다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유권해석 폭과 선별 투자만 참이면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기준 실행으로 성립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합니다. 다만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조건 1이 빠지면 어떤 조합으로도 성립하지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75" y="2684562"/>
            <a:ext cx="2313781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CONDITION 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" y="285601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유권해석이 넓게 나올 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3115568"/>
            <a:ext cx="2313781" cy="5343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조리 해소 포함. 없으면 낙관에서도 0.68~0.78배에 그칩니다. 문체부 질의 3건의 회신 폭이 경제성의 1차 결정 변수 —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9.27 임계경로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3781" y="2684562"/>
            <a:ext cx="2313781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CONDITION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3781" y="285601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저효율 투자를 걸러낼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3781" y="3115568"/>
            <a:ext cx="2313781" cy="5343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숙박 52.3억 2단계 강등. 선별 시 총투자 104.0억·회수 9년.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“전부 짓는 것”이 아니라 저CAPEX 고마진 중심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(명상·B2B·멤버십·대관).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8888" y="2684562"/>
            <a:ext cx="2313781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CONDITION 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8888" y="285601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낙관 드라이버 </a:t>
            </a:r>
            <a:r>
              <a:rPr sz="11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— 가속 요인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8888" y="3115568"/>
            <a:ext cx="2313781" cy="1043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판정에는 필요 없습니다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01·02만으로 기준 실행에서 성립합니다(세후 5.9억·회수 9년). 낙관은 회수를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9년에서 3년으로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당깁니다. 다이닝 회전 1.8 · 클래스 연 800회차 · 법인 45사 · 개인 회원 1,500명 — 공상이 아니라 KPI이며 실행 주체는 앞 장의 CDM 조직입니다.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3994" y="2684562"/>
            <a:ext cx="2313781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CONDITION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3994" y="2856012"/>
            <a:ext cx="2313781" cy="2182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1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국비 </a:t>
            </a:r>
            <a:r>
              <a:rPr sz="11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— 안전 여유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3994" y="3115568"/>
            <a:ext cx="2313781" cy="704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국비 없이도 성립합니다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5년차 세후 26.8억 흑자에 회수 5년차로 판정 기준을 충족합니다. 다만 참고선(재임대 27.1억)에는 0.99x로 근소 미달이라, 국비는 </a:t>
            </a:r>
            <a:r>
              <a:rPr sz="8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성립 조건이 아니라 여유와 가속</a:t>
            </a:r>
            <a:r>
              <a:rPr sz="86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5706368"/>
            <a:ext cx="10922000" cy="567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3년차 흑자 전환. 기준 실행만으로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운영 흑자·회수 9년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이라 판정 기준을 통과하고, 낙관 드라이버가 실행되면 세후 32.1억·회수 3년까지 당겨집니다.</a:t>
            </a:r>
          </a:p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참고선의 성격을 분명히 해둡니다 — 재임대 30억(세후 27.1억)은 무비용·무위험에 가깝고, 면적 정정 후에는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GBD 시세의 97.9~110.5%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로 헐값도 아닙니다. 다만 판정 기준은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운영 흑자와 10년 회수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30억을 포기하고 그 이상을 만들 수 있는가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의 문제입니다.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6505575"/>
            <a:ext cx="158229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14+. 역산 임계조건 4 + 5개년 수지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75987" y="6505575"/>
            <a:ext cx="129371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55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76994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424261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424261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409057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424261"/>
            <a:ext cx="28575" cy="994321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8025" y="2424261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9950" y="2424261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9950" y="2424261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9950" y="3409057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9950" y="2424261"/>
            <a:ext cx="28575" cy="994321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0275" y="2424261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24261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424261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409057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424261"/>
            <a:ext cx="28575" cy="994321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2525" y="2424261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4450" y="2424261"/>
            <a:ext cx="2609850" cy="994321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4450" y="2424261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4450" y="3409057"/>
            <a:ext cx="26098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4450" y="2424261"/>
            <a:ext cx="28575" cy="994321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34775" y="2424261"/>
            <a:ext cx="9525" cy="99432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23289" y="3832920"/>
            <a:ext cx="698748" cy="219521"/>
          </a:xfrm>
          <a:prstGeom prst="rect">
            <a:avLst/>
          </a:prstGeom>
          <a:solidFill>
            <a:srgbClr val="36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23289" y="5063282"/>
            <a:ext cx="929283" cy="219521"/>
          </a:xfrm>
          <a:prstGeom prst="rect">
            <a:avLst/>
          </a:prstGeom>
          <a:solidFill>
            <a:srgbClr val="333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700" y="376942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7700" y="410324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7700" y="440208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7700" y="470093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700" y="499978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700" y="533360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7700" y="3542407"/>
          <a:ext cx="10896599" cy="179754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794498"/>
                <a:gridCol w="1634430"/>
                <a:gridCol w="1634430"/>
                <a:gridCol w="1307455"/>
                <a:gridCol w="1525786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시나리오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증분투자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증분이익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33382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0 · 융자 30 · 임대 표준보수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112.5억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−0.9억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불가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E0606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회수 불성립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43.4 · 융자 30 · 임대 최소보수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99.6억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+2.3억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43.2년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사실상 불가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43.4 · 융자 30 · 임대 표준보수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69.1억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+2.3억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30.0년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사실상 불가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72.8 · 융자 30 · 임대 최소보수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70.2억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+4.5억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15.6년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333821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72.8 · 융자 30 ·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임대 표준보수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39.7억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+4.5억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8.8년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유일한 합리 구간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INCREMENTAL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533400"/>
            <a:ext cx="502394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14++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총액으로는 이깁니다 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그런데 증분으로 보면 회수가 안 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보수비는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재임대를 택해도 나가는 돈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그렇다면 이 사업의 진짜 비용은 200억 전부가 아닙니다.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2586186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57.5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2936677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보수예산 — 용도 무관 필수비</a:t>
            </a:r>
          </a:p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수변전·냉난방·EV·방수·소방·외피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9975" y="2586186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115.9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975" y="2936677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상업화예산 — 사업을 하기로 해서 드는 돈</a:t>
            </a:r>
          </a:p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숙박 52.3 + 기반설비 17.1 + 전시 24.7 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2225" y="2586186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6.1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2225" y="2936677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예비비 =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총투자의 3.1%</a:t>
            </a:r>
          </a:p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통상 하한 5~10% 미달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475" y="2586186"/>
            <a:ext cx="22542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200.0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475" y="2936677"/>
            <a:ext cx="2254250" cy="345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총투자 — 대표 지정 예산</a:t>
            </a:r>
          </a:p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예비비율 유지 시 209.5억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5525691"/>
            <a:ext cx="10922000" cy="7481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증분투자 = 총투자 200억 − 재임대 시 보수비 − 국비 − 융자 · 증분이익 = 사업 5년차 세후 − 재임대 세후 27.1억.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국비가 없으면 증분이익이 음수라 회수 자체가 성립하지 않습니다.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앞 장의 조건 04(국비)가 왜 선택이 아니라 성립 요건인지가 여기서 드러납니다.</a:t>
            </a:r>
          </a:p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⚠️ 전시를 3,300㎡ 앵커안으로 확정하며 CAPEX가 16.7 → 24.7억으로 올랐고, 이 모델에서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예비비는 잔여값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이라 증액분이 그대로 예비비를 잠식했습니다 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200억은 지켜야 할 상한이지 안전한 예산이 아닙니다.</a:t>
            </a:r>
          </a:p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★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그래서 새 질문이 생깁니다 — “재임대하려면 실제로 얼마를 고쳐야 하는가”(27억이냐 57.5억이냐).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이 하나가 판단을 가르는데 아직 임대차 시장에 묻지 않았습니다. 물으면 답이 나오는 질문입니다.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6505575"/>
            <a:ext cx="1929358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14++. 증분투자 — 보수비를 빼고 다시 보면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74201" y="6505575"/>
            <a:ext cx="129549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56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558552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99549" y="4249787"/>
            <a:ext cx="1546027" cy="219521"/>
          </a:xfrm>
          <a:prstGeom prst="rect">
            <a:avLst/>
          </a:prstGeom>
          <a:solidFill>
            <a:srgbClr val="333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5037832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8675" y="5199757"/>
            <a:ext cx="698748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5037832"/>
            <a:ext cx="5372100" cy="1210568"/>
          </a:xfrm>
          <a:prstGeom prst="rect">
            <a:avLst/>
          </a:prstGeom>
          <a:solidFill>
            <a:srgbClr val="242424"/>
          </a:solidFill>
          <a:ln w="9525">
            <a:solidFill>
              <a:srgbClr val="69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3175" y="5199757"/>
            <a:ext cx="468362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305697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342547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379397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416247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454392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491242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7700" y="2772817"/>
          <a:ext cx="10896599" cy="21459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3092"/>
                <a:gridCol w="1634430"/>
                <a:gridCol w="1525488"/>
                <a:gridCol w="1525488"/>
                <a:gridCol w="3378101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재원 조합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개관 전 필요현금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안정선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권장선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0 · 융자 0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156.9억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181.5억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187.6억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자기자본 부담 최대 — 증분이익 음수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43.4 · 융자 0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113.5억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138.1억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144.2억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회수 30~43년 — 사실상 불가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43.4 · 관광기금 30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83.5억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108.1억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114.2억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회수 30년 — 장기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81446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72.8 · 관광기금 30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54.1억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78.7억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84.8억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819">
                          <a:solidFill>
                            <a:srgbClr val="8FA37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회수 8.8년 · 유일한 합리 구간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국비 88.4 · 관광기금 60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8.5억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33.1억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39.2억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이상적이나 확보 난도 최상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PUBLIC FUNDING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533400"/>
            <a:ext cx="583952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14+++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국비가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사업 성립의 경계를 정합니다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국비는 수익성을 개선하는 보너스가 아니라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성립 여부를 가르는 조건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5199757"/>
            <a:ext cx="724148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국비 대상액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5437882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보수·전시·교육이 대상입니다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5700712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보수예산 + 전시·교육 =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대상 98.5억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. 지원율 25%면 24.6억, 35%면 34.5억, 50%면 49.3억입니다.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포교 사업은 배제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되므로 “문화·관광·웰니스 거점”으로 서야 트랙이 열립니다.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3175" y="5199757"/>
            <a:ext cx="49376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미확인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3175" y="5437882"/>
            <a:ext cx="50355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봉은사 가용 현금을 모릅니다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3175" y="5700712"/>
            <a:ext cx="5035550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권장선은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114.2억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이 수치를 모르면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조달 구조 전체를 짤 수 없습니다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킥오프 이래 계속 미확인이며, 답이 나와야 위 표에서 실행 가능한 행이 정해집니다.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6505575"/>
            <a:ext cx="164435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14+++. 재원 조합별 필요현금과 회수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0749" y="6505575"/>
            <a:ext cx="1288951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57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640110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095625"/>
            <a:ext cx="3530501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69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7725" y="3305175"/>
            <a:ext cx="1192262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30601" y="3095625"/>
            <a:ext cx="3530650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705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30626" y="3305175"/>
            <a:ext cx="830312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13650" y="3095625"/>
            <a:ext cx="3530501" cy="1640384"/>
          </a:xfrm>
          <a:prstGeom prst="rect">
            <a:avLst/>
          </a:prstGeom>
          <a:solidFill>
            <a:srgbClr val="242424"/>
          </a:solidFill>
          <a:ln w="9525">
            <a:solidFill>
              <a:srgbClr val="705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13675" y="3305175"/>
            <a:ext cx="599777" cy="180975"/>
          </a:xfrm>
          <a:prstGeom prst="rect">
            <a:avLst/>
          </a:prstGeom>
          <a:solidFill>
            <a:srgbClr val="41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888409"/>
            <a:ext cx="10896600" cy="1359991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MODEL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665510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14++++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숫자 밖에서 터질 수 있는 것이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셋 있습니다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숫자가 커버하는 범위를 밝혀야,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 숫자를 어디까지 믿을지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판단할 수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305175"/>
            <a:ext cx="121766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밖에서 터질 수 있는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00450"/>
            <a:ext cx="3155851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손익계산서 바깥의 일회성 사건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914180"/>
            <a:ext cx="3155851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취득세 추징 가능성, ‘교인 외 이용’ 과세 판정 등은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연간 손익에 잡히지 않습니다.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한 번에 큰 금액으로 오며, 모델은 이를 반영하지 않았습니다.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626" y="3305175"/>
            <a:ext cx="85571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연 단위의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626" y="3600450"/>
            <a:ext cx="3156000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계절성 8.2배가 빠져 있습니다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626" y="3914180"/>
            <a:ext cx="3156000" cy="6567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3~5월에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57.6%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가 몰리고 8~12월 다섯 달은 19.8%입니다. 연 단위 모델이라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월별 현금흐름 설계는 별도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필요합니다 — 흑자인 해에도 특정 달은 현금이 마릅니다.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3675" y="3305175"/>
            <a:ext cx="62517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시점 가정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3675" y="3600450"/>
            <a:ext cx="3155851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2028 개관은 가정입니다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3675" y="3914180"/>
            <a:ext cx="3155851" cy="4462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리모델링 12~18개월을 전제한 값입니다. </a:t>
            </a:r>
            <a:r>
              <a:rPr sz="9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지연되면 전 표가 오른쪽으로 밀립니다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— 구조는 그대로지만 회수 시점은 늦춰집니다.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75" y="5088434"/>
            <a:ext cx="10179050" cy="66059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좁은 게이트로 회신이 오면 —</a:t>
            </a:r>
          </a:p>
          <a:p>
            <a:pPr algn="ctr">
              <a:lnSpc>
                <a:spcPct val="145000"/>
              </a:lnSpc>
            </a:pPr>
            <a:r>
              <a:rPr sz="1720" spc="-3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수익이 아니라 브랜드·공익 성과로 근거를 재정의</a:t>
            </a: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하거나 </a:t>
            </a:r>
            <a:r>
              <a:rPr sz="1720" spc="-3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재임대 병행안</a:t>
            </a:r>
            <a:r>
              <a:rPr sz="1720" spc="-34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을 검토해야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175" y="5837932"/>
            <a:ext cx="10179050" cy="2358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70000"/>
              </a:lnSpc>
            </a:pP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 판단은 발주처의 몫입니다. 다만 판단 시점은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회신 후 90일 이내</a:t>
            </a:r>
            <a:r>
              <a:rPr sz="98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를 권고합니다 — 그 이후로는 기회비용이 판단의 여지를 좁힙니다.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6505575"/>
            <a:ext cx="152469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14++++. 모델의 경계와 대안 경로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4945" y="6505575"/>
            <a:ext cx="1294755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58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2166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391519"/>
            <a:ext cx="28575" cy="552450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34243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71093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407942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44792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7700" y="3058269"/>
          <a:ext cx="10896600" cy="139600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3092"/>
                <a:gridCol w="3704779"/>
                <a:gridCol w="4358729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시행령 제7조 · 세 개의 예외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문언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우리가 하려는 것과의 거리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전통다원의 운영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“전통문화 관련 상품의 판매 및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전통다원의 운영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”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문언 그대로 명시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해석이 필요 없습니다. F&amp;B 중 유일하게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지금 되는 것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불교문화 상품 판매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“불교문화 상품과 사찰에서 생산하는 토산품의 판매”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직접 적용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뮤지엄숍·굿즈는 이 칸에 그대로 들어갑니다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신도 편의시설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“신도의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수행·교육·포교·복지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를 위한 편의시설의 운영”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해석 필요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같은 명상도 ‘웰니스 시설’이면 불가,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‘수행’이면 합법</a:t>
                      </a: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입니다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7700" y="484797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521647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558497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595347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7700" y="4563814"/>
          <a:ext cx="10896601" cy="139600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43373"/>
                <a:gridCol w="3704779"/>
                <a:gridCol w="1743373"/>
                <a:gridCol w="3705076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회신 폭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무엇이 열리는가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정상가동 매출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그때의 판정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좁게</a:t>
                      </a:r>
                      <a:r>
                        <a:rPr sz="1050">
                          <a:solidFill>
                            <a:srgbClr val="7A7A7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G0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전시·리테일만 — 문언에 명시된 것만 인정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12.5억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시나리오 적자 — 사업 불성립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중간</a:t>
                      </a:r>
                      <a:r>
                        <a:rPr sz="1050">
                          <a:solidFill>
                            <a:srgbClr val="7A7A7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G1L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 명상·교육·기업·멤버십</a:t>
                      </a:r>
                      <a:r>
                        <a:rPr sz="105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(‘수행·교육’ 인정)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39.0억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D9A3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기준선의 절반 — 흑자 전환 실패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넓게</a:t>
                      </a:r>
                      <a:r>
                        <a:rPr sz="1050">
                          <a:solidFill>
                            <a:srgbClr val="8B7EF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G2L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사찰음식 다이닝·전통다원</a:t>
                      </a:r>
                      <a:r>
                        <a:rPr sz="105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(조리 해소)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70.5억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3년차 흑자 · 낙관 시 재임대 초과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LEGAL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533400"/>
            <a:ext cx="74706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14+++++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모든 것이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조문 하나의 해석 폭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에 걸려 있습니다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전통사찰법 제6조는 보존구역 내 영업행위를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원칙 금지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합니다. 그런데 같은 조 제3항에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단서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가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2486769"/>
            <a:ext cx="10512425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제6조 제3항 · 단서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2639169"/>
            <a:ext cx="10512425" cy="234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“전통사찰의 </a:t>
            </a:r>
            <a:r>
              <a:rPr sz="1160">
                <a:solidFill>
                  <a:srgbClr val="D9A34B"/>
                </a:solidFill>
                <a:latin typeface="Pretendard SemiBold"/>
                <a:ea typeface="Pretendard SemiBold"/>
                <a:cs typeface="Pretendard SemiBold"/>
              </a:rPr>
              <a:t>보존·유지 및 발전</a:t>
            </a: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과 수행 환경을 해치지 아니하는 범위에서 대통령령으로 정하는 행위”는 제한 대상에서 제외합니다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회신 폭이 수익 천장을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5.6배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움직입니다. 그래서 이것은 “허가를 받는 문제”가 아니라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“어떤 논리로 물을 것인가”의 문제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 — 다음 장이 그 논리입니다.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6505575"/>
            <a:ext cx="245576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14+++++. 제6조 제3항 단서 · 시행령 제7조 · 회신 3폭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4201" y="6505575"/>
            <a:ext cx="129549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59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6216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803077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392561"/>
            <a:ext cx="3549551" cy="1451074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392561"/>
            <a:ext cx="3549551" cy="28575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834110"/>
            <a:ext cx="35495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2392561"/>
            <a:ext cx="9525" cy="145107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87726" y="2392561"/>
            <a:ext cx="9525" cy="145107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625" y="2573536"/>
            <a:ext cx="969466" cy="180975"/>
          </a:xfrm>
          <a:prstGeom prst="rect">
            <a:avLst/>
          </a:prstGeom>
          <a:solidFill>
            <a:srgbClr val="2A3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1076" y="2392561"/>
            <a:ext cx="3549700" cy="1451074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1076" y="2392561"/>
            <a:ext cx="3549700" cy="28575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1076" y="3834110"/>
            <a:ext cx="35497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1076" y="2392561"/>
            <a:ext cx="9525" cy="145107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1250" y="2392561"/>
            <a:ext cx="9525" cy="145107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3001" y="2573536"/>
            <a:ext cx="984349" cy="180975"/>
          </a:xfrm>
          <a:prstGeom prst="rect">
            <a:avLst/>
          </a:prstGeom>
          <a:solidFill>
            <a:srgbClr val="45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4600" y="2392561"/>
            <a:ext cx="3549551" cy="1451074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4600" y="2392561"/>
            <a:ext cx="3549551" cy="28575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4600" y="3834110"/>
            <a:ext cx="354955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600" y="2392561"/>
            <a:ext cx="9525" cy="145107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34626" y="2392561"/>
            <a:ext cx="9525" cy="145107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525" y="2573536"/>
            <a:ext cx="987326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" y="3948410"/>
            <a:ext cx="28575" cy="514350"/>
          </a:xfrm>
          <a:prstGeom prst="rect">
            <a:avLst/>
          </a:prstGeom>
          <a:solidFill>
            <a:srgbClr val="8B7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700" y="477549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507434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7700" y="537319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700" y="567203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7700" y="597088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7700" y="4548485"/>
          <a:ext cx="10896600" cy="14287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15059"/>
                <a:gridCol w="4140696"/>
                <a:gridCol w="4140845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무엇을 증명하는가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어느 요건에 닿는가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외국인 종교 활동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2.0%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방문 목적이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포교·신앙이 아닙니다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국비(문체부) 요건 —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포교 사업 배제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조항을 정면으로 통과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역사·전통 체험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46.6%</a:t>
                      </a:r>
                      <a:r>
                        <a:rPr sz="940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(전체 20.6%의 2.26배)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수요의 실체가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전통문화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시행령 제7조 —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‘전통문화 관련’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해석의 사실적 근거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불교박람회 2030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약 80%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전통문화가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다음 세대로 전승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되고 있습니다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제6조 제3항 —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‘발전’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 실질적 내용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개별여행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97.5%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단체 송출이 아니라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자발적 선택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관광 정책 — 인바운드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질적 전환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CASE WE MAKE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533400"/>
            <a:ext cx="828477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14++++++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상업화 허가를 구하지 않습니다 —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보존·발전의 방법을 제시합니다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1762125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돈을 벌겠다가 아니라, 외국인이 찾아올 만한 관광형 불교문화 체험공간을 만들겠다는 것입니다.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질의의 프레임을 바꿉니다 — “이것도 되게 해달라”가 아니라 “법이 말한 보존·발전이 이것입니다”로 갑니다.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25" y="2573536"/>
            <a:ext cx="994866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4ECDC4"/>
                </a:solidFill>
                <a:latin typeface="Pretendard SemiBold"/>
                <a:ea typeface="Pretendard SemiBold"/>
                <a:cs typeface="Pretendard SemiBold"/>
              </a:rPr>
              <a:t>축 01 · 목적 부합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2821186"/>
            <a:ext cx="3251101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3년의 공실이 ‘보존’인가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" y="3093541"/>
            <a:ext cx="3251101" cy="6326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단서의 요건은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“보존·유지 및 발전”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 6,188㎡가 3년째 비어 있고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누적 기회비용이 90억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인 상태는 보존이 아니라 방치에 가깝습니다. 전통문화 체험으로 되살리는 것이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조문이 요구한 ‘발전’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3001" y="2573536"/>
            <a:ext cx="1009749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FFB84D"/>
                </a:solidFill>
                <a:latin typeface="Pretendard SemiBold"/>
                <a:ea typeface="Pretendard SemiBold"/>
                <a:cs typeface="Pretendard SemiBold"/>
              </a:rPr>
              <a:t>축 02 · 문언 근거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3001" y="2821186"/>
            <a:ext cx="3251250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새 예외를 요구하지 않습니다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3001" y="3093541"/>
            <a:ext cx="3251250" cy="6326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전통다원은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문언 그대로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있고, 굿즈는 ‘불교문화 상품’에, 명상·교육은 ‘수행·교육’에 이미 있습니다. 남은 쟁점은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사찰음식이 ‘전통문화 관련’에 드는가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 하나이며,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조계사 발우공양이 이미 그 경로를 열어놨습니다.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525" y="2573536"/>
            <a:ext cx="1012726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축 03 · 정책 부합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525" y="2821186"/>
            <a:ext cx="3251101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문체부가 하려는 일과 같습니다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525" y="3093541"/>
            <a:ext cx="3251101" cy="6326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K-컬처 확산과 인바운드 관광은 문체부의 정책 목표입니다. 과업지시서도 사업 목적을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‘전통문화산업 진흥의 전진기지’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로 규정했습니다.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허가해주는 일이 아니라 정책을 실행하는 일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이 됩니다.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4024610"/>
            <a:ext cx="10550525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50" spc="105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MZ와 외국인이 왜 법적 근거가 되는가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725" y="4177010"/>
            <a:ext cx="10550525" cy="234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 사업이 </a:t>
            </a:r>
            <a:r>
              <a:rPr sz="116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포교가 아니라 문화·관광</a:t>
            </a: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이라는 것을 </a:t>
            </a:r>
            <a:r>
              <a:rPr sz="1160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데이터가 증명</a:t>
            </a:r>
            <a:r>
              <a:rPr sz="116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합니다 — 그리고 그것이 국비 요건과도 정확히 일치합니다.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6067723"/>
            <a:ext cx="10922000" cy="2060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질의는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5문항을 한 공문으로 묶어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낸다 — 개별 제출은 회신 시점이 어긋나 판정을 지연시키고,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세 축이 한 문서에서 함께 읽혀야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설득이 성립합니다.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6505575"/>
            <a:ext cx="2142034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14++++++. 목적 · 문언 · 정책 — 그리고 데이터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74350" y="6505575"/>
            <a:ext cx="129535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60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0600" y="3883819"/>
            <a:ext cx="1047750" cy="190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2121694"/>
            <a:ext cx="10236200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33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93169"/>
            <a:ext cx="10236200" cy="1149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그래서 지금,</a:t>
            </a:r>
          </a:p>
          <a:p>
            <a:pPr algn="l">
              <a:lnSpc>
                <a:spcPct val="118000"/>
              </a:lnSpc>
            </a:pPr>
            <a:r>
              <a:rPr sz="3750" spc="-11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우리는 무엇을 하면 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169569"/>
            <a:ext cx="8407400" cy="592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여기까지가 무엇을 만들 것인가였다면, 여기부터는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누가 · 언제 · 무엇을 결정하는가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452938"/>
            <a:ext cx="8407400" cy="3087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5000"/>
              </a:lnSpc>
            </a:pP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결정을 미루는 동안에도 비용은 쌓입니다 — 공실 기회비용은 </a:t>
            </a: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하루 약 820만원</a:t>
            </a:r>
            <a:r>
              <a:rPr sz="12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54270" y="5105400"/>
            <a:ext cx="1215430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0" spc="-540">
                <a:solidFill>
                  <a:srgbClr val="22212F"/>
                </a:solidFill>
                <a:latin typeface="Pretendard SemiBold"/>
                <a:ea typeface="Pretendard SemiBold"/>
                <a:cs typeface="Pretendard SemiBol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505575"/>
            <a:ext cx="163839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PART 10 — Implementation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90870" y="6505575"/>
            <a:ext cx="127883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61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62162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10455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4490145"/>
            <a:ext cx="1499443" cy="1187351"/>
          </a:xfrm>
          <a:prstGeom prst="rect">
            <a:avLst/>
          </a:prstGeom>
          <a:noFill/>
          <a:ln w="9525">
            <a:solidFill>
              <a:srgbClr val="433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13818" y="4490145"/>
            <a:ext cx="1499443" cy="1187351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79937" y="4490145"/>
            <a:ext cx="1499592" cy="1187351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46204" y="4490145"/>
            <a:ext cx="1499443" cy="1187351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12322" y="4490145"/>
            <a:ext cx="1499592" cy="1187351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8589" y="4490145"/>
            <a:ext cx="1499443" cy="1187351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44708" y="4490145"/>
            <a:ext cx="1499592" cy="1187351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IMPLEMENTATION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335855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봉은문화센터가 준비해야 할 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일곱 단계 중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아직 첫 칸도 넘지 못했습니다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762125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유권해석 5건이 미제출입니다.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여기가 안 풀리면 다음 칸으로 갈 수 없습니다.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4613970"/>
            <a:ext cx="1315293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PHASE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4775895"/>
            <a:ext cx="1315293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4975920"/>
            <a:ext cx="1315293" cy="460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법률·유권해석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사업범위 확정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공간 프로그램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8593" y="4613970"/>
            <a:ext cx="1315293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PHASE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8593" y="4775895"/>
            <a:ext cx="1315293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8593" y="4975920"/>
            <a:ext cx="1315293" cy="460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BM별 수요·가격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운영·재무 검증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벤치마크 12슬롯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4712" y="4613970"/>
            <a:ext cx="1315442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PHASE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4712" y="4775895"/>
            <a:ext cx="1315442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4712" y="4975920"/>
            <a:ext cx="1315442" cy="460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공간·서비스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브랜드·콘텐츠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운영체계 설계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0979" y="4613970"/>
            <a:ext cx="1315293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PHASE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0979" y="4775895"/>
            <a:ext cx="1315293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BUILD</a:t>
            </a:r>
          </a:p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0979" y="5118795"/>
            <a:ext cx="1315293" cy="460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개관 전 전시·상품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관광상품·프로그램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7097" y="4613970"/>
            <a:ext cx="1315442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PHASE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097" y="4775895"/>
            <a:ext cx="1315442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PRE-OPEN</a:t>
            </a:r>
          </a:p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MKT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7097" y="5118795"/>
            <a:ext cx="1315442" cy="460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MZ·외국인·미디어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B2B 파트너 확보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채널 선구축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3364" y="4613970"/>
            <a:ext cx="1315293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PHASE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3364" y="4775895"/>
            <a:ext cx="1315293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OPEN &amp;</a:t>
            </a:r>
          </a:p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3364" y="5118795"/>
            <a:ext cx="1315293" cy="460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개관·운영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콘텐츠 로테이션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체류·전환 첫 실측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483" y="4613970"/>
            <a:ext cx="1315442" cy="130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710" spc="71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PHASE 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483" y="4775895"/>
            <a:ext cx="1315442" cy="168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80" spc="2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483" y="4975920"/>
            <a:ext cx="1315442" cy="460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상품·IP·프로그램을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전국 사찰·해외로</a:t>
            </a:r>
          </a:p>
          <a:p>
            <a:pPr algn="l">
              <a:lnSpc>
                <a:spcPct val="145000"/>
              </a:lnSpc>
            </a:pPr>
            <a:r>
              <a:rPr sz="79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확산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588704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유권해석 5건이 미제출이라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PHASE 01에서 다음 칸으로 넘어갈 수 없습니다.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회신이 늦으면 전 일정이 통째로 오른쪽으로 밀릴 뿐 구조는 바뀌지 않으며, 2028 개관은 리모델링 12~18개월을 전제한 가정입니다. 각 단계의 연차별 재무 상태는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다음 장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에서 잇습니다.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6505575"/>
            <a:ext cx="226154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15. PHASE 01 DEFINE → 07 SCALE · 연차 매핑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5243" y="6505575"/>
            <a:ext cx="129445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62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04489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92013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99668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36517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73367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510217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547067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583917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7700" y="3712518"/>
          <a:ext cx="10896600" cy="213300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6546"/>
                <a:gridCol w="3595836"/>
                <a:gridCol w="3268861"/>
                <a:gridCol w="2615357"/>
              </a:tblGrid>
              <a:tr h="29051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연차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과제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재무 상태</a:t>
                      </a:r>
                      <a:r>
                        <a:rPr sz="900" spc="54">
                          <a:solidFill>
                            <a:srgbClr val="7A7A7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(G2L·기준)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00" spc="54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 이벤트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Y1 · 2027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게이트 통과와 채널 선점 · 공사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매출 1.4억 · 세후</a:t>
                      </a: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−2.8억</a:t>
                      </a:r>
                      <a:r>
                        <a:rPr sz="105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(부분운영)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유권해석 회신 → 게이트 확정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Y2 · 2028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개관 · 점심 회차권 론칭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매출 42.8억 · 세후</a:t>
                      </a:r>
                      <a:r>
                        <a:rPr sz="105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−2.8억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개관</a:t>
                      </a:r>
                      <a:r>
                        <a:rPr sz="1050">
                          <a:solidFill>
                            <a:srgbClr val="7A7A7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(가정)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Y3 · 2029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F&amp;B 개시 · 흑자 전환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매출 59.1억 · 세후</a:t>
                      </a:r>
                      <a:r>
                        <a:rPr sz="1050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+2.3억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회계 흑자 전환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Y4 · 2030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수익(멤버십·B2B) 본격화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매출 68.5억 · 세후</a:t>
                      </a:r>
                      <a:r>
                        <a:rPr sz="1050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+5.0억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체류·전환 실측 2차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  <a:tr h="36849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Y5 · 2031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기준선 대비 총결산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매출 69.7억 · 세후</a:t>
                      </a:r>
                      <a:r>
                        <a:rPr sz="1050">
                          <a:solidFill>
                            <a:srgbClr val="8FA37E"/>
                          </a:solidFill>
                          <a:latin typeface="Pretendard"/>
                          <a:ea typeface="Pretendard"/>
                          <a:cs typeface="Pretendard"/>
                        </a:rPr>
                        <a:t>+5.5억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05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재임대 27.1억과 최종 비교</a:t>
                      </a:r>
                    </a:p>
                  </a:txBody>
                  <a:tcPr marT="12700" marB="12700" marL="133350" marR="133350" anchor="ctr"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YEAR BY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417413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Step by step 3년차에 흑자로 돌아섭니다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— 초기 2년은 적자입니다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366838"/>
            <a:ext cx="10922000" cy="512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법적, 불교내 요구사항도 지키면서, 투자비와 지속가능성까지 고려하려면 단순한 수익공간 개발은 더 어렵습니다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61061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해마다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넘어야 할 판정 이벤트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가 하나씩 있습니다 — 그것을 넘으면 다음 해로 갑니다.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회신이 늦으면 이 표는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통째로 오른쪽으로 밀릴 뿐, 구조는 바뀌지 않습니다.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2028 개관은 가정이며(리모델링 12~18개월), 회신이 지연되면 유권해석 의존 라인은 회신 익년부터 가동됩니다.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6505575"/>
            <a:ext cx="213831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15+. Y1~Y5 핵심 과제 · 재무 상태 · 판정 이벤트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2117" y="6505575"/>
            <a:ext cx="1297583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63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473571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5414070"/>
            <a:ext cx="3530501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5414070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6238875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5414070"/>
            <a:ext cx="28575" cy="834330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8676" y="5414070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0601" y="5414070"/>
            <a:ext cx="3530650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0601" y="5414070"/>
            <a:ext cx="35306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0601" y="6238875"/>
            <a:ext cx="35306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0601" y="5414070"/>
            <a:ext cx="28575" cy="834330"/>
          </a:xfrm>
          <a:prstGeom prst="rect">
            <a:avLst/>
          </a:prstGeom>
          <a:solidFill>
            <a:srgbClr val="E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1725" y="5414070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3650" y="5414070"/>
            <a:ext cx="3530501" cy="83433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3650" y="5414070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3650" y="6238875"/>
            <a:ext cx="3530501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3650" y="5414070"/>
            <a:ext cx="28575" cy="834330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34626" y="5414070"/>
            <a:ext cx="9525" cy="834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700" y="325983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700" y="374322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700" y="404207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" y="4525466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700" y="482431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" y="530770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7700" y="3032820"/>
          <a:ext cx="10896600" cy="228123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35769"/>
                <a:gridCol w="2070348"/>
                <a:gridCol w="4903440"/>
                <a:gridCol w="2070348"/>
                <a:gridCol w="1416695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#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관문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담당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48339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유권해석 요청서 제출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전통다원·전통문화상품·신도편의시설 3문항 + 다원 전용 2문항.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한 공문으로 묶어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보낸다 — 개별 제출은 회신 시점이 어긋나 게이트 판정을 지연시킵니다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종무실 → 문체부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9.27 이전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총무원 사전 동의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직영사찰 구조상 구조적 필수. 허가 없는 양도·임대는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무효이자 벌금 대상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종무실 → 총무원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9.27 이전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48339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3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직영 세무설계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수익사업 개시신고·구분회계. 어느 안이든 재산세 과세로 전환되므로 미리 설계합니다. 준비금 50% 손금산입은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구조를 정하는 순간 확정되는 유일한 이익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(5년 절세 약 15억)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담당 + 세무 자문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회신 전 착수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4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인허가 사전상담 3건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서울시 보존구역 · 강남구청 용도변경 · 공원녹지과.</a:t>
                      </a:r>
                      <a:r>
                        <a:rPr sz="94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전량 미착수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공간디자인 총괄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Phase 01 병행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48339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임대차 시장 확인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“재임대하려면 실제로 얼마를 고쳐야 하는가”(27억 vs 57.5억).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증분 판단을 가르는 변수인데 아직 묻지 않았습니다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물으면 답이 나오는 질문입니다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· 중개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즉시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PHASE 0 ·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533400"/>
            <a:ext cx="498971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15++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회신 전에 반드시 통과해야 할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다섯 개의 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다섯 모두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담당과 기한이 정해져야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합니다. 여기를 못 지나면 이후 단계는 의미를 잃습니다.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5575995"/>
            <a:ext cx="3174901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820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만원/일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5926485"/>
            <a:ext cx="3174901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결정을 미루는 동안 쌓이는 공실 기회비용 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(재임대 연 30억 ÷ 365일)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0626" y="5575995"/>
            <a:ext cx="3175050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7.4</a:t>
            </a:r>
            <a:r>
              <a:rPr sz="1120" spc="-42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0626" y="5926485"/>
            <a:ext cx="3175050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Phase 0이 90일 지연될 때의 누적 기회비용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3675" y="5575995"/>
            <a:ext cx="3174901" cy="31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100" spc="-4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9.27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3675" y="5926485"/>
            <a:ext cx="3174901" cy="18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총무원장 임기 만료 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결재 임계경로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6505575"/>
            <a:ext cx="226838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15++. Phase 0 관문 5건 — 우선순위 · 담당 · 기한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1373" y="6505575"/>
            <a:ext cx="129832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64 / 68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801118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555129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014960"/>
            <a:ext cx="5376862" cy="1242417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8675" y="3186410"/>
            <a:ext cx="635943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67438" y="3014960"/>
            <a:ext cx="5376862" cy="1242417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48412" y="3186410"/>
            <a:ext cx="650825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400252"/>
            <a:ext cx="5376862" cy="1242417"/>
          </a:xfrm>
          <a:prstGeom prst="rect">
            <a:avLst/>
          </a:prstGeom>
          <a:solidFill>
            <a:srgbClr val="242424"/>
          </a:solidFill>
          <a:ln w="9525">
            <a:solidFill>
              <a:srgbClr val="7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8675" y="4571702"/>
            <a:ext cx="1383060" cy="180975"/>
          </a:xfrm>
          <a:prstGeom prst="rect">
            <a:avLst/>
          </a:prstGeom>
          <a:solidFill>
            <a:srgbClr val="3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7438" y="4400252"/>
            <a:ext cx="5376862" cy="1242417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8412" y="4571702"/>
            <a:ext cx="655737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START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533400"/>
            <a:ext cx="580529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15+++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회신을 기다리는 동안에도,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지금 시작할 수 있는 것이 넷</a:t>
            </a: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 있습니다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366838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유권해석이 어느 쪽으로 나든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버려지지 않는 투자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 더불어 시간이 걸리는 일입니다 초기부터 투자가 필요합니다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3186410"/>
            <a:ext cx="661343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인프라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3424535"/>
            <a:ext cx="5040312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비파괴 삽입 전시구조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3700165"/>
            <a:ext cx="5040312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건물 원형을 훼손하지 않고 넣었다 뺐다 할 수 있는 구조. 용도가 바뀌어도 회수됩니다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재임대로 선회하더라도 자산으로 남습니다.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8412" y="3186410"/>
            <a:ext cx="676225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인프라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8412" y="3424535"/>
            <a:ext cx="5040312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신도·후원 회원 등급제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8412" y="3700165"/>
            <a:ext cx="5040312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멤버십의 전 단계. 기존 보시를 등급화하는 것이 아니라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새로운 관계를 설계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하는 일입니다. </a:t>
            </a:r>
          </a:p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멤버십은 램프업 곡선이 가장 가팔라 선행 착수 효과가 큽니다.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571702"/>
            <a:ext cx="1408460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E06060"/>
                </a:solidFill>
                <a:latin typeface="Pretendard SemiBold"/>
                <a:ea typeface="Pretendard SemiBold"/>
                <a:cs typeface="Pretendard SemiBold"/>
              </a:rPr>
              <a:t>인프라 03 · 가장 급합니다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4809827"/>
            <a:ext cx="5040312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디지털 예약 ·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5085457"/>
            <a:ext cx="5040312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그 자체로는 팔리지 않지만 전시 가동률·프로그램 갱신율·리테일 판매를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동시에 결정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합니다. 무엇보다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제1지표인 체류시간을 셀 장치가 지금 없습니다.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8412" y="4571702"/>
            <a:ext cx="681137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인프라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412" y="4809827"/>
            <a:ext cx="5040312" cy="243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영대공양 추모 서비스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412" y="5085457"/>
            <a:ext cx="5040312" cy="4302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MEMORIAL의 의례 부분만 먼저. </a:t>
            </a:r>
            <a:r>
              <a:rPr sz="94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시설 없이 서비스만으로 검증</a:t>
            </a:r>
            <a:r>
              <a:rPr sz="940">
                <a:solidFill>
                  <a:srgbClr val="B8B8B8"/>
                </a:solidFill>
                <a:latin typeface="Pretendard"/>
                <a:ea typeface="Pretendard"/>
                <a:cs typeface="Pretendard"/>
              </a:rPr>
              <a:t>할 수 있어, 봉안 유보 판정과 모순되지 않으면서 수요를 실측합니다.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5871270"/>
            <a:ext cx="10922000" cy="4025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목표치를 세우기 전에 세는 장치부터 만듭니다.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개관 후 첫 실측으로 기준선을 잡으려면 장치가 먼저 있어야 하고, 그 장치는 유권해석과 무관하게 지금 만들 수 있습니다. 동시에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마케팅 1기도 공사 기간에 시작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됩니다 — 기업 출강(회당 150~300만원) · 영어 템플라이프 상시화 · OTA 등재와 영어 결제 복구.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6505575"/>
            <a:ext cx="211197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15+++. 어느 조건에서도 남는 네 가지 선행 투자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4201" y="6505575"/>
            <a:ext cx="129549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65 / 68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636538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401617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315023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61387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491271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521156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569495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7700" y="3789164"/>
          <a:ext cx="10896600" cy="19121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35769"/>
                <a:gridCol w="1634430"/>
                <a:gridCol w="3813721"/>
                <a:gridCol w="3595836"/>
                <a:gridCol w="1416844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#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결정 항목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선택지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본 보고서 권고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사업 방식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직영 추진 / 재임대 /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조건부 추진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(회신 후 재판단)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조건부 추진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네 조건의 성립 가능성을 먼저 확정합니다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9.27 이전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유권해석 제출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5문항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일괄 제출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/ 분리 제출 / 보류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일괄 제출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회신 시점 불일치가 게이트 판정을 지연시킵니다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즉시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3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예산 프레임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총투자 200억 고정(예비비 3.1%) /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B 예비비율 7.4% 유지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(209.5억)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관점 B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같은 경내에서 139% 증액 선례가 발생 중입니다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Phase 01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4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운영 주체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직영 / 위탁 / 하이브리드 · CDM 조직 신설 vs 장기 운영 파트너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직영 + CDM 3년 단위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단, 3안 비교표는 후속 과업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Phase 02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48339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미충족 과업 처리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이번 납품에 채운다 /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후속 과업으로 분리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/ 혼합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분리 후 범위 재정의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 회신 전에는 원리적으로 확정 불가한 항목이 있습니다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납품 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DECISION REQUIRED · KEY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33400"/>
            <a:ext cx="661938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15++++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봉은사가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지금 결정해야 할 것 다섯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이 보고서는 권고까지 합니다. 그러나 아래 다섯은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컨설턴트가 대신 정할 수 없는 항목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5887045"/>
            <a:ext cx="10922000" cy="3867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#5에 관하여 — 재무 모델은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유권해석 회신 전에는 원리적으로 확정할 수 없습니다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(수익 천장이 게이트에 따라 5.6배 벌어진다). 그렇다면 선택은 “지금 억지로 채운다”가 아니라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“어디까지가 이번 과업이고 어디부터가 회신 이후인가”를 계약 문서로 분리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하는 쪽입니다. 다음 장의 미결 7건이 그 분리선의 초안이며, 이를 후속 과업 제안서로 승격시키면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미이행이 아니라 범위 재정의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가 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6505575"/>
            <a:ext cx="231407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15++++. 의사결정 요청 사항 — 선택지 · 권고 · 기한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2564" y="6505575"/>
            <a:ext cx="1297136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66 / 68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162877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718096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247330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546177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845024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4143871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442718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926112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5224959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5523805"/>
            <a:ext cx="10896600" cy="63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7700" y="3020318"/>
          <a:ext cx="10896600" cy="250983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1257"/>
                <a:gridCol w="6102102"/>
                <a:gridCol w="2833241"/>
              </a:tblGrid>
              <a:tr h="233362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미결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왜 중요한가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790" spc="47">
                          <a:solidFill>
                            <a:srgbClr val="7A7A7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누가 · 언제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유권해석 5건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회신 폭이 수익 천장을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12.5억 ↔ 70.5억으로 5.6배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움직입니다. 좁게 나오면 전 시나리오 적자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종무실 → 문체부 ·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9.27 이전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봉은사 가용 현금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권장선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114.2억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. 이 수치를 모르면 조달 구조 전체를 짤 수 없습니다 — 킥오프 이래 미확인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·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즉시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재임대 시 실제 보수액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27억이냐 57.5억이냐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 증분 판단을 가릅니다. 물으면 답이 나오는 질문인데 아직 묻지 않았습니다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임대차 시장 조회 · 즉시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진행 가능 인원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 46회가 필요한데 봉은사 상주 인력이 확인되지 않았습니다.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공급이 매출의 상한</a:t>
                      </a: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봉은사 인력 실사 · Phase 01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483394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벤치마크 12슬롯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운영비 · 전시 실단가 · 해설 단가 · 다이닝 회전 · 클래스 가동률 · B2B 수주 · 숙박 가동률 · 멤버십 갱신율 · 대관 가용일.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값이 들어오면 수치만 갱신됩니다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 리서치 진행 중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공간기획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층별 기능배치도·동선도 미보유.</a:t>
                      </a: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전시 3,300㎡가 1층 무주 대공간에 실제로 앉는지 미검증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공간디자인 총괄 · Phase 03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  <a:tr h="298847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F5F5F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인허가 사전상담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서울시 보존구역 · 강남구청 용도변경 · 공원녹지과</a:t>
                      </a:r>
                      <a:r>
                        <a:rPr sz="940">
                          <a:solidFill>
                            <a:srgbClr val="E0606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전량 미착수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940">
                          <a:solidFill>
                            <a:srgbClr val="B8B8B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Phase 01 병행</a:t>
                      </a:r>
                    </a:p>
                  </a:txBody>
                  <a:tcPr marT="12700" marB="12700" marL="104775" marR="104775" anchor="ctr"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OPEN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533400"/>
            <a:ext cx="743496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15+++++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819150"/>
            <a:ext cx="10922000" cy="4587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모르는 것 일곱 —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채워지기 전까지 위의 결론은 조건부입니다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328738"/>
            <a:ext cx="10922000" cy="2111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모르는 것을 모른다고 먼저 적어야, </a:t>
            </a:r>
            <a:r>
              <a:rPr sz="98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그 위에 쌓은 전략이 어디까지 유효한지</a:t>
            </a:r>
            <a:r>
              <a:rPr sz="98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 판단할 수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5706368"/>
            <a:ext cx="10922000" cy="567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모델이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말하지 않는 것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도 함께 적는다 — ① 취득세 추징 가능성 등 손익계산서 밖에서 터질 수 있는 일회성 사건 ② 방문이 3~5월에 57.6% 몰리고 8~12월 다섯 달은 19.8%인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계절성 8.2배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(연 단위 모델 미반영, 월별 현금흐름 설계 별도 필요) ③ 2028 개관은 가정이며 지연 시 전 표가 밀립니다.</a:t>
            </a:r>
          </a:p>
          <a:p>
            <a:pPr algn="l">
              <a:lnSpc>
                <a:spcPct val="165000"/>
              </a:lnSpc>
            </a:pP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좁은 게이트로 회신이 올 경우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— 직영 지속의 근거를 수익이 아니라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브랜드·공익 성과로 재정의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하거나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재임대 병행안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을 검토해야 합니다. 판단 시점은 </a:t>
            </a:r>
            <a:r>
              <a:rPr sz="86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회신 후 90일 이내</a:t>
            </a:r>
            <a:r>
              <a:rPr sz="86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를 권고합니다.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6505575"/>
            <a:ext cx="2161679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15+++++. 미결 7건 — 왜 중요한가 · 누가 · 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8963" y="6505575"/>
            <a:ext cx="1290737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67 / 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700" y="2234505"/>
            <a:ext cx="108966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533400"/>
            <a:ext cx="312390" cy="17145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2547491"/>
            <a:ext cx="3543300" cy="99893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8675" y="2718941"/>
            <a:ext cx="306586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4350" y="2547491"/>
            <a:ext cx="3543300" cy="99893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5325" y="2718941"/>
            <a:ext cx="321469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2547491"/>
            <a:ext cx="3543300" cy="99893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1975" y="2718941"/>
            <a:ext cx="324445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3679775"/>
            <a:ext cx="3543300" cy="99893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8675" y="3851225"/>
            <a:ext cx="326380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4350" y="3679775"/>
            <a:ext cx="3543300" cy="99893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5325" y="3851225"/>
            <a:ext cx="323106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3679775"/>
            <a:ext cx="3543300" cy="998934"/>
          </a:xfrm>
          <a:prstGeom prst="rect">
            <a:avLst/>
          </a:prstGeom>
          <a:solidFill>
            <a:srgbClr val="242424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1975" y="3851225"/>
            <a:ext cx="324892" cy="180975"/>
          </a:xfrm>
          <a:prstGeom prst="rect">
            <a:avLst/>
          </a:prstGeom>
          <a:solidFill>
            <a:srgbClr val="2E2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4831110"/>
            <a:ext cx="10896600" cy="1133475"/>
          </a:xfrm>
          <a:prstGeom prst="rect">
            <a:avLst/>
          </a:prstGeom>
          <a:noFill/>
          <a:ln w="9525">
            <a:solidFill>
              <a:srgbClr val="3731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" y="533400"/>
            <a:ext cx="10922000" cy="19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spc="144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 THE 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33400"/>
            <a:ext cx="337790" cy="196850"/>
          </a:xfrm>
          <a:prstGeom prst="rect">
            <a:avLst/>
          </a:prstGeom>
          <a:noFill/>
        </p:spPr>
        <p:txBody>
          <a:bodyPr wrap="square" lIns="85725" rIns="85725" tIns="19050" bIns="19050" anchor="t"/>
          <a:lstStyle/>
          <a:p>
            <a:pPr algn="l">
              <a:lnSpc>
                <a:spcPct val="140000"/>
              </a:lnSpc>
            </a:pPr>
            <a:r>
              <a:rPr sz="900" spc="54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819150"/>
            <a:ext cx="10922000" cy="892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우리가 채우려는 것은 </a:t>
            </a: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그저 빈공간이 아닙니다. </a:t>
            </a:r>
          </a:p>
          <a:p>
            <a:pPr algn="l">
              <a:lnSpc>
                <a:spcPct val="130000"/>
              </a:lnSpc>
            </a:pPr>
            <a:r>
              <a:rPr sz="2620" spc="-52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불교라이프스타일의 미래입니다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1800225"/>
            <a:ext cx="10922000" cy="269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공실이 채워지는 것은 결과일 뿐입니다. </a:t>
            </a:r>
            <a:r>
              <a:rPr sz="12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이 여섯 가지가 실제로 만들려는 것</a:t>
            </a:r>
            <a:r>
              <a:rPr sz="1200">
                <a:solidFill>
                  <a:srgbClr val="B8B8B8"/>
                </a:solidFill>
                <a:latin typeface="Pretendard Medium"/>
                <a:ea typeface="Pretendard Medium"/>
                <a:cs typeface="Pretendard Medium"/>
              </a:rPr>
              <a:t>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2718941"/>
            <a:ext cx="331986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2957066"/>
            <a:ext cx="3206750" cy="462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젊은 세대가 다시</a:t>
            </a:r>
          </a:p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불교를 찾게 만듭니다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325" y="2718941"/>
            <a:ext cx="346869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325" y="2957066"/>
            <a:ext cx="3206750" cy="462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외국인이 한국 불교를</a:t>
            </a:r>
          </a:p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반드시 경험하게 만듭니다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1975" y="2718941"/>
            <a:ext cx="349845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1975" y="2957066"/>
            <a:ext cx="3206750" cy="462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불교를 종교에서</a:t>
            </a:r>
          </a:p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문화·웰니스·라이프스타일로 확장합니다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3851225"/>
            <a:ext cx="351780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" y="4089350"/>
            <a:ext cx="3206750" cy="462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불교문화가 스스로 수익을</a:t>
            </a:r>
          </a:p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만들 수 있는 구조를 만듭니다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5325" y="3851225"/>
            <a:ext cx="348506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5325" y="4089350"/>
            <a:ext cx="3206750" cy="462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그 모델을</a:t>
            </a:r>
          </a:p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전국 사찰로 확산합니다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1975" y="3851225"/>
            <a:ext cx="350292" cy="206375"/>
          </a:xfrm>
          <a:prstGeom prst="rect">
            <a:avLst/>
          </a:prstGeom>
          <a:noFill/>
        </p:spPr>
        <p:txBody>
          <a:bodyPr wrap="square" lIns="85725" rIns="85725" tIns="28575" bIns="28575" anchor="t"/>
          <a:lstStyle/>
          <a:p>
            <a:pPr algn="l">
              <a:lnSpc>
                <a:spcPct val="140000"/>
              </a:lnSpc>
            </a:pPr>
            <a:r>
              <a:rPr sz="819" spc="66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1975" y="4089350"/>
            <a:ext cx="3206750" cy="462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한국 불교의 국제적</a:t>
            </a:r>
          </a:p>
          <a:p>
            <a:pPr algn="l">
              <a:lnSpc>
                <a:spcPct val="135000"/>
              </a:lnSpc>
            </a:pPr>
            <a:r>
              <a:rPr sz="1280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브랜드 가치를 높입니다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4983510"/>
            <a:ext cx="10331450" cy="8540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5000"/>
              </a:lnSpc>
            </a:pPr>
            <a:r>
              <a:rPr sz="2250" spc="-45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봉은문화센터는 새로운 건물이 아니라,</a:t>
            </a:r>
          </a:p>
          <a:p>
            <a:pPr algn="ctr">
              <a:lnSpc>
                <a:spcPct val="145000"/>
              </a:lnSpc>
            </a:pPr>
            <a:r>
              <a:rPr sz="2250" spc="-45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한국 불교가 다음 시대로 넘어가는 첫 번째 Flagship</a:t>
            </a:r>
            <a:r>
              <a:rPr sz="2250" spc="-45">
                <a:solidFill>
                  <a:srgbClr val="F5F5F5"/>
                </a:solidFill>
                <a:latin typeface="Pretendard SemiBold"/>
                <a:ea typeface="Pretendard SemiBold"/>
                <a:cs typeface="Pretendard SemiBold"/>
              </a:rPr>
              <a:t>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6059835"/>
            <a:ext cx="10922000" cy="213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다만 이 미래는 조건부입니다 —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유권해석 5건, 조리 게이트 해소, 국비 72.8억, 그리고 낙관 드라이버를 실행할 조직.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네 가지가 동시에 참일 때 성립합니다. 지금 서 있는 자리는 그 첫 번째 앞이고, </a:t>
            </a:r>
            <a:r>
              <a:rPr sz="900">
                <a:solidFill>
                  <a:srgbClr val="B8B8B8"/>
                </a:solidFill>
                <a:latin typeface="Pretendard SemiBold"/>
                <a:ea typeface="Pretendard SemiBold"/>
                <a:cs typeface="Pretendard SemiBold"/>
              </a:rPr>
              <a:t>9월 27일이 임계경로</a:t>
            </a:r>
            <a:r>
              <a:rPr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6505575"/>
            <a:ext cx="1421110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16. The Future This Creates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3308" y="6505575"/>
            <a:ext cx="1296392" cy="149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by </a:t>
            </a:r>
            <a:r>
              <a:rPr sz="819" spc="33">
                <a:solidFill>
                  <a:srgbClr val="8B7EF0"/>
                </a:solidFill>
                <a:latin typeface="Pretendard SemiBold"/>
                <a:ea typeface="Pretendard SemiBold"/>
                <a:cs typeface="Pretendard SemiBold"/>
              </a:rPr>
              <a:t>Project Rent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819" spc="33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68 / 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