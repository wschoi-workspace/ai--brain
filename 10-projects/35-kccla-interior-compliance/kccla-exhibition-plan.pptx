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4572000" y="-1371600"/>
            <a:ext cx="7315200" cy="5486400"/>
          </a:xfrm>
          <a:prstGeom prst="ellipse">
            <a:avLst/>
          </a:prstGeom>
          <a:solidFill>
            <a:srgbClr val="6C5CE7">
              <a:alpha val="8000"/>
            </a:srgbClr>
          </a:solidFill>
          <a:ln/>
        </p:spPr>
      </p:sp>
      <p:sp>
        <p:nvSpPr>
          <p:cNvPr id="3" name="Text 1"/>
          <p:cNvSpPr/>
          <p:nvPr/>
        </p:nvSpPr>
        <p:spPr>
          <a:xfrm>
            <a:off x="640080" y="731520"/>
            <a:ext cx="7863840" cy="274320"/>
          </a:xfrm>
          <a:prstGeom prst="rect">
            <a:avLst/>
          </a:prstGeom>
          <a:noFill/>
          <a:ln/>
        </p:spPr>
        <p:txBody>
          <a:bodyPr wrap="square" lIns="0" tIns="0" rIns="0" bIns="0" rtlCol="0" anchor="ctr"/>
          <a:lstStyle/>
          <a:p>
            <a:pPr indent="0" marL="0">
              <a:buNone/>
            </a:pPr>
            <a:r>
              <a:rPr lang="en-US" sz="900" spc="400" kern="0" dirty="0">
                <a:solidFill>
                  <a:srgbClr val="A29BFE"/>
                </a:solidFill>
                <a:latin typeface="Pretendard" pitchFamily="34" charset="0"/>
                <a:ea typeface="Pretendard" pitchFamily="34" charset="-122"/>
                <a:cs typeface="Pretendard" pitchFamily="34" charset="-120"/>
              </a:rPr>
              <a:t>LA KOREAN CULTURAL CENTER · EXHIBITION CONTENT PLAN</a:t>
            </a:r>
            <a:endParaRPr lang="en-US" sz="900" dirty="0"/>
          </a:p>
        </p:txBody>
      </p:sp>
      <p:sp>
        <p:nvSpPr>
          <p:cNvPr id="4" name="Text 2"/>
          <p:cNvSpPr/>
          <p:nvPr/>
        </p:nvSpPr>
        <p:spPr>
          <a:xfrm>
            <a:off x="640080" y="1280160"/>
            <a:ext cx="7863840" cy="1828800"/>
          </a:xfrm>
          <a:prstGeom prst="rect">
            <a:avLst/>
          </a:prstGeom>
          <a:noFill/>
          <a:ln/>
        </p:spPr>
        <p:txBody>
          <a:bodyPr wrap="square" lIns="0" tIns="0" rIns="0" bIns="0" rtlCol="0" anchor="t"/>
          <a:lstStyle/>
          <a:p>
            <a:pPr indent="0" marL="0">
              <a:buNone/>
            </a:pPr>
            <a:r>
              <a:rPr lang="en-US" sz="3800" dirty="0">
                <a:solidFill>
                  <a:srgbClr val="C9C2BA"/>
                </a:solidFill>
                <a:latin typeface="Pretendard" pitchFamily="34" charset="0"/>
                <a:ea typeface="Pretendard" pitchFamily="34" charset="-122"/>
                <a:cs typeface="Pretendard" pitchFamily="34" charset="-120"/>
              </a:rPr>
              <a:t>한국을 소개하는 공간에서
</a:t>
            </a:r>
            <a:pPr indent="0" marL="0">
              <a:buNone/>
            </a:pPr>
            <a:r>
              <a:rPr lang="en-US" sz="3800" b="1" dirty="0">
                <a:solidFill>
                  <a:srgbClr val="F5F0EB"/>
                </a:solidFill>
                <a:latin typeface="Pretendard" pitchFamily="34" charset="0"/>
                <a:ea typeface="Pretendard" pitchFamily="34" charset="-122"/>
                <a:cs typeface="Pretendard" pitchFamily="34" charset="-120"/>
              </a:rPr>
              <a:t>오늘의 한국을 경험하는 공간으로</a:t>
            </a:r>
            <a:endParaRPr lang="en-US" sz="3800" dirty="0"/>
          </a:p>
        </p:txBody>
      </p:sp>
      <p:sp>
        <p:nvSpPr>
          <p:cNvPr id="5" name="Text 3"/>
          <p:cNvSpPr/>
          <p:nvPr/>
        </p:nvSpPr>
        <p:spPr>
          <a:xfrm>
            <a:off x="640080" y="3017520"/>
            <a:ext cx="7315200" cy="640080"/>
          </a:xfrm>
          <a:prstGeom prst="rect">
            <a:avLst/>
          </a:prstGeom>
          <a:noFill/>
          <a:ln/>
        </p:spPr>
        <p:txBody>
          <a:bodyPr wrap="square" rtlCol="0" anchor="ctr"/>
          <a:lstStyle/>
          <a:p>
            <a:pPr indent="0" marL="0">
              <a:buNone/>
            </a:pPr>
            <a:r>
              <a:rPr lang="en-US" sz="1200" dirty="0">
                <a:solidFill>
                  <a:srgbClr val="C9C2BA"/>
                </a:solidFill>
                <a:latin typeface="Pretendard" pitchFamily="34" charset="0"/>
                <a:ea typeface="Pretendard" pitchFamily="34" charset="-122"/>
                <a:cs typeface="Pretendard" pitchFamily="34" charset="-120"/>
              </a:rPr>
              <a:t>LA 한국문화원 리뉴얼 전시 콘텐츠 기획안 — TEXTURE 시즌1 &amp; Department of K-living,</a:t>
            </a:r>
            <a:endParaRPr lang="en-US" sz="1200" dirty="0"/>
          </a:p>
          <a:p>
            <a:pPr indent="0" marL="0">
              <a:buNone/>
            </a:pPr>
            <a:r>
              <a:rPr lang="en-US" sz="1200" dirty="0">
                <a:solidFill>
                  <a:srgbClr val="C9C2BA"/>
                </a:solidFill>
                <a:latin typeface="Pretendard" pitchFamily="34" charset="0"/>
                <a:ea typeface="Pretendard" pitchFamily="34" charset="-122"/>
                <a:cs typeface="Pretendard" pitchFamily="34" charset="-120"/>
              </a:rPr>
              <a:t>두 시즌의 콘텐츠 방향과 공간 운영 전략을 정리합니다.</a:t>
            </a:r>
            <a:endParaRPr lang="en-US" sz="1200" dirty="0"/>
          </a:p>
        </p:txBody>
      </p:sp>
      <p:sp>
        <p:nvSpPr>
          <p:cNvPr id="6" name="Text 4"/>
          <p:cNvSpPr/>
          <p:nvPr/>
        </p:nvSpPr>
        <p:spPr>
          <a:xfrm>
            <a:off x="640080" y="3931920"/>
            <a:ext cx="1920240" cy="18288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PROJECT</a:t>
            </a:r>
            <a:endParaRPr lang="en-US" sz="750" dirty="0"/>
          </a:p>
        </p:txBody>
      </p:sp>
      <p:sp>
        <p:nvSpPr>
          <p:cNvPr id="7" name="Text 5"/>
          <p:cNvSpPr/>
          <p:nvPr/>
        </p:nvSpPr>
        <p:spPr>
          <a:xfrm>
            <a:off x="640080" y="4133088"/>
            <a:ext cx="1920240" cy="274320"/>
          </a:xfrm>
          <a:prstGeom prst="rect">
            <a:avLst/>
          </a:prstGeom>
          <a:noFill/>
          <a:ln/>
        </p:spPr>
        <p:txBody>
          <a:bodyPr wrap="square" lIns="0" tIns="0" rIns="0" bIns="0" rtlCol="0" anchor="ctr"/>
          <a:lstStyle/>
          <a:p>
            <a:pPr indent="0" marL="0">
              <a:buNone/>
            </a:pPr>
            <a:r>
              <a:rPr lang="en-US" sz="1050" dirty="0">
                <a:solidFill>
                  <a:srgbClr val="F5F0EB"/>
                </a:solidFill>
                <a:latin typeface="Pretendard" pitchFamily="34" charset="0"/>
                <a:ea typeface="Pretendard" pitchFamily="34" charset="-122"/>
                <a:cs typeface="Pretendard" pitchFamily="34" charset="-120"/>
              </a:rPr>
              <a:t>LA Korean Cultural Center Renewal</a:t>
            </a:r>
            <a:endParaRPr lang="en-US" sz="1050" dirty="0"/>
          </a:p>
        </p:txBody>
      </p:sp>
      <p:sp>
        <p:nvSpPr>
          <p:cNvPr id="8" name="Text 6"/>
          <p:cNvSpPr/>
          <p:nvPr/>
        </p:nvSpPr>
        <p:spPr>
          <a:xfrm>
            <a:off x="2697480" y="3931920"/>
            <a:ext cx="1920240" cy="18288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SCOPE</a:t>
            </a:r>
            <a:endParaRPr lang="en-US" sz="750" dirty="0"/>
          </a:p>
        </p:txBody>
      </p:sp>
      <p:sp>
        <p:nvSpPr>
          <p:cNvPr id="9" name="Text 7"/>
          <p:cNvSpPr/>
          <p:nvPr/>
        </p:nvSpPr>
        <p:spPr>
          <a:xfrm>
            <a:off x="2697480" y="4133088"/>
            <a:ext cx="1920240" cy="274320"/>
          </a:xfrm>
          <a:prstGeom prst="rect">
            <a:avLst/>
          </a:prstGeom>
          <a:noFill/>
          <a:ln/>
        </p:spPr>
        <p:txBody>
          <a:bodyPr wrap="square" lIns="0" tIns="0" rIns="0" bIns="0" rtlCol="0" anchor="ctr"/>
          <a:lstStyle/>
          <a:p>
            <a:pPr indent="0" marL="0">
              <a:buNone/>
            </a:pPr>
            <a:r>
              <a:rPr lang="en-US" sz="1050" dirty="0">
                <a:solidFill>
                  <a:srgbClr val="F5F0EB"/>
                </a:solidFill>
                <a:latin typeface="Pretendard" pitchFamily="34" charset="0"/>
                <a:ea typeface="Pretendard" pitchFamily="34" charset="-122"/>
                <a:cs typeface="Pretendard" pitchFamily="34" charset="-120"/>
              </a:rPr>
              <a:t>한국문화원(Origin) × 코리아센터(Living)</a:t>
            </a:r>
            <a:endParaRPr lang="en-US" sz="1050" dirty="0"/>
          </a:p>
        </p:txBody>
      </p:sp>
      <p:sp>
        <p:nvSpPr>
          <p:cNvPr id="10" name="Text 8"/>
          <p:cNvSpPr/>
          <p:nvPr/>
        </p:nvSpPr>
        <p:spPr>
          <a:xfrm>
            <a:off x="4754880" y="3931920"/>
            <a:ext cx="1920240" cy="18288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PREPARED BY</a:t>
            </a:r>
            <a:endParaRPr lang="en-US" sz="750" dirty="0"/>
          </a:p>
        </p:txBody>
      </p:sp>
      <p:sp>
        <p:nvSpPr>
          <p:cNvPr id="11" name="Text 9"/>
          <p:cNvSpPr/>
          <p:nvPr/>
        </p:nvSpPr>
        <p:spPr>
          <a:xfrm>
            <a:off x="4754880" y="4133088"/>
            <a:ext cx="1920240" cy="274320"/>
          </a:xfrm>
          <a:prstGeom prst="rect">
            <a:avLst/>
          </a:prstGeom>
          <a:noFill/>
          <a:ln/>
        </p:spPr>
        <p:txBody>
          <a:bodyPr wrap="square" lIns="0" tIns="0" rIns="0" bIns="0" rtlCol="0" anchor="ctr"/>
          <a:lstStyle/>
          <a:p>
            <a:pPr indent="0" marL="0">
              <a:buNone/>
            </a:pPr>
            <a:r>
              <a:rPr lang="en-US" sz="1050" dirty="0">
                <a:solidFill>
                  <a:srgbClr val="F5F0EB"/>
                </a:solidFill>
                <a:latin typeface="Pretendard" pitchFamily="34" charset="0"/>
                <a:ea typeface="Pretendard" pitchFamily="34" charset="-122"/>
                <a:cs typeface="Pretendard" pitchFamily="34" charset="-120"/>
              </a:rPr>
              <a:t>Project Rent</a:t>
            </a:r>
            <a:endParaRPr lang="en-US" sz="1050" dirty="0"/>
          </a:p>
        </p:txBody>
      </p:sp>
      <p:sp>
        <p:nvSpPr>
          <p:cNvPr id="12" name="Text 10"/>
          <p:cNvSpPr/>
          <p:nvPr/>
        </p:nvSpPr>
        <p:spPr>
          <a:xfrm>
            <a:off x="6812280" y="3931920"/>
            <a:ext cx="1920240" cy="18288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STATUS</a:t>
            </a:r>
            <a:endParaRPr lang="en-US" sz="750" dirty="0"/>
          </a:p>
        </p:txBody>
      </p:sp>
      <p:sp>
        <p:nvSpPr>
          <p:cNvPr id="13" name="Text 11"/>
          <p:cNvSpPr/>
          <p:nvPr/>
        </p:nvSpPr>
        <p:spPr>
          <a:xfrm>
            <a:off x="6812280" y="4133088"/>
            <a:ext cx="1920240" cy="274320"/>
          </a:xfrm>
          <a:prstGeom prst="rect">
            <a:avLst/>
          </a:prstGeom>
          <a:noFill/>
          <a:ln/>
        </p:spPr>
        <p:txBody>
          <a:bodyPr wrap="square" lIns="0" tIns="0" rIns="0" bIns="0" rtlCol="0" anchor="ctr"/>
          <a:lstStyle/>
          <a:p>
            <a:pPr indent="0" marL="0">
              <a:buNone/>
            </a:pPr>
            <a:r>
              <a:rPr lang="en-US" sz="1050" dirty="0">
                <a:solidFill>
                  <a:srgbClr val="F5F0EB"/>
                </a:solidFill>
                <a:latin typeface="Pretendard" pitchFamily="34" charset="0"/>
                <a:ea typeface="Pretendard" pitchFamily="34" charset="-122"/>
                <a:cs typeface="Pretendard" pitchFamily="34" charset="-120"/>
              </a:rPr>
              <a:t>Draft v0.1 · 2026.07</a:t>
            </a:r>
            <a:endParaRPr lang="en-US" sz="1050" dirty="0"/>
          </a:p>
        </p:txBody>
      </p:sp>
      <p:sp>
        <p:nvSpPr>
          <p:cNvPr id="14" name="Shape 12"/>
          <p:cNvSpPr/>
          <p:nvPr/>
        </p:nvSpPr>
        <p:spPr>
          <a:xfrm>
            <a:off x="512064" y="4617720"/>
            <a:ext cx="8119872" cy="0"/>
          </a:xfrm>
          <a:prstGeom prst="line">
            <a:avLst/>
          </a:prstGeom>
          <a:noFill/>
          <a:ln w="6350">
            <a:solidFill>
              <a:srgbClr val="2A2A2A"/>
            </a:solidFill>
            <a:prstDash val="solid"/>
          </a:ln>
        </p:spPr>
      </p:sp>
      <p:sp>
        <p:nvSpPr>
          <p:cNvPr id="15" name="Text 13"/>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EXHIBITION CONTENT PLAN</a:t>
            </a:r>
            <a:endParaRPr lang="en-US" sz="750" dirty="0"/>
          </a:p>
        </p:txBody>
      </p:sp>
      <p:sp>
        <p:nvSpPr>
          <p:cNvPr id="16" name="Text 14"/>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KCCLA RENEWAL</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DIRECTION</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리뉴얼 방향 · DIRECTION</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02</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73152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한국문화원(Origin) × 코리아센터(Living)
</a:t>
            </a:r>
            <a:pPr indent="0" marL="0">
              <a:buNone/>
            </a:pPr>
            <a:r>
              <a:rPr lang="en-US" sz="2600" b="1" dirty="0">
                <a:solidFill>
                  <a:srgbClr val="A29BFE"/>
                </a:solidFill>
                <a:latin typeface="Pretendard" pitchFamily="34" charset="0"/>
                <a:ea typeface="Pretendard" pitchFamily="34" charset="-122"/>
                <a:cs typeface="Pretendard" pitchFamily="34" charset="-120"/>
              </a:rPr>
              <a:t>2관 역할 분리</a:t>
            </a:r>
            <a:endParaRPr lang="en-US" sz="2600" dirty="0"/>
          </a:p>
        </p:txBody>
      </p:sp>
      <p:sp>
        <p:nvSpPr>
          <p:cNvPr id="8" name="Text 6"/>
          <p:cNvSpPr/>
          <p:nvPr/>
        </p:nvSpPr>
        <p:spPr>
          <a:xfrm>
            <a:off x="512064" y="1737360"/>
            <a:ext cx="8119872" cy="502920"/>
          </a:xfrm>
          <a:prstGeom prst="rect">
            <a:avLst/>
          </a:prstGeom>
          <a:noFill/>
          <a:ln/>
        </p:spPr>
        <p:txBody>
          <a:bodyPr wrap="square" lIns="0" tIns="0" rIns="0" bIns="0" rtlCol="0" anchor="ctr"/>
          <a:lstStyle/>
          <a:p>
            <a:pPr indent="0" marL="0">
              <a:buNone/>
            </a:pPr>
            <a:r>
              <a:rPr lang="en-US" sz="1150" dirty="0">
                <a:solidFill>
                  <a:srgbClr val="C9C2BA"/>
                </a:solidFill>
                <a:latin typeface="Pretendard" pitchFamily="34" charset="0"/>
                <a:ea typeface="Pretendard" pitchFamily="34" charset="-122"/>
                <a:cs typeface="Pretendard" pitchFamily="34" charset="-120"/>
              </a:rPr>
              <a:t>기존의 '한국을 소개하는 공간'에서, '오늘의 한국을 경험하는 공간'으로 전환합니다.</a:t>
            </a:r>
            <a:endParaRPr lang="en-US" sz="1150" dirty="0"/>
          </a:p>
          <a:p>
            <a:pPr indent="0" marL="0">
              <a:buNone/>
            </a:pPr>
            <a:r>
              <a:rPr lang="en-US" sz="1150" dirty="0">
                <a:solidFill>
                  <a:srgbClr val="C9C2BA"/>
                </a:solidFill>
                <a:latin typeface="Pretendard" pitchFamily="34" charset="0"/>
                <a:ea typeface="Pretendard" pitchFamily="34" charset="-122"/>
                <a:cs typeface="Pretendard" pitchFamily="34" charset="-120"/>
              </a:rPr>
              <a:t>두 건물은 하나의 스토리를 시간축으로 나누어 경험하도록 설계합니다.</a:t>
            </a:r>
            <a:endParaRPr lang="en-US" sz="1150" dirty="0"/>
          </a:p>
        </p:txBody>
      </p:sp>
      <p:sp>
        <p:nvSpPr>
          <p:cNvPr id="9" name="Text 7"/>
          <p:cNvSpPr/>
          <p:nvPr/>
        </p:nvSpPr>
        <p:spPr>
          <a:xfrm>
            <a:off x="640080" y="2331720"/>
            <a:ext cx="2743200" cy="320040"/>
          </a:xfrm>
          <a:prstGeom prst="rect">
            <a:avLst/>
          </a:prstGeom>
          <a:noFill/>
          <a:ln/>
        </p:spPr>
        <p:txBody>
          <a:bodyPr wrap="square" lIns="0" tIns="0" rIns="0" bIns="0" rtlCol="0" anchor="ctr"/>
          <a:lstStyle/>
          <a:p>
            <a:pPr indent="0" marL="0">
              <a:buNone/>
            </a:pPr>
            <a:r>
              <a:rPr lang="en-US" sz="1600" strike="sngStrike" dirty="0">
                <a:solidFill>
                  <a:srgbClr val="7A7570"/>
                </a:solidFill>
                <a:latin typeface="Pretendard" pitchFamily="34" charset="0"/>
                <a:ea typeface="Pretendard" pitchFamily="34" charset="-122"/>
                <a:cs typeface="Pretendard" pitchFamily="34" charset="-120"/>
              </a:rPr>
              <a:t>한국을 소개하는 전시</a:t>
            </a:r>
            <a:endParaRPr lang="en-US" sz="1600" dirty="0"/>
          </a:p>
        </p:txBody>
      </p:sp>
      <p:sp>
        <p:nvSpPr>
          <p:cNvPr id="10" name="Text 8"/>
          <p:cNvSpPr/>
          <p:nvPr/>
        </p:nvSpPr>
        <p:spPr>
          <a:xfrm>
            <a:off x="3474720" y="2331720"/>
            <a:ext cx="457200" cy="320040"/>
          </a:xfrm>
          <a:prstGeom prst="rect">
            <a:avLst/>
          </a:prstGeom>
          <a:noFill/>
          <a:ln/>
        </p:spPr>
        <p:txBody>
          <a:bodyPr wrap="square" lIns="0" tIns="0" rIns="0" bIns="0" rtlCol="0" anchor="ctr"/>
          <a:lstStyle/>
          <a:p>
            <a:pPr algn="ctr" indent="0" marL="0">
              <a:buNone/>
            </a:pPr>
            <a:r>
              <a:rPr lang="en-US" sz="1600" dirty="0">
                <a:solidFill>
                  <a:srgbClr val="A29BFE"/>
                </a:solidFill>
                <a:latin typeface="Pretendard" pitchFamily="34" charset="0"/>
                <a:ea typeface="Pretendard" pitchFamily="34" charset="-122"/>
                <a:cs typeface="Pretendard" pitchFamily="34" charset="-120"/>
              </a:rPr>
              <a:t>→</a:t>
            </a:r>
            <a:endParaRPr lang="en-US" sz="1600" dirty="0"/>
          </a:p>
        </p:txBody>
      </p:sp>
      <p:sp>
        <p:nvSpPr>
          <p:cNvPr id="11" name="Text 9"/>
          <p:cNvSpPr/>
          <p:nvPr/>
        </p:nvSpPr>
        <p:spPr>
          <a:xfrm>
            <a:off x="3977640" y="2331720"/>
            <a:ext cx="4114800" cy="320040"/>
          </a:xfrm>
          <a:prstGeom prst="rect">
            <a:avLst/>
          </a:prstGeom>
          <a:noFill/>
          <a:ln/>
        </p:spPr>
        <p:txBody>
          <a:bodyPr wrap="square" lIns="0" tIns="0" rIns="0" bIns="0" rtlCol="0" anchor="ctr"/>
          <a:lstStyle/>
          <a:p>
            <a:pPr indent="0" marL="0">
              <a:buNone/>
            </a:pPr>
            <a:r>
              <a:rPr lang="en-US" sz="1800" b="1" dirty="0">
                <a:solidFill>
                  <a:srgbClr val="6C5CE7"/>
                </a:solidFill>
                <a:latin typeface="Pretendard" pitchFamily="34" charset="0"/>
                <a:ea typeface="Pretendard" pitchFamily="34" charset="-122"/>
                <a:cs typeface="Pretendard" pitchFamily="34" charset="-120"/>
              </a:rPr>
              <a:t>오늘의 한국을 경험하는 공간</a:t>
            </a:r>
            <a:endParaRPr lang="en-US" sz="1800" dirty="0"/>
          </a:p>
        </p:txBody>
      </p:sp>
      <p:sp>
        <p:nvSpPr>
          <p:cNvPr id="12" name="Shape 10"/>
          <p:cNvSpPr/>
          <p:nvPr/>
        </p:nvSpPr>
        <p:spPr>
          <a:xfrm>
            <a:off x="512064" y="2834640"/>
            <a:ext cx="3931920" cy="1280160"/>
          </a:xfrm>
          <a:prstGeom prst="rect">
            <a:avLst/>
          </a:prstGeom>
          <a:solidFill>
            <a:srgbClr val="222222"/>
          </a:solidFill>
          <a:ln w="6350">
            <a:solidFill>
              <a:srgbClr val="2A2A2A"/>
            </a:solidFill>
            <a:prstDash val="solid"/>
          </a:ln>
        </p:spPr>
      </p:sp>
      <p:sp>
        <p:nvSpPr>
          <p:cNvPr id="13" name="Shape 11"/>
          <p:cNvSpPr/>
          <p:nvPr/>
        </p:nvSpPr>
        <p:spPr>
          <a:xfrm>
            <a:off x="512064" y="2834640"/>
            <a:ext cx="3931920" cy="36576"/>
          </a:xfrm>
          <a:prstGeom prst="rect">
            <a:avLst/>
          </a:prstGeom>
          <a:solidFill>
            <a:srgbClr val="6C5CE7"/>
          </a:solidFill>
          <a:ln/>
        </p:spPr>
      </p:sp>
      <p:sp>
        <p:nvSpPr>
          <p:cNvPr id="14" name="Text 12"/>
          <p:cNvSpPr/>
          <p:nvPr/>
        </p:nvSpPr>
        <p:spPr>
          <a:xfrm>
            <a:off x="694944" y="2971800"/>
            <a:ext cx="3566160" cy="182880"/>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한국문화원 · ORIGIN</a:t>
            </a:r>
            <a:endParaRPr lang="en-US" sz="800" dirty="0"/>
          </a:p>
        </p:txBody>
      </p:sp>
      <p:sp>
        <p:nvSpPr>
          <p:cNvPr id="15" name="Text 13"/>
          <p:cNvSpPr/>
          <p:nvPr/>
        </p:nvSpPr>
        <p:spPr>
          <a:xfrm>
            <a:off x="694944" y="3200400"/>
            <a:ext cx="3566160" cy="228600"/>
          </a:xfrm>
          <a:prstGeom prst="rect">
            <a:avLst/>
          </a:prstGeom>
          <a:noFill/>
          <a:ln/>
        </p:spPr>
        <p:txBody>
          <a:bodyPr wrap="square" lIns="0" tIns="0" rIns="0" bIns="0" rtlCol="0" anchor="ctr"/>
          <a:lstStyle/>
          <a:p>
            <a:pPr indent="0" marL="0">
              <a:buNone/>
            </a:pPr>
            <a:r>
              <a:rPr lang="en-US" sz="1300" b="1" dirty="0">
                <a:solidFill>
                  <a:srgbClr val="F5F0EB"/>
                </a:solidFill>
                <a:latin typeface="Pretendard" pitchFamily="34" charset="0"/>
                <a:ea typeface="Pretendard" pitchFamily="34" charset="-122"/>
                <a:cs typeface="Pretendard" pitchFamily="34" charset="-120"/>
              </a:rPr>
              <a:t>한국 문화의 뿌리</a:t>
            </a:r>
            <a:endParaRPr lang="en-US" sz="1300" dirty="0"/>
          </a:p>
        </p:txBody>
      </p:sp>
      <p:sp>
        <p:nvSpPr>
          <p:cNvPr id="16" name="Text 14"/>
          <p:cNvSpPr/>
          <p:nvPr/>
        </p:nvSpPr>
        <p:spPr>
          <a:xfrm>
            <a:off x="694944" y="3474720"/>
            <a:ext cx="3566160" cy="54864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한글, 한지, 전통 소재와 공예 — 한국 문화의 원형과 물성을 이해하는 출발점. 역사와 철학, 전통이 살아 숨 쉬는 공간.</a:t>
            </a:r>
            <a:endParaRPr lang="en-US" sz="1000" dirty="0"/>
          </a:p>
        </p:txBody>
      </p:sp>
      <p:sp>
        <p:nvSpPr>
          <p:cNvPr id="17" name="Shape 15"/>
          <p:cNvSpPr/>
          <p:nvPr/>
        </p:nvSpPr>
        <p:spPr>
          <a:xfrm>
            <a:off x="4700016" y="2834640"/>
            <a:ext cx="3931920" cy="1280160"/>
          </a:xfrm>
          <a:prstGeom prst="rect">
            <a:avLst/>
          </a:prstGeom>
          <a:solidFill>
            <a:srgbClr val="222222"/>
          </a:solidFill>
          <a:ln w="6350">
            <a:solidFill>
              <a:srgbClr val="2A2A2A"/>
            </a:solidFill>
            <a:prstDash val="solid"/>
          </a:ln>
        </p:spPr>
      </p:sp>
      <p:sp>
        <p:nvSpPr>
          <p:cNvPr id="18" name="Shape 16"/>
          <p:cNvSpPr/>
          <p:nvPr/>
        </p:nvSpPr>
        <p:spPr>
          <a:xfrm>
            <a:off x="4700016" y="2834640"/>
            <a:ext cx="3931920" cy="36576"/>
          </a:xfrm>
          <a:prstGeom prst="rect">
            <a:avLst/>
          </a:prstGeom>
          <a:solidFill>
            <a:srgbClr val="8FA37E"/>
          </a:solidFill>
          <a:ln/>
        </p:spPr>
      </p:sp>
      <p:sp>
        <p:nvSpPr>
          <p:cNvPr id="19" name="Text 17"/>
          <p:cNvSpPr/>
          <p:nvPr/>
        </p:nvSpPr>
        <p:spPr>
          <a:xfrm>
            <a:off x="4882896" y="2971800"/>
            <a:ext cx="3566160" cy="182880"/>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코리아센터 · LIVING</a:t>
            </a:r>
            <a:endParaRPr lang="en-US" sz="800" dirty="0"/>
          </a:p>
        </p:txBody>
      </p:sp>
      <p:sp>
        <p:nvSpPr>
          <p:cNvPr id="20" name="Text 18"/>
          <p:cNvSpPr/>
          <p:nvPr/>
        </p:nvSpPr>
        <p:spPr>
          <a:xfrm>
            <a:off x="4882896" y="3200400"/>
            <a:ext cx="3566160" cy="228600"/>
          </a:xfrm>
          <a:prstGeom prst="rect">
            <a:avLst/>
          </a:prstGeom>
          <a:noFill/>
          <a:ln/>
        </p:spPr>
        <p:txBody>
          <a:bodyPr wrap="square" lIns="0" tIns="0" rIns="0" bIns="0" rtlCol="0" anchor="ctr"/>
          <a:lstStyle/>
          <a:p>
            <a:pPr indent="0" marL="0">
              <a:buNone/>
            </a:pPr>
            <a:r>
              <a:rPr lang="en-US" sz="1300" b="1" dirty="0">
                <a:solidFill>
                  <a:srgbClr val="F5F0EB"/>
                </a:solidFill>
                <a:latin typeface="Pretendard" pitchFamily="34" charset="0"/>
                <a:ea typeface="Pretendard" pitchFamily="34" charset="-122"/>
                <a:cs typeface="Pretendard" pitchFamily="34" charset="-120"/>
              </a:rPr>
              <a:t>오늘의 한국, 살아있는 문화</a:t>
            </a:r>
            <a:endParaRPr lang="en-US" sz="1300" dirty="0"/>
          </a:p>
        </p:txBody>
      </p:sp>
      <p:sp>
        <p:nvSpPr>
          <p:cNvPr id="21" name="Text 19"/>
          <p:cNvSpPr/>
          <p:nvPr/>
        </p:nvSpPr>
        <p:spPr>
          <a:xfrm>
            <a:off x="4882896" y="3474720"/>
            <a:ext cx="3566160" cy="54864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웹툰, 독립출판, 타이포그래피, 디자인, 굿즈, 워크숍 — 한글이 현재의 창작 문화와 라이프스타일 속에서 살아 움직이는 경험의 공간.</a:t>
            </a:r>
            <a:endParaRPr lang="en-US" sz="1000" dirty="0"/>
          </a:p>
        </p:txBody>
      </p:sp>
      <p:sp>
        <p:nvSpPr>
          <p:cNvPr id="22" name="Shape 20"/>
          <p:cNvSpPr/>
          <p:nvPr/>
        </p:nvSpPr>
        <p:spPr>
          <a:xfrm>
            <a:off x="512064" y="4206240"/>
            <a:ext cx="8119872" cy="320040"/>
          </a:xfrm>
          <a:prstGeom prst="rect">
            <a:avLst/>
          </a:prstGeom>
          <a:solidFill>
            <a:srgbClr val="6C5CE7">
              <a:alpha val="8000"/>
            </a:srgbClr>
          </a:solidFill>
          <a:ln/>
        </p:spPr>
      </p:sp>
      <p:sp>
        <p:nvSpPr>
          <p:cNvPr id="23" name="Shape 21"/>
          <p:cNvSpPr/>
          <p:nvPr/>
        </p:nvSpPr>
        <p:spPr>
          <a:xfrm>
            <a:off x="512064" y="4206240"/>
            <a:ext cx="54864" cy="320040"/>
          </a:xfrm>
          <a:prstGeom prst="rect">
            <a:avLst/>
          </a:prstGeom>
          <a:solidFill>
            <a:srgbClr val="6C5CE7"/>
          </a:solidFill>
          <a:ln/>
        </p:spPr>
      </p:sp>
      <p:sp>
        <p:nvSpPr>
          <p:cNvPr id="24" name="Text 22"/>
          <p:cNvSpPr/>
          <p:nvPr/>
        </p:nvSpPr>
        <p:spPr>
          <a:xfrm>
            <a:off x="731520" y="4206240"/>
            <a:ext cx="7863840" cy="32004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핵심 원칙. 한국문화원은 '왜 한국인가'를, 코리아센터는 '지금의 한국은 어떤가'를 답한다.</a:t>
            </a:r>
            <a:endParaRPr lang="en-US" sz="1000" dirty="0"/>
          </a:p>
        </p:txBody>
      </p:sp>
      <p:sp>
        <p:nvSpPr>
          <p:cNvPr id="25" name="Shape 23"/>
          <p:cNvSpPr/>
          <p:nvPr/>
        </p:nvSpPr>
        <p:spPr>
          <a:xfrm>
            <a:off x="512064" y="4617720"/>
            <a:ext cx="8119872" cy="0"/>
          </a:xfrm>
          <a:prstGeom prst="line">
            <a:avLst/>
          </a:prstGeom>
          <a:noFill/>
          <a:ln w="6350">
            <a:solidFill>
              <a:srgbClr val="2A2A2A"/>
            </a:solidFill>
            <a:prstDash val="solid"/>
          </a:ln>
        </p:spPr>
      </p:sp>
      <p:sp>
        <p:nvSpPr>
          <p:cNvPr id="26" name="Text 24"/>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DIRECTION · 2관 역할 분리</a:t>
            </a:r>
            <a:endParaRPr lang="en-US" sz="750" dirty="0"/>
          </a:p>
        </p:txBody>
      </p:sp>
      <p:sp>
        <p:nvSpPr>
          <p:cNvPr id="27" name="Text 25"/>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SEASON 1</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TEXTURE</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TEXTURE · SEASON 1 CONCEPT</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03</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822960"/>
          </a:xfrm>
          <a:prstGeom prst="rect">
            <a:avLst/>
          </a:prstGeom>
          <a:noFill/>
          <a:ln/>
        </p:spPr>
        <p:txBody>
          <a:bodyPr wrap="square" lIns="0" tIns="0" rIns="0" bIns="0" rtlCol="0" anchor="ctr"/>
          <a:lstStyle/>
          <a:p>
            <a:pPr indent="0" marL="0">
              <a:buNone/>
            </a:pPr>
            <a:r>
              <a:rPr lang="en-US" sz="2800" b="1" dirty="0">
                <a:solidFill>
                  <a:srgbClr val="F5F0EB"/>
                </a:solidFill>
                <a:latin typeface="Pretendard" pitchFamily="34" charset="0"/>
                <a:ea typeface="Pretendard" pitchFamily="34" charset="-122"/>
                <a:cs typeface="Pretendard" pitchFamily="34" charset="-120"/>
              </a:rPr>
              <a:t>From Text to Texture,
</a:t>
            </a:r>
            <a:pPr indent="0" marL="0">
              <a:buNone/>
            </a:pPr>
            <a:r>
              <a:rPr lang="en-US" sz="2800" b="1" dirty="0">
                <a:solidFill>
                  <a:srgbClr val="A29BFE"/>
                </a:solidFill>
                <a:latin typeface="Pretendard" pitchFamily="34" charset="0"/>
                <a:ea typeface="Pretendard" pitchFamily="34" charset="-122"/>
                <a:cs typeface="Pretendard" pitchFamily="34" charset="-120"/>
              </a:rPr>
              <a:t>From Culture to Lifestyle</a:t>
            </a:r>
            <a:endParaRPr lang="en-US" sz="2800" dirty="0"/>
          </a:p>
        </p:txBody>
      </p:sp>
      <p:sp>
        <p:nvSpPr>
          <p:cNvPr id="8" name="Text 6"/>
          <p:cNvSpPr/>
          <p:nvPr/>
        </p:nvSpPr>
        <p:spPr>
          <a:xfrm>
            <a:off x="512064" y="1783080"/>
            <a:ext cx="8119872" cy="502920"/>
          </a:xfrm>
          <a:prstGeom prst="rect">
            <a:avLst/>
          </a:prstGeom>
          <a:noFill/>
          <a:ln/>
        </p:spPr>
        <p:txBody>
          <a:bodyPr wrap="square" lIns="0" tIns="0" rIns="0" bIns="0" rtlCol="0" anchor="ctr"/>
          <a:lstStyle/>
          <a:p>
            <a:pPr indent="0" marL="0">
              <a:buNone/>
            </a:pPr>
            <a:r>
              <a:rPr lang="en-US" sz="1150" dirty="0">
                <a:solidFill>
                  <a:srgbClr val="C9C2BA"/>
                </a:solidFill>
                <a:latin typeface="Pretendard" pitchFamily="34" charset="0"/>
                <a:ea typeface="Pretendard" pitchFamily="34" charset="-122"/>
                <a:cs typeface="Pretendard" pitchFamily="34" charset="-120"/>
              </a:rPr>
              <a:t>한글을 '배우는 전시'가 아니라, 한글이라는 문화가 어떻게 오늘날의 라이프스타일과 창작 문화로 진화했는가를 경험하는 전시.</a:t>
            </a:r>
            <a:endParaRPr lang="en-US" sz="1150" dirty="0"/>
          </a:p>
          <a:p>
            <a:pPr indent="0" marL="0">
              <a:buNone/>
            </a:pPr>
            <a:r>
              <a:rPr lang="en-US" sz="1150" dirty="0">
                <a:solidFill>
                  <a:srgbClr val="C9C2BA"/>
                </a:solidFill>
                <a:latin typeface="Pretendard" pitchFamily="34" charset="0"/>
                <a:ea typeface="Pretendard" pitchFamily="34" charset="-122"/>
                <a:cs typeface="Pretendard" pitchFamily="34" charset="-120"/>
              </a:rPr>
              <a:t>문자에서 물성으로, 문화에서 라이프스타일로.</a:t>
            </a:r>
            <a:endParaRPr lang="en-US" sz="1150" dirty="0"/>
          </a:p>
        </p:txBody>
      </p:sp>
      <p:sp>
        <p:nvSpPr>
          <p:cNvPr id="9" name="Shape 7"/>
          <p:cNvSpPr/>
          <p:nvPr/>
        </p:nvSpPr>
        <p:spPr>
          <a:xfrm>
            <a:off x="512064" y="2468880"/>
            <a:ext cx="1554480" cy="1554480"/>
          </a:xfrm>
          <a:prstGeom prst="rect">
            <a:avLst/>
          </a:prstGeom>
          <a:solidFill>
            <a:srgbClr val="222222"/>
          </a:solidFill>
          <a:ln w="6350">
            <a:solidFill>
              <a:srgbClr val="2A2A2A"/>
            </a:solidFill>
            <a:prstDash val="solid"/>
          </a:ln>
        </p:spPr>
      </p:sp>
      <p:sp>
        <p:nvSpPr>
          <p:cNvPr id="10" name="Shape 8"/>
          <p:cNvSpPr/>
          <p:nvPr/>
        </p:nvSpPr>
        <p:spPr>
          <a:xfrm>
            <a:off x="512064" y="2468880"/>
            <a:ext cx="1554480" cy="36576"/>
          </a:xfrm>
          <a:prstGeom prst="rect">
            <a:avLst/>
          </a:prstGeom>
          <a:solidFill>
            <a:srgbClr val="6C5CE7"/>
          </a:solidFill>
          <a:ln/>
        </p:spPr>
      </p:sp>
      <p:sp>
        <p:nvSpPr>
          <p:cNvPr id="11" name="Text 9"/>
          <p:cNvSpPr/>
          <p:nvPr/>
        </p:nvSpPr>
        <p:spPr>
          <a:xfrm>
            <a:off x="621792" y="2578608"/>
            <a:ext cx="1280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621792" y="2779776"/>
            <a:ext cx="128016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Heritage</a:t>
            </a:r>
            <a:endParaRPr lang="en-US" sz="1200" dirty="0"/>
          </a:p>
        </p:txBody>
      </p:sp>
      <p:sp>
        <p:nvSpPr>
          <p:cNvPr id="13" name="Text 11"/>
          <p:cNvSpPr/>
          <p:nvPr/>
        </p:nvSpPr>
        <p:spPr>
          <a:xfrm>
            <a:off x="621792" y="3063240"/>
            <a:ext cx="1280160" cy="82296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한글과 한지라는 한국 고유의</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문화유산을 이해한다</a:t>
            </a:r>
            <a:endParaRPr lang="en-US" sz="900" dirty="0"/>
          </a:p>
        </p:txBody>
      </p:sp>
      <p:sp>
        <p:nvSpPr>
          <p:cNvPr id="14" name="Shape 12"/>
          <p:cNvSpPr/>
          <p:nvPr/>
        </p:nvSpPr>
        <p:spPr>
          <a:xfrm>
            <a:off x="2157984" y="2468880"/>
            <a:ext cx="1554480" cy="1554480"/>
          </a:xfrm>
          <a:prstGeom prst="rect">
            <a:avLst/>
          </a:prstGeom>
          <a:solidFill>
            <a:srgbClr val="222222"/>
          </a:solidFill>
          <a:ln w="6350">
            <a:solidFill>
              <a:srgbClr val="2A2A2A"/>
            </a:solidFill>
            <a:prstDash val="solid"/>
          </a:ln>
        </p:spPr>
      </p:sp>
      <p:sp>
        <p:nvSpPr>
          <p:cNvPr id="15" name="Shape 13"/>
          <p:cNvSpPr/>
          <p:nvPr/>
        </p:nvSpPr>
        <p:spPr>
          <a:xfrm>
            <a:off x="2157984" y="2468880"/>
            <a:ext cx="1554480" cy="36576"/>
          </a:xfrm>
          <a:prstGeom prst="rect">
            <a:avLst/>
          </a:prstGeom>
          <a:solidFill>
            <a:srgbClr val="6C5CE7"/>
          </a:solidFill>
          <a:ln/>
        </p:spPr>
      </p:sp>
      <p:sp>
        <p:nvSpPr>
          <p:cNvPr id="16" name="Text 14"/>
          <p:cNvSpPr/>
          <p:nvPr/>
        </p:nvSpPr>
        <p:spPr>
          <a:xfrm>
            <a:off x="2267712" y="2578608"/>
            <a:ext cx="1280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02</a:t>
            </a:r>
            <a:endParaRPr lang="en-US" sz="800" dirty="0"/>
          </a:p>
        </p:txBody>
      </p:sp>
      <p:sp>
        <p:nvSpPr>
          <p:cNvPr id="17" name="Text 15"/>
          <p:cNvSpPr/>
          <p:nvPr/>
        </p:nvSpPr>
        <p:spPr>
          <a:xfrm>
            <a:off x="2267712" y="2779776"/>
            <a:ext cx="128016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Material</a:t>
            </a:r>
            <a:endParaRPr lang="en-US" sz="1200" dirty="0"/>
          </a:p>
        </p:txBody>
      </p:sp>
      <p:sp>
        <p:nvSpPr>
          <p:cNvPr id="18" name="Text 16"/>
          <p:cNvSpPr/>
          <p:nvPr/>
        </p:nvSpPr>
        <p:spPr>
          <a:xfrm>
            <a:off x="2267712" y="3063240"/>
            <a:ext cx="1280160" cy="82296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문자가 종이·공예·디자인을 만나</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새로운 물성을 만드는 과정</a:t>
            </a:r>
            <a:endParaRPr lang="en-US" sz="900" dirty="0"/>
          </a:p>
        </p:txBody>
      </p:sp>
      <p:sp>
        <p:nvSpPr>
          <p:cNvPr id="19" name="Shape 17"/>
          <p:cNvSpPr/>
          <p:nvPr/>
        </p:nvSpPr>
        <p:spPr>
          <a:xfrm>
            <a:off x="3803904" y="2468880"/>
            <a:ext cx="1554480" cy="1554480"/>
          </a:xfrm>
          <a:prstGeom prst="rect">
            <a:avLst/>
          </a:prstGeom>
          <a:solidFill>
            <a:srgbClr val="222222"/>
          </a:solidFill>
          <a:ln w="6350">
            <a:solidFill>
              <a:srgbClr val="2A2A2A"/>
            </a:solidFill>
            <a:prstDash val="solid"/>
          </a:ln>
        </p:spPr>
      </p:sp>
      <p:sp>
        <p:nvSpPr>
          <p:cNvPr id="20" name="Shape 18"/>
          <p:cNvSpPr/>
          <p:nvPr/>
        </p:nvSpPr>
        <p:spPr>
          <a:xfrm>
            <a:off x="3803904" y="2468880"/>
            <a:ext cx="1554480" cy="36576"/>
          </a:xfrm>
          <a:prstGeom prst="rect">
            <a:avLst/>
          </a:prstGeom>
          <a:solidFill>
            <a:srgbClr val="6C5CE7"/>
          </a:solidFill>
          <a:ln/>
        </p:spPr>
      </p:sp>
      <p:sp>
        <p:nvSpPr>
          <p:cNvPr id="21" name="Text 19"/>
          <p:cNvSpPr/>
          <p:nvPr/>
        </p:nvSpPr>
        <p:spPr>
          <a:xfrm>
            <a:off x="3913632" y="2578608"/>
            <a:ext cx="1280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03</a:t>
            </a:r>
            <a:endParaRPr lang="en-US" sz="800" dirty="0"/>
          </a:p>
        </p:txBody>
      </p:sp>
      <p:sp>
        <p:nvSpPr>
          <p:cNvPr id="22" name="Text 20"/>
          <p:cNvSpPr/>
          <p:nvPr/>
        </p:nvSpPr>
        <p:spPr>
          <a:xfrm>
            <a:off x="3913632" y="2779776"/>
            <a:ext cx="128016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Creation</a:t>
            </a:r>
            <a:endParaRPr lang="en-US" sz="1200" dirty="0"/>
          </a:p>
        </p:txBody>
      </p:sp>
      <p:sp>
        <p:nvSpPr>
          <p:cNvPr id="23" name="Text 21"/>
          <p:cNvSpPr/>
          <p:nvPr/>
        </p:nvSpPr>
        <p:spPr>
          <a:xfrm>
            <a:off x="3913632" y="3063240"/>
            <a:ext cx="1280160" cy="82296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웹툰, 독립출판, 폰트, 그래픽</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 오늘날 한국의 창작 문화</a:t>
            </a:r>
            <a:endParaRPr lang="en-US" sz="900" dirty="0"/>
          </a:p>
        </p:txBody>
      </p:sp>
      <p:sp>
        <p:nvSpPr>
          <p:cNvPr id="24" name="Shape 22"/>
          <p:cNvSpPr/>
          <p:nvPr/>
        </p:nvSpPr>
        <p:spPr>
          <a:xfrm>
            <a:off x="5449824" y="2468880"/>
            <a:ext cx="1554480" cy="1554480"/>
          </a:xfrm>
          <a:prstGeom prst="rect">
            <a:avLst/>
          </a:prstGeom>
          <a:solidFill>
            <a:srgbClr val="222222"/>
          </a:solidFill>
          <a:ln w="6350">
            <a:solidFill>
              <a:srgbClr val="2A2A2A"/>
            </a:solidFill>
            <a:prstDash val="solid"/>
          </a:ln>
        </p:spPr>
      </p:sp>
      <p:sp>
        <p:nvSpPr>
          <p:cNvPr id="25" name="Shape 23"/>
          <p:cNvSpPr/>
          <p:nvPr/>
        </p:nvSpPr>
        <p:spPr>
          <a:xfrm>
            <a:off x="5449824" y="2468880"/>
            <a:ext cx="1554480" cy="36576"/>
          </a:xfrm>
          <a:prstGeom prst="rect">
            <a:avLst/>
          </a:prstGeom>
          <a:solidFill>
            <a:srgbClr val="6C5CE7"/>
          </a:solidFill>
          <a:ln/>
        </p:spPr>
      </p:sp>
      <p:sp>
        <p:nvSpPr>
          <p:cNvPr id="26" name="Text 24"/>
          <p:cNvSpPr/>
          <p:nvPr/>
        </p:nvSpPr>
        <p:spPr>
          <a:xfrm>
            <a:off x="5559552" y="2578608"/>
            <a:ext cx="1280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04</a:t>
            </a:r>
            <a:endParaRPr lang="en-US" sz="800" dirty="0"/>
          </a:p>
        </p:txBody>
      </p:sp>
      <p:sp>
        <p:nvSpPr>
          <p:cNvPr id="27" name="Text 25"/>
          <p:cNvSpPr/>
          <p:nvPr/>
        </p:nvSpPr>
        <p:spPr>
          <a:xfrm>
            <a:off x="5559552" y="2779776"/>
            <a:ext cx="128016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Participation</a:t>
            </a:r>
            <a:endParaRPr lang="en-US" sz="1200" dirty="0"/>
          </a:p>
        </p:txBody>
      </p:sp>
      <p:sp>
        <p:nvSpPr>
          <p:cNvPr id="28" name="Text 26"/>
          <p:cNvSpPr/>
          <p:nvPr/>
        </p:nvSpPr>
        <p:spPr>
          <a:xfrm>
            <a:off x="5559552" y="3063240"/>
            <a:ext cx="1280160" cy="82296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직접 만들고 디자인하며</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자신만의 결과물을 완성한다</a:t>
            </a:r>
            <a:endParaRPr lang="en-US" sz="900" dirty="0"/>
          </a:p>
        </p:txBody>
      </p:sp>
      <p:sp>
        <p:nvSpPr>
          <p:cNvPr id="29" name="Shape 27"/>
          <p:cNvSpPr/>
          <p:nvPr/>
        </p:nvSpPr>
        <p:spPr>
          <a:xfrm>
            <a:off x="7095744" y="2468880"/>
            <a:ext cx="1554480" cy="1554480"/>
          </a:xfrm>
          <a:prstGeom prst="rect">
            <a:avLst/>
          </a:prstGeom>
          <a:solidFill>
            <a:srgbClr val="222222"/>
          </a:solidFill>
          <a:ln w="6350">
            <a:solidFill>
              <a:srgbClr val="2A2A2A"/>
            </a:solidFill>
            <a:prstDash val="solid"/>
          </a:ln>
        </p:spPr>
      </p:sp>
      <p:sp>
        <p:nvSpPr>
          <p:cNvPr id="30" name="Shape 28"/>
          <p:cNvSpPr/>
          <p:nvPr/>
        </p:nvSpPr>
        <p:spPr>
          <a:xfrm>
            <a:off x="7095744" y="2468880"/>
            <a:ext cx="1554480" cy="36576"/>
          </a:xfrm>
          <a:prstGeom prst="rect">
            <a:avLst/>
          </a:prstGeom>
          <a:solidFill>
            <a:srgbClr val="6C5CE7"/>
          </a:solidFill>
          <a:ln/>
        </p:spPr>
      </p:sp>
      <p:sp>
        <p:nvSpPr>
          <p:cNvPr id="31" name="Text 29"/>
          <p:cNvSpPr/>
          <p:nvPr/>
        </p:nvSpPr>
        <p:spPr>
          <a:xfrm>
            <a:off x="7205472" y="2578608"/>
            <a:ext cx="1280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05</a:t>
            </a:r>
            <a:endParaRPr lang="en-US" sz="800" dirty="0"/>
          </a:p>
        </p:txBody>
      </p:sp>
      <p:sp>
        <p:nvSpPr>
          <p:cNvPr id="32" name="Text 30"/>
          <p:cNvSpPr/>
          <p:nvPr/>
        </p:nvSpPr>
        <p:spPr>
          <a:xfrm>
            <a:off x="7205472" y="2779776"/>
            <a:ext cx="128016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Take Away</a:t>
            </a:r>
            <a:endParaRPr lang="en-US" sz="1200" dirty="0"/>
          </a:p>
        </p:txBody>
      </p:sp>
      <p:sp>
        <p:nvSpPr>
          <p:cNvPr id="33" name="Text 31"/>
          <p:cNvSpPr/>
          <p:nvPr/>
        </p:nvSpPr>
        <p:spPr>
          <a:xfrm>
            <a:off x="7205472" y="3063240"/>
            <a:ext cx="1280160" cy="82296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경험은 기억으로 끝나지 않는다</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 한글 오브젝트를 일상으로</a:t>
            </a:r>
            <a:endParaRPr lang="en-US" sz="900" dirty="0"/>
          </a:p>
        </p:txBody>
      </p:sp>
      <p:sp>
        <p:nvSpPr>
          <p:cNvPr id="34" name="Shape 32"/>
          <p:cNvSpPr/>
          <p:nvPr/>
        </p:nvSpPr>
        <p:spPr>
          <a:xfrm>
            <a:off x="512064" y="4160520"/>
            <a:ext cx="8119872" cy="365760"/>
          </a:xfrm>
          <a:prstGeom prst="rect">
            <a:avLst/>
          </a:prstGeom>
          <a:solidFill>
            <a:srgbClr val="6C5CE7">
              <a:alpha val="8000"/>
            </a:srgbClr>
          </a:solidFill>
          <a:ln/>
        </p:spPr>
      </p:sp>
      <p:sp>
        <p:nvSpPr>
          <p:cNvPr id="35" name="Shape 33"/>
          <p:cNvSpPr/>
          <p:nvPr/>
        </p:nvSpPr>
        <p:spPr>
          <a:xfrm>
            <a:off x="512064" y="4160520"/>
            <a:ext cx="54864" cy="365760"/>
          </a:xfrm>
          <a:prstGeom prst="rect">
            <a:avLst/>
          </a:prstGeom>
          <a:solidFill>
            <a:srgbClr val="6C5CE7"/>
          </a:solidFill>
          <a:ln/>
        </p:spPr>
      </p:sp>
      <p:sp>
        <p:nvSpPr>
          <p:cNvPr id="36" name="Text 34"/>
          <p:cNvSpPr/>
          <p:nvPr/>
        </p:nvSpPr>
        <p:spPr>
          <a:xfrm>
            <a:off x="731520" y="4160520"/>
            <a:ext cx="7863840" cy="36576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여정의 구조: Text → Texture → Experience → Object. 관람객은 문자를 읽고 끝나는 것이 아니라, 디자인하고 만들고 입고 찍고 출판하고 소장하는 경험까지 이어진다.</a:t>
            </a:r>
            <a:endParaRPr lang="en-US" sz="1000" dirty="0"/>
          </a:p>
        </p:txBody>
      </p:sp>
      <p:sp>
        <p:nvSpPr>
          <p:cNvPr id="37" name="Shape 35"/>
          <p:cNvSpPr/>
          <p:nvPr/>
        </p:nvSpPr>
        <p:spPr>
          <a:xfrm>
            <a:off x="512064" y="4617720"/>
            <a:ext cx="8119872" cy="0"/>
          </a:xfrm>
          <a:prstGeom prst="line">
            <a:avLst/>
          </a:prstGeom>
          <a:noFill/>
          <a:ln w="6350">
            <a:solidFill>
              <a:srgbClr val="2A2A2A"/>
            </a:solidFill>
            <a:prstDash val="solid"/>
          </a:ln>
        </p:spPr>
      </p:sp>
      <p:sp>
        <p:nvSpPr>
          <p:cNvPr id="38" name="Text 36"/>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TEXTURE · CONCEPT</a:t>
            </a:r>
            <a:endParaRPr lang="en-US" sz="750" dirty="0"/>
          </a:p>
        </p:txBody>
      </p:sp>
      <p:sp>
        <p:nvSpPr>
          <p:cNvPr id="39" name="Text 37"/>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TEXTURE · 한국문화원</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ORIGIN OF TEXTURE</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한국문화원 · ORIGIN OF TEXTURE</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04</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45720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한글과 한지의 </a:t>
            </a:r>
            <a:pPr indent="0" marL="0">
              <a:buNone/>
            </a:pPr>
            <a:r>
              <a:rPr lang="en-US" sz="2600" b="1" dirty="0">
                <a:solidFill>
                  <a:srgbClr val="A29BFE"/>
                </a:solidFill>
                <a:latin typeface="Pretendard" pitchFamily="34" charset="0"/>
                <a:ea typeface="Pretendard" pitchFamily="34" charset="-122"/>
                <a:cs typeface="Pretendard" pitchFamily="34" charset="-120"/>
              </a:rPr>
              <a:t>원형</a:t>
            </a:r>
            <a:pPr indent="0" marL="0">
              <a:buNone/>
            </a:pPr>
            <a:r>
              <a:rPr lang="en-US" sz="2600" b="1" dirty="0">
                <a:solidFill>
                  <a:srgbClr val="F5F0EB"/>
                </a:solidFill>
                <a:latin typeface="Pretendard" pitchFamily="34" charset="0"/>
                <a:ea typeface="Pretendard" pitchFamily="34" charset="-122"/>
                <a:cs typeface="Pretendard" pitchFamily="34" charset="-120"/>
              </a:rPr>
              <a:t>을 이해하는 공간</a:t>
            </a:r>
            <a:endParaRPr lang="en-US" sz="2600" dirty="0"/>
          </a:p>
        </p:txBody>
      </p:sp>
      <p:sp>
        <p:nvSpPr>
          <p:cNvPr id="8" name="Text 6"/>
          <p:cNvSpPr/>
          <p:nvPr/>
        </p:nvSpPr>
        <p:spPr>
          <a:xfrm>
            <a:off x="512064" y="1444752"/>
            <a:ext cx="8119872" cy="41148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한국 문화의 뿌리와 물성을 이해하는 출발점. 한글의 역사·철학에서 시작해, 한지의 물성과 공예를 거쳐, 전통 소재가 오늘날 어떻게 재해석되는지를 보여줍니다.</a:t>
            </a:r>
            <a:endParaRPr lang="en-US" sz="1100" dirty="0"/>
          </a:p>
        </p:txBody>
      </p:sp>
      <p:sp>
        <p:nvSpPr>
          <p:cNvPr id="9" name="Shape 7"/>
          <p:cNvSpPr/>
          <p:nvPr/>
        </p:nvSpPr>
        <p:spPr>
          <a:xfrm>
            <a:off x="512064" y="1965960"/>
            <a:ext cx="1938528" cy="1645920"/>
          </a:xfrm>
          <a:prstGeom prst="rect">
            <a:avLst/>
          </a:prstGeom>
          <a:solidFill>
            <a:srgbClr val="222222"/>
          </a:solidFill>
          <a:ln w="6350">
            <a:solidFill>
              <a:srgbClr val="2A2A2A"/>
            </a:solidFill>
            <a:prstDash val="solid"/>
          </a:ln>
        </p:spPr>
      </p:sp>
      <p:sp>
        <p:nvSpPr>
          <p:cNvPr id="10" name="Text 8"/>
          <p:cNvSpPr/>
          <p:nvPr/>
        </p:nvSpPr>
        <p:spPr>
          <a:xfrm>
            <a:off x="621792" y="2057400"/>
            <a:ext cx="16916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ZONE A</a:t>
            </a:r>
            <a:endParaRPr lang="en-US" sz="800" dirty="0"/>
          </a:p>
        </p:txBody>
      </p:sp>
      <p:sp>
        <p:nvSpPr>
          <p:cNvPr id="11" name="Text 9"/>
          <p:cNvSpPr/>
          <p:nvPr/>
        </p:nvSpPr>
        <p:spPr>
          <a:xfrm>
            <a:off x="621792" y="2267712"/>
            <a:ext cx="169164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한글</a:t>
            </a:r>
            <a:endParaRPr lang="en-US" sz="1200" dirty="0"/>
          </a:p>
        </p:txBody>
      </p:sp>
      <p:sp>
        <p:nvSpPr>
          <p:cNvPr id="12" name="Text 10"/>
          <p:cNvSpPr/>
          <p:nvPr/>
        </p:nvSpPr>
        <p:spPr>
          <a:xfrm>
            <a:off x="621792" y="2542032"/>
            <a:ext cx="1691640" cy="9144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한글의 역사 · 세종대왕</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훈민정음 · 문자의 원리</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한글 디자인의 조형미</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국립한글박물관 콘텐츠</a:t>
            </a:r>
            <a:endParaRPr lang="en-US" sz="900" dirty="0"/>
          </a:p>
        </p:txBody>
      </p:sp>
      <p:sp>
        <p:nvSpPr>
          <p:cNvPr id="13" name="Shape 11"/>
          <p:cNvSpPr/>
          <p:nvPr/>
        </p:nvSpPr>
        <p:spPr>
          <a:xfrm>
            <a:off x="2542032" y="1965960"/>
            <a:ext cx="1938528" cy="1645920"/>
          </a:xfrm>
          <a:prstGeom prst="rect">
            <a:avLst/>
          </a:prstGeom>
          <a:solidFill>
            <a:srgbClr val="222222"/>
          </a:solidFill>
          <a:ln w="6350">
            <a:solidFill>
              <a:srgbClr val="2A2A2A"/>
            </a:solidFill>
            <a:prstDash val="solid"/>
          </a:ln>
        </p:spPr>
      </p:sp>
      <p:sp>
        <p:nvSpPr>
          <p:cNvPr id="14" name="Text 12"/>
          <p:cNvSpPr/>
          <p:nvPr/>
        </p:nvSpPr>
        <p:spPr>
          <a:xfrm>
            <a:off x="2651760" y="2057400"/>
            <a:ext cx="16916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ZONE B</a:t>
            </a:r>
            <a:endParaRPr lang="en-US" sz="800" dirty="0"/>
          </a:p>
        </p:txBody>
      </p:sp>
      <p:sp>
        <p:nvSpPr>
          <p:cNvPr id="15" name="Text 13"/>
          <p:cNvSpPr/>
          <p:nvPr/>
        </p:nvSpPr>
        <p:spPr>
          <a:xfrm>
            <a:off x="2651760" y="2267712"/>
            <a:ext cx="169164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한지</a:t>
            </a:r>
            <a:endParaRPr lang="en-US" sz="1200" dirty="0"/>
          </a:p>
        </p:txBody>
      </p:sp>
      <p:sp>
        <p:nvSpPr>
          <p:cNvPr id="16" name="Text 14"/>
          <p:cNvSpPr/>
          <p:nvPr/>
        </p:nvSpPr>
        <p:spPr>
          <a:xfrm>
            <a:off x="2651760" y="2542032"/>
            <a:ext cx="1691640" cy="9144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한지가 만들어지는 과정</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전통 한지 · 현대 한지</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한지 공예 · 아트 · 조명</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한지 오브제</a:t>
            </a:r>
            <a:endParaRPr lang="en-US" sz="900" dirty="0"/>
          </a:p>
        </p:txBody>
      </p:sp>
      <p:sp>
        <p:nvSpPr>
          <p:cNvPr id="17" name="Shape 15"/>
          <p:cNvSpPr/>
          <p:nvPr/>
        </p:nvSpPr>
        <p:spPr>
          <a:xfrm>
            <a:off x="4572000" y="1965960"/>
            <a:ext cx="1938528" cy="1645920"/>
          </a:xfrm>
          <a:prstGeom prst="rect">
            <a:avLst/>
          </a:prstGeom>
          <a:solidFill>
            <a:srgbClr val="222222"/>
          </a:solidFill>
          <a:ln w="6350">
            <a:solidFill>
              <a:srgbClr val="2A2A2A"/>
            </a:solidFill>
            <a:prstDash val="solid"/>
          </a:ln>
        </p:spPr>
      </p:sp>
      <p:sp>
        <p:nvSpPr>
          <p:cNvPr id="18" name="Text 16"/>
          <p:cNvSpPr/>
          <p:nvPr/>
        </p:nvSpPr>
        <p:spPr>
          <a:xfrm>
            <a:off x="4681728" y="2057400"/>
            <a:ext cx="16916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ZONE C</a:t>
            </a:r>
            <a:endParaRPr lang="en-US" sz="800" dirty="0"/>
          </a:p>
        </p:txBody>
      </p:sp>
      <p:sp>
        <p:nvSpPr>
          <p:cNvPr id="19" name="Text 17"/>
          <p:cNvSpPr/>
          <p:nvPr/>
        </p:nvSpPr>
        <p:spPr>
          <a:xfrm>
            <a:off x="4681728" y="2267712"/>
            <a:ext cx="169164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한지가 만드는 미래</a:t>
            </a:r>
            <a:endParaRPr lang="en-US" sz="1200" dirty="0"/>
          </a:p>
        </p:txBody>
      </p:sp>
      <p:sp>
        <p:nvSpPr>
          <p:cNvPr id="20" name="Text 18"/>
          <p:cNvSpPr/>
          <p:nvPr/>
        </p:nvSpPr>
        <p:spPr>
          <a:xfrm>
            <a:off x="4681728" y="2542032"/>
            <a:ext cx="1691640" cy="9144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한지 가구 · 조명 · 패션</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한지 한복 · 설치미술</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지속가능 소재로서의 한지</a:t>
            </a:r>
            <a:endParaRPr lang="en-US" sz="900" dirty="0"/>
          </a:p>
        </p:txBody>
      </p:sp>
      <p:sp>
        <p:nvSpPr>
          <p:cNvPr id="21" name="Shape 19"/>
          <p:cNvSpPr/>
          <p:nvPr/>
        </p:nvSpPr>
        <p:spPr>
          <a:xfrm>
            <a:off x="6601968" y="1965960"/>
            <a:ext cx="1938528" cy="1645920"/>
          </a:xfrm>
          <a:prstGeom prst="rect">
            <a:avLst/>
          </a:prstGeom>
          <a:solidFill>
            <a:srgbClr val="222222"/>
          </a:solidFill>
          <a:ln w="6350">
            <a:solidFill>
              <a:srgbClr val="2A2A2A"/>
            </a:solidFill>
            <a:prstDash val="solid"/>
          </a:ln>
        </p:spPr>
      </p:sp>
      <p:sp>
        <p:nvSpPr>
          <p:cNvPr id="22" name="Text 20"/>
          <p:cNvSpPr/>
          <p:nvPr/>
        </p:nvSpPr>
        <p:spPr>
          <a:xfrm>
            <a:off x="6711696" y="2057400"/>
            <a:ext cx="16916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ZONE D</a:t>
            </a:r>
            <a:endParaRPr lang="en-US" sz="800" dirty="0"/>
          </a:p>
        </p:txBody>
      </p:sp>
      <p:sp>
        <p:nvSpPr>
          <p:cNvPr id="23" name="Text 21"/>
          <p:cNvSpPr/>
          <p:nvPr/>
        </p:nvSpPr>
        <p:spPr>
          <a:xfrm>
            <a:off x="6711696" y="2267712"/>
            <a:ext cx="1691640" cy="228600"/>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Future Hanbok</a:t>
            </a:r>
            <a:endParaRPr lang="en-US" sz="1200" dirty="0"/>
          </a:p>
        </p:txBody>
      </p:sp>
      <p:sp>
        <p:nvSpPr>
          <p:cNvPr id="24" name="Text 22"/>
          <p:cNvSpPr/>
          <p:nvPr/>
        </p:nvSpPr>
        <p:spPr>
          <a:xfrm>
            <a:off x="6711696" y="2542032"/>
            <a:ext cx="1691640" cy="9144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한지를 이용한 현대 한복</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디지털 패턴 · 미래형 한복</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AI 패션 · 테크 소재</a:t>
            </a:r>
            <a:endParaRPr lang="en-US" sz="900" dirty="0"/>
          </a:p>
        </p:txBody>
      </p:sp>
      <p:sp>
        <p:nvSpPr>
          <p:cNvPr id="25" name="Text 23"/>
          <p:cNvSpPr/>
          <p:nvPr/>
        </p:nvSpPr>
        <p:spPr>
          <a:xfrm>
            <a:off x="512064" y="3749040"/>
            <a:ext cx="2743200" cy="201168"/>
          </a:xfrm>
          <a:prstGeom prst="rect">
            <a:avLst/>
          </a:prstGeom>
          <a:noFill/>
          <a:ln/>
        </p:spPr>
        <p:txBody>
          <a:bodyPr wrap="square" lIns="0" tIns="0" rIns="0" bIns="0" rtlCol="0" anchor="ctr"/>
          <a:lstStyle/>
          <a:p>
            <a:pPr indent="0" marL="0">
              <a:buNone/>
            </a:pPr>
            <a:r>
              <a:rPr lang="en-US" sz="900" spc="200" kern="0" dirty="0">
                <a:solidFill>
                  <a:srgbClr val="7A7570"/>
                </a:solidFill>
                <a:latin typeface="Pretendard" pitchFamily="34" charset="0"/>
                <a:ea typeface="Pretendard" pitchFamily="34" charset="-122"/>
                <a:cs typeface="Pretendard" pitchFamily="34" charset="-120"/>
              </a:rPr>
              <a:t>체험 프로그램</a:t>
            </a:r>
            <a:endParaRPr lang="en-US" sz="900" dirty="0"/>
          </a:p>
        </p:txBody>
      </p:sp>
      <p:sp>
        <p:nvSpPr>
          <p:cNvPr id="26" name="Shape 24"/>
          <p:cNvSpPr/>
          <p:nvPr/>
        </p:nvSpPr>
        <p:spPr>
          <a:xfrm>
            <a:off x="512064" y="4005072"/>
            <a:ext cx="1536192" cy="274320"/>
          </a:xfrm>
          <a:prstGeom prst="rect">
            <a:avLst/>
          </a:prstGeom>
          <a:solidFill>
            <a:srgbClr val="222222"/>
          </a:solidFill>
          <a:ln w="6350">
            <a:solidFill>
              <a:srgbClr val="3D3573"/>
            </a:solidFill>
            <a:prstDash val="solid"/>
          </a:ln>
        </p:spPr>
      </p:sp>
      <p:sp>
        <p:nvSpPr>
          <p:cNvPr id="27" name="Text 25"/>
          <p:cNvSpPr/>
          <p:nvPr/>
        </p:nvSpPr>
        <p:spPr>
          <a:xfrm>
            <a:off x="512064" y="4005072"/>
            <a:ext cx="1536192" cy="274320"/>
          </a:xfrm>
          <a:prstGeom prst="rect">
            <a:avLst/>
          </a:prstGeom>
          <a:noFill/>
          <a:ln/>
        </p:spPr>
        <p:txBody>
          <a:bodyPr wrap="square" lIns="0" tIns="0" rIns="0" bIns="0" rtlCol="0" anchor="ctr"/>
          <a:lstStyle/>
          <a:p>
            <a:pPr algn="ctr" indent="0" marL="0">
              <a:buNone/>
            </a:pPr>
            <a:r>
              <a:rPr lang="en-US" sz="900" dirty="0">
                <a:solidFill>
                  <a:srgbClr val="A29BFE"/>
                </a:solidFill>
                <a:latin typeface="Pretendard" pitchFamily="34" charset="0"/>
                <a:ea typeface="Pretendard" pitchFamily="34" charset="-122"/>
                <a:cs typeface="Pretendard" pitchFamily="34" charset="-120"/>
              </a:rPr>
              <a:t>한지 공예</a:t>
            </a:r>
            <a:endParaRPr lang="en-US" sz="900" dirty="0"/>
          </a:p>
        </p:txBody>
      </p:sp>
      <p:sp>
        <p:nvSpPr>
          <p:cNvPr id="28" name="Shape 26"/>
          <p:cNvSpPr/>
          <p:nvPr/>
        </p:nvSpPr>
        <p:spPr>
          <a:xfrm>
            <a:off x="2139696" y="4005072"/>
            <a:ext cx="1536192" cy="274320"/>
          </a:xfrm>
          <a:prstGeom prst="rect">
            <a:avLst/>
          </a:prstGeom>
          <a:solidFill>
            <a:srgbClr val="222222"/>
          </a:solidFill>
          <a:ln w="6350">
            <a:solidFill>
              <a:srgbClr val="3D3573"/>
            </a:solidFill>
            <a:prstDash val="solid"/>
          </a:ln>
        </p:spPr>
      </p:sp>
      <p:sp>
        <p:nvSpPr>
          <p:cNvPr id="29" name="Text 27"/>
          <p:cNvSpPr/>
          <p:nvPr/>
        </p:nvSpPr>
        <p:spPr>
          <a:xfrm>
            <a:off x="2139696" y="4005072"/>
            <a:ext cx="1536192" cy="274320"/>
          </a:xfrm>
          <a:prstGeom prst="rect">
            <a:avLst/>
          </a:prstGeom>
          <a:noFill/>
          <a:ln/>
        </p:spPr>
        <p:txBody>
          <a:bodyPr wrap="square" lIns="0" tIns="0" rIns="0" bIns="0" rtlCol="0" anchor="ctr"/>
          <a:lstStyle/>
          <a:p>
            <a:pPr algn="ctr" indent="0" marL="0">
              <a:buNone/>
            </a:pPr>
            <a:r>
              <a:rPr lang="en-US" sz="900" dirty="0">
                <a:solidFill>
                  <a:srgbClr val="A29BFE"/>
                </a:solidFill>
                <a:latin typeface="Pretendard" pitchFamily="34" charset="0"/>
                <a:ea typeface="Pretendard" pitchFamily="34" charset="-122"/>
                <a:cs typeface="Pretendard" pitchFamily="34" charset="-120"/>
              </a:rPr>
              <a:t>나만의 부적 만들기</a:t>
            </a:r>
            <a:endParaRPr lang="en-US" sz="900" dirty="0"/>
          </a:p>
        </p:txBody>
      </p:sp>
      <p:sp>
        <p:nvSpPr>
          <p:cNvPr id="30" name="Shape 28"/>
          <p:cNvSpPr/>
          <p:nvPr/>
        </p:nvSpPr>
        <p:spPr>
          <a:xfrm>
            <a:off x="3767328" y="4005072"/>
            <a:ext cx="1536192" cy="274320"/>
          </a:xfrm>
          <a:prstGeom prst="rect">
            <a:avLst/>
          </a:prstGeom>
          <a:solidFill>
            <a:srgbClr val="222222"/>
          </a:solidFill>
          <a:ln w="6350">
            <a:solidFill>
              <a:srgbClr val="3D3573"/>
            </a:solidFill>
            <a:prstDash val="solid"/>
          </a:ln>
        </p:spPr>
      </p:sp>
      <p:sp>
        <p:nvSpPr>
          <p:cNvPr id="31" name="Text 29"/>
          <p:cNvSpPr/>
          <p:nvPr/>
        </p:nvSpPr>
        <p:spPr>
          <a:xfrm>
            <a:off x="3767328" y="4005072"/>
            <a:ext cx="1536192" cy="274320"/>
          </a:xfrm>
          <a:prstGeom prst="rect">
            <a:avLst/>
          </a:prstGeom>
          <a:noFill/>
          <a:ln/>
        </p:spPr>
        <p:txBody>
          <a:bodyPr wrap="square" lIns="0" tIns="0" rIns="0" bIns="0" rtlCol="0" anchor="ctr"/>
          <a:lstStyle/>
          <a:p>
            <a:pPr algn="ctr" indent="0" marL="0">
              <a:buNone/>
            </a:pPr>
            <a:r>
              <a:rPr lang="en-US" sz="900" dirty="0">
                <a:solidFill>
                  <a:srgbClr val="A29BFE"/>
                </a:solidFill>
                <a:latin typeface="Pretendard" pitchFamily="34" charset="0"/>
                <a:ea typeface="Pretendard" pitchFamily="34" charset="-122"/>
                <a:cs typeface="Pretendard" pitchFamily="34" charset="-120"/>
              </a:rPr>
              <a:t>전통 도장 제작</a:t>
            </a:r>
            <a:endParaRPr lang="en-US" sz="900" dirty="0"/>
          </a:p>
        </p:txBody>
      </p:sp>
      <p:sp>
        <p:nvSpPr>
          <p:cNvPr id="32" name="Shape 30"/>
          <p:cNvSpPr/>
          <p:nvPr/>
        </p:nvSpPr>
        <p:spPr>
          <a:xfrm>
            <a:off x="5394960" y="4005072"/>
            <a:ext cx="1536192" cy="274320"/>
          </a:xfrm>
          <a:prstGeom prst="rect">
            <a:avLst/>
          </a:prstGeom>
          <a:solidFill>
            <a:srgbClr val="222222"/>
          </a:solidFill>
          <a:ln w="6350">
            <a:solidFill>
              <a:srgbClr val="3D3573"/>
            </a:solidFill>
            <a:prstDash val="solid"/>
          </a:ln>
        </p:spPr>
      </p:sp>
      <p:sp>
        <p:nvSpPr>
          <p:cNvPr id="33" name="Text 31"/>
          <p:cNvSpPr/>
          <p:nvPr/>
        </p:nvSpPr>
        <p:spPr>
          <a:xfrm>
            <a:off x="5394960" y="4005072"/>
            <a:ext cx="1536192" cy="274320"/>
          </a:xfrm>
          <a:prstGeom prst="rect">
            <a:avLst/>
          </a:prstGeom>
          <a:noFill/>
          <a:ln/>
        </p:spPr>
        <p:txBody>
          <a:bodyPr wrap="square" lIns="0" tIns="0" rIns="0" bIns="0" rtlCol="0" anchor="ctr"/>
          <a:lstStyle/>
          <a:p>
            <a:pPr algn="ctr" indent="0" marL="0">
              <a:buNone/>
            </a:pPr>
            <a:r>
              <a:rPr lang="en-US" sz="900" dirty="0">
                <a:solidFill>
                  <a:srgbClr val="A29BFE"/>
                </a:solidFill>
                <a:latin typeface="Pretendard" pitchFamily="34" charset="0"/>
                <a:ea typeface="Pretendard" pitchFamily="34" charset="-122"/>
                <a:cs typeface="Pretendard" pitchFamily="34" charset="-120"/>
              </a:rPr>
              <a:t>한글 붓글씨</a:t>
            </a:r>
            <a:endParaRPr lang="en-US" sz="900" dirty="0"/>
          </a:p>
        </p:txBody>
      </p:sp>
      <p:sp>
        <p:nvSpPr>
          <p:cNvPr id="34" name="Shape 32"/>
          <p:cNvSpPr/>
          <p:nvPr/>
        </p:nvSpPr>
        <p:spPr>
          <a:xfrm>
            <a:off x="7022592" y="4005072"/>
            <a:ext cx="1536192" cy="274320"/>
          </a:xfrm>
          <a:prstGeom prst="rect">
            <a:avLst/>
          </a:prstGeom>
          <a:solidFill>
            <a:srgbClr val="222222"/>
          </a:solidFill>
          <a:ln w="6350">
            <a:solidFill>
              <a:srgbClr val="3D3573"/>
            </a:solidFill>
            <a:prstDash val="solid"/>
          </a:ln>
        </p:spPr>
      </p:sp>
      <p:sp>
        <p:nvSpPr>
          <p:cNvPr id="35" name="Text 33"/>
          <p:cNvSpPr/>
          <p:nvPr/>
        </p:nvSpPr>
        <p:spPr>
          <a:xfrm>
            <a:off x="7022592" y="4005072"/>
            <a:ext cx="1536192" cy="274320"/>
          </a:xfrm>
          <a:prstGeom prst="rect">
            <a:avLst/>
          </a:prstGeom>
          <a:noFill/>
          <a:ln/>
        </p:spPr>
        <p:txBody>
          <a:bodyPr wrap="square" lIns="0" tIns="0" rIns="0" bIns="0" rtlCol="0" anchor="ctr"/>
          <a:lstStyle/>
          <a:p>
            <a:pPr algn="ctr" indent="0" marL="0">
              <a:buNone/>
            </a:pPr>
            <a:r>
              <a:rPr lang="en-US" sz="900" dirty="0">
                <a:solidFill>
                  <a:srgbClr val="A29BFE"/>
                </a:solidFill>
                <a:latin typeface="Pretendard" pitchFamily="34" charset="0"/>
                <a:ea typeface="Pretendard" pitchFamily="34" charset="-122"/>
                <a:cs typeface="Pretendard" pitchFamily="34" charset="-120"/>
              </a:rPr>
              <a:t>한지 소품 제작</a:t>
            </a:r>
            <a:endParaRPr lang="en-US" sz="900" dirty="0"/>
          </a:p>
        </p:txBody>
      </p:sp>
      <p:sp>
        <p:nvSpPr>
          <p:cNvPr id="36" name="Shape 34"/>
          <p:cNvSpPr/>
          <p:nvPr/>
        </p:nvSpPr>
        <p:spPr>
          <a:xfrm>
            <a:off x="512064" y="4617720"/>
            <a:ext cx="8119872" cy="0"/>
          </a:xfrm>
          <a:prstGeom prst="line">
            <a:avLst/>
          </a:prstGeom>
          <a:noFill/>
          <a:ln w="6350">
            <a:solidFill>
              <a:srgbClr val="2A2A2A"/>
            </a:solidFill>
            <a:prstDash val="solid"/>
          </a:ln>
        </p:spPr>
      </p:sp>
      <p:sp>
        <p:nvSpPr>
          <p:cNvPr id="37" name="Text 35"/>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TEXTURE · 한국문화원</a:t>
            </a:r>
            <a:endParaRPr lang="en-US" sz="750" dirty="0"/>
          </a:p>
        </p:txBody>
      </p:sp>
      <p:sp>
        <p:nvSpPr>
          <p:cNvPr id="38" name="Text 36"/>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TEXTURE · 코리아센터</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LIVING TEXTURE</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코리아센터 · LIVING TEXTURE</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05</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41148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텍스트가 </a:t>
            </a:r>
            <a:pPr indent="0" marL="0">
              <a:buNone/>
            </a:pPr>
            <a:r>
              <a:rPr lang="en-US" sz="2600" b="1" dirty="0">
                <a:solidFill>
                  <a:srgbClr val="A29BFE"/>
                </a:solidFill>
                <a:latin typeface="Pretendard" pitchFamily="34" charset="0"/>
                <a:ea typeface="Pretendard" pitchFamily="34" charset="-122"/>
                <a:cs typeface="Pretendard" pitchFamily="34" charset="-120"/>
              </a:rPr>
              <a:t>문화가 되는</a:t>
            </a:r>
            <a:pPr indent="0" marL="0">
              <a:buNone/>
            </a:pPr>
            <a:r>
              <a:rPr lang="en-US" sz="2600" b="1" dirty="0">
                <a:solidFill>
                  <a:srgbClr val="F5F0EB"/>
                </a:solidFill>
                <a:latin typeface="Pretendard" pitchFamily="34" charset="0"/>
                <a:ea typeface="Pretendard" pitchFamily="34" charset="-122"/>
                <a:cs typeface="Pretendard" pitchFamily="34" charset="-120"/>
              </a:rPr>
              <a:t> 현장</a:t>
            </a:r>
            <a:endParaRPr lang="en-US" sz="2600" dirty="0"/>
          </a:p>
        </p:txBody>
      </p:sp>
      <p:sp>
        <p:nvSpPr>
          <p:cNvPr id="8" name="Text 6"/>
          <p:cNvSpPr/>
          <p:nvPr/>
        </p:nvSpPr>
        <p:spPr>
          <a:xfrm>
            <a:off x="512064" y="1389888"/>
            <a:ext cx="8119872" cy="32004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오늘날 한국의 텍스트 문화가 어떻게 새로운 콘텐츠 산업이 되었는지를 보여줍니다. 직접 만들어 가져가는 체험까지.</a:t>
            </a:r>
            <a:endParaRPr lang="en-US" sz="1100" dirty="0"/>
          </a:p>
        </p:txBody>
      </p:sp>
      <p:sp>
        <p:nvSpPr>
          <p:cNvPr id="9" name="Shape 7"/>
          <p:cNvSpPr/>
          <p:nvPr/>
        </p:nvSpPr>
        <p:spPr>
          <a:xfrm>
            <a:off x="512064" y="1783080"/>
            <a:ext cx="2633472" cy="1051560"/>
          </a:xfrm>
          <a:prstGeom prst="rect">
            <a:avLst/>
          </a:prstGeom>
          <a:solidFill>
            <a:srgbClr val="222222"/>
          </a:solidFill>
          <a:ln w="6350">
            <a:solidFill>
              <a:srgbClr val="2A2A2A"/>
            </a:solidFill>
            <a:prstDash val="solid"/>
          </a:ln>
        </p:spPr>
      </p:sp>
      <p:sp>
        <p:nvSpPr>
          <p:cNvPr id="10" name="Shape 8"/>
          <p:cNvSpPr/>
          <p:nvPr/>
        </p:nvSpPr>
        <p:spPr>
          <a:xfrm>
            <a:off x="512064" y="1783080"/>
            <a:ext cx="2633472" cy="36576"/>
          </a:xfrm>
          <a:prstGeom prst="rect">
            <a:avLst/>
          </a:prstGeom>
          <a:solidFill>
            <a:srgbClr val="6C5CE7"/>
          </a:solidFill>
          <a:ln/>
        </p:spPr>
      </p:sp>
      <p:sp>
        <p:nvSpPr>
          <p:cNvPr id="11" name="Text 9"/>
          <p:cNvSpPr/>
          <p:nvPr/>
        </p:nvSpPr>
        <p:spPr>
          <a:xfrm>
            <a:off x="621792" y="1874520"/>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EXHIBITION A</a:t>
            </a:r>
            <a:endParaRPr lang="en-US" sz="800" dirty="0"/>
          </a:p>
        </p:txBody>
      </p:sp>
      <p:sp>
        <p:nvSpPr>
          <p:cNvPr id="12" name="Text 10"/>
          <p:cNvSpPr/>
          <p:nvPr/>
        </p:nvSpPr>
        <p:spPr>
          <a:xfrm>
            <a:off x="621792" y="2075688"/>
            <a:ext cx="2377440" cy="201168"/>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Korean Webtoon</a:t>
            </a:r>
            <a:endParaRPr lang="en-US" sz="1200" dirty="0"/>
          </a:p>
        </p:txBody>
      </p:sp>
      <p:sp>
        <p:nvSpPr>
          <p:cNvPr id="13" name="Text 11"/>
          <p:cNvSpPr/>
          <p:nvPr/>
        </p:nvSpPr>
        <p:spPr>
          <a:xfrm>
            <a:off x="621792" y="2313432"/>
            <a:ext cx="2377440" cy="4572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한국 웹툰 · 웹소설</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스토리 콘텐츠 · IP 산업</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캐릭터</a:t>
            </a:r>
            <a:endParaRPr lang="en-US" sz="900" dirty="0"/>
          </a:p>
        </p:txBody>
      </p:sp>
      <p:sp>
        <p:nvSpPr>
          <p:cNvPr id="14" name="Shape 12"/>
          <p:cNvSpPr/>
          <p:nvPr/>
        </p:nvSpPr>
        <p:spPr>
          <a:xfrm>
            <a:off x="3255264" y="1783080"/>
            <a:ext cx="2633472" cy="1051560"/>
          </a:xfrm>
          <a:prstGeom prst="rect">
            <a:avLst/>
          </a:prstGeom>
          <a:solidFill>
            <a:srgbClr val="222222"/>
          </a:solidFill>
          <a:ln w="6350">
            <a:solidFill>
              <a:srgbClr val="2A2A2A"/>
            </a:solidFill>
            <a:prstDash val="solid"/>
          </a:ln>
        </p:spPr>
      </p:sp>
      <p:sp>
        <p:nvSpPr>
          <p:cNvPr id="15" name="Shape 13"/>
          <p:cNvSpPr/>
          <p:nvPr/>
        </p:nvSpPr>
        <p:spPr>
          <a:xfrm>
            <a:off x="3255264" y="1783080"/>
            <a:ext cx="2633472" cy="36576"/>
          </a:xfrm>
          <a:prstGeom prst="rect">
            <a:avLst/>
          </a:prstGeom>
          <a:solidFill>
            <a:srgbClr val="6C5CE7"/>
          </a:solidFill>
          <a:ln/>
        </p:spPr>
      </p:sp>
      <p:sp>
        <p:nvSpPr>
          <p:cNvPr id="16" name="Text 14"/>
          <p:cNvSpPr/>
          <p:nvPr/>
        </p:nvSpPr>
        <p:spPr>
          <a:xfrm>
            <a:off x="3364992" y="1874520"/>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EXHIBITION B</a:t>
            </a:r>
            <a:endParaRPr lang="en-US" sz="800" dirty="0"/>
          </a:p>
        </p:txBody>
      </p:sp>
      <p:sp>
        <p:nvSpPr>
          <p:cNvPr id="17" name="Text 15"/>
          <p:cNvSpPr/>
          <p:nvPr/>
        </p:nvSpPr>
        <p:spPr>
          <a:xfrm>
            <a:off x="3364992" y="2075688"/>
            <a:ext cx="2377440" cy="201168"/>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Independent Publishing</a:t>
            </a:r>
            <a:endParaRPr lang="en-US" sz="1200" dirty="0"/>
          </a:p>
        </p:txBody>
      </p:sp>
      <p:sp>
        <p:nvSpPr>
          <p:cNvPr id="18" name="Text 16"/>
          <p:cNvSpPr/>
          <p:nvPr/>
        </p:nvSpPr>
        <p:spPr>
          <a:xfrm>
            <a:off x="3364992" y="2313432"/>
            <a:ext cx="2377440" cy="4572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한국 독립출판 · 아트북</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진(Zine) · 북페어</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서울의 독립서점</a:t>
            </a:r>
            <a:endParaRPr lang="en-US" sz="900" dirty="0"/>
          </a:p>
        </p:txBody>
      </p:sp>
      <p:sp>
        <p:nvSpPr>
          <p:cNvPr id="19" name="Shape 17"/>
          <p:cNvSpPr/>
          <p:nvPr/>
        </p:nvSpPr>
        <p:spPr>
          <a:xfrm>
            <a:off x="5998464" y="1783080"/>
            <a:ext cx="2633472" cy="1051560"/>
          </a:xfrm>
          <a:prstGeom prst="rect">
            <a:avLst/>
          </a:prstGeom>
          <a:solidFill>
            <a:srgbClr val="222222"/>
          </a:solidFill>
          <a:ln w="6350">
            <a:solidFill>
              <a:srgbClr val="2A2A2A"/>
            </a:solidFill>
            <a:prstDash val="solid"/>
          </a:ln>
        </p:spPr>
      </p:sp>
      <p:sp>
        <p:nvSpPr>
          <p:cNvPr id="20" name="Shape 18"/>
          <p:cNvSpPr/>
          <p:nvPr/>
        </p:nvSpPr>
        <p:spPr>
          <a:xfrm>
            <a:off x="5998464" y="1783080"/>
            <a:ext cx="2633472" cy="36576"/>
          </a:xfrm>
          <a:prstGeom prst="rect">
            <a:avLst/>
          </a:prstGeom>
          <a:solidFill>
            <a:srgbClr val="6C5CE7"/>
          </a:solidFill>
          <a:ln/>
        </p:spPr>
      </p:sp>
      <p:sp>
        <p:nvSpPr>
          <p:cNvPr id="21" name="Text 19"/>
          <p:cNvSpPr/>
          <p:nvPr/>
        </p:nvSpPr>
        <p:spPr>
          <a:xfrm>
            <a:off x="6108192" y="1874520"/>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EXHIBITION C</a:t>
            </a:r>
            <a:endParaRPr lang="en-US" sz="800" dirty="0"/>
          </a:p>
        </p:txBody>
      </p:sp>
      <p:sp>
        <p:nvSpPr>
          <p:cNvPr id="22" name="Text 20"/>
          <p:cNvSpPr/>
          <p:nvPr/>
        </p:nvSpPr>
        <p:spPr>
          <a:xfrm>
            <a:off x="6108192" y="2075688"/>
            <a:ext cx="2377440" cy="201168"/>
          </a:xfrm>
          <a:prstGeom prst="rect">
            <a:avLst/>
          </a:prstGeom>
          <a:noFill/>
          <a:ln/>
        </p:spPr>
        <p:txBody>
          <a:bodyPr wrap="square" lIns="0" tIns="0" rIns="0" bIns="0" rtlCol="0" anchor="ctr"/>
          <a:lstStyle/>
          <a:p>
            <a:pPr indent="0" marL="0">
              <a:buNone/>
            </a:pPr>
            <a:r>
              <a:rPr lang="en-US" sz="1200" b="1" dirty="0">
                <a:solidFill>
                  <a:srgbClr val="F5F0EB"/>
                </a:solidFill>
                <a:latin typeface="Pretendard" pitchFamily="34" charset="0"/>
                <a:ea typeface="Pretendard" pitchFamily="34" charset="-122"/>
                <a:cs typeface="Pretendard" pitchFamily="34" charset="-120"/>
              </a:rPr>
              <a:t>Korean Typography</a:t>
            </a:r>
            <a:endParaRPr lang="en-US" sz="1200" dirty="0"/>
          </a:p>
        </p:txBody>
      </p:sp>
      <p:sp>
        <p:nvSpPr>
          <p:cNvPr id="23" name="Text 21"/>
          <p:cNvSpPr/>
          <p:nvPr/>
        </p:nvSpPr>
        <p:spPr>
          <a:xfrm>
            <a:off x="6108192" y="2313432"/>
            <a:ext cx="2377440" cy="45720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한글 폰트 · 타이포그래피</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그래픽 디자인 · 브랜딩</a:t>
            </a:r>
            <a:endParaRPr lang="en-US" sz="900" dirty="0"/>
          </a:p>
          <a:p>
            <a:pPr indent="0" marL="0">
              <a:buNone/>
            </a:pPr>
            <a:r>
              <a:rPr lang="en-US" sz="900" dirty="0">
                <a:solidFill>
                  <a:srgbClr val="C9C2BA"/>
                </a:solidFill>
                <a:latin typeface="Pretendard" pitchFamily="34" charset="0"/>
                <a:ea typeface="Pretendard" pitchFamily="34" charset="-122"/>
                <a:cs typeface="Pretendard" pitchFamily="34" charset="-120"/>
              </a:rPr>
              <a:t>한글의 조형미</a:t>
            </a:r>
            <a:endParaRPr lang="en-US" sz="900" dirty="0"/>
          </a:p>
        </p:txBody>
      </p:sp>
      <p:sp>
        <p:nvSpPr>
          <p:cNvPr id="24" name="Shape 22"/>
          <p:cNvSpPr/>
          <p:nvPr/>
        </p:nvSpPr>
        <p:spPr>
          <a:xfrm>
            <a:off x="512064" y="2971800"/>
            <a:ext cx="1938528" cy="868680"/>
          </a:xfrm>
          <a:prstGeom prst="rect">
            <a:avLst/>
          </a:prstGeom>
          <a:solidFill>
            <a:srgbClr val="222222"/>
          </a:solidFill>
          <a:ln w="6350">
            <a:solidFill>
              <a:srgbClr val="2A2A2A"/>
            </a:solidFill>
            <a:prstDash val="solid"/>
          </a:ln>
        </p:spPr>
      </p:sp>
      <p:sp>
        <p:nvSpPr>
          <p:cNvPr id="25" name="Text 23"/>
          <p:cNvSpPr/>
          <p:nvPr/>
        </p:nvSpPr>
        <p:spPr>
          <a:xfrm>
            <a:off x="621792" y="3035808"/>
            <a:ext cx="1691640" cy="146304"/>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NAME LAB</a:t>
            </a:r>
            <a:endParaRPr lang="en-US" sz="750" dirty="0"/>
          </a:p>
        </p:txBody>
      </p:sp>
      <p:sp>
        <p:nvSpPr>
          <p:cNvPr id="26" name="Text 24"/>
          <p:cNvSpPr/>
          <p:nvPr/>
        </p:nvSpPr>
        <p:spPr>
          <a:xfrm>
            <a:off x="621792" y="3218688"/>
            <a:ext cx="1691640" cy="201168"/>
          </a:xfrm>
          <a:prstGeom prst="rect">
            <a:avLst/>
          </a:prstGeom>
          <a:noFill/>
          <a:ln/>
        </p:spPr>
        <p:txBody>
          <a:bodyPr wrap="square" lIns="0" tIns="0" rIns="0" bIns="0" rtlCol="0" anchor="ctr"/>
          <a:lstStyle/>
          <a:p>
            <a:pPr indent="0" marL="0">
              <a:buNone/>
            </a:pPr>
            <a:r>
              <a:rPr lang="en-US" sz="1100" b="1" dirty="0">
                <a:solidFill>
                  <a:srgbClr val="F5F0EB"/>
                </a:solidFill>
                <a:latin typeface="Pretendard" pitchFamily="34" charset="0"/>
                <a:ea typeface="Pretendard" pitchFamily="34" charset="-122"/>
                <a:cs typeface="Pretendard" pitchFamily="34" charset="-120"/>
              </a:rPr>
              <a:t>나만의 이름 만들기</a:t>
            </a:r>
            <a:endParaRPr lang="en-US" sz="1100" dirty="0"/>
          </a:p>
        </p:txBody>
      </p:sp>
      <p:sp>
        <p:nvSpPr>
          <p:cNvPr id="27" name="Text 25"/>
          <p:cNvSpPr/>
          <p:nvPr/>
        </p:nvSpPr>
        <p:spPr>
          <a:xfrm>
            <a:off x="621792" y="3438144"/>
            <a:ext cx="1691640" cy="347472"/>
          </a:xfrm>
          <a:prstGeom prst="rect">
            <a:avLst/>
          </a:prstGeom>
          <a:noFill/>
          <a:ln/>
        </p:spPr>
        <p:txBody>
          <a:bodyPr wrap="square" lIns="0" tIns="0" rIns="0" bIns="0" rtlCol="0" anchor="ctr"/>
          <a:lstStyle/>
          <a:p>
            <a:pPr indent="0" marL="0">
              <a:buNone/>
            </a:pPr>
            <a:r>
              <a:rPr lang="en-US" sz="850" dirty="0">
                <a:solidFill>
                  <a:srgbClr val="7A7570"/>
                </a:solidFill>
                <a:latin typeface="Pretendard" pitchFamily="34" charset="0"/>
                <a:ea typeface="Pretendard" pitchFamily="34" charset="-122"/>
                <a:cs typeface="Pretendard" pitchFamily="34" charset="-120"/>
              </a:rPr>
              <a:t>캘리그래피 · 폰트 적용</a:t>
            </a:r>
            <a:endParaRPr lang="en-US" sz="850" dirty="0"/>
          </a:p>
          <a:p>
            <a:pPr indent="0" marL="0">
              <a:buNone/>
            </a:pPr>
            <a:r>
              <a:rPr lang="en-US" sz="850" dirty="0">
                <a:solidFill>
                  <a:srgbClr val="7A7570"/>
                </a:solidFill>
                <a:latin typeface="Pretendard" pitchFamily="34" charset="0"/>
                <a:ea typeface="Pretendard" pitchFamily="34" charset="-122"/>
                <a:cs typeface="Pretendard" pitchFamily="34" charset="-120"/>
              </a:rPr>
              <a:t>한글 그래픽</a:t>
            </a:r>
            <a:endParaRPr lang="en-US" sz="850" dirty="0"/>
          </a:p>
        </p:txBody>
      </p:sp>
      <p:sp>
        <p:nvSpPr>
          <p:cNvPr id="28" name="Shape 26"/>
          <p:cNvSpPr/>
          <p:nvPr/>
        </p:nvSpPr>
        <p:spPr>
          <a:xfrm>
            <a:off x="2542032" y="2971800"/>
            <a:ext cx="1938528" cy="868680"/>
          </a:xfrm>
          <a:prstGeom prst="rect">
            <a:avLst/>
          </a:prstGeom>
          <a:solidFill>
            <a:srgbClr val="222222"/>
          </a:solidFill>
          <a:ln w="6350">
            <a:solidFill>
              <a:srgbClr val="2A2A2A"/>
            </a:solidFill>
            <a:prstDash val="solid"/>
          </a:ln>
        </p:spPr>
      </p:sp>
      <p:sp>
        <p:nvSpPr>
          <p:cNvPr id="29" name="Text 27"/>
          <p:cNvSpPr/>
          <p:nvPr/>
        </p:nvSpPr>
        <p:spPr>
          <a:xfrm>
            <a:off x="2651760" y="3035808"/>
            <a:ext cx="1691640" cy="146304"/>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PRINT LAB</a:t>
            </a:r>
            <a:endParaRPr lang="en-US" sz="750" dirty="0"/>
          </a:p>
        </p:txBody>
      </p:sp>
      <p:sp>
        <p:nvSpPr>
          <p:cNvPr id="30" name="Text 28"/>
          <p:cNvSpPr/>
          <p:nvPr/>
        </p:nvSpPr>
        <p:spPr>
          <a:xfrm>
            <a:off x="2651760" y="3218688"/>
            <a:ext cx="1691640" cy="201168"/>
          </a:xfrm>
          <a:prstGeom prst="rect">
            <a:avLst/>
          </a:prstGeom>
          <a:noFill/>
          <a:ln/>
        </p:spPr>
        <p:txBody>
          <a:bodyPr wrap="square" lIns="0" tIns="0" rIns="0" bIns="0" rtlCol="0" anchor="ctr"/>
          <a:lstStyle/>
          <a:p>
            <a:pPr indent="0" marL="0">
              <a:buNone/>
            </a:pPr>
            <a:r>
              <a:rPr lang="en-US" sz="1100" b="1" dirty="0">
                <a:solidFill>
                  <a:srgbClr val="F5F0EB"/>
                </a:solidFill>
                <a:latin typeface="Pretendard" pitchFamily="34" charset="0"/>
                <a:ea typeface="Pretendard" pitchFamily="34" charset="-122"/>
                <a:cs typeface="Pretendard" pitchFamily="34" charset="-120"/>
              </a:rPr>
              <a:t>한글 굿즈 제작</a:t>
            </a:r>
            <a:endParaRPr lang="en-US" sz="1100" dirty="0"/>
          </a:p>
        </p:txBody>
      </p:sp>
      <p:sp>
        <p:nvSpPr>
          <p:cNvPr id="31" name="Text 29"/>
          <p:cNvSpPr/>
          <p:nvPr/>
        </p:nvSpPr>
        <p:spPr>
          <a:xfrm>
            <a:off x="2651760" y="3438144"/>
            <a:ext cx="1691640" cy="347472"/>
          </a:xfrm>
          <a:prstGeom prst="rect">
            <a:avLst/>
          </a:prstGeom>
          <a:noFill/>
          <a:ln/>
        </p:spPr>
        <p:txBody>
          <a:bodyPr wrap="square" lIns="0" tIns="0" rIns="0" bIns="0" rtlCol="0" anchor="ctr"/>
          <a:lstStyle/>
          <a:p>
            <a:pPr indent="0" marL="0">
              <a:buNone/>
            </a:pPr>
            <a:r>
              <a:rPr lang="en-US" sz="850" dirty="0">
                <a:solidFill>
                  <a:srgbClr val="7A7570"/>
                </a:solidFill>
                <a:latin typeface="Pretendard" pitchFamily="34" charset="0"/>
                <a:ea typeface="Pretendard" pitchFamily="34" charset="-122"/>
                <a:cs typeface="Pretendard" pitchFamily="34" charset="-120"/>
              </a:rPr>
              <a:t>티셔츠 · 에코백</a:t>
            </a:r>
            <a:endParaRPr lang="en-US" sz="850" dirty="0"/>
          </a:p>
          <a:p>
            <a:pPr indent="0" marL="0">
              <a:buNone/>
            </a:pPr>
            <a:r>
              <a:rPr lang="en-US" sz="850" dirty="0">
                <a:solidFill>
                  <a:srgbClr val="7A7570"/>
                </a:solidFill>
                <a:latin typeface="Pretendard" pitchFamily="34" charset="0"/>
                <a:ea typeface="Pretendard" pitchFamily="34" charset="-122"/>
                <a:cs typeface="Pretendard" pitchFamily="34" charset="-120"/>
              </a:rPr>
              <a:t>포스터 · 스티커</a:t>
            </a:r>
            <a:endParaRPr lang="en-US" sz="850" dirty="0"/>
          </a:p>
        </p:txBody>
      </p:sp>
      <p:sp>
        <p:nvSpPr>
          <p:cNvPr id="32" name="Shape 30"/>
          <p:cNvSpPr/>
          <p:nvPr/>
        </p:nvSpPr>
        <p:spPr>
          <a:xfrm>
            <a:off x="4572000" y="2971800"/>
            <a:ext cx="1938528" cy="868680"/>
          </a:xfrm>
          <a:prstGeom prst="rect">
            <a:avLst/>
          </a:prstGeom>
          <a:solidFill>
            <a:srgbClr val="222222"/>
          </a:solidFill>
          <a:ln w="6350">
            <a:solidFill>
              <a:srgbClr val="2A2A2A"/>
            </a:solidFill>
            <a:prstDash val="solid"/>
          </a:ln>
        </p:spPr>
      </p:sp>
      <p:sp>
        <p:nvSpPr>
          <p:cNvPr id="33" name="Text 31"/>
          <p:cNvSpPr/>
          <p:nvPr/>
        </p:nvSpPr>
        <p:spPr>
          <a:xfrm>
            <a:off x="4681728" y="3035808"/>
            <a:ext cx="1691640" cy="146304"/>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STAMP LAB</a:t>
            </a:r>
            <a:endParaRPr lang="en-US" sz="750" dirty="0"/>
          </a:p>
        </p:txBody>
      </p:sp>
      <p:sp>
        <p:nvSpPr>
          <p:cNvPr id="34" name="Text 32"/>
          <p:cNvSpPr/>
          <p:nvPr/>
        </p:nvSpPr>
        <p:spPr>
          <a:xfrm>
            <a:off x="4681728" y="3218688"/>
            <a:ext cx="1691640" cy="201168"/>
          </a:xfrm>
          <a:prstGeom prst="rect">
            <a:avLst/>
          </a:prstGeom>
          <a:noFill/>
          <a:ln/>
        </p:spPr>
        <p:txBody>
          <a:bodyPr wrap="square" lIns="0" tIns="0" rIns="0" bIns="0" rtlCol="0" anchor="ctr"/>
          <a:lstStyle/>
          <a:p>
            <a:pPr indent="0" marL="0">
              <a:buNone/>
            </a:pPr>
            <a:r>
              <a:rPr lang="en-US" sz="1100" b="1" dirty="0">
                <a:solidFill>
                  <a:srgbClr val="F5F0EB"/>
                </a:solidFill>
                <a:latin typeface="Pretendard" pitchFamily="34" charset="0"/>
                <a:ea typeface="Pretendard" pitchFamily="34" charset="-122"/>
                <a:cs typeface="Pretendard" pitchFamily="34" charset="-120"/>
              </a:rPr>
              <a:t>나만의 도장</a:t>
            </a:r>
            <a:endParaRPr lang="en-US" sz="1100" dirty="0"/>
          </a:p>
        </p:txBody>
      </p:sp>
      <p:sp>
        <p:nvSpPr>
          <p:cNvPr id="35" name="Text 33"/>
          <p:cNvSpPr/>
          <p:nvPr/>
        </p:nvSpPr>
        <p:spPr>
          <a:xfrm>
            <a:off x="4681728" y="3438144"/>
            <a:ext cx="1691640" cy="347472"/>
          </a:xfrm>
          <a:prstGeom prst="rect">
            <a:avLst/>
          </a:prstGeom>
          <a:noFill/>
          <a:ln/>
        </p:spPr>
        <p:txBody>
          <a:bodyPr wrap="square" lIns="0" tIns="0" rIns="0" bIns="0" rtlCol="0" anchor="ctr"/>
          <a:lstStyle/>
          <a:p>
            <a:pPr indent="0" marL="0">
              <a:buNone/>
            </a:pPr>
            <a:r>
              <a:rPr lang="en-US" sz="850" dirty="0">
                <a:solidFill>
                  <a:srgbClr val="7A7570"/>
                </a:solidFill>
                <a:latin typeface="Pretendard" pitchFamily="34" charset="0"/>
                <a:ea typeface="Pretendard" pitchFamily="34" charset="-122"/>
                <a:cs typeface="Pretendard" pitchFamily="34" charset="-120"/>
              </a:rPr>
              <a:t>3D프린팅 · 전통인장</a:t>
            </a:r>
            <a:endParaRPr lang="en-US" sz="850" dirty="0"/>
          </a:p>
          <a:p>
            <a:pPr indent="0" marL="0">
              <a:buNone/>
            </a:pPr>
            <a:r>
              <a:rPr lang="en-US" sz="850" dirty="0">
                <a:solidFill>
                  <a:srgbClr val="7A7570"/>
                </a:solidFill>
                <a:latin typeface="Pretendard" pitchFamily="34" charset="0"/>
                <a:ea typeface="Pretendard" pitchFamily="34" charset="-122"/>
                <a:cs typeface="Pretendard" pitchFamily="34" charset="-120"/>
              </a:rPr>
              <a:t>현대디자인</a:t>
            </a:r>
            <a:endParaRPr lang="en-US" sz="850" dirty="0"/>
          </a:p>
        </p:txBody>
      </p:sp>
      <p:sp>
        <p:nvSpPr>
          <p:cNvPr id="36" name="Shape 34"/>
          <p:cNvSpPr/>
          <p:nvPr/>
        </p:nvSpPr>
        <p:spPr>
          <a:xfrm>
            <a:off x="6601968" y="2971800"/>
            <a:ext cx="1938528" cy="868680"/>
          </a:xfrm>
          <a:prstGeom prst="rect">
            <a:avLst/>
          </a:prstGeom>
          <a:solidFill>
            <a:srgbClr val="222222"/>
          </a:solidFill>
          <a:ln w="6350">
            <a:solidFill>
              <a:srgbClr val="2A2A2A"/>
            </a:solidFill>
            <a:prstDash val="solid"/>
          </a:ln>
        </p:spPr>
      </p:sp>
      <p:sp>
        <p:nvSpPr>
          <p:cNvPr id="37" name="Text 35"/>
          <p:cNvSpPr/>
          <p:nvPr/>
        </p:nvSpPr>
        <p:spPr>
          <a:xfrm>
            <a:off x="6711696" y="3035808"/>
            <a:ext cx="1691640" cy="146304"/>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BOOK LAB</a:t>
            </a:r>
            <a:endParaRPr lang="en-US" sz="750" dirty="0"/>
          </a:p>
        </p:txBody>
      </p:sp>
      <p:sp>
        <p:nvSpPr>
          <p:cNvPr id="38" name="Text 36"/>
          <p:cNvSpPr/>
          <p:nvPr/>
        </p:nvSpPr>
        <p:spPr>
          <a:xfrm>
            <a:off x="6711696" y="3218688"/>
            <a:ext cx="1691640" cy="201168"/>
          </a:xfrm>
          <a:prstGeom prst="rect">
            <a:avLst/>
          </a:prstGeom>
          <a:noFill/>
          <a:ln/>
        </p:spPr>
        <p:txBody>
          <a:bodyPr wrap="square" lIns="0" tIns="0" rIns="0" bIns="0" rtlCol="0" anchor="ctr"/>
          <a:lstStyle/>
          <a:p>
            <a:pPr indent="0" marL="0">
              <a:buNone/>
            </a:pPr>
            <a:r>
              <a:rPr lang="en-US" sz="1100" b="1" dirty="0">
                <a:solidFill>
                  <a:srgbClr val="F5F0EB"/>
                </a:solidFill>
                <a:latin typeface="Pretendard" pitchFamily="34" charset="0"/>
                <a:ea typeface="Pretendard" pitchFamily="34" charset="-122"/>
                <a:cs typeface="Pretendard" pitchFamily="34" charset="-120"/>
              </a:rPr>
              <a:t>나만의 책 만들기</a:t>
            </a:r>
            <a:endParaRPr lang="en-US" sz="1100" dirty="0"/>
          </a:p>
        </p:txBody>
      </p:sp>
      <p:sp>
        <p:nvSpPr>
          <p:cNvPr id="39" name="Text 37"/>
          <p:cNvSpPr/>
          <p:nvPr/>
        </p:nvSpPr>
        <p:spPr>
          <a:xfrm>
            <a:off x="6711696" y="3438144"/>
            <a:ext cx="1691640" cy="347472"/>
          </a:xfrm>
          <a:prstGeom prst="rect">
            <a:avLst/>
          </a:prstGeom>
          <a:noFill/>
          <a:ln/>
        </p:spPr>
        <p:txBody>
          <a:bodyPr wrap="square" lIns="0" tIns="0" rIns="0" bIns="0" rtlCol="0" anchor="ctr"/>
          <a:lstStyle/>
          <a:p>
            <a:pPr indent="0" marL="0">
              <a:buNone/>
            </a:pPr>
            <a:r>
              <a:rPr lang="en-US" sz="850" dirty="0">
                <a:solidFill>
                  <a:srgbClr val="7A7570"/>
                </a:solidFill>
                <a:latin typeface="Pretendard" pitchFamily="34" charset="0"/>
                <a:ea typeface="Pretendard" pitchFamily="34" charset="-122"/>
                <a:cs typeface="Pretendard" pitchFamily="34" charset="-120"/>
              </a:rPr>
              <a:t>ZINE · 엽서</a:t>
            </a:r>
            <a:endParaRPr lang="en-US" sz="850" dirty="0"/>
          </a:p>
          <a:p>
            <a:pPr indent="0" marL="0">
              <a:buNone/>
            </a:pPr>
            <a:r>
              <a:rPr lang="en-US" sz="850" dirty="0">
                <a:solidFill>
                  <a:srgbClr val="7A7570"/>
                </a:solidFill>
                <a:latin typeface="Pretendard" pitchFamily="34" charset="0"/>
                <a:ea typeface="Pretendard" pitchFamily="34" charset="-122"/>
                <a:cs typeface="Pretendard" pitchFamily="34" charset="-120"/>
              </a:rPr>
              <a:t>리소그래프 · 독립출판</a:t>
            </a:r>
            <a:endParaRPr lang="en-US" sz="850" dirty="0"/>
          </a:p>
        </p:txBody>
      </p:sp>
      <p:sp>
        <p:nvSpPr>
          <p:cNvPr id="40" name="Shape 38"/>
          <p:cNvSpPr/>
          <p:nvPr/>
        </p:nvSpPr>
        <p:spPr>
          <a:xfrm>
            <a:off x="512064" y="3931920"/>
            <a:ext cx="4096512" cy="594360"/>
          </a:xfrm>
          <a:prstGeom prst="rect">
            <a:avLst/>
          </a:prstGeom>
          <a:solidFill>
            <a:srgbClr val="222222"/>
          </a:solidFill>
          <a:ln w="6350">
            <a:solidFill>
              <a:srgbClr val="2A2A2A"/>
            </a:solidFill>
            <a:prstDash val="solid"/>
          </a:ln>
        </p:spPr>
      </p:sp>
      <p:sp>
        <p:nvSpPr>
          <p:cNvPr id="41" name="Text 39"/>
          <p:cNvSpPr/>
          <p:nvPr/>
        </p:nvSpPr>
        <p:spPr>
          <a:xfrm>
            <a:off x="621792" y="3968496"/>
            <a:ext cx="1828800" cy="13716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READING LOUNGE</a:t>
            </a:r>
            <a:endParaRPr lang="en-US" sz="750" dirty="0"/>
          </a:p>
        </p:txBody>
      </p:sp>
      <p:sp>
        <p:nvSpPr>
          <p:cNvPr id="42" name="Text 40"/>
          <p:cNvSpPr/>
          <p:nvPr/>
        </p:nvSpPr>
        <p:spPr>
          <a:xfrm>
            <a:off x="621792" y="4133088"/>
            <a:ext cx="3840480" cy="32004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한국 만화 · 웹툰 단행본 · 독립출판물 · 매거진 — 셀프바(컵라면·한국 스낵·음료)</a:t>
            </a:r>
            <a:endParaRPr lang="en-US" sz="900" dirty="0"/>
          </a:p>
        </p:txBody>
      </p:sp>
      <p:sp>
        <p:nvSpPr>
          <p:cNvPr id="43" name="Shape 41"/>
          <p:cNvSpPr/>
          <p:nvPr/>
        </p:nvSpPr>
        <p:spPr>
          <a:xfrm>
            <a:off x="4700016" y="3931920"/>
            <a:ext cx="4096512" cy="594360"/>
          </a:xfrm>
          <a:prstGeom prst="rect">
            <a:avLst/>
          </a:prstGeom>
          <a:solidFill>
            <a:srgbClr val="222222"/>
          </a:solidFill>
          <a:ln w="6350">
            <a:solidFill>
              <a:srgbClr val="2A2A2A"/>
            </a:solidFill>
            <a:prstDash val="solid"/>
          </a:ln>
        </p:spPr>
      </p:sp>
      <p:sp>
        <p:nvSpPr>
          <p:cNvPr id="44" name="Text 42"/>
          <p:cNvSpPr/>
          <p:nvPr/>
        </p:nvSpPr>
        <p:spPr>
          <a:xfrm>
            <a:off x="4809744" y="3968496"/>
            <a:ext cx="1828800" cy="13716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PROGRAMS</a:t>
            </a:r>
            <a:endParaRPr lang="en-US" sz="750" dirty="0"/>
          </a:p>
        </p:txBody>
      </p:sp>
      <p:sp>
        <p:nvSpPr>
          <p:cNvPr id="45" name="Text 43"/>
          <p:cNvSpPr/>
          <p:nvPr/>
        </p:nvSpPr>
        <p:spPr>
          <a:xfrm>
            <a:off x="4809744" y="4133088"/>
            <a:ext cx="3840480" cy="320040"/>
          </a:xfrm>
          <a:prstGeom prst="rect">
            <a:avLst/>
          </a:prstGeom>
          <a:noFill/>
          <a:ln/>
        </p:spPr>
        <p:txBody>
          <a:bodyPr wrap="square" lIns="0" tIns="0" rIns="0" bIns="0" rtlCol="0" anchor="ctr"/>
          <a:lstStyle/>
          <a:p>
            <a:pPr indent="0" marL="0">
              <a:buNone/>
            </a:pPr>
            <a:r>
              <a:rPr lang="en-US" sz="900" dirty="0">
                <a:solidFill>
                  <a:srgbClr val="C9C2BA"/>
                </a:solidFill>
                <a:latin typeface="Pretendard" pitchFamily="34" charset="0"/>
                <a:ea typeface="Pretendard" pitchFamily="34" charset="-122"/>
                <a:cs typeface="Pretendard" pitchFamily="34" charset="-120"/>
              </a:rPr>
              <a:t>독립출판 토크 · 웹툰 작가 만남 · 폰트 디자이너 강연 · 캘리그래피 · 북메이킹 워크숍</a:t>
            </a:r>
            <a:endParaRPr lang="en-US" sz="900" dirty="0"/>
          </a:p>
        </p:txBody>
      </p:sp>
      <p:sp>
        <p:nvSpPr>
          <p:cNvPr id="46" name="Shape 44"/>
          <p:cNvSpPr/>
          <p:nvPr/>
        </p:nvSpPr>
        <p:spPr>
          <a:xfrm>
            <a:off x="512064" y="4617720"/>
            <a:ext cx="8119872" cy="0"/>
          </a:xfrm>
          <a:prstGeom prst="line">
            <a:avLst/>
          </a:prstGeom>
          <a:noFill/>
          <a:ln w="6350">
            <a:solidFill>
              <a:srgbClr val="2A2A2A"/>
            </a:solidFill>
            <a:prstDash val="solid"/>
          </a:ln>
        </p:spPr>
      </p:sp>
      <p:sp>
        <p:nvSpPr>
          <p:cNvPr id="47" name="Text 45"/>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TEXTURE · 코리아센터</a:t>
            </a:r>
            <a:endParaRPr lang="en-US" sz="750" dirty="0"/>
          </a:p>
        </p:txBody>
      </p:sp>
      <p:sp>
        <p:nvSpPr>
          <p:cNvPr id="48" name="Text 46"/>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SEASON 2</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DEPT. OF K-LIVING</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DEPARTMENT OF K-LIVING · CONCEPT</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06</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822960"/>
          </a:xfrm>
          <a:prstGeom prst="rect">
            <a:avLst/>
          </a:prstGeom>
          <a:noFill/>
          <a:ln/>
        </p:spPr>
        <p:txBody>
          <a:bodyPr wrap="square" lIns="0" tIns="0" rIns="0" bIns="0" rtlCol="0" anchor="ctr"/>
          <a:lstStyle/>
          <a:p>
            <a:pPr indent="0" marL="0">
              <a:buNone/>
            </a:pPr>
            <a:r>
              <a:rPr lang="en-US" sz="2800" b="1" dirty="0">
                <a:solidFill>
                  <a:srgbClr val="F5F0EB"/>
                </a:solidFill>
                <a:latin typeface="Pretendard" pitchFamily="34" charset="0"/>
                <a:ea typeface="Pretendard" pitchFamily="34" charset="-122"/>
                <a:cs typeface="Pretendard" pitchFamily="34" charset="-120"/>
              </a:rPr>
              <a:t>Korean New Modern
</a:t>
            </a:r>
            <a:pPr indent="0" marL="0">
              <a:buNone/>
            </a:pPr>
            <a:r>
              <a:rPr lang="en-US" sz="2800" b="1" dirty="0">
                <a:solidFill>
                  <a:srgbClr val="A29BFE"/>
                </a:solidFill>
                <a:latin typeface="Pretendard" pitchFamily="34" charset="0"/>
                <a:ea typeface="Pretendard" pitchFamily="34" charset="-122"/>
                <a:cs typeface="Pretendard" pitchFamily="34" charset="-120"/>
              </a:rPr>
              <a:t>오래된 미래를 경험하는 공간</a:t>
            </a:r>
            <a:endParaRPr lang="en-US" sz="2800" dirty="0"/>
          </a:p>
        </p:txBody>
      </p:sp>
      <p:sp>
        <p:nvSpPr>
          <p:cNvPr id="8" name="Text 6"/>
          <p:cNvSpPr/>
          <p:nvPr/>
        </p:nvSpPr>
        <p:spPr>
          <a:xfrm>
            <a:off x="512064" y="1783080"/>
            <a:ext cx="8119872" cy="59436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'전통적인 한국을 재현하는 공간'이 아니라, 오늘날 한국이 전통을 어떻게 재해석하고 있는가를 보여주는 공간.</a:t>
            </a:r>
            <a:endParaRPr lang="en-US" sz="1100" dirty="0"/>
          </a:p>
          <a:p>
            <a:pPr indent="0" marL="0">
              <a:buNone/>
            </a:pPr>
            <a:r>
              <a:rPr lang="en-US" sz="1100" dirty="0">
                <a:solidFill>
                  <a:srgbClr val="C9C2BA"/>
                </a:solidFill>
                <a:latin typeface="Pretendard" pitchFamily="34" charset="0"/>
                <a:ea typeface="Pretendard" pitchFamily="34" charset="-122"/>
                <a:cs typeface="Pretendard" pitchFamily="34" charset="-120"/>
              </a:rPr>
              <a:t>한옥은 현대 건축으로, 한지는 조명과 가구로, 도자는 일상의 오브제로 — 골동과 현대 디자인이 하나의 공간 안에서 공존합니다.</a:t>
            </a:r>
            <a:endParaRPr lang="en-US" sz="1100" dirty="0"/>
          </a:p>
        </p:txBody>
      </p:sp>
      <p:sp>
        <p:nvSpPr>
          <p:cNvPr id="9" name="Text 7"/>
          <p:cNvSpPr/>
          <p:nvPr/>
        </p:nvSpPr>
        <p:spPr>
          <a:xfrm>
            <a:off x="512064" y="2514600"/>
            <a:ext cx="2743200" cy="201168"/>
          </a:xfrm>
          <a:prstGeom prst="rect">
            <a:avLst/>
          </a:prstGeom>
          <a:noFill/>
          <a:ln/>
        </p:spPr>
        <p:txBody>
          <a:bodyPr wrap="square" lIns="0" tIns="0" rIns="0" bIns="0" rtlCol="0" anchor="ctr"/>
          <a:lstStyle/>
          <a:p>
            <a:pPr indent="0" marL="0">
              <a:buNone/>
            </a:pPr>
            <a:r>
              <a:rPr lang="en-US" sz="900" spc="200" kern="0" dirty="0">
                <a:solidFill>
                  <a:srgbClr val="7A7570"/>
                </a:solidFill>
                <a:latin typeface="Pretendard" pitchFamily="34" charset="0"/>
                <a:ea typeface="Pretendard" pitchFamily="34" charset="-122"/>
                <a:cs typeface="Pretendard" pitchFamily="34" charset="-120"/>
              </a:rPr>
              <a:t>디자인 키워드 8</a:t>
            </a:r>
            <a:endParaRPr lang="en-US" sz="900" dirty="0"/>
          </a:p>
        </p:txBody>
      </p:sp>
      <p:sp>
        <p:nvSpPr>
          <p:cNvPr id="10" name="Shape 8"/>
          <p:cNvSpPr/>
          <p:nvPr/>
        </p:nvSpPr>
        <p:spPr>
          <a:xfrm>
            <a:off x="512064" y="2788920"/>
            <a:ext cx="1965960" cy="274320"/>
          </a:xfrm>
          <a:prstGeom prst="rect">
            <a:avLst/>
          </a:prstGeom>
          <a:solidFill>
            <a:srgbClr val="222222"/>
          </a:solidFill>
          <a:ln w="6350">
            <a:solidFill>
              <a:srgbClr val="3D3573"/>
            </a:solidFill>
            <a:prstDash val="solid"/>
          </a:ln>
        </p:spPr>
      </p:sp>
      <p:sp>
        <p:nvSpPr>
          <p:cNvPr id="11" name="Text 9"/>
          <p:cNvSpPr/>
          <p:nvPr/>
        </p:nvSpPr>
        <p:spPr>
          <a:xfrm>
            <a:off x="512064" y="278892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Korean New Modern</a:t>
            </a:r>
            <a:endParaRPr lang="en-US" sz="950" dirty="0"/>
          </a:p>
        </p:txBody>
      </p:sp>
      <p:sp>
        <p:nvSpPr>
          <p:cNvPr id="12" name="Shape 10"/>
          <p:cNvSpPr/>
          <p:nvPr/>
        </p:nvSpPr>
        <p:spPr>
          <a:xfrm>
            <a:off x="2569464" y="2788920"/>
            <a:ext cx="1965960" cy="274320"/>
          </a:xfrm>
          <a:prstGeom prst="rect">
            <a:avLst/>
          </a:prstGeom>
          <a:solidFill>
            <a:srgbClr val="222222"/>
          </a:solidFill>
          <a:ln w="6350">
            <a:solidFill>
              <a:srgbClr val="3D3573"/>
            </a:solidFill>
            <a:prstDash val="solid"/>
          </a:ln>
        </p:spPr>
      </p:sp>
      <p:sp>
        <p:nvSpPr>
          <p:cNvPr id="13" name="Text 11"/>
          <p:cNvSpPr/>
          <p:nvPr/>
        </p:nvSpPr>
        <p:spPr>
          <a:xfrm>
            <a:off x="2569464" y="278892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The Old Future</a:t>
            </a:r>
            <a:endParaRPr lang="en-US" sz="950" dirty="0"/>
          </a:p>
        </p:txBody>
      </p:sp>
      <p:sp>
        <p:nvSpPr>
          <p:cNvPr id="14" name="Shape 12"/>
          <p:cNvSpPr/>
          <p:nvPr/>
        </p:nvSpPr>
        <p:spPr>
          <a:xfrm>
            <a:off x="4626864" y="2788920"/>
            <a:ext cx="1965960" cy="274320"/>
          </a:xfrm>
          <a:prstGeom prst="rect">
            <a:avLst/>
          </a:prstGeom>
          <a:solidFill>
            <a:srgbClr val="222222"/>
          </a:solidFill>
          <a:ln w="6350">
            <a:solidFill>
              <a:srgbClr val="3D3573"/>
            </a:solidFill>
            <a:prstDash val="solid"/>
          </a:ln>
        </p:spPr>
      </p:sp>
      <p:sp>
        <p:nvSpPr>
          <p:cNvPr id="15" name="Text 13"/>
          <p:cNvSpPr/>
          <p:nvPr/>
        </p:nvSpPr>
        <p:spPr>
          <a:xfrm>
            <a:off x="4626864" y="278892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Modern Lounge</a:t>
            </a:r>
            <a:endParaRPr lang="en-US" sz="950" dirty="0"/>
          </a:p>
        </p:txBody>
      </p:sp>
      <p:sp>
        <p:nvSpPr>
          <p:cNvPr id="16" name="Shape 14"/>
          <p:cNvSpPr/>
          <p:nvPr/>
        </p:nvSpPr>
        <p:spPr>
          <a:xfrm>
            <a:off x="6684264" y="2788920"/>
            <a:ext cx="1965960" cy="274320"/>
          </a:xfrm>
          <a:prstGeom prst="rect">
            <a:avLst/>
          </a:prstGeom>
          <a:solidFill>
            <a:srgbClr val="222222"/>
          </a:solidFill>
          <a:ln w="6350">
            <a:solidFill>
              <a:srgbClr val="3D3573"/>
            </a:solidFill>
            <a:prstDash val="solid"/>
          </a:ln>
        </p:spPr>
      </p:sp>
      <p:sp>
        <p:nvSpPr>
          <p:cNvPr id="17" name="Text 15"/>
          <p:cNvSpPr/>
          <p:nvPr/>
        </p:nvSpPr>
        <p:spPr>
          <a:xfrm>
            <a:off x="6684264" y="278892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Living Heritage</a:t>
            </a:r>
            <a:endParaRPr lang="en-US" sz="950" dirty="0"/>
          </a:p>
        </p:txBody>
      </p:sp>
      <p:sp>
        <p:nvSpPr>
          <p:cNvPr id="18" name="Shape 16"/>
          <p:cNvSpPr/>
          <p:nvPr/>
        </p:nvSpPr>
        <p:spPr>
          <a:xfrm>
            <a:off x="512064" y="3154680"/>
            <a:ext cx="1965960" cy="274320"/>
          </a:xfrm>
          <a:prstGeom prst="rect">
            <a:avLst/>
          </a:prstGeom>
          <a:solidFill>
            <a:srgbClr val="222222"/>
          </a:solidFill>
          <a:ln w="6350">
            <a:solidFill>
              <a:srgbClr val="3D3573"/>
            </a:solidFill>
            <a:prstDash val="solid"/>
          </a:ln>
        </p:spPr>
      </p:sp>
      <p:sp>
        <p:nvSpPr>
          <p:cNvPr id="19" name="Text 17"/>
          <p:cNvSpPr/>
          <p:nvPr/>
        </p:nvSpPr>
        <p:spPr>
          <a:xfrm>
            <a:off x="512064" y="315468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Modular Exhibition</a:t>
            </a:r>
            <a:endParaRPr lang="en-US" sz="950" dirty="0"/>
          </a:p>
        </p:txBody>
      </p:sp>
      <p:sp>
        <p:nvSpPr>
          <p:cNvPr id="20" name="Shape 18"/>
          <p:cNvSpPr/>
          <p:nvPr/>
        </p:nvSpPr>
        <p:spPr>
          <a:xfrm>
            <a:off x="2569464" y="3154680"/>
            <a:ext cx="1965960" cy="274320"/>
          </a:xfrm>
          <a:prstGeom prst="rect">
            <a:avLst/>
          </a:prstGeom>
          <a:solidFill>
            <a:srgbClr val="222222"/>
          </a:solidFill>
          <a:ln w="6350">
            <a:solidFill>
              <a:srgbClr val="3D3573"/>
            </a:solidFill>
            <a:prstDash val="solid"/>
          </a:ln>
        </p:spPr>
      </p:sp>
      <p:sp>
        <p:nvSpPr>
          <p:cNvPr id="21" name="Text 19"/>
          <p:cNvSpPr/>
          <p:nvPr/>
        </p:nvSpPr>
        <p:spPr>
          <a:xfrm>
            <a:off x="2569464" y="315468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Collectible Objects</a:t>
            </a:r>
            <a:endParaRPr lang="en-US" sz="950" dirty="0"/>
          </a:p>
        </p:txBody>
      </p:sp>
      <p:sp>
        <p:nvSpPr>
          <p:cNvPr id="22" name="Shape 20"/>
          <p:cNvSpPr/>
          <p:nvPr/>
        </p:nvSpPr>
        <p:spPr>
          <a:xfrm>
            <a:off x="4626864" y="3154680"/>
            <a:ext cx="1965960" cy="274320"/>
          </a:xfrm>
          <a:prstGeom prst="rect">
            <a:avLst/>
          </a:prstGeom>
          <a:solidFill>
            <a:srgbClr val="222222"/>
          </a:solidFill>
          <a:ln w="6350">
            <a:solidFill>
              <a:srgbClr val="3D3573"/>
            </a:solidFill>
            <a:prstDash val="solid"/>
          </a:ln>
        </p:spPr>
      </p:sp>
      <p:sp>
        <p:nvSpPr>
          <p:cNvPr id="23" name="Text 21"/>
          <p:cNvSpPr/>
          <p:nvPr/>
        </p:nvSpPr>
        <p:spPr>
          <a:xfrm>
            <a:off x="4626864" y="315468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Slow Experience</a:t>
            </a:r>
            <a:endParaRPr lang="en-US" sz="950" dirty="0"/>
          </a:p>
        </p:txBody>
      </p:sp>
      <p:sp>
        <p:nvSpPr>
          <p:cNvPr id="24" name="Shape 22"/>
          <p:cNvSpPr/>
          <p:nvPr/>
        </p:nvSpPr>
        <p:spPr>
          <a:xfrm>
            <a:off x="6684264" y="3154680"/>
            <a:ext cx="1965960" cy="274320"/>
          </a:xfrm>
          <a:prstGeom prst="rect">
            <a:avLst/>
          </a:prstGeom>
          <a:solidFill>
            <a:srgbClr val="222222"/>
          </a:solidFill>
          <a:ln w="6350">
            <a:solidFill>
              <a:srgbClr val="3D3573"/>
            </a:solidFill>
            <a:prstDash val="solid"/>
          </a:ln>
        </p:spPr>
      </p:sp>
      <p:sp>
        <p:nvSpPr>
          <p:cNvPr id="25" name="Text 23"/>
          <p:cNvSpPr/>
          <p:nvPr/>
        </p:nvSpPr>
        <p:spPr>
          <a:xfrm>
            <a:off x="6684264" y="3154680"/>
            <a:ext cx="1965960" cy="274320"/>
          </a:xfrm>
          <a:prstGeom prst="rect">
            <a:avLst/>
          </a:prstGeom>
          <a:noFill/>
          <a:ln/>
        </p:spPr>
        <p:txBody>
          <a:bodyPr wrap="square" lIns="0" tIns="0" rIns="0" bIns="0" rtlCol="0" anchor="ctr"/>
          <a:lstStyle/>
          <a:p>
            <a:pPr algn="ctr" indent="0" marL="0">
              <a:buNone/>
            </a:pPr>
            <a:r>
              <a:rPr lang="en-US" sz="950" dirty="0">
                <a:solidFill>
                  <a:srgbClr val="A29BFE"/>
                </a:solidFill>
                <a:latin typeface="Pretendard" pitchFamily="34" charset="0"/>
                <a:ea typeface="Pretendard" pitchFamily="34" charset="-122"/>
                <a:cs typeface="Pretendard" pitchFamily="34" charset="-120"/>
              </a:rPr>
              <a:t>Contemporary Korean Lifestyle</a:t>
            </a:r>
            <a:endParaRPr lang="en-US" sz="950" dirty="0"/>
          </a:p>
        </p:txBody>
      </p:sp>
      <p:sp>
        <p:nvSpPr>
          <p:cNvPr id="26" name="Shape 24"/>
          <p:cNvSpPr/>
          <p:nvPr/>
        </p:nvSpPr>
        <p:spPr>
          <a:xfrm>
            <a:off x="512064" y="3749040"/>
            <a:ext cx="8119872" cy="777240"/>
          </a:xfrm>
          <a:prstGeom prst="rect">
            <a:avLst/>
          </a:prstGeom>
          <a:solidFill>
            <a:srgbClr val="6C5CE7">
              <a:alpha val="8000"/>
            </a:srgbClr>
          </a:solidFill>
          <a:ln/>
        </p:spPr>
      </p:sp>
      <p:sp>
        <p:nvSpPr>
          <p:cNvPr id="27" name="Shape 25"/>
          <p:cNvSpPr/>
          <p:nvPr/>
        </p:nvSpPr>
        <p:spPr>
          <a:xfrm>
            <a:off x="512064" y="3749040"/>
            <a:ext cx="54864" cy="777240"/>
          </a:xfrm>
          <a:prstGeom prst="rect">
            <a:avLst/>
          </a:prstGeom>
          <a:solidFill>
            <a:srgbClr val="6C5CE7"/>
          </a:solidFill>
          <a:ln/>
        </p:spPr>
      </p:sp>
      <p:sp>
        <p:nvSpPr>
          <p:cNvPr id="28" name="Text 26"/>
          <p:cNvSpPr/>
          <p:nvPr/>
        </p:nvSpPr>
        <p:spPr>
          <a:xfrm>
            <a:off x="731520" y="3749040"/>
            <a:ext cx="7863840" cy="77724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프로젝트가 지향하는 가치. 한국적인 공간이 아니라, '오늘날 가장 한국다운 공간'. 전통과 현대, 클래식과 미니멀, 문화와 일상, 예술과 라이프스타일이 하나의 공간 안에서 자연스럽게 연결됩니다. 과거를 재현하는 것이 아니라, 전통을 오늘의 감각으로 살아 움직이게 만드는 공간.</a:t>
            </a:r>
            <a:endParaRPr lang="en-US" sz="1000" dirty="0"/>
          </a:p>
        </p:txBody>
      </p:sp>
      <p:sp>
        <p:nvSpPr>
          <p:cNvPr id="29" name="Shape 27"/>
          <p:cNvSpPr/>
          <p:nvPr/>
        </p:nvSpPr>
        <p:spPr>
          <a:xfrm>
            <a:off x="512064" y="4617720"/>
            <a:ext cx="8119872" cy="0"/>
          </a:xfrm>
          <a:prstGeom prst="line">
            <a:avLst/>
          </a:prstGeom>
          <a:noFill/>
          <a:ln w="6350">
            <a:solidFill>
              <a:srgbClr val="2A2A2A"/>
            </a:solidFill>
            <a:prstDash val="solid"/>
          </a:ln>
        </p:spPr>
      </p:sp>
      <p:sp>
        <p:nvSpPr>
          <p:cNvPr id="30" name="Text 28"/>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DEPT. OF K-LIVING · CONCEPT</a:t>
            </a:r>
            <a:endParaRPr lang="en-US" sz="750" dirty="0"/>
          </a:p>
        </p:txBody>
      </p:sp>
      <p:sp>
        <p:nvSpPr>
          <p:cNvPr id="31" name="Text 29"/>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K-LIVING · 한국문화원</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CULTURAL LIVING ROOM</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한국문화원 · THE OLD FUTURE</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07</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45720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공간 자체가 </a:t>
            </a:r>
            <a:pPr indent="0" marL="0">
              <a:buNone/>
            </a:pPr>
            <a:r>
              <a:rPr lang="en-US" sz="2600" b="1" dirty="0">
                <a:solidFill>
                  <a:srgbClr val="A29BFE"/>
                </a:solidFill>
                <a:latin typeface="Pretendard" pitchFamily="34" charset="0"/>
                <a:ea typeface="Pretendard" pitchFamily="34" charset="-122"/>
                <a:cs typeface="Pretendard" pitchFamily="34" charset="-120"/>
              </a:rPr>
              <a:t>하나의 전시</a:t>
            </a:r>
            <a:pPr indent="0" marL="0">
              <a:buNone/>
            </a:pPr>
            <a:r>
              <a:rPr lang="en-US" sz="2600" b="1" dirty="0">
                <a:solidFill>
                  <a:srgbClr val="F5F0EB"/>
                </a:solidFill>
                <a:latin typeface="Pretendard" pitchFamily="34" charset="0"/>
                <a:ea typeface="Pretendard" pitchFamily="34" charset="-122"/>
                <a:cs typeface="Pretendard" pitchFamily="34" charset="-120"/>
              </a:rPr>
              <a:t>가 된다</a:t>
            </a:r>
            <a:endParaRPr lang="en-US" sz="2600" dirty="0"/>
          </a:p>
        </p:txBody>
      </p:sp>
      <p:sp>
        <p:nvSpPr>
          <p:cNvPr id="8" name="Text 6"/>
          <p:cNvSpPr/>
          <p:nvPr/>
        </p:nvSpPr>
        <p:spPr>
          <a:xfrm>
            <a:off x="512064" y="1444752"/>
            <a:ext cx="8119872" cy="41148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골동·고가구·도자·한지가 현대 가구와 공존하는 공간. 유리장 안에 전시되는 대상이 아니라, 오늘날의 공간 속에서 실제로 사용되고 공존하는 오브제로 존재합니다.</a:t>
            </a:r>
            <a:endParaRPr lang="en-US" sz="1100" dirty="0"/>
          </a:p>
        </p:txBody>
      </p:sp>
      <p:sp>
        <p:nvSpPr>
          <p:cNvPr id="9" name="Shape 7"/>
          <p:cNvSpPr/>
          <p:nvPr/>
        </p:nvSpPr>
        <p:spPr>
          <a:xfrm>
            <a:off x="512064" y="2011680"/>
            <a:ext cx="3931920" cy="1645920"/>
          </a:xfrm>
          <a:prstGeom prst="rect">
            <a:avLst/>
          </a:prstGeom>
          <a:solidFill>
            <a:srgbClr val="222222"/>
          </a:solidFill>
          <a:ln w="6350">
            <a:solidFill>
              <a:srgbClr val="2A2A2A"/>
            </a:solidFill>
            <a:prstDash val="solid"/>
          </a:ln>
        </p:spPr>
      </p:sp>
      <p:sp>
        <p:nvSpPr>
          <p:cNvPr id="10" name="Shape 8"/>
          <p:cNvSpPr/>
          <p:nvPr/>
        </p:nvSpPr>
        <p:spPr>
          <a:xfrm>
            <a:off x="512064" y="2011680"/>
            <a:ext cx="3931920" cy="36576"/>
          </a:xfrm>
          <a:prstGeom prst="rect">
            <a:avLst/>
          </a:prstGeom>
          <a:solidFill>
            <a:srgbClr val="6C5CE7"/>
          </a:solidFill>
          <a:ln/>
        </p:spPr>
      </p:sp>
      <p:sp>
        <p:nvSpPr>
          <p:cNvPr id="11" name="Text 9"/>
          <p:cNvSpPr/>
          <p:nvPr/>
        </p:nvSpPr>
        <p:spPr>
          <a:xfrm>
            <a:off x="694944" y="2121408"/>
            <a:ext cx="3566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공간 원칙</a:t>
            </a:r>
            <a:endParaRPr lang="en-US" sz="800" dirty="0"/>
          </a:p>
        </p:txBody>
      </p:sp>
      <p:sp>
        <p:nvSpPr>
          <p:cNvPr id="12" name="Text 10"/>
          <p:cNvSpPr/>
          <p:nvPr/>
        </p:nvSpPr>
        <p:spPr>
          <a:xfrm>
            <a:off x="694944" y="2340864"/>
            <a:ext cx="3566160" cy="228600"/>
          </a:xfrm>
          <a:prstGeom prst="rect">
            <a:avLst/>
          </a:prstGeom>
          <a:noFill/>
          <a:ln/>
        </p:spPr>
        <p:txBody>
          <a:bodyPr wrap="square" lIns="0" tIns="0" rIns="0" bIns="0" rtlCol="0" anchor="ctr"/>
          <a:lstStyle/>
          <a:p>
            <a:pPr indent="0" marL="0">
              <a:buNone/>
            </a:pPr>
            <a:r>
              <a:rPr lang="en-US" sz="1400" b="1" dirty="0">
                <a:solidFill>
                  <a:srgbClr val="F5F0EB"/>
                </a:solidFill>
                <a:latin typeface="Pretendard" pitchFamily="34" charset="0"/>
                <a:ea typeface="Pretendard" pitchFamily="34" charset="-122"/>
                <a:cs typeface="Pretendard" pitchFamily="34" charset="-120"/>
              </a:rPr>
              <a:t>Cultural Living Room</a:t>
            </a:r>
            <a:endParaRPr lang="en-US" sz="1400" dirty="0"/>
          </a:p>
        </p:txBody>
      </p:sp>
      <p:sp>
        <p:nvSpPr>
          <p:cNvPr id="13" name="Text 11"/>
          <p:cNvSpPr/>
          <p:nvPr/>
        </p:nvSpPr>
        <p:spPr>
          <a:xfrm>
            <a:off x="694944" y="2633472"/>
            <a:ext cx="3566160" cy="91440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관람객은 한국의 전통을 '박물관 속 역사'가 아니라, 현재의 삶 속에서 살아 숨 쉬는 문화로 경험합니다. 공간은 하나의 문화적 거실이 되어 사람들이 자연스럽게 한국의 라이프스타일을 경험하는 장소가 됩니다.</a:t>
            </a:r>
            <a:endParaRPr lang="en-US" sz="1000" dirty="0"/>
          </a:p>
        </p:txBody>
      </p:sp>
      <p:sp>
        <p:nvSpPr>
          <p:cNvPr id="14" name="Shape 12"/>
          <p:cNvSpPr/>
          <p:nvPr/>
        </p:nvSpPr>
        <p:spPr>
          <a:xfrm>
            <a:off x="4700016" y="2011680"/>
            <a:ext cx="3931920" cy="1645920"/>
          </a:xfrm>
          <a:prstGeom prst="rect">
            <a:avLst/>
          </a:prstGeom>
          <a:solidFill>
            <a:srgbClr val="222222"/>
          </a:solidFill>
          <a:ln w="6350">
            <a:solidFill>
              <a:srgbClr val="2A2A2A"/>
            </a:solidFill>
            <a:prstDash val="solid"/>
          </a:ln>
        </p:spPr>
      </p:sp>
      <p:sp>
        <p:nvSpPr>
          <p:cNvPr id="15" name="Text 13"/>
          <p:cNvSpPr/>
          <p:nvPr/>
        </p:nvSpPr>
        <p:spPr>
          <a:xfrm>
            <a:off x="4882896" y="2121408"/>
            <a:ext cx="356616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오브제 구성</a:t>
            </a:r>
            <a:endParaRPr lang="en-US" sz="800" dirty="0"/>
          </a:p>
        </p:txBody>
      </p:sp>
      <p:sp>
        <p:nvSpPr>
          <p:cNvPr id="16" name="Text 14"/>
          <p:cNvSpPr/>
          <p:nvPr/>
        </p:nvSpPr>
        <p:spPr>
          <a:xfrm>
            <a:off x="4882896" y="2340864"/>
            <a:ext cx="3566160" cy="228600"/>
          </a:xfrm>
          <a:prstGeom prst="rect">
            <a:avLst/>
          </a:prstGeom>
          <a:noFill/>
          <a:ln/>
        </p:spPr>
        <p:txBody>
          <a:bodyPr wrap="square" lIns="0" tIns="0" rIns="0" bIns="0" rtlCol="0" anchor="ctr"/>
          <a:lstStyle/>
          <a:p>
            <a:pPr indent="0" marL="0">
              <a:buNone/>
            </a:pPr>
            <a:r>
              <a:rPr lang="en-US" sz="1400" b="1" dirty="0">
                <a:solidFill>
                  <a:srgbClr val="F5F0EB"/>
                </a:solidFill>
                <a:latin typeface="Pretendard" pitchFamily="34" charset="0"/>
                <a:ea typeface="Pretendard" pitchFamily="34" charset="-122"/>
                <a:cs typeface="Pretendard" pitchFamily="34" charset="-120"/>
              </a:rPr>
              <a:t>Living Heritage</a:t>
            </a:r>
            <a:endParaRPr lang="en-US" sz="1400" dirty="0"/>
          </a:p>
        </p:txBody>
      </p:sp>
      <p:sp>
        <p:nvSpPr>
          <p:cNvPr id="17" name="Text 15"/>
          <p:cNvSpPr/>
          <p:nvPr/>
        </p:nvSpPr>
        <p:spPr>
          <a:xfrm>
            <a:off x="4882896" y="2633472"/>
            <a:ext cx="3566160" cy="914400"/>
          </a:xfrm>
          <a:prstGeom prst="rect">
            <a:avLst/>
          </a:prstGeom>
          <a:noFill/>
          <a:ln/>
        </p:spPr>
        <p:txBody>
          <a:bodyPr wrap="square" lIns="0" tIns="0" rIns="0" bIns="0" rtlCol="0" anchor="ctr"/>
          <a:lstStyle/>
          <a:p>
            <a:pPr marL="342900" indent="-342900">
              <a:buSzPct val="100000"/>
              <a:buChar char="•"/>
            </a:pPr>
            <a:r>
              <a:rPr lang="en-US" sz="1000" dirty="0">
                <a:solidFill>
                  <a:srgbClr val="C9C2BA"/>
                </a:solidFill>
                <a:latin typeface="Pretendard" pitchFamily="34" charset="0"/>
                <a:ea typeface="Pretendard" pitchFamily="34" charset="-122"/>
                <a:cs typeface="Pretendard" pitchFamily="34" charset="-120"/>
              </a:rPr>
              <a:t>한국의 골동 · 고가구 · 유물</a:t>
            </a:r>
            <a:endParaRPr lang="en-US" sz="1000" dirty="0"/>
          </a:p>
          <a:p>
            <a:pPr marL="342900" indent="-342900">
              <a:buSzPct val="100000"/>
              <a:buChar char="•"/>
            </a:pPr>
            <a:r>
              <a:rPr lang="en-US" sz="1000" dirty="0">
                <a:solidFill>
                  <a:srgbClr val="C9C2BA"/>
                </a:solidFill>
                <a:latin typeface="Pretendard" pitchFamily="34" charset="0"/>
                <a:ea typeface="Pretendard" pitchFamily="34" charset="-122"/>
                <a:cs typeface="Pretendard" pitchFamily="34" charset="-120"/>
              </a:rPr>
              <a:t>도자 · 전통 오브제</a:t>
            </a:r>
            <a:endParaRPr lang="en-US" sz="1000" dirty="0"/>
          </a:p>
          <a:p>
            <a:pPr marL="342900" indent="-342900">
              <a:buSzPct val="100000"/>
              <a:buChar char="•"/>
            </a:pPr>
            <a:r>
              <a:rPr lang="en-US" sz="1000" dirty="0">
                <a:solidFill>
                  <a:srgbClr val="C9C2BA"/>
                </a:solidFill>
                <a:latin typeface="Pretendard" pitchFamily="34" charset="0"/>
                <a:ea typeface="Pretendard" pitchFamily="34" charset="-122"/>
                <a:cs typeface="Pretendard" pitchFamily="34" charset="-120"/>
              </a:rPr>
              <a:t>현대적 가구와의 자연스러운 공존</a:t>
            </a:r>
            <a:endParaRPr lang="en-US" sz="1000" dirty="0"/>
          </a:p>
          <a:p>
            <a:pPr marL="342900" indent="-342900">
              <a:buSzPct val="100000"/>
              <a:buChar char="•"/>
            </a:pPr>
            <a:r>
              <a:rPr lang="en-US" sz="1000" dirty="0">
                <a:solidFill>
                  <a:srgbClr val="C9C2BA"/>
                </a:solidFill>
                <a:latin typeface="Pretendard" pitchFamily="34" charset="0"/>
                <a:ea typeface="Pretendard" pitchFamily="34" charset="-122"/>
                <a:cs typeface="Pretendard" pitchFamily="34" charset="-120"/>
              </a:rPr>
              <a:t>한지 조명 · 설치 아트</a:t>
            </a:r>
            <a:endParaRPr lang="en-US" sz="1000" dirty="0"/>
          </a:p>
        </p:txBody>
      </p:sp>
      <p:sp>
        <p:nvSpPr>
          <p:cNvPr id="18" name="Shape 16"/>
          <p:cNvSpPr/>
          <p:nvPr/>
        </p:nvSpPr>
        <p:spPr>
          <a:xfrm>
            <a:off x="512064" y="3840480"/>
            <a:ext cx="8119872" cy="502920"/>
          </a:xfrm>
          <a:prstGeom prst="rect">
            <a:avLst/>
          </a:prstGeom>
          <a:solidFill>
            <a:srgbClr val="6C5CE7">
              <a:alpha val="8000"/>
            </a:srgbClr>
          </a:solidFill>
          <a:ln/>
        </p:spPr>
      </p:sp>
      <p:sp>
        <p:nvSpPr>
          <p:cNvPr id="19" name="Shape 17"/>
          <p:cNvSpPr/>
          <p:nvPr/>
        </p:nvSpPr>
        <p:spPr>
          <a:xfrm>
            <a:off x="512064" y="3840480"/>
            <a:ext cx="54864" cy="502920"/>
          </a:xfrm>
          <a:prstGeom prst="rect">
            <a:avLst/>
          </a:prstGeom>
          <a:solidFill>
            <a:srgbClr val="6C5CE7"/>
          </a:solidFill>
          <a:ln/>
        </p:spPr>
      </p:sp>
      <p:sp>
        <p:nvSpPr>
          <p:cNvPr id="20" name="Text 18"/>
          <p:cNvSpPr/>
          <p:nvPr/>
        </p:nvSpPr>
        <p:spPr>
          <a:xfrm>
            <a:off x="731520" y="3840480"/>
            <a:ext cx="7863840" cy="50292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핵심. 한국을 설명하는 것이 아니라 한국을 느끼게 한다. 관람객은 머물고, 책을 읽고, 커피를 마시고, 사람들과 이야기하며, 전시를 감상하고, 새로운 경험을 만들어 간다.</a:t>
            </a:r>
            <a:endParaRPr lang="en-US" sz="1000" dirty="0"/>
          </a:p>
        </p:txBody>
      </p:sp>
      <p:sp>
        <p:nvSpPr>
          <p:cNvPr id="21" name="Shape 19"/>
          <p:cNvSpPr/>
          <p:nvPr/>
        </p:nvSpPr>
        <p:spPr>
          <a:xfrm>
            <a:off x="512064" y="4617720"/>
            <a:ext cx="8119872" cy="0"/>
          </a:xfrm>
          <a:prstGeom prst="line">
            <a:avLst/>
          </a:prstGeom>
          <a:noFill/>
          <a:ln w="6350">
            <a:solidFill>
              <a:srgbClr val="2A2A2A"/>
            </a:solidFill>
            <a:prstDash val="solid"/>
          </a:ln>
        </p:spPr>
      </p:sp>
      <p:sp>
        <p:nvSpPr>
          <p:cNvPr id="22" name="Text 20"/>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K-LIVING · 한국문화원</a:t>
            </a:r>
            <a:endParaRPr lang="en-US" sz="750" dirty="0"/>
          </a:p>
        </p:txBody>
      </p:sp>
      <p:sp>
        <p:nvSpPr>
          <p:cNvPr id="23" name="Text 21"/>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K-LIVING · 코리아센터</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MODERN LOUNGE</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코리아센터 · MODERN LOUNGE</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08</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45720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머물고 · 읽고 · 마시고 · </a:t>
            </a:r>
            <a:pPr indent="0" marL="0">
              <a:buNone/>
            </a:pPr>
            <a:r>
              <a:rPr lang="en-US" sz="2600" b="1" dirty="0">
                <a:solidFill>
                  <a:srgbClr val="A29BFE"/>
                </a:solidFill>
                <a:latin typeface="Pretendard" pitchFamily="34" charset="0"/>
                <a:ea typeface="Pretendard" pitchFamily="34" charset="-122"/>
                <a:cs typeface="Pretendard" pitchFamily="34" charset="-120"/>
              </a:rPr>
              <a:t>대화하는</a:t>
            </a:r>
            <a:pPr indent="0" marL="0">
              <a:buNone/>
            </a:pPr>
            <a:r>
              <a:rPr lang="en-US" sz="2600" b="1" dirty="0">
                <a:solidFill>
                  <a:srgbClr val="F5F0EB"/>
                </a:solidFill>
                <a:latin typeface="Pretendard" pitchFamily="34" charset="0"/>
                <a:ea typeface="Pretendard" pitchFamily="34" charset="-122"/>
                <a:cs typeface="Pretendard" pitchFamily="34" charset="-120"/>
              </a:rPr>
              <a:t> 공간</a:t>
            </a:r>
            <a:endParaRPr lang="en-US" sz="2600" dirty="0"/>
          </a:p>
        </p:txBody>
      </p:sp>
      <p:sp>
        <p:nvSpPr>
          <p:cNvPr id="8" name="Text 6"/>
          <p:cNvSpPr/>
          <p:nvPr/>
        </p:nvSpPr>
        <p:spPr>
          <a:xfrm>
            <a:off x="512064" y="1444752"/>
            <a:ext cx="8119872" cy="45720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미니멀하고 모던한 라운지 형태 기반. 유연한 모듈 시스템으로 전시 주제에 따라 자유롭게 변화하며,</a:t>
            </a:r>
            <a:endParaRPr lang="en-US" sz="1100" dirty="0"/>
          </a:p>
          <a:p>
            <a:pPr indent="0" marL="0">
              <a:buNone/>
            </a:pPr>
            <a:r>
              <a:rPr lang="en-US" sz="1100" dirty="0">
                <a:solidFill>
                  <a:srgbClr val="C9C2BA"/>
                </a:solidFill>
                <a:latin typeface="Pretendard" pitchFamily="34" charset="0"/>
                <a:ea typeface="Pretendard" pitchFamily="34" charset="-122"/>
                <a:cs typeface="Pretendard" pitchFamily="34" charset="-120"/>
              </a:rPr>
              <a:t>누구나 오래 머물고 자연스럽게 문화를 경험하는 환경.</a:t>
            </a:r>
            <a:endParaRPr lang="en-US" sz="1100" dirty="0"/>
          </a:p>
        </p:txBody>
      </p:sp>
      <p:sp>
        <p:nvSpPr>
          <p:cNvPr id="9" name="Shape 7"/>
          <p:cNvSpPr/>
          <p:nvPr/>
        </p:nvSpPr>
        <p:spPr>
          <a:xfrm>
            <a:off x="512064" y="2057400"/>
            <a:ext cx="2633472" cy="1371600"/>
          </a:xfrm>
          <a:prstGeom prst="rect">
            <a:avLst/>
          </a:prstGeom>
          <a:solidFill>
            <a:srgbClr val="222222"/>
          </a:solidFill>
          <a:ln w="6350">
            <a:solidFill>
              <a:srgbClr val="2A2A2A"/>
            </a:solidFill>
            <a:prstDash val="solid"/>
          </a:ln>
        </p:spPr>
      </p:sp>
      <p:sp>
        <p:nvSpPr>
          <p:cNvPr id="10" name="Shape 8"/>
          <p:cNvSpPr/>
          <p:nvPr/>
        </p:nvSpPr>
        <p:spPr>
          <a:xfrm>
            <a:off x="512064" y="2057400"/>
            <a:ext cx="2633472" cy="36576"/>
          </a:xfrm>
          <a:prstGeom prst="rect">
            <a:avLst/>
          </a:prstGeom>
          <a:solidFill>
            <a:srgbClr val="8FA37E"/>
          </a:solidFill>
          <a:ln/>
        </p:spPr>
      </p:sp>
      <p:sp>
        <p:nvSpPr>
          <p:cNvPr id="11" name="Text 9"/>
          <p:cNvSpPr/>
          <p:nvPr/>
        </p:nvSpPr>
        <p:spPr>
          <a:xfrm>
            <a:off x="621792" y="2167128"/>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공간 설계</a:t>
            </a:r>
            <a:endParaRPr lang="en-US" sz="800" dirty="0"/>
          </a:p>
        </p:txBody>
      </p:sp>
      <p:sp>
        <p:nvSpPr>
          <p:cNvPr id="12" name="Text 10"/>
          <p:cNvSpPr/>
          <p:nvPr/>
        </p:nvSpPr>
        <p:spPr>
          <a:xfrm>
            <a:off x="621792" y="2377440"/>
            <a:ext cx="2377440" cy="228600"/>
          </a:xfrm>
          <a:prstGeom prst="rect">
            <a:avLst/>
          </a:prstGeom>
          <a:noFill/>
          <a:ln/>
        </p:spPr>
        <p:txBody>
          <a:bodyPr wrap="square" lIns="0" tIns="0" rIns="0" bIns="0" rtlCol="0" anchor="ctr"/>
          <a:lstStyle/>
          <a:p>
            <a:pPr indent="0" marL="0">
              <a:buNone/>
            </a:pPr>
            <a:r>
              <a:rPr lang="en-US" sz="1300" b="1" dirty="0">
                <a:solidFill>
                  <a:srgbClr val="F5F0EB"/>
                </a:solidFill>
                <a:latin typeface="Pretendard" pitchFamily="34" charset="0"/>
                <a:ea typeface="Pretendard" pitchFamily="34" charset="-122"/>
                <a:cs typeface="Pretendard" pitchFamily="34" charset="-120"/>
              </a:rPr>
              <a:t>모던 라운지</a:t>
            </a:r>
            <a:endParaRPr lang="en-US" sz="1300" dirty="0"/>
          </a:p>
        </p:txBody>
      </p:sp>
      <p:sp>
        <p:nvSpPr>
          <p:cNvPr id="13" name="Text 11"/>
          <p:cNvSpPr/>
          <p:nvPr/>
        </p:nvSpPr>
        <p:spPr>
          <a:xfrm>
            <a:off x="621792" y="2651760"/>
            <a:ext cx="2377440" cy="731520"/>
          </a:xfrm>
          <a:prstGeom prst="rect">
            <a:avLst/>
          </a:prstGeom>
          <a:noFill/>
          <a:ln/>
        </p:spPr>
        <p:txBody>
          <a:bodyPr wrap="square" lIns="0" tIns="0" rIns="0" bIns="0" rtlCol="0" anchor="ctr"/>
          <a:lstStyle/>
          <a:p>
            <a:pPr indent="0" marL="0">
              <a:buNone/>
            </a:pPr>
            <a:r>
              <a:rPr lang="en-US" sz="950" dirty="0">
                <a:solidFill>
                  <a:srgbClr val="C9C2BA"/>
                </a:solidFill>
                <a:latin typeface="Pretendard" pitchFamily="34" charset="0"/>
                <a:ea typeface="Pretendard" pitchFamily="34" charset="-122"/>
                <a:cs typeface="Pretendard" pitchFamily="34" charset="-120"/>
              </a:rPr>
              <a:t>서울에서 가장 매력적인 공간에 들어온 듯한 경험.</a:t>
            </a:r>
            <a:endParaRPr lang="en-US" sz="950" dirty="0"/>
          </a:p>
          <a:p>
            <a:pPr indent="0" marL="0">
              <a:buNone/>
            </a:pPr>
            <a:r>
              <a:rPr lang="en-US" sz="950" dirty="0">
                <a:solidFill>
                  <a:srgbClr val="C9C2BA"/>
                </a:solidFill>
                <a:latin typeface="Pretendard" pitchFamily="34" charset="0"/>
                <a:ea typeface="Pretendard" pitchFamily="34" charset="-122"/>
                <a:cs typeface="Pretendard" pitchFamily="34" charset="-120"/>
              </a:rPr>
              <a:t>오래 머물고 싶은 공간,</a:t>
            </a:r>
            <a:endParaRPr lang="en-US" sz="950" dirty="0"/>
          </a:p>
          <a:p>
            <a:pPr indent="0" marL="0">
              <a:buNone/>
            </a:pPr>
            <a:r>
              <a:rPr lang="en-US" sz="950" dirty="0">
                <a:solidFill>
                  <a:srgbClr val="C9C2BA"/>
                </a:solidFill>
                <a:latin typeface="Pretendard" pitchFamily="34" charset="0"/>
                <a:ea typeface="Pretendard" pitchFamily="34" charset="-122"/>
                <a:cs typeface="Pretendard" pitchFamily="34" charset="-120"/>
              </a:rPr>
              <a:t>자연스럽게 대화가 시작되는 공간.</a:t>
            </a:r>
            <a:endParaRPr lang="en-US" sz="950" dirty="0"/>
          </a:p>
        </p:txBody>
      </p:sp>
      <p:sp>
        <p:nvSpPr>
          <p:cNvPr id="14" name="Shape 12"/>
          <p:cNvSpPr/>
          <p:nvPr/>
        </p:nvSpPr>
        <p:spPr>
          <a:xfrm>
            <a:off x="3255264" y="2057400"/>
            <a:ext cx="2633472" cy="1371600"/>
          </a:xfrm>
          <a:prstGeom prst="rect">
            <a:avLst/>
          </a:prstGeom>
          <a:solidFill>
            <a:srgbClr val="222222"/>
          </a:solidFill>
          <a:ln w="6350">
            <a:solidFill>
              <a:srgbClr val="2A2A2A"/>
            </a:solidFill>
            <a:prstDash val="solid"/>
          </a:ln>
        </p:spPr>
      </p:sp>
      <p:sp>
        <p:nvSpPr>
          <p:cNvPr id="15" name="Shape 13"/>
          <p:cNvSpPr/>
          <p:nvPr/>
        </p:nvSpPr>
        <p:spPr>
          <a:xfrm>
            <a:off x="3255264" y="2057400"/>
            <a:ext cx="2633472" cy="36576"/>
          </a:xfrm>
          <a:prstGeom prst="rect">
            <a:avLst/>
          </a:prstGeom>
          <a:solidFill>
            <a:srgbClr val="6F8AA3"/>
          </a:solidFill>
          <a:ln/>
        </p:spPr>
      </p:sp>
      <p:sp>
        <p:nvSpPr>
          <p:cNvPr id="16" name="Text 14"/>
          <p:cNvSpPr/>
          <p:nvPr/>
        </p:nvSpPr>
        <p:spPr>
          <a:xfrm>
            <a:off x="3364992" y="2167128"/>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운영 시스템</a:t>
            </a:r>
            <a:endParaRPr lang="en-US" sz="800" dirty="0"/>
          </a:p>
        </p:txBody>
      </p:sp>
      <p:sp>
        <p:nvSpPr>
          <p:cNvPr id="17" name="Text 15"/>
          <p:cNvSpPr/>
          <p:nvPr/>
        </p:nvSpPr>
        <p:spPr>
          <a:xfrm>
            <a:off x="3364992" y="2377440"/>
            <a:ext cx="2377440" cy="228600"/>
          </a:xfrm>
          <a:prstGeom prst="rect">
            <a:avLst/>
          </a:prstGeom>
          <a:noFill/>
          <a:ln/>
        </p:spPr>
        <p:txBody>
          <a:bodyPr wrap="square" lIns="0" tIns="0" rIns="0" bIns="0" rtlCol="0" anchor="ctr"/>
          <a:lstStyle/>
          <a:p>
            <a:pPr indent="0" marL="0">
              <a:buNone/>
            </a:pPr>
            <a:r>
              <a:rPr lang="en-US" sz="1300" b="1" dirty="0">
                <a:solidFill>
                  <a:srgbClr val="F5F0EB"/>
                </a:solidFill>
                <a:latin typeface="Pretendard" pitchFamily="34" charset="0"/>
                <a:ea typeface="Pretendard" pitchFamily="34" charset="-122"/>
                <a:cs typeface="Pretendard" pitchFamily="34" charset="-120"/>
              </a:rPr>
              <a:t>유연 모듈</a:t>
            </a:r>
            <a:endParaRPr lang="en-US" sz="1300" dirty="0"/>
          </a:p>
        </p:txBody>
      </p:sp>
      <p:sp>
        <p:nvSpPr>
          <p:cNvPr id="18" name="Text 16"/>
          <p:cNvSpPr/>
          <p:nvPr/>
        </p:nvSpPr>
        <p:spPr>
          <a:xfrm>
            <a:off x="3364992" y="2651760"/>
            <a:ext cx="2377440" cy="731520"/>
          </a:xfrm>
          <a:prstGeom prst="rect">
            <a:avLst/>
          </a:prstGeom>
          <a:noFill/>
          <a:ln/>
        </p:spPr>
        <p:txBody>
          <a:bodyPr wrap="square" lIns="0" tIns="0" rIns="0" bIns="0" rtlCol="0" anchor="ctr"/>
          <a:lstStyle/>
          <a:p>
            <a:pPr indent="0" marL="0">
              <a:buNone/>
            </a:pPr>
            <a:r>
              <a:rPr lang="en-US" sz="950" dirty="0">
                <a:solidFill>
                  <a:srgbClr val="C9C2BA"/>
                </a:solidFill>
                <a:latin typeface="Pretendard" pitchFamily="34" charset="0"/>
                <a:ea typeface="Pretendard" pitchFamily="34" charset="-122"/>
                <a:cs typeface="Pretendard" pitchFamily="34" charset="-120"/>
              </a:rPr>
              <a:t>전시 주제에 따라 자유롭게 변화하는 모듈형 구조.</a:t>
            </a:r>
            <a:endParaRPr lang="en-US" sz="950" dirty="0"/>
          </a:p>
          <a:p>
            <a:pPr indent="0" marL="0">
              <a:buNone/>
            </a:pPr>
            <a:r>
              <a:rPr lang="en-US" sz="950" dirty="0">
                <a:solidFill>
                  <a:srgbClr val="C9C2BA"/>
                </a:solidFill>
                <a:latin typeface="Pretendard" pitchFamily="34" charset="0"/>
                <a:ea typeface="Pretendard" pitchFamily="34" charset="-122"/>
                <a:cs typeface="Pretendard" pitchFamily="34" charset="-120"/>
              </a:rPr>
              <a:t>하나의 공간에서 다양한 전시와 프로그램이 지속적으로 운영.</a:t>
            </a:r>
            <a:endParaRPr lang="en-US" sz="950" dirty="0"/>
          </a:p>
        </p:txBody>
      </p:sp>
      <p:sp>
        <p:nvSpPr>
          <p:cNvPr id="19" name="Shape 17"/>
          <p:cNvSpPr/>
          <p:nvPr/>
        </p:nvSpPr>
        <p:spPr>
          <a:xfrm>
            <a:off x="5998464" y="2057400"/>
            <a:ext cx="2633472" cy="1371600"/>
          </a:xfrm>
          <a:prstGeom prst="rect">
            <a:avLst/>
          </a:prstGeom>
          <a:solidFill>
            <a:srgbClr val="222222"/>
          </a:solidFill>
          <a:ln w="6350">
            <a:solidFill>
              <a:srgbClr val="2A2A2A"/>
            </a:solidFill>
            <a:prstDash val="solid"/>
          </a:ln>
        </p:spPr>
      </p:sp>
      <p:sp>
        <p:nvSpPr>
          <p:cNvPr id="20" name="Shape 18"/>
          <p:cNvSpPr/>
          <p:nvPr/>
        </p:nvSpPr>
        <p:spPr>
          <a:xfrm>
            <a:off x="5998464" y="2057400"/>
            <a:ext cx="2633472" cy="36576"/>
          </a:xfrm>
          <a:prstGeom prst="rect">
            <a:avLst/>
          </a:prstGeom>
          <a:solidFill>
            <a:srgbClr val="D9A34B"/>
          </a:solidFill>
          <a:ln/>
        </p:spPr>
      </p:sp>
      <p:sp>
        <p:nvSpPr>
          <p:cNvPr id="21" name="Text 19"/>
          <p:cNvSpPr/>
          <p:nvPr/>
        </p:nvSpPr>
        <p:spPr>
          <a:xfrm>
            <a:off x="6108192" y="2167128"/>
            <a:ext cx="2377440" cy="164592"/>
          </a:xfrm>
          <a:prstGeom prst="rect">
            <a:avLst/>
          </a:prstGeom>
          <a:noFill/>
          <a:ln/>
        </p:spPr>
        <p:txBody>
          <a:bodyPr wrap="square" lIns="0" tIns="0" rIns="0" bIns="0" rtlCol="0" anchor="ctr"/>
          <a:lstStyle/>
          <a:p>
            <a:pPr indent="0" marL="0">
              <a:buNone/>
            </a:pPr>
            <a:r>
              <a:rPr lang="en-US" sz="800" spc="200" kern="0" dirty="0">
                <a:solidFill>
                  <a:srgbClr val="7A7570"/>
                </a:solidFill>
                <a:latin typeface="Pretendard" pitchFamily="34" charset="0"/>
                <a:ea typeface="Pretendard" pitchFamily="34" charset="-122"/>
                <a:cs typeface="Pretendard" pitchFamily="34" charset="-120"/>
              </a:rPr>
              <a:t>경험 설계</a:t>
            </a:r>
            <a:endParaRPr lang="en-US" sz="800" dirty="0"/>
          </a:p>
        </p:txBody>
      </p:sp>
      <p:sp>
        <p:nvSpPr>
          <p:cNvPr id="22" name="Text 20"/>
          <p:cNvSpPr/>
          <p:nvPr/>
        </p:nvSpPr>
        <p:spPr>
          <a:xfrm>
            <a:off x="6108192" y="2377440"/>
            <a:ext cx="2377440" cy="228600"/>
          </a:xfrm>
          <a:prstGeom prst="rect">
            <a:avLst/>
          </a:prstGeom>
          <a:noFill/>
          <a:ln/>
        </p:spPr>
        <p:txBody>
          <a:bodyPr wrap="square" lIns="0" tIns="0" rIns="0" bIns="0" rtlCol="0" anchor="ctr"/>
          <a:lstStyle/>
          <a:p>
            <a:pPr indent="0" marL="0">
              <a:buNone/>
            </a:pPr>
            <a:r>
              <a:rPr lang="en-US" sz="1300" b="1" dirty="0">
                <a:solidFill>
                  <a:srgbClr val="F5F0EB"/>
                </a:solidFill>
                <a:latin typeface="Pretendard" pitchFamily="34" charset="0"/>
                <a:ea typeface="Pretendard" pitchFamily="34" charset="-122"/>
                <a:cs typeface="Pretendard" pitchFamily="34" charset="-120"/>
              </a:rPr>
              <a:t>Slow Experience</a:t>
            </a:r>
            <a:endParaRPr lang="en-US" sz="1300" dirty="0"/>
          </a:p>
        </p:txBody>
      </p:sp>
      <p:sp>
        <p:nvSpPr>
          <p:cNvPr id="23" name="Text 21"/>
          <p:cNvSpPr/>
          <p:nvPr/>
        </p:nvSpPr>
        <p:spPr>
          <a:xfrm>
            <a:off x="6108192" y="2651760"/>
            <a:ext cx="2377440" cy="731520"/>
          </a:xfrm>
          <a:prstGeom prst="rect">
            <a:avLst/>
          </a:prstGeom>
          <a:noFill/>
          <a:ln/>
        </p:spPr>
        <p:txBody>
          <a:bodyPr wrap="square" lIns="0" tIns="0" rIns="0" bIns="0" rtlCol="0" anchor="ctr"/>
          <a:lstStyle/>
          <a:p>
            <a:pPr indent="0" marL="0">
              <a:buNone/>
            </a:pPr>
            <a:r>
              <a:rPr lang="en-US" sz="950" dirty="0">
                <a:solidFill>
                  <a:srgbClr val="C9C2BA"/>
                </a:solidFill>
                <a:latin typeface="Pretendard" pitchFamily="34" charset="0"/>
                <a:ea typeface="Pretendard" pitchFamily="34" charset="-122"/>
                <a:cs typeface="Pretendard" pitchFamily="34" charset="-120"/>
              </a:rPr>
              <a:t>머물고, 책을 읽고, 커피를 마시고,</a:t>
            </a:r>
            <a:endParaRPr lang="en-US" sz="950" dirty="0"/>
          </a:p>
          <a:p>
            <a:pPr indent="0" marL="0">
              <a:buNone/>
            </a:pPr>
            <a:r>
              <a:rPr lang="en-US" sz="950" dirty="0">
                <a:solidFill>
                  <a:srgbClr val="C9C2BA"/>
                </a:solidFill>
                <a:latin typeface="Pretendard" pitchFamily="34" charset="0"/>
                <a:ea typeface="Pretendard" pitchFamily="34" charset="-122"/>
                <a:cs typeface="Pretendard" pitchFamily="34" charset="-120"/>
              </a:rPr>
              <a:t>사람들과 이야기하고, 전시를 감상하고,</a:t>
            </a:r>
            <a:endParaRPr lang="en-US" sz="950" dirty="0"/>
          </a:p>
          <a:p>
            <a:pPr indent="0" marL="0">
              <a:buNone/>
            </a:pPr>
            <a:r>
              <a:rPr lang="en-US" sz="950" dirty="0">
                <a:solidFill>
                  <a:srgbClr val="C9C2BA"/>
                </a:solidFill>
                <a:latin typeface="Pretendard" pitchFamily="34" charset="0"/>
                <a:ea typeface="Pretendard" pitchFamily="34" charset="-122"/>
                <a:cs typeface="Pretendard" pitchFamily="34" charset="-120"/>
              </a:rPr>
              <a:t>새로운 경험을 만든다.</a:t>
            </a:r>
            <a:endParaRPr lang="en-US" sz="950" dirty="0"/>
          </a:p>
        </p:txBody>
      </p:sp>
      <p:sp>
        <p:nvSpPr>
          <p:cNvPr id="24" name="Shape 22"/>
          <p:cNvSpPr/>
          <p:nvPr/>
        </p:nvSpPr>
        <p:spPr>
          <a:xfrm>
            <a:off x="512064" y="3611880"/>
            <a:ext cx="8119872" cy="502920"/>
          </a:xfrm>
          <a:prstGeom prst="rect">
            <a:avLst/>
          </a:prstGeom>
          <a:solidFill>
            <a:srgbClr val="8FA37E">
              <a:alpha val="7000"/>
            </a:srgbClr>
          </a:solidFill>
          <a:ln/>
        </p:spPr>
      </p:sp>
      <p:sp>
        <p:nvSpPr>
          <p:cNvPr id="25" name="Shape 23"/>
          <p:cNvSpPr/>
          <p:nvPr/>
        </p:nvSpPr>
        <p:spPr>
          <a:xfrm>
            <a:off x="512064" y="3611880"/>
            <a:ext cx="54864" cy="502920"/>
          </a:xfrm>
          <a:prstGeom prst="rect">
            <a:avLst/>
          </a:prstGeom>
          <a:solidFill>
            <a:srgbClr val="8FA37E"/>
          </a:solidFill>
          <a:ln/>
        </p:spPr>
      </p:sp>
      <p:sp>
        <p:nvSpPr>
          <p:cNvPr id="26" name="Text 24"/>
          <p:cNvSpPr/>
          <p:nvPr/>
        </p:nvSpPr>
        <p:spPr>
          <a:xfrm>
            <a:off x="731520" y="3611880"/>
            <a:ext cx="7863840" cy="502920"/>
          </a:xfrm>
          <a:prstGeom prst="rect">
            <a:avLst/>
          </a:prstGeom>
          <a:noFill/>
          <a:ln/>
        </p:spPr>
        <p:txBody>
          <a:bodyPr wrap="square" lIns="0" tIns="0" rIns="0" bIns="0" rtlCol="0" anchor="ctr"/>
          <a:lstStyle/>
          <a:p>
            <a:pPr indent="0" marL="0">
              <a:buNone/>
            </a:pPr>
            <a:r>
              <a:rPr lang="en-US" sz="1000" dirty="0">
                <a:solidFill>
                  <a:srgbClr val="C9C2BA"/>
                </a:solidFill>
                <a:latin typeface="Pretendard" pitchFamily="34" charset="0"/>
                <a:ea typeface="Pretendard" pitchFamily="34" charset="-122"/>
                <a:cs typeface="Pretendard" pitchFamily="34" charset="-120"/>
              </a:rPr>
              <a:t>공간의 약속. LA를 찾는 방문객들은 이곳에서 한국의 과거를 배우는 것이 아니라, 한국의 현재를 경험하고 앞으로의 한국을 상상하게 될 것입니다.</a:t>
            </a:r>
            <a:endParaRPr lang="en-US" sz="1000" dirty="0"/>
          </a:p>
        </p:txBody>
      </p:sp>
      <p:sp>
        <p:nvSpPr>
          <p:cNvPr id="27" name="Shape 25"/>
          <p:cNvSpPr/>
          <p:nvPr/>
        </p:nvSpPr>
        <p:spPr>
          <a:xfrm>
            <a:off x="512064" y="4617720"/>
            <a:ext cx="8119872" cy="0"/>
          </a:xfrm>
          <a:prstGeom prst="line">
            <a:avLst/>
          </a:prstGeom>
          <a:noFill/>
          <a:ln w="6350">
            <a:solidFill>
              <a:srgbClr val="2A2A2A"/>
            </a:solidFill>
            <a:prstDash val="solid"/>
          </a:ln>
        </p:spPr>
      </p:sp>
      <p:sp>
        <p:nvSpPr>
          <p:cNvPr id="28" name="Text 26"/>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K-LIVING · 코리아센터</a:t>
            </a:r>
            <a:endParaRPr lang="en-US" sz="750" dirty="0"/>
          </a:p>
        </p:txBody>
      </p:sp>
      <p:sp>
        <p:nvSpPr>
          <p:cNvPr id="29" name="Text 27"/>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512064" y="182880"/>
            <a:ext cx="3657600" cy="274320"/>
          </a:xfrm>
          <a:prstGeom prst="rect">
            <a:avLst/>
          </a:prstGeom>
          <a:noFill/>
          <a:ln/>
        </p:spPr>
        <p:txBody>
          <a:bodyPr wrap="square" lIns="0" tIns="0" rIns="0" bIns="0" rtlCol="0" anchor="ctr"/>
          <a:lstStyle/>
          <a:p>
            <a:pPr indent="0" marL="0">
              <a:buNone/>
            </a:pPr>
            <a:r>
              <a:rPr lang="en-US" sz="800" spc="250" kern="0" dirty="0">
                <a:solidFill>
                  <a:srgbClr val="7A7570"/>
                </a:solidFill>
                <a:latin typeface="Pretendard" pitchFamily="34" charset="0"/>
                <a:ea typeface="Pretendard" pitchFamily="34" charset="-122"/>
                <a:cs typeface="Pretendard" pitchFamily="34" charset="-120"/>
              </a:rPr>
              <a:t>SEASON COMPARISON</a:t>
            </a:r>
            <a:endParaRPr lang="en-US" sz="800" dirty="0"/>
          </a:p>
        </p:txBody>
      </p:sp>
      <p:sp>
        <p:nvSpPr>
          <p:cNvPr id="3" name="Text 1"/>
          <p:cNvSpPr/>
          <p:nvPr/>
        </p:nvSpPr>
        <p:spPr>
          <a:xfrm>
            <a:off x="4937760" y="182880"/>
            <a:ext cx="3657600" cy="274320"/>
          </a:xfrm>
          <a:prstGeom prst="rect">
            <a:avLst/>
          </a:prstGeom>
          <a:noFill/>
          <a:ln/>
        </p:spPr>
        <p:txBody>
          <a:bodyPr wrap="square" lIns="0" tIns="0" rIns="0" bIns="0" rtlCol="0" anchor="ctr"/>
          <a:lstStyle/>
          <a:p>
            <a:pPr algn="r" indent="0" marL="0">
              <a:buNone/>
            </a:pPr>
            <a:r>
              <a:rPr lang="en-US" sz="800" spc="250" kern="0" dirty="0">
                <a:solidFill>
                  <a:srgbClr val="A29BFE"/>
                </a:solidFill>
                <a:latin typeface="Pretendard" pitchFamily="34" charset="0"/>
                <a:ea typeface="Pretendard" pitchFamily="34" charset="-122"/>
                <a:cs typeface="Pretendard" pitchFamily="34" charset="-120"/>
              </a:rPr>
              <a:t>SUMMARY</a:t>
            </a:r>
            <a:endParaRPr lang="en-US" sz="800" dirty="0"/>
          </a:p>
        </p:txBody>
      </p:sp>
      <p:sp>
        <p:nvSpPr>
          <p:cNvPr id="4" name="Text 2"/>
          <p:cNvSpPr/>
          <p:nvPr/>
        </p:nvSpPr>
        <p:spPr>
          <a:xfrm>
            <a:off x="512064" y="548640"/>
            <a:ext cx="6400800" cy="228600"/>
          </a:xfrm>
          <a:prstGeom prst="rect">
            <a:avLst/>
          </a:prstGeom>
          <a:noFill/>
          <a:ln/>
        </p:spPr>
        <p:txBody>
          <a:bodyPr wrap="square" lIns="0" tIns="0" rIns="0" bIns="0" rtlCol="0" anchor="ctr"/>
          <a:lstStyle/>
          <a:p>
            <a:pPr indent="0" marL="0">
              <a:buNone/>
            </a:pPr>
            <a:r>
              <a:rPr lang="en-US" sz="850" spc="300" kern="0" dirty="0">
                <a:solidFill>
                  <a:srgbClr val="7A7570"/>
                </a:solidFill>
                <a:latin typeface="Pretendard" pitchFamily="34" charset="0"/>
                <a:ea typeface="Pretendard" pitchFamily="34" charset="-122"/>
                <a:cs typeface="Pretendard" pitchFamily="34" charset="-120"/>
              </a:rPr>
              <a:t>시즌 비교 · SUMMARY</a:t>
            </a:r>
            <a:endParaRPr lang="en-US" sz="850" dirty="0"/>
          </a:p>
        </p:txBody>
      </p:sp>
      <p:sp>
        <p:nvSpPr>
          <p:cNvPr id="5" name="Text 3"/>
          <p:cNvSpPr/>
          <p:nvPr/>
        </p:nvSpPr>
        <p:spPr>
          <a:xfrm>
            <a:off x="7315200" y="548640"/>
            <a:ext cx="1316736" cy="228600"/>
          </a:xfrm>
          <a:prstGeom prst="rect">
            <a:avLst/>
          </a:prstGeom>
          <a:noFill/>
          <a:ln/>
        </p:spPr>
        <p:txBody>
          <a:bodyPr wrap="square" lIns="0" tIns="0" rIns="0" bIns="0" rtlCol="0" anchor="ctr"/>
          <a:lstStyle/>
          <a:p>
            <a:pPr algn="r" indent="0" marL="0">
              <a:buNone/>
            </a:pPr>
            <a:r>
              <a:rPr lang="en-US" sz="850" spc="300" kern="0" dirty="0">
                <a:solidFill>
                  <a:srgbClr val="7A7570"/>
                </a:solidFill>
                <a:latin typeface="Pretendard" pitchFamily="34" charset="0"/>
                <a:ea typeface="Pretendard" pitchFamily="34" charset="-122"/>
                <a:cs typeface="Pretendard" pitchFamily="34" charset="-120"/>
              </a:rPr>
              <a:t>09</a:t>
            </a:r>
            <a:endParaRPr lang="en-US" sz="850" dirty="0"/>
          </a:p>
        </p:txBody>
      </p:sp>
      <p:sp>
        <p:nvSpPr>
          <p:cNvPr id="6" name="Shape 4"/>
          <p:cNvSpPr/>
          <p:nvPr/>
        </p:nvSpPr>
        <p:spPr>
          <a:xfrm>
            <a:off x="512064" y="841248"/>
            <a:ext cx="8119872" cy="0"/>
          </a:xfrm>
          <a:prstGeom prst="line">
            <a:avLst/>
          </a:prstGeom>
          <a:noFill/>
          <a:ln w="6350">
            <a:solidFill>
              <a:srgbClr val="2A2A2A"/>
            </a:solidFill>
            <a:prstDash val="solid"/>
          </a:ln>
        </p:spPr>
      </p:sp>
      <p:sp>
        <p:nvSpPr>
          <p:cNvPr id="7" name="Text 5"/>
          <p:cNvSpPr/>
          <p:nvPr/>
        </p:nvSpPr>
        <p:spPr>
          <a:xfrm>
            <a:off x="512064" y="960120"/>
            <a:ext cx="8119872" cy="457200"/>
          </a:xfrm>
          <a:prstGeom prst="rect">
            <a:avLst/>
          </a:prstGeom>
          <a:noFill/>
          <a:ln/>
        </p:spPr>
        <p:txBody>
          <a:bodyPr wrap="square" lIns="0" tIns="0" rIns="0" bIns="0" rtlCol="0" anchor="ctr"/>
          <a:lstStyle/>
          <a:p>
            <a:pPr indent="0" marL="0">
              <a:buNone/>
            </a:pPr>
            <a:r>
              <a:rPr lang="en-US" sz="2600" b="1" dirty="0">
                <a:solidFill>
                  <a:srgbClr val="F5F0EB"/>
                </a:solidFill>
                <a:latin typeface="Pretendard" pitchFamily="34" charset="0"/>
                <a:ea typeface="Pretendard" pitchFamily="34" charset="-122"/>
                <a:cs typeface="Pretendard" pitchFamily="34" charset="-120"/>
              </a:rPr>
              <a:t>TEXTURE vs Dept. of K-living </a:t>
            </a:r>
            <a:pPr indent="0" marL="0">
              <a:buNone/>
            </a:pPr>
            <a:r>
              <a:rPr lang="en-US" sz="2600" b="1" dirty="0">
                <a:solidFill>
                  <a:srgbClr val="A29BFE"/>
                </a:solidFill>
                <a:latin typeface="Pretendard" pitchFamily="34" charset="0"/>
                <a:ea typeface="Pretendard" pitchFamily="34" charset="-122"/>
                <a:cs typeface="Pretendard" pitchFamily="34" charset="-120"/>
              </a:rPr>
              <a:t>한눈 비교</a:t>
            </a:r>
            <a:endParaRPr lang="en-US" sz="2600" dirty="0"/>
          </a:p>
        </p:txBody>
      </p:sp>
      <p:sp>
        <p:nvSpPr>
          <p:cNvPr id="8" name="Text 6"/>
          <p:cNvSpPr/>
          <p:nvPr/>
        </p:nvSpPr>
        <p:spPr>
          <a:xfrm>
            <a:off x="512064" y="1417320"/>
            <a:ext cx="8119872" cy="274320"/>
          </a:xfrm>
          <a:prstGeom prst="rect">
            <a:avLst/>
          </a:prstGeom>
          <a:noFill/>
          <a:ln/>
        </p:spPr>
        <p:txBody>
          <a:bodyPr wrap="square" lIns="0" tIns="0" rIns="0" bIns="0" rtlCol="0" anchor="ctr"/>
          <a:lstStyle/>
          <a:p>
            <a:pPr indent="0" marL="0">
              <a:buNone/>
            </a:pPr>
            <a:r>
              <a:rPr lang="en-US" sz="1100" dirty="0">
                <a:solidFill>
                  <a:srgbClr val="C9C2BA"/>
                </a:solidFill>
                <a:latin typeface="Pretendard" pitchFamily="34" charset="0"/>
                <a:ea typeface="Pretendard" pitchFamily="34" charset="-122"/>
                <a:cs typeface="Pretendard" pitchFamily="34" charset="-120"/>
              </a:rPr>
              <a:t>두 시즌은 같은 공간에서 서로 다른 질문에 답합니다.</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12064" y="1783080"/>
          <a:ext cx="8119872" cy="914400"/>
        </p:xfrm>
        <a:graphic>
          <a:graphicData uri="http://schemas.openxmlformats.org/drawingml/2006/table">
            <a:tbl>
              <a:tblPr/>
              <a:tblGrid>
                <a:gridCol w="1280160"/>
                <a:gridCol w="3419856"/>
                <a:gridCol w="3419856"/>
              </a:tblGrid>
              <a:tr h="274320">
                <a:tc>
                  <a:txBody>
                    <a:bodyPr/>
                    <a:lstStyle/>
                    <a:p>
                      <a:pPr indent="0" marL="0">
                        <a:buNone/>
                      </a:pPr>
                      <a:endParaRPr lang="en-US" sz="8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800" b="1" dirty="0">
                          <a:solidFill>
                            <a:srgbClr val="7A7570"/>
                          </a:solidFill>
                          <a:latin typeface="Pretendard" pitchFamily="34" charset="0"/>
                          <a:ea typeface="Pretendard" pitchFamily="34" charset="-122"/>
                          <a:cs typeface="Pretendard" pitchFamily="34" charset="-120"/>
                        </a:rPr>
                        <a:t>TEXTURE · Season 1</a:t>
                      </a:r>
                      <a:endParaRPr lang="en-US" sz="8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111111"/>
                    </a:solidFill>
                  </a:tcPr>
                </a:tc>
                <a:tc>
                  <a:txBody>
                    <a:bodyPr/>
                    <a:lstStyle/>
                    <a:p>
                      <a:pPr indent="0" marL="0">
                        <a:buNone/>
                      </a:pPr>
                      <a:r>
                        <a:rPr lang="en-US" sz="800" b="1" dirty="0">
                          <a:solidFill>
                            <a:srgbClr val="7A7570"/>
                          </a:solidFill>
                          <a:latin typeface="Pretendard" pitchFamily="34" charset="0"/>
                          <a:ea typeface="Pretendard" pitchFamily="34" charset="-122"/>
                          <a:cs typeface="Pretendard" pitchFamily="34" charset="-120"/>
                        </a:rPr>
                        <a:t>Dept. of K-living · Season 2</a:t>
                      </a:r>
                      <a:endParaRPr lang="en-US" sz="8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111111"/>
                    </a:solidFill>
                  </a:tcPr>
                </a:tc>
              </a:tr>
              <a:tr h="411480">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슬로건</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From Text to Texture,</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From Culture to Lifestyle</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Korean New Modern</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 오래된 미래를 경험하는 공간</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r h="347472">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핵심 질문</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A29BFE"/>
                          </a:solidFill>
                          <a:latin typeface="Pretendard" pitchFamily="34" charset="0"/>
                          <a:ea typeface="Pretendard" pitchFamily="34" charset="-122"/>
                          <a:cs typeface="Pretendard" pitchFamily="34" charset="-120"/>
                        </a:rPr>
                        <a:t>한글이 어떻게 문화가 되는가</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A29BFE"/>
                          </a:solidFill>
                          <a:latin typeface="Pretendard" pitchFamily="34" charset="0"/>
                          <a:ea typeface="Pretendard" pitchFamily="34" charset="-122"/>
                          <a:cs typeface="Pretendard" pitchFamily="34" charset="-120"/>
                        </a:rPr>
                        <a:t>전통이 어떻게 오늘의 삶이 되는가</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r h="411480">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한국문화원</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Origin of Texture</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한글·한지·전통공예·Future Hanbok</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Cultural Living Room</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골동·고가구·도자가 현대 가구와 공존</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r h="411480">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코리아센터</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Living Texture</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웹툰·독립출판·타이포그래피 + 4개 Lab</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Modern Lounge</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모듈형 전시 + Slow Experience</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r h="411480">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체험 설계</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만들고·디자인하고·가져간다</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(Name/Print/Stamp/Book Lab)</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머물고·읽고·마시고·대화한다</a:t>
                      </a:r>
                      <a:endParaRPr lang="en-US" sz="900" dirty="0">
                        <a:latin typeface="Pretendard" charset="0"/>
                        <a:ea typeface="Pretendard" charset="0"/>
                        <a:cs typeface="Pretendard" charset="0"/>
                      </a:endParaRPr>
                    </a:p>
                    <a:p>
                      <a:pPr indent="0" marL="0">
                        <a:buNone/>
                      </a:pPr>
                      <a:r>
                        <a:rPr lang="en-US" sz="900" dirty="0">
                          <a:solidFill>
                            <a:srgbClr val="C9C2BA"/>
                          </a:solidFill>
                          <a:latin typeface="Pretendard" pitchFamily="34" charset="0"/>
                          <a:ea typeface="Pretendard" pitchFamily="34" charset="-122"/>
                          <a:cs typeface="Pretendard" pitchFamily="34" charset="-120"/>
                        </a:rPr>
                        <a:t>(Cultural Living Room)</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r h="347472">
                <a:tc>
                  <a:txBody>
                    <a:bodyPr/>
                    <a:lstStyle/>
                    <a:p>
                      <a:pPr indent="0" marL="0">
                        <a:buNone/>
                      </a:pPr>
                      <a:r>
                        <a:rPr lang="en-US" sz="900" b="1" dirty="0">
                          <a:solidFill>
                            <a:srgbClr val="F5F0EB"/>
                          </a:solidFill>
                          <a:latin typeface="Pretendard" pitchFamily="34" charset="0"/>
                          <a:ea typeface="Pretendard" pitchFamily="34" charset="-122"/>
                          <a:cs typeface="Pretendard" pitchFamily="34" charset="-120"/>
                        </a:rPr>
                        <a:t>방문객 경험</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Text → Texture → Experience → Object</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c>
                  <a:txBody>
                    <a:bodyPr/>
                    <a:lstStyle/>
                    <a:p>
                      <a:pPr indent="0" marL="0">
                        <a:buNone/>
                      </a:pPr>
                      <a:r>
                        <a:rPr lang="en-US" sz="900" dirty="0">
                          <a:solidFill>
                            <a:srgbClr val="C9C2BA"/>
                          </a:solidFill>
                          <a:latin typeface="Pretendard" pitchFamily="34" charset="0"/>
                          <a:ea typeface="Pretendard" pitchFamily="34" charset="-122"/>
                          <a:cs typeface="Pretendard" pitchFamily="34" charset="-120"/>
                        </a:rPr>
                        <a:t>한국을 설명하지 않고 느끼게 한다</a:t>
                      </a:r>
                      <a:endParaRPr lang="en-US" sz="900" dirty="0">
                        <a:latin typeface="Pretendard" charset="0"/>
                        <a:ea typeface="Pretendard" charset="0"/>
                        <a:cs typeface="Pretendard" charset="0"/>
                      </a:endParaRPr>
                    </a:p>
                  </a:txBody>
                  <a:tcPr marL="91440" marR="91440" marT="45720" marB="45720" anchor="ctr">
                    <a:lnL w="6350" cap="flat" cmpd="sng" algn="ctr">
                      <a:solidFill>
                        <a:srgbClr val="2A2A2A"/>
                      </a:solidFill>
                      <a:prstDash val="solid"/>
                      <a:round/>
                      <a:headEnd type="none" w="med" len="med"/>
                      <a:tailEnd type="none" w="med" len="med"/>
                    </a:lnL>
                    <a:lnR w="6350" cap="flat" cmpd="sng" algn="ctr">
                      <a:solidFill>
                        <a:srgbClr val="2A2A2A"/>
                      </a:solidFill>
                      <a:prstDash val="solid"/>
                      <a:round/>
                      <a:headEnd type="none" w="med" len="med"/>
                      <a:tailEnd type="none" w="med" len="med"/>
                    </a:lnR>
                    <a:lnT w="6350" cap="flat" cmpd="sng" algn="ctr">
                      <a:solidFill>
                        <a:srgbClr val="2A2A2A"/>
                      </a:solidFill>
                      <a:prstDash val="solid"/>
                      <a:round/>
                      <a:headEnd type="none" w="med" len="med"/>
                      <a:tailEnd type="none" w="med" len="med"/>
                    </a:lnT>
                    <a:lnB w="6350" cap="flat" cmpd="sng" algn="ctr">
                      <a:solidFill>
                        <a:srgbClr val="2A2A2A"/>
                      </a:solidFill>
                      <a:prstDash val="solid"/>
                      <a:round/>
                      <a:headEnd type="none" w="med" len="med"/>
                      <a:tailEnd type="none" w="med" len="med"/>
                    </a:lnB>
                    <a:solidFill>
                      <a:srgbClr val="222222"/>
                    </a:solidFill>
                  </a:tcPr>
                </a:tc>
              </a:tr>
            </a:tbl>
          </a:graphicData>
        </a:graphic>
      </p:graphicFrame>
      <p:sp>
        <p:nvSpPr>
          <p:cNvPr id="10" name="Shape 7"/>
          <p:cNvSpPr/>
          <p:nvPr/>
        </p:nvSpPr>
        <p:spPr>
          <a:xfrm>
            <a:off x="512064" y="4617720"/>
            <a:ext cx="8119872" cy="0"/>
          </a:xfrm>
          <a:prstGeom prst="line">
            <a:avLst/>
          </a:prstGeom>
          <a:noFill/>
          <a:ln w="6350">
            <a:solidFill>
              <a:srgbClr val="2A2A2A"/>
            </a:solidFill>
            <a:prstDash val="solid"/>
          </a:ln>
        </p:spPr>
      </p:sp>
      <p:sp>
        <p:nvSpPr>
          <p:cNvPr id="11" name="Text 8"/>
          <p:cNvSpPr/>
          <p:nvPr/>
        </p:nvSpPr>
        <p:spPr>
          <a:xfrm>
            <a:off x="512064" y="4663440"/>
            <a:ext cx="4572000" cy="228600"/>
          </a:xfrm>
          <a:prstGeom prst="rect">
            <a:avLst/>
          </a:prstGeom>
          <a:noFill/>
          <a:ln/>
        </p:spPr>
        <p:txBody>
          <a:bodyPr wrap="square" lIns="0" tIns="0" rIns="0" bIns="0" rtlCol="0" anchor="ctr"/>
          <a:lstStyle/>
          <a:p>
            <a:pPr indent="0" marL="0">
              <a:buNone/>
            </a:pPr>
            <a:r>
              <a:rPr lang="en-US" sz="750" spc="200" kern="0" dirty="0">
                <a:solidFill>
                  <a:srgbClr val="7A7570"/>
                </a:solidFill>
                <a:latin typeface="Pretendard" pitchFamily="34" charset="0"/>
                <a:ea typeface="Pretendard" pitchFamily="34" charset="-122"/>
                <a:cs typeface="Pretendard" pitchFamily="34" charset="-120"/>
              </a:rPr>
              <a:t>SUMMARY · 시즌 비교</a:t>
            </a:r>
            <a:endParaRPr lang="en-US" sz="750" dirty="0"/>
          </a:p>
        </p:txBody>
      </p:sp>
      <p:sp>
        <p:nvSpPr>
          <p:cNvPr id="12" name="Text 9"/>
          <p:cNvSpPr/>
          <p:nvPr/>
        </p:nvSpPr>
        <p:spPr>
          <a:xfrm>
            <a:off x="4572000" y="4663440"/>
            <a:ext cx="4059936" cy="228600"/>
          </a:xfrm>
          <a:prstGeom prst="rect">
            <a:avLst/>
          </a:prstGeom>
          <a:noFill/>
          <a:ln/>
        </p:spPr>
        <p:txBody>
          <a:bodyPr wrap="square" lIns="0" tIns="0" rIns="0" bIns="0" rtlCol="0" anchor="ctr"/>
          <a:lstStyle/>
          <a:p>
            <a:pPr algn="r" indent="0" marL="0">
              <a:buNone/>
            </a:pPr>
            <a:r>
              <a:rPr lang="en-US" sz="750" spc="200" kern="0" dirty="0">
                <a:solidFill>
                  <a:srgbClr val="7A7570"/>
                </a:solidFill>
                <a:latin typeface="Pretendard" pitchFamily="34" charset="0"/>
                <a:ea typeface="Pretendard" pitchFamily="34" charset="-122"/>
                <a:cs typeface="Pretendard" pitchFamily="34" charset="-120"/>
              </a:rPr>
              <a:t>BY PROJECT RENT</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Korean Cultural Center — Exhibition Content Plan</dc:title>
  <dc:subject>PptxGenJS Presentation</dc:subject>
  <dc:creator>Project Rent</dc:creator>
  <cp:lastModifiedBy>Project Rent</cp:lastModifiedBy>
  <cp:revision>1</cp:revision>
  <dcterms:created xsi:type="dcterms:W3CDTF">2026-07-27T05:34:33Z</dcterms:created>
  <dcterms:modified xsi:type="dcterms:W3CDTF">2026-07-27T05:34:33Z</dcterms:modified>
</cp:coreProperties>
</file>