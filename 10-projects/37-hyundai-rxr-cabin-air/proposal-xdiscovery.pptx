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6C5CE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RXR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5544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
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Proposal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"만들면 이것이 나온다"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중심의 경험설계 플랫폼 MVP 제안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2026.07 · 현대자동차 경험기획팀 · Confidential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현대차 데이터로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검증한 팀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결과물의 스케일업을 제안합니다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 설명이 아닌, "만들면 이것이 나온다"를 증거와 함께 보여드립니다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468880"/>
          </a:xfrm>
          <a:prstGeom prst="rect">
            <a:avLst>
              <a:gd name="adj" fmla="val 2963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해봤습니다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30,398건 크롤 → 3,586건 정제 → 욕구 5종 도출.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cabin-air 도메인에서 X-Discovery 방법론을 실데이터로 검증 완료.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60320" cy="2468880"/>
          </a:xfrm>
          <a:prstGeom prst="rect">
            <a:avLst>
              <a:gd name="adj" fmla="val 2963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결과물이 나옵니다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3774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UI, Core Experience 카드, User Story, Say-Do Gap 보고서.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후 동작하는 시스템을 인수합니다.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560320" cy="2468880"/>
          </a:xfrm>
          <a:prstGeom prst="rect">
            <a:avLst>
              <a:gd name="adj" fmla="val 2963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절반은 검증된 코드입니다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3774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평균 재사용률 ~53%.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처음부터 만드는 것이 아닌, 동작하는 자산 위에 확장.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전환의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병목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개발은 잘 합니다. "무엇이 경험인지" 정의하는 데 시간이 멈추는 것이 문제입니다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2011680"/>
          </a:xfrm>
          <a:prstGeom prst="rect">
            <a:avLst>
              <a:gd name="adj" fmla="val 3636"/>
            </a:avLst>
          </a:prstGeom>
          <a:solidFill>
            <a:srgbClr val="1A1A24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근본적 문제: 기획→개발 번역 비용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371600" cy="64008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2468880"/>
            <a:ext cx="1371600" cy="640080"/>
          </a:xfrm>
          <a:prstGeom prst="rect">
            <a:avLst/>
          </a:prstGeom>
          <a:solidFill>
            <a:srgbClr val="3D1515"/>
          </a:solidFill>
          <a:ln w="12700">
            <a:solidFill>
              <a:srgbClr val="FF76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 비용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2468880"/>
            <a:ext cx="1371600" cy="64008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착수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468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5CE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4760" y="2468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5CE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4864" cy="5029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37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X-Discovery는 이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6주를 1일</a:t>
            </a:r>
            <a:pPr indent="0" marL="0">
              <a:buNone/>
            </a:pPr>
            <a:r>
              <a:rPr lang="en-US" sz="12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단축하는 엔진입니다.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2651760" cy="2560320"/>
          </a:xfrm>
          <a:prstGeom prst="rect">
            <a:avLst>
              <a:gd name="adj" fmla="val 2857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RFP에서 읽히는 조직 신호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C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미숙련자 가이드 필요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C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 설계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C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'27년 고도화 전제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C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관련부문 협의 미정렬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= '27년 풀 프로젝트의 예산 확보 PoC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RXR 파이프라인 =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검증된 프로토타입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구조, 더 큰 스케일. 피처 정의 부재는 약점이 아니라 "발견형 분석"이 필요하다는 증거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2743200"/>
          </a:xfrm>
          <a:prstGeom prst="rect">
            <a:avLst>
              <a:gd name="adj" fmla="val 2667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RXR (검증 완료)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2743200" cy="36576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정성 데이터 수집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5CE7"/>
                </a:solidFill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2743200" cy="36576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진정성 필터 (Gate 1~4)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31821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5CE7"/>
                </a:solidFill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토픽 + 감성 + 심리 분석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685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5CE7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Latent Desire 도출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</a:rPr>
              <a:t>=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3931920" cy="2743200"/>
          </a:xfrm>
          <a:prstGeom prst="rect">
            <a:avLst>
              <a:gd name="adj" fmla="val 2667"/>
            </a:avLst>
          </a:prstGeom>
          <a:solidFill>
            <a:srgbClr val="1A1A24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(스케일업)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331720"/>
            <a:ext cx="3383280" cy="365760"/>
          </a:xfrm>
          <a:prstGeom prst="rect">
            <a:avLst/>
          </a:prstGeom>
          <a:solidFill>
            <a:srgbClr val="6C5CE7">
              <a:alpha val="3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인제스트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EC9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834640"/>
            <a:ext cx="3383280" cy="365760"/>
          </a:xfrm>
          <a:prstGeom prst="rect">
            <a:avLst/>
          </a:prstGeom>
          <a:solidFill>
            <a:srgbClr val="6C5CE7">
              <a:alpha val="3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RXR 분석 엔진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31821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EC9"/>
                </a:solidFill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3337560"/>
            <a:ext cx="3383280" cy="365760"/>
          </a:xfrm>
          <a:prstGeom prst="rect">
            <a:avLst/>
          </a:prstGeom>
          <a:solidFill>
            <a:srgbClr val="6C5CE7">
              <a:alpha val="3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구조화 (Core Exp + User Story)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685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EC9"/>
                </a:solidFill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840480"/>
            <a:ext cx="3383280" cy="365760"/>
          </a:xfrm>
          <a:prstGeom prst="rect">
            <a:avLst/>
          </a:prstGeom>
          <a:solidFill>
            <a:srgbClr val="6C5CE7">
              <a:alpha val="3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 UI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5720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 동형 = 검증된 코드 ~53% 재사용 + 검증된 프레임워크 100% 활용 → 3개월 내 MVP 완성 가능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PROVEN ·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30,398 → 3,586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88.2% 노이즈 제거. "#광고" 표기 없는 세차·디테일링·필터판매까지 자동 발견·제거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 · API 크롤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1856232"/>
            <a:ext cx="7680960" cy="320040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30,398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 · 180일 + 주제 필터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359152"/>
            <a:ext cx="4572000" cy="32004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18,210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G3 · 협찬 제외 + Auth 60+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862072"/>
            <a:ext cx="2468880" cy="320040"/>
          </a:xfrm>
          <a:prstGeom prst="rect">
            <a:avLst/>
          </a:prstGeom>
          <a:solidFill>
            <a:srgbClr val="FDCB6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9,865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G4 · 강화 필터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3364992"/>
            <a:ext cx="914400" cy="320040"/>
          </a:xfrm>
          <a:prstGeom prst="rect">
            <a:avLst/>
          </a:prstGeom>
          <a:solidFill>
            <a:srgbClr val="00CEC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3,586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C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−6,279건 추가 제거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840480" cy="1097280"/>
          </a:xfrm>
          <a:prstGeom prst="rect">
            <a:avLst>
              <a:gd name="adj" fmla="val 6667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발견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카테고리의 진짜 노이즈는 "#광고" 표기가 아니라 표기 없는 업체 콘텐츠. 표준 필터로는 못 거르는 것을 Gate4가 포착합니다.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4114800" cy="1097280"/>
          </a:xfrm>
          <a:prstGeom prst="rect">
            <a:avLst>
              <a:gd name="adj" fmla="val 6667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749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귀사 VoC에도 동일 적용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102건 + 고객센터 VoC에 동일한 정제 프로세스를 적용합니다. 정제 로직은 범용입니다.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PROVEN ·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욕구 5종 →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Experience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변환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cabin-air 실데이터로 "Latent Desire → User Story" 전체 과정을 시연합니다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00400" cy="2560320"/>
          </a:xfrm>
          <a:prstGeom prst="rect">
            <a:avLst>
              <a:gd name="adj" fmla="val 2857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Before: 분석 결과 (리포트로 종결)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위생·건강 안전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"해롭지 않은 공기"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사회적 체면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"동승자 앞 부끄럽지 않은 공간"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청정 캡슐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미세먼지·필터 (유일 충족)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통제감·즉시성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공조 반응 속도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무의식적 쾌적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신뢰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5CE7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4297680" cy="2560320"/>
          </a:xfrm>
          <a:prstGeom prst="rect">
            <a:avLst>
              <a:gd name="adj" fmla="val 2857"/>
            </a:avLst>
          </a:prstGeom>
          <a:solidFill>
            <a:srgbClr val="1A1A24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After: X-Discovery 포맷 (기획자 전달용)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286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EXPERIENCE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"탑승 즉시, 공기가 나를 해치지 않는다는 확신"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2743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위생·건강(부정 63%) + 체면(543건) 이중 욕구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017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가설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3200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"감지 전 자동 원인 제거 → 건강+체면 동시 해소"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520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STORY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0" y="3703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 a </a:t>
            </a:r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출퇴근 운전자 (동승 가족 포함)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want </a:t>
            </a:r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시동 직후 공기질이 자동 최적화되기를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that </a:t>
            </a:r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냄새·건강·체면 걱정 없이 탑승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→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원문 →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구조화된 아웃풋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현대차가 제공하는 텍스트 파일이 X-Discovery를 거치면 이렇게 변환됩니다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2743200"/>
          </a:xfrm>
          <a:prstGeom prst="rect">
            <a:avLst>
              <a:gd name="adj" fmla="val 2667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· 인터뷰 원문 (.txt)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[인터뷰 #037 / 30대 여성 / 아이오닉6]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Q: 차 안 공기에 대해 어떻게 느끼세요?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A: 솔직히 여름에 에어컨 처음 틀면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그 냄새가 진짜 싫어요.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아이 때문에 걱정이 되거든요.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친구 태웠는데 "냄새 나지 않아?"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해서 너무 창피했어요.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에바클리닝 했는데 3개월 만에 다시.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차가 알아서 해줬으면 좋겠어요.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정수기처럼...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5CE7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77640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2743200"/>
          </a:xfrm>
          <a:prstGeom prst="rect">
            <a:avLst>
              <a:gd name="adj" fmla="val 2667"/>
            </a:avLst>
          </a:prstGeom>
          <a:solidFill>
            <a:srgbClr val="1A1A24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OUTPUT · 구조화 결과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46320" y="2286000"/>
            <a:ext cx="822960" cy="182880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267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Latent Desire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76072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위생·건강 + 사회적 체면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450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confidence: 0.91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2724912"/>
            <a:ext cx="822960" cy="182880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7066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Experience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760720" y="27066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"탑승 즉시, 공기가 나를 해치지 않는다는 확신"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163824"/>
            <a:ext cx="822960" cy="182880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455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Story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760720" y="31455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 a 출퇴근 운전자 / I want 자동 최적화 / So that 걱정 제거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602736"/>
            <a:ext cx="822960" cy="182880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5844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Say-Do Gap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760720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Say: 부정 54% → Do: 실행 0.7%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3767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Gap: 극심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4041648"/>
            <a:ext cx="822960" cy="182880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023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760720" y="4023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여름 첫 에어컨 / 동승자 / 지하주차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결과물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후 현대차가 인수하는 것들. 각각이 동작하는 시스템 또는 액션 가능한 포맷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29BF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산출물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29BF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29BF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X-Discovery 웹 프로토타입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앱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파이프라인 동작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HITL 대시보드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UI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기획자 탐색·검증·수정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Core Experience 카드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구조화 포맷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경험 정의 + 근거 일체형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 Case 2개 시연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프로토타입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도메인별 전체 흐름 증명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 Story 초안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 a/I want/So that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개발팀 직접 전달 포맷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Say-Do Gap 보고서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보고서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정성 vs 정량 교차검증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가이드 + 완료보고서(IR)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문서+PT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9B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운영 + 경영진 보고용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69080"/>
            <a:ext cx="1920240" cy="777240"/>
          </a:xfrm>
          <a:prstGeom prst="rect">
            <a:avLst>
              <a:gd name="adj" fmla="val 9412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8종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동작하는 산출물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51760" y="4069080"/>
            <a:ext cx="1920240" cy="777240"/>
          </a:xfrm>
          <a:prstGeom prst="rect">
            <a:avLst>
              <a:gd name="adj" fmla="val 9412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5176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651760" y="4480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기간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4069080"/>
            <a:ext cx="1920240" cy="777240"/>
          </a:xfrm>
          <a:prstGeom prst="rect">
            <a:avLst>
              <a:gd name="adj" fmla="val 9412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~53%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754880" y="4480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코드 재사용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58000" y="4069080"/>
            <a:ext cx="1920240" cy="777240"/>
          </a:xfrm>
          <a:prstGeom prst="rect">
            <a:avLst>
              <a:gd name="adj" fmla="val 9412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Gate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58000" y="4480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 점검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변화: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 → 1일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경험기획팀의 아이디어→개발 착수 프로세스가 구조적으로 단축됩니다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2743200"/>
          </a:xfrm>
          <a:prstGeom prst="rect">
            <a:avLst>
              <a:gd name="adj" fmla="val 2667"/>
            </a:avLst>
          </a:prstGeom>
          <a:solidFill>
            <a:srgbClr val="1A1A24"/>
          </a:solidFill>
          <a:ln w="12700">
            <a:solidFill>
              <a:srgbClr val="FF767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(현재)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2743200" cy="2743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기획자 아이디어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리서치 2주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수집·분석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내부 설득 3주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2743200" cy="2743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합의·문서화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1주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착수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~6주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1480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754880" y="1828800"/>
            <a:ext cx="3931920" cy="2743200"/>
          </a:xfrm>
          <a:prstGeom prst="rect">
            <a:avLst>
              <a:gd name="adj" fmla="val 2667"/>
            </a:avLst>
          </a:prstGeom>
          <a:solidFill>
            <a:srgbClr val="1A1A24"/>
          </a:solidFill>
          <a:ln w="12700">
            <a:solidFill>
              <a:srgbClr val="00CEC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(X-Discovery)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286000"/>
            <a:ext cx="3383280" cy="274320"/>
          </a:xfrm>
          <a:prstGeom prst="rect">
            <a:avLst/>
          </a:prstGeom>
          <a:solidFill>
            <a:srgbClr val="6C5CE7">
              <a:alpha val="3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기획자 질문 입력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560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X-Discovery 5분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0" y="2743200"/>
            <a:ext cx="3383280" cy="274320"/>
          </a:xfrm>
          <a:prstGeom prst="rect">
            <a:avLst/>
          </a:prstGeom>
          <a:solidFill>
            <a:srgbClr val="6C5CE7">
              <a:alpha val="3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근거 + Core Experience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017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HITL 검증 30분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0" y="3200400"/>
            <a:ext cx="3383280" cy="274320"/>
          </a:xfrm>
          <a:prstGeom prst="rect">
            <a:avLst/>
          </a:prstGeom>
          <a:solidFill>
            <a:srgbClr val="6C5CE7">
              <a:alpha val="3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Story (데이터 기반)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474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즉시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3657600"/>
            <a:ext cx="3383280" cy="274320"/>
          </a:xfrm>
          <a:prstGeom prst="rect">
            <a:avLst/>
          </a:prstGeom>
          <a:solidFill>
            <a:srgbClr val="00CEC9">
              <a:alpha val="30000"/>
            </a:srgbClr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착수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~1일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Sprint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실행 계획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Sprint 종료 시 동작하는 산출물을 납품합니다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solidFill>
            <a:srgbClr val="6C5CE7">
              <a:alpha val="1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45720" cy="9144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S0 · 1주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킥오프 + 셋업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선정, 데이터 인수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1828800"/>
            <a:ext cx="2103120" cy="914400"/>
          </a:xfrm>
          <a:prstGeom prst="rect">
            <a:avLst/>
          </a:prstGeom>
          <a:solidFill>
            <a:srgbClr val="6C5CE7">
              <a:alpha val="15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828800"/>
            <a:ext cx="45720" cy="9144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2167128" y="1874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· 4주 (8월)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67128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+ 분석 엔진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67128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인제스트 + Gate + Latent Desire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828800"/>
            <a:ext cx="2103120" cy="914400"/>
          </a:xfrm>
          <a:prstGeom prst="rect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828800"/>
            <a:ext cx="45720" cy="9144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4407408" y="1874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· 4주 (9월)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7408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구조화 + UI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07408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Exp + User Story + HITL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1828800"/>
            <a:ext cx="1828800" cy="914400"/>
          </a:xfrm>
          <a:prstGeom prst="rect">
            <a:avLst/>
          </a:prstGeom>
          <a:solidFill>
            <a:srgbClr val="6C5CE7">
              <a:alpha val="25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828800"/>
            <a:ext cx="45720" cy="9144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6647688" y="1874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· 3주 (10월)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47688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UC2 + 검증 + 보고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47688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UC2 + 완료보고서 + Navigator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4114800" cy="1645920"/>
          </a:xfrm>
          <a:prstGeom prst="rect">
            <a:avLst>
              <a:gd name="adj" fmla="val 4444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의존성 3종 (현대차 제공 필요)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인터뷰 102건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3474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미제공 시 cabin-air 대체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1600" y="3794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도메인 확정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3794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킥오프 시 구두 합의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4114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6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7160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담당자 배정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30분 미팅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3017520"/>
            <a:ext cx="3840480" cy="1645920"/>
          </a:xfrm>
          <a:prstGeom prst="rect">
            <a:avLst>
              <a:gd name="adj" fmla="val 4444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 Gate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3474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킥오프 리포트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80960" y="3493008"/>
            <a:ext cx="502920" cy="18288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0" y="34930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02920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7784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Latent Desire 시연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80960" y="3767328"/>
            <a:ext cx="502920" cy="18288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37673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Gate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29200" y="4023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7784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UC1 전체 흐름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4041648"/>
            <a:ext cx="502920" cy="18288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680960" y="4041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Gate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29200" y="4297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7784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납품 + IR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80960" y="4315968"/>
            <a:ext cx="502920" cy="18288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680960" y="4315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Gate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이후: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본개발 2단계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가능성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MVP가 증명하면, '27년 Experience Navigator로 확장됩니다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00400" cy="2286000"/>
          </a:xfrm>
          <a:prstGeom prst="rect">
            <a:avLst>
              <a:gd name="adj" fmla="val 3200"/>
            </a:avLst>
          </a:prstGeom>
          <a:solidFill>
            <a:srgbClr val="1A1A24"/>
          </a:solidFill>
          <a:ln w="12700">
            <a:solidFill>
              <a:srgbClr val="00CEC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1: MVP (현재 제안)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도메인 2개 Use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경험기획팀 3~5인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971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+ VoC + SNS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아웃풋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Experience + User Story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(8~10월)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5CE7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4297680" cy="2286000"/>
          </a:xfrm>
          <a:prstGeom prst="rect">
            <a:avLst>
              <a:gd name="adj" fmla="val 3200"/>
            </a:avLst>
          </a:prstGeom>
          <a:solidFill>
            <a:srgbClr val="1A1A24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2: Experience Navigator (본개발)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331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94960" y="2331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도메인 병렬 분석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2651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전사 기획 조직 (20인+)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2971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4960" y="2971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VCRM + IBD 실데이터 연동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3291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아웃풋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94960" y="3291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PRD 자동생성 + Flow/R&amp;R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3611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 H1 (6개월)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5029200" cy="640080"/>
          </a:xfrm>
          <a:prstGeom prst="rect">
            <a:avLst>
              <a:gd name="adj" fmla="val 11429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진입 조건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5720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비구조화 데이터 → 피처 발견    ✓ Latent Desire 재현    ✓ 기획자 3인+ 유용 평가    ✓ 경영진 IR 통과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60720" y="4297680"/>
            <a:ext cx="2926080" cy="640080"/>
          </a:xfrm>
          <a:prstGeom prst="rect">
            <a:avLst>
              <a:gd name="adj" fmla="val 11429"/>
            </a:avLst>
          </a:prstGeom>
          <a:solidFill>
            <a:srgbClr val="1A1A24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43708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</a:t>
            </a:r>
            <a:pPr indent="0" marL="0">
              <a:buNone/>
            </a:pPr>
            <a:r>
              <a:rPr lang="en-US" sz="900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투자로 → '27년 본개발의 예산 확보 + 방향 증명 + 코드 자산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Rent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 + 구현 + 현대차 맥락 이해를 한 팀에서. 분리 발주의 소실 리스크 제거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1463040"/>
          </a:xfrm>
          <a:prstGeom prst="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독자 방법론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RXR Intelligence: 진정성 필터 + 심리 게이지 + 원인 사슬 추적.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50+ 브랜드 분석 경험.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51760" cy="1463040"/>
          </a:xfrm>
          <a:prstGeom prst="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00CEC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= 구현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설계하는 팀이 직접 만듭니다.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설계→구현 소실 제로.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재사용률 53%.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51760" cy="1463040"/>
          </a:xfrm>
          <a:prstGeom prst="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FDCB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현대차 맥락 보유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cabin-air 30,398건 분석 완료.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현대차 고객의 언어·욕구를 이미 파악.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'데이터를 처음 보는 팀'이 아닙니다.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1945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29BF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29BF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컨설팅 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29BF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 개발사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29BF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Project Rent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방법론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E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767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CE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 (RXR)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767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(외주)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E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CE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 (풀스택)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현대차 데이터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767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767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CE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 (cabin-air)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8E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설계↔구현 소실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767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DCB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CE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현대차에 </a:t>
            </a:r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의미하는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도구를 넘어, 조직 전환의 내부 증명 + '27년 예산 확보 + 역량 민주화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2011680"/>
          </a:xfrm>
          <a:prstGeom prst="rect">
            <a:avLst>
              <a:gd name="adj" fmla="val 3636"/>
            </a:avLst>
          </a:prstGeom>
          <a:solidFill>
            <a:srgbClr val="1A1A24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방향이 맞다"는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증명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자체가 경영진 IR 자료.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퀄리티와 스토리텔링이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기술만큼 중요합니다.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51760" cy="2011680"/>
          </a:xfrm>
          <a:prstGeom prst="rect">
            <a:avLst>
              <a:gd name="adj" fmla="val 3636"/>
            </a:avLst>
          </a:prstGeom>
          <a:solidFill>
            <a:srgbClr val="1A1A24"/>
          </a:solidFill>
          <a:ln w="12700">
            <a:solidFill>
              <a:srgbClr val="00CEC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'27년 예산 티켓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투자로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Navigator 본개발의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정당성을 확보합니다.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51760" cy="2011680"/>
          </a:xfrm>
          <a:prstGeom prst="rect">
            <a:avLst>
              <a:gd name="adj" fmla="val 3636"/>
            </a:avLst>
          </a:prstGeom>
          <a:solidFill>
            <a:srgbClr val="1A1A24"/>
          </a:solidFill>
          <a:ln w="12700">
            <a:solidFill>
              <a:srgbClr val="FDCB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역량 상향평준화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인력 의존 탈피.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미숙련자도 데이터 근거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기획 가능.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864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MVP의 진짜 고객은 "경영진"입니다.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기획팀이 쓸 도구를 만들되, 경영진이 "확신"할 자료를 동시에 납품합니다.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Kick-off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까지 3단계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승인 → 협조 합의 → Sprint 0 시작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2011680"/>
          </a:xfrm>
          <a:prstGeom prst="rect">
            <a:avLst>
              <a:gd name="adj" fmla="val 3636"/>
            </a:avLst>
          </a:prstGeom>
          <a:solidFill>
            <a:srgbClr val="1A1A24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검토 &amp; 피드백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제안서 검토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질의응답 미팅 1회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~7월 4주차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51760" cy="2011680"/>
          </a:xfrm>
          <a:prstGeom prst="rect">
            <a:avLst>
              <a:gd name="adj" fmla="val 3636"/>
            </a:avLst>
          </a:prstGeom>
          <a:solidFill>
            <a:srgbClr val="1A1A24"/>
          </a:solidFill>
          <a:ln w="12700">
            <a:solidFill>
              <a:srgbClr val="00CEC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E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협조 합의 &amp; 계약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MUST 3종 확정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선정 + 계약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~8월 1주차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51760" cy="2011680"/>
          </a:xfrm>
          <a:prstGeom prst="rect">
            <a:avLst>
              <a:gd name="adj" fmla="val 3636"/>
            </a:avLst>
          </a:prstGeom>
          <a:solidFill>
            <a:srgbClr val="1A1A24"/>
          </a:solidFill>
          <a:ln w="12700">
            <a:solidFill>
              <a:srgbClr val="FDCB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CB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Sprint 0 킥오프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셋업 + 데이터 인수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8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+ 1주 내 Gate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2주차~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4023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"우리는 현대차 고객의 언어를 이미 분석해본 팀입니다."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0" y="43434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X-Discovery는 그 경험의 스케일업입니다.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5720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 · RXR Intelligence · 2026.07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X-Discovery Engine Proposal · by Project Rent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X-Discovery Engine Proposal</dc:title>
  <dc:subject>PptxGenJS Presentation</dc:subject>
  <dc:creator>Project Rent</dc:creator>
  <cp:lastModifiedBy>Project Rent</cp:lastModifiedBy>
  <cp:revision>1</cp:revision>
  <dcterms:created xsi:type="dcterms:W3CDTF">2026-07-19T07:07:06Z</dcterms:created>
  <dcterms:modified xsi:type="dcterms:W3CDTF">2026-07-19T07:07:06Z</dcterms:modified>
</cp:coreProperties>
</file>