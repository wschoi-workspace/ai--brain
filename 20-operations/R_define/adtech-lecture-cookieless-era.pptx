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PROJECT RENT · AD-TECH LECTURE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쿠키리스 시대,</a:t>
            </a:r>
          </a:p>
          <a:p>
            <a:pPr algn="l">
              <a:lnSpc>
                <a:spcPct val="106000"/>
              </a:lnSpc>
            </a:pPr>
            <a:r>
              <a:rPr sz="40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왜 </a:t>
            </a:r>
            <a:r>
              <a:rPr sz="40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오프라인</a:t>
            </a:r>
            <a:r>
              <a:rPr sz="40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이 새로운</a:t>
            </a:r>
          </a:p>
          <a:p>
            <a:pPr algn="l">
              <a:lnSpc>
                <a:spcPct val="106000"/>
              </a:lnSpc>
            </a:pPr>
            <a:r>
              <a:rPr sz="40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마케팅 플랫폼이 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클릭의 시대에서 </a:t>
            </a:r>
            <a:r>
              <a:rPr sz="1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행동의 시대</a:t>
            </a:r>
            <a:r>
              <a:rPr sz="18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617720"/>
            <a:ext cx="34838640000" cy="9144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6177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우리는 고객이 </a:t>
            </a:r>
            <a:r>
              <a:rPr sz="1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무엇을 클릭했는지</a:t>
            </a:r>
            <a:r>
              <a:rPr sz="18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는 알지만,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왜 </a:t>
            </a:r>
            <a:r>
              <a:rPr sz="18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움직였는지</a:t>
            </a:r>
            <a:r>
              <a:rPr sz="1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는 모른다.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From the Click Era to the Behavior Era   ·   by Project Rent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01 — THE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911535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5097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광고는 많아졌지만, 신뢰는 줄어들었다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쿠키가 닫히고 비용은 오르는데, 우리가 쥔 데이터는 '무엇을 클릭했는가'까지만 안다.</a:t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정작 '왜 움직였는가'는 여전히 알 수 없다 — 디지털 광고 산업 전체가 흔들리는 중이다.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3454298" cy="2468880"/>
          </a:xfrm>
          <a:prstGeom prst="roundRect">
            <a:avLst>
              <a:gd name="adj" fmla="val 3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880360"/>
            <a:ext cx="3454298" cy="2903220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118104"/>
            <a:ext cx="29970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01 ·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83864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쿠키리스 가속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105656"/>
            <a:ext cx="29970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Safari·Firefox는 이미 서드파티 쿠키를 차단 — 웹 절반이 쿠키리스. iOS의 ATT로 앱 추적도 제한된다.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2880360"/>
            <a:ext cx="3454298" cy="2468880"/>
          </a:xfrm>
          <a:prstGeom prst="roundRect">
            <a:avLst>
              <a:gd name="adj" fmla="val 3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2880360"/>
            <a:ext cx="3454298" cy="2903220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6442" y="3118104"/>
            <a:ext cx="29970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02 · 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6442" y="3483864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CAC 상승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6442" y="4105656"/>
            <a:ext cx="29970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이커머스 고객 획득 비용(CAC)이 '23→'25 약 40~60% 상승. 유료 트래픽만으론 성장이 정체된다.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2880360"/>
            <a:ext cx="3454298" cy="2468880"/>
          </a:xfrm>
          <a:prstGeom prst="roundRect">
            <a:avLst>
              <a:gd name="adj" fmla="val 3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2880360"/>
            <a:ext cx="3454298" cy="2903220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5060" y="3118104"/>
            <a:ext cx="29970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03 · 한계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5060" y="3483864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클릭 ≠ 행동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5060" y="4105656"/>
            <a:ext cx="29970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온라인은 클릭·조회·체류까지만 안다. 망설임·관심·감정·실제 경험은 데이터에 잡히지 않는다.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출처: 이커머스 CAC '23→'25 +40~60% — LoyaltyLion·Mobiloud 등 업계 벤치마크(2025). 쿠키 — Safari·Firefox 기본 차단 + Apple ATT(2021). ※ Chrome은 2024.7 서드파티 쿠키 폐지 계획 철회.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364224"/>
            <a:ext cx="10911535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쿠키리스 시대, 왜 오프라인인가 · by Project Rent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5615" y="643737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02 — WHERE BUYING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911535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5097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대부분의 소비는 아직도 오프라인에서 일어난다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측정은 온라인에 편중돼 있지만, 실제 지갑이 열리는 곳은 매장이다.</a:t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가장 큰 소비 현장이 가장 측정되지 않는다 — 거대한 공백이 비어 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4297680" cy="2514600"/>
          </a:xfrm>
          <a:prstGeom prst="roundRect">
            <a:avLst>
              <a:gd name="adj" fmla="val 3500"/>
            </a:avLst>
          </a:prstGeom>
          <a:solidFill>
            <a:srgbClr val="111111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118104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~80%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050791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소매 판매가 여전히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오프라인에서 발생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172968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16~20%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050791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이커머스가 차지하는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소매 판매 비중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4727448"/>
            <a:ext cx="3712464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855464"/>
            <a:ext cx="3712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중요한 구매일수록 — </a:t>
            </a:r>
            <a:r>
              <a:rPr sz="11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자동차·가구·뷰티·F&amp;B</a:t>
            </a:r>
            <a:r>
              <a:rPr sz="11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 — 실제 경험이 필요하다.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898648"/>
            <a:ext cx="6202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측정되지 않는 가장 큰 시장</a:t>
            </a:r>
          </a:p>
        </p:txBody>
      </p:sp>
      <p:sp>
        <p:nvSpPr>
          <p:cNvPr id="16" name="Oval 15"/>
          <p:cNvSpPr/>
          <p:nvPr/>
        </p:nvSpPr>
        <p:spPr>
          <a:xfrm>
            <a:off x="5349240" y="3456432"/>
            <a:ext cx="73152" cy="73152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6984" y="3337560"/>
            <a:ext cx="59646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소비는 오프라인, 데이터는 온라인.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 카페·쇼핑·F&amp;B·자동차·가구·뷰티 — 측정 도구가 없다</a:t>
            </a:r>
          </a:p>
        </p:txBody>
      </p:sp>
      <p:sp>
        <p:nvSpPr>
          <p:cNvPr id="18" name="Oval 17"/>
          <p:cNvSpPr/>
          <p:nvPr/>
        </p:nvSpPr>
        <p:spPr>
          <a:xfrm>
            <a:off x="5349240" y="4133087"/>
            <a:ext cx="73152" cy="73152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6984" y="4014215"/>
            <a:ext cx="59646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국내 디지털 광고 약 11.3조 원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 ('25) — 측정 가능한 예산은 여기로 쏠린다</a:t>
            </a:r>
          </a:p>
        </p:txBody>
      </p:sp>
      <p:sp>
        <p:nvSpPr>
          <p:cNvPr id="20" name="Oval 19"/>
          <p:cNvSpPr/>
          <p:nvPr/>
        </p:nvSpPr>
        <p:spPr>
          <a:xfrm>
            <a:off x="5349240" y="4809744"/>
            <a:ext cx="73152" cy="73152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6984" y="4690872"/>
            <a:ext cx="59646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가장 큰 소비 현장이 '감'으로 집행된다</a:t>
            </a: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 — 최적화의 사각지대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출처: 이커머스 소매 비중 — 2024 미국 약 16%·글로벌 약 20%(Digital Commerce 360·Statista), 즉 오프라인 ~80%. 국내 디지털 광고비 약 11조 2,619억 원('25) — DMC리포트.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364224"/>
            <a:ext cx="10911535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쿠키리스 시대, 왜 오프라인인가 · by Project 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5615" y="643737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03 — 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911535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5097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검색어는 속일 수 있지만, 행동은 속일 수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미래의 경쟁은 데이터의 양이 아니라 해상도에서 갈린다.</a:t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방문에서 구매까지 이어지는 행동의 궤적은, 클릭 한 번보다 훨씬 깊은 진실을 담는다.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743200"/>
            <a:ext cx="2072579" cy="1828800"/>
          </a:xfrm>
          <a:prstGeom prst="roundRect">
            <a:avLst>
              <a:gd name="adj" fmla="val 3500"/>
            </a:avLst>
          </a:prstGeom>
          <a:solidFill>
            <a:srgbClr val="1E1B2E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889504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419856"/>
            <a:ext cx="17799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매장 방문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803904"/>
            <a:ext cx="177997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누가 왔는가 — 접근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3515" y="3456432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7251" y="2743200"/>
            <a:ext cx="2072579" cy="1828800"/>
          </a:xfrm>
          <a:prstGeom prst="roundRect">
            <a:avLst>
              <a:gd name="adj" fmla="val 3500"/>
            </a:avLst>
          </a:prstGeom>
          <a:solidFill>
            <a:srgbClr val="1E1B2E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3555" y="2889504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3555" y="3419856"/>
            <a:ext cx="17799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체류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3555" y="3803904"/>
            <a:ext cx="177997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얼마나 머무는가 — 관심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5822" y="3456432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9558" y="2743200"/>
            <a:ext cx="2072579" cy="1828800"/>
          </a:xfrm>
          <a:prstGeom prst="roundRect">
            <a:avLst>
              <a:gd name="adj" fmla="val 3500"/>
            </a:avLst>
          </a:prstGeom>
          <a:solidFill>
            <a:srgbClr val="1E1B2E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5862" y="2889504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5862" y="3419856"/>
            <a:ext cx="17799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상품 접촉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5862" y="3803904"/>
            <a:ext cx="177997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무엇을 만지는가 — 탐색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129" y="3456432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41865" y="2743200"/>
            <a:ext cx="2072579" cy="1828800"/>
          </a:xfrm>
          <a:prstGeom prst="roundRect">
            <a:avLst>
              <a:gd name="adj" fmla="val 3500"/>
            </a:avLst>
          </a:prstGeom>
          <a:solidFill>
            <a:srgbClr val="1E1B2E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169" y="2889504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169" y="3419856"/>
            <a:ext cx="17799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반응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169" y="3803904"/>
            <a:ext cx="177997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어떻게 반응하는가 — 참여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0436" y="3456432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24172" y="2743200"/>
            <a:ext cx="2072579" cy="1828800"/>
          </a:xfrm>
          <a:prstGeom prst="roundRect">
            <a:avLst>
              <a:gd name="adj" fmla="val 3500"/>
            </a:avLst>
          </a:prstGeom>
          <a:solidFill>
            <a:srgbClr val="1E1B2E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70476" y="2889504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0476" y="3419856"/>
            <a:ext cx="17799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구매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0476" y="3803904"/>
            <a:ext cx="177997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왜 선택했는가 — 전환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92040"/>
            <a:ext cx="5318607" cy="1097280"/>
          </a:xfrm>
          <a:prstGeom prst="rect">
            <a:avLst/>
          </a:prstGeom>
          <a:solidFill>
            <a:srgbClr val="18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892040"/>
            <a:ext cx="34838640000" cy="109728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4892040"/>
            <a:ext cx="4916271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기존 — 양의 데이터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100만 번의 노출. 그러나 누가, 왜 움직였는지는 비어 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3007" y="4892040"/>
            <a:ext cx="5318607" cy="1097280"/>
          </a:xfrm>
          <a:prstGeom prst="rect">
            <a:avLst/>
          </a:prstGeom>
          <a:solidFill>
            <a:srgbClr val="17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3007" y="4892040"/>
            <a:ext cx="34838640000" cy="1097280"/>
          </a:xfrm>
          <a:prstGeom prst="rect">
            <a:avLst/>
          </a:prstGeom>
          <a:solidFill>
            <a:srgbClr val="8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4175" y="4892040"/>
            <a:ext cx="4916271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8FA37E"/>
                </a:solidFill>
                <a:latin typeface="Pretendard"/>
                <a:ea typeface="Pretendard"/>
                <a:cs typeface="Pretendard"/>
              </a:rPr>
              <a:t>미래 — 해상도의 데이터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누가 · 왜 · 언제 · 어떻게 움직였는가. 행동이 곧 진실이다.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364224"/>
            <a:ext cx="10911535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쿠키리스 시대, 왜 오프라인인가 · by Project Rent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5615" y="643737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04 — THE NEW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911535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50976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매장은 더 이상 판매 공간이 아니다 —</a:t>
            </a:r>
          </a:p>
          <a:p>
            <a:pPr algn="l">
              <a:lnSpc>
                <a:spcPct val="108000"/>
              </a:lnSpc>
            </a:pPr>
            <a:r>
              <a:rPr sz="27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미디어이자 데이터 플랫폼이다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광고가 곧바로 판매로 직행하던 구조가 바뀐다. 체험과 행동, 그리고 데이터가 그 사이를 채우면서 — 매장 자체가 새로운 광고 플랫폼이 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기존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3383280"/>
            <a:ext cx="2176272" cy="868680"/>
          </a:xfrm>
          <a:prstGeom prst="roundRect">
            <a:avLst>
              <a:gd name="adj" fmla="val 3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29584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059936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광고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3616451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80944" y="3383280"/>
            <a:ext cx="2176272" cy="868680"/>
          </a:xfrm>
          <a:prstGeom prst="roundRect">
            <a:avLst>
              <a:gd name="adj" fmla="val 3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3529584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4059936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판매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새로운 구조 — 매장이 데이터를 만든다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4846320"/>
            <a:ext cx="2072579" cy="1280160"/>
          </a:xfrm>
          <a:prstGeom prst="roundRect">
            <a:avLst>
              <a:gd name="adj" fmla="val 3500"/>
            </a:avLst>
          </a:prstGeom>
          <a:solidFill>
            <a:srgbClr val="1E1B2E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992624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522976"/>
            <a:ext cx="17799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광고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907024"/>
            <a:ext cx="1779971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캠페인이 거점에서 시작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3515" y="5285232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77251" y="4846320"/>
            <a:ext cx="2072579" cy="1280160"/>
          </a:xfrm>
          <a:prstGeom prst="roundRect">
            <a:avLst>
              <a:gd name="adj" fmla="val 3500"/>
            </a:avLst>
          </a:prstGeom>
          <a:solidFill>
            <a:srgbClr val="1E1B2E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23555" y="4992624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23555" y="5522976"/>
            <a:ext cx="17799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체험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23555" y="5907024"/>
            <a:ext cx="1779971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고객이 직접 경험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5822" y="5285232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9558" y="4846320"/>
            <a:ext cx="2072579" cy="1280160"/>
          </a:xfrm>
          <a:prstGeom prst="roundRect">
            <a:avLst>
              <a:gd name="adj" fmla="val 3500"/>
            </a:avLst>
          </a:prstGeom>
          <a:solidFill>
            <a:srgbClr val="1E1B2E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5862" y="4992624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5862" y="5522976"/>
            <a:ext cx="17799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행동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5862" y="5907024"/>
            <a:ext cx="1779971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방문·체류·반응이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129" y="5285232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41865" y="4846320"/>
            <a:ext cx="2072579" cy="1280160"/>
          </a:xfrm>
          <a:prstGeom prst="roundRect">
            <a:avLst>
              <a:gd name="adj" fmla="val 3500"/>
            </a:avLst>
          </a:prstGeom>
          <a:solidFill>
            <a:srgbClr val="1E1B2E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8169" y="4992624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169" y="5522976"/>
            <a:ext cx="17799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8169" y="5907024"/>
            <a:ext cx="1779971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행동이 자산으로 축적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0436" y="5285232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24172" y="4846320"/>
            <a:ext cx="2072579" cy="1280160"/>
          </a:xfrm>
          <a:prstGeom prst="roundRect">
            <a:avLst>
              <a:gd name="adj" fmla="val 3500"/>
            </a:avLst>
          </a:prstGeom>
          <a:solidFill>
            <a:srgbClr val="1E1B2E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70476" y="4992624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70476" y="5522976"/>
            <a:ext cx="17799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구매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70476" y="5907024"/>
            <a:ext cx="1779971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전환·매출 발생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364224"/>
            <a:ext cx="10911535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쿠키리스 시대, 왜 오프라인인가 · by Project Rent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5615" y="643737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05 — PROOF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911535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5097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Amazon의 핵심은 쇼핑몰이 아니라 데이터였다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구매 데이터를 쥔 Amazon은 광고·추천·매출의 선순환을 만들었고, 광고만으로 연 562억 달러를 번다.</a:t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그런데 오프라인에는 아직 'Amazon Ads'도, '구글 애널리틱스'도 없다.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4480560" cy="2606040"/>
          </a:xfrm>
          <a:prstGeom prst="roundRect">
            <a:avLst>
              <a:gd name="adj" fmla="val 3500"/>
            </a:avLst>
          </a:prstGeom>
          <a:solidFill>
            <a:srgbClr val="111111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99815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Amazon이 증명한 선순환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" y="3447288"/>
            <a:ext cx="873252" cy="777240"/>
          </a:xfrm>
          <a:prstGeom prst="roundRect">
            <a:avLst>
              <a:gd name="adj" fmla="val 3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593592"/>
            <a:ext cx="5806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123944"/>
            <a:ext cx="5806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구매
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8508" y="36347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52244" y="3447288"/>
            <a:ext cx="873252" cy="777240"/>
          </a:xfrm>
          <a:prstGeom prst="roundRect">
            <a:avLst>
              <a:gd name="adj" fmla="val 3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8548" y="3593592"/>
            <a:ext cx="5806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8548" y="4123944"/>
            <a:ext cx="5806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광고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6347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35224" y="3447288"/>
            <a:ext cx="873252" cy="777240"/>
          </a:xfrm>
          <a:prstGeom prst="roundRect">
            <a:avLst>
              <a:gd name="adj" fmla="val 3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81528" y="3593592"/>
            <a:ext cx="5806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1528" y="4123944"/>
            <a:ext cx="5806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4468" y="36347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8204" y="3447288"/>
            <a:ext cx="873252" cy="777240"/>
          </a:xfrm>
          <a:prstGeom prst="roundRect">
            <a:avLst>
              <a:gd name="adj" fmla="val 3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4508" y="3593592"/>
            <a:ext cx="5806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4508" y="4123944"/>
            <a:ext cx="5806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매출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562</a:t>
            </a:r>
            <a:r>
              <a:rPr sz="34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억 달러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Amazon 광고 매출 (2024) — 데이터가 만든 사업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32120" y="2880360"/>
            <a:ext cx="2872587" cy="1234440"/>
          </a:xfrm>
          <a:prstGeom prst="roundRect">
            <a:avLst>
              <a:gd name="adj" fmla="val 3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33288" y="3063240"/>
            <a:ext cx="24702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온라인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3288" y="3383280"/>
            <a:ext cx="24702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8FA37E"/>
                </a:solidFill>
                <a:latin typeface="Pretendard"/>
                <a:ea typeface="Pretendard"/>
                <a:cs typeface="Pretendard"/>
              </a:rPr>
              <a:t>측정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33288" y="3749039"/>
            <a:ext cx="24702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GA·픽셀로 모든 행동이 데이터화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79027" y="2880360"/>
            <a:ext cx="2872587" cy="1234440"/>
          </a:xfrm>
          <a:prstGeom prst="roundRect">
            <a:avLst>
              <a:gd name="adj" fmla="val 3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0195" y="3063240"/>
            <a:ext cx="24702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오프라인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0195" y="3383280"/>
            <a:ext cx="24702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17055"/>
                </a:solidFill>
                <a:latin typeface="Pretendard"/>
                <a:ea typeface="Pretendard"/>
                <a:cs typeface="Pretendard"/>
              </a:rPr>
              <a:t>블랙박스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0195" y="3749039"/>
            <a:ext cx="24702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가장 큰 소비 현장이 측정 불가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4297680"/>
            <a:ext cx="6019495" cy="1188720"/>
          </a:xfrm>
          <a:prstGeom prst="rect">
            <a:avLst/>
          </a:prstGeom>
          <a:solidFill>
            <a:srgbClr val="18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32120" y="4297680"/>
            <a:ext cx="34838640000" cy="118872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33288" y="4297680"/>
            <a:ext cx="561715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리테일 미디어 시장: 2025년 1,840억 달러 → 2030년 3,120억 달러 (연 ~11% 성장)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오프라인 행동 데이터를 측정하는 자가 다음 플랫폼을 가진다.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출처: Amazon 2024 연간 광고 매출 562억 달러(Amazon 실적·Statista). 리테일 미디어 글로벌 전망 — Forrester Global Retail Media Forecast 2025→2030.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364224"/>
            <a:ext cx="10911535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쿠키리스 시대, 왜 오프라인인가 · by Project Rent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65615" y="643737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06 — 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911535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광고를 많이 하는 기업이 아니라,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사람을 가장 깊게 이해하는 기업</a:t>
            </a:r>
            <a:r>
              <a:rPr sz="30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이 승리한다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Google은 사람들이 </a:t>
            </a:r>
            <a:r>
              <a:rPr sz="22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무엇을 검색하는지</a:t>
            </a:r>
            <a:r>
              <a:rPr sz="2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 이해했다.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50208"/>
            <a:ext cx="10972800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Amazon은 사람들이 </a:t>
            </a:r>
            <a:r>
              <a:rPr sz="22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무엇을 구매하는지</a:t>
            </a:r>
            <a:r>
              <a:rPr sz="2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 이해했다.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91456"/>
            <a:ext cx="10972800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7433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다음 시대의 승자는, 사람들이 </a:t>
            </a:r>
            <a:r>
              <a:rPr sz="22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왜 움직이는지</a:t>
            </a:r>
            <a:r>
              <a:rPr sz="2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를 이해하는 기업이 될 것이다.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64224"/>
            <a:ext cx="10911535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클릭의 시대에서 행동의 시대로 · by Project 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5615" y="643737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PROJECT 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911535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1338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우리는 이 문제를 해결하기 위해</a:t>
            </a:r>
          </a:p>
          <a:p>
            <a:pPr algn="l">
              <a:lnSpc>
                <a:spcPct val="108000"/>
              </a:lnSpc>
            </a:pPr>
            <a:r>
              <a:rPr sz="26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Physical Ad-Tech Network</a:t>
            </a:r>
            <a:r>
              <a:rPr sz="26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를 구축하고 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검증된 오프라인 실행력 위에서 — 자사 엔진 RXR로 행동을 고해상도로 읽는다.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'무엇을 했나'를 넘어 '왜·어떤 심리로 움직였나'까지 해석해, 오프라인 행동을 온라인 구매로 잇는다.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RXR — 행동을 읽는 자사 엔진 · 특허 제10-2545502호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84448"/>
            <a:ext cx="3017520" cy="1554480"/>
          </a:xfrm>
          <a:prstGeom prst="roundRect">
            <a:avLst>
              <a:gd name="adj" fmla="val 3500"/>
            </a:avLst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767328"/>
            <a:ext cx="2578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Content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087368"/>
            <a:ext cx="2578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무엇을 했나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498848"/>
            <a:ext cx="2578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방문·체류·반응·구매를 비식별로 기록 — 행동의 사실을 데이터로.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3584448"/>
            <a:ext cx="3017520" cy="1554480"/>
          </a:xfrm>
          <a:prstGeom prst="roundRect">
            <a:avLst>
              <a:gd name="adj" fmla="val 3500"/>
            </a:avLst>
          </a:prstGeom>
          <a:solidFill>
            <a:srgbClr val="1E1B2E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1376" y="3767328"/>
            <a:ext cx="2578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Psyche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4087368"/>
            <a:ext cx="2578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왜 그랬나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4498848"/>
            <a:ext cx="2578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관여 깊이 · 취향(LAS) · </a:t>
            </a:r>
            <a:r>
              <a:rPr sz="105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진정성</a:t>
            </a:r>
            <a:r>
              <a:rPr sz="10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까지 — 행동 뒤 심리를 해석.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21808"/>
            <a:ext cx="6309360" cy="914400"/>
          </a:xfrm>
          <a:prstGeom prst="rect">
            <a:avLst/>
          </a:prstGeom>
          <a:solidFill>
            <a:srgbClr val="18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321808"/>
            <a:ext cx="34838640000" cy="9144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5321808"/>
            <a:ext cx="59070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같은 1명의 방문도 '누가·왜·어떤 심리로'까지 읽는다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그래서 오프라인 행동이 온라인 구매로 이어졌음을 증명한다.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200400"/>
            <a:ext cx="4236415" cy="2743200"/>
          </a:xfrm>
          <a:prstGeom prst="roundRect">
            <a:avLst>
              <a:gd name="adj" fmla="val 3500"/>
            </a:avLst>
          </a:prstGeom>
          <a:solidFill>
            <a:srgbClr val="111111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3401568"/>
            <a:ext cx="3724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이미 검증된 성과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3767328"/>
            <a:ext cx="24076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가나초콜릿 — TVC 대비 마케팅 효과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2815" y="3767328"/>
            <a:ext cx="1572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4,500%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71231" y="4279392"/>
            <a:ext cx="3724351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4370832"/>
            <a:ext cx="24076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비욘드 — 재방문 희망률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2815" y="4370832"/>
            <a:ext cx="1572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71231" y="4882896"/>
            <a:ext cx="3724351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71231" y="4974336"/>
            <a:ext cx="24076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삼성스토어 — 트래픽 상승 (전년比)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2815" y="4974336"/>
            <a:ext cx="1572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+44%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71231" y="5486400"/>
            <a:ext cx="3724351" cy="11612880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1231" y="5632704"/>
            <a:ext cx="372435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현대 · 롯데 · 배민 · 매일 · Apple · KOCCA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1231" y="6035040"/>
            <a:ext cx="372435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직영 8거점 · 300+ 운영 케이스 · 특허 제10-2545502호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19963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출처: 캠페인 성과·운영 케이스·특허 — Project Rent 자사 데이터 기준. RXR 2-Layer(Content·Psyche)·LAS·OMO Attribution — 자사 분석 엔진 구조.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