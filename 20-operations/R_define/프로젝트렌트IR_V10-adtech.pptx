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PROJECT RENT · IR DECK 2026 ·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4000" b="1">
                <a:solidFill>
                  <a:srgbClr val="F5F0EB"/>
                </a:solidFill>
                <a:latin typeface="Pretendard"/>
                <a:ea typeface="Pretendard"/>
              </a:rPr>
              <a:t>Building the </a:t>
            </a:r>
          </a:p>
          <a:p>
            <a:pPr>
              <a:lnSpc>
                <a:spcPct val="104000"/>
              </a:lnSpc>
            </a:pPr>
            <a:r>
              <a:rPr sz="4000" b="1">
                <a:solidFill>
                  <a:srgbClr val="6C5CE7"/>
                </a:solidFill>
                <a:latin typeface="Pretendard"/>
                <a:ea typeface="Pretendard"/>
              </a:rPr>
              <a:t>Physical Ad-Tech</a:t>
            </a:r>
            <a:r>
              <a:rPr sz="4000" b="1">
                <a:solidFill>
                  <a:srgbClr val="F5F0EB"/>
                </a:solidFill>
                <a:latin typeface="Pretendard"/>
                <a:ea typeface="Pretendard"/>
              </a:rPr>
              <a:t>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>
                <a:solidFill>
                  <a:srgbClr val="C9C2BA"/>
                </a:solidFill>
                <a:latin typeface="Pretendard"/>
                <a:ea typeface="Pretendard"/>
              </a:rPr>
              <a:t>광고 · 행동 · 구매 데이터를 연결하는 </a:t>
            </a:r>
            <a:r>
              <a:rPr sz="1500" b="1">
                <a:solidFill>
                  <a:srgbClr val="F5F0EB"/>
                </a:solidFill>
                <a:latin typeface="Pretendard"/>
                <a:ea typeface="Pretendard"/>
              </a:rPr>
              <a:t>오프라인 행동 데이터 네트워크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069080"/>
            <a:ext cx="27432" cy="13716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411480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600" b="0">
                <a:solidFill>
                  <a:srgbClr val="C9C2BA"/>
                </a:solidFill>
                <a:latin typeface="Pretendard"/>
                <a:ea typeface="Pretendard"/>
              </a:rPr>
              <a:t>Google은 사람들이 </a:t>
            </a:r>
            <a:r>
              <a:rPr sz="1600" b="0">
                <a:solidFill>
                  <a:srgbClr val="7A7570"/>
                </a:solidFill>
                <a:latin typeface="Pretendard"/>
                <a:ea typeface="Pretendard"/>
              </a:rPr>
              <a:t>무엇을 검색하는지</a:t>
            </a:r>
            <a:r>
              <a:rPr sz="1600" b="0">
                <a:solidFill>
                  <a:srgbClr val="C9C2BA"/>
                </a:solidFill>
                <a:latin typeface="Pretendard"/>
                <a:ea typeface="Pretendard"/>
              </a:rPr>
              <a:t> 이해했다.</a:t>
            </a:r>
          </a:p>
          <a:p>
            <a:pPr>
              <a:lnSpc>
                <a:spcPct val="140000"/>
              </a:lnSpc>
            </a:pPr>
            <a:r>
              <a:rPr sz="1600" b="0">
                <a:solidFill>
                  <a:srgbClr val="C9C2BA"/>
                </a:solidFill>
                <a:latin typeface="Pretendard"/>
                <a:ea typeface="Pretendard"/>
              </a:rPr>
              <a:t>Amazon은 사람들이 </a:t>
            </a:r>
            <a:r>
              <a:rPr sz="1600" b="0">
                <a:solidFill>
                  <a:srgbClr val="7A7570"/>
                </a:solidFill>
                <a:latin typeface="Pretendard"/>
                <a:ea typeface="Pretendard"/>
              </a:rPr>
              <a:t>무엇을 구매하는지</a:t>
            </a:r>
            <a:r>
              <a:rPr sz="1600" b="0">
                <a:solidFill>
                  <a:srgbClr val="C9C2BA"/>
                </a:solidFill>
                <a:latin typeface="Pretendard"/>
                <a:ea typeface="Pretendard"/>
              </a:rPr>
              <a:t> 이해했다.</a:t>
            </a:r>
          </a:p>
          <a:p>
            <a:pPr>
              <a:lnSpc>
                <a:spcPct val="140000"/>
              </a:lnSpc>
            </a:pPr>
            <a:r>
              <a:rPr sz="1600" b="1">
                <a:solidFill>
                  <a:srgbClr val="F5F0EB"/>
                </a:solidFill>
                <a:latin typeface="Pretendard"/>
                <a:ea typeface="Pretendard"/>
              </a:rPr>
              <a:t>Project Rent는 사람들이 </a:t>
            </a:r>
            <a:r>
              <a:rPr sz="1600" b="1">
                <a:solidFill>
                  <a:srgbClr val="6C5CE7"/>
                </a:solidFill>
                <a:latin typeface="Pretendard"/>
                <a:ea typeface="Pretendard"/>
              </a:rPr>
              <a:t>왜 움직이는지</a:t>
            </a:r>
            <a:r>
              <a:rPr sz="1600" b="1">
                <a:solidFill>
                  <a:srgbClr val="F5F0EB"/>
                </a:solidFill>
                <a:latin typeface="Pretendard"/>
                <a:ea typeface="Pretendard"/>
              </a:rPr>
              <a:t>를 이해한다.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7A7570"/>
                </a:solidFill>
                <a:latin typeface="Pretendard"/>
                <a:ea typeface="Pretendard"/>
              </a:rPr>
              <a:t>PHYSICAL AD-TECH NETWORK   ·   HIGH RESOLUTION CONSUMER DATA   ·   BY PROJECT RENT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PART 1 · OPENING —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47548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841248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69264"/>
            <a:ext cx="10545775" cy="581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</a:rPr>
              <a:t>Advertising is Broken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95552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</a:rPr>
              <a:t>광고는 넘치지만, 사람은 이해되지 않는다.</a:t>
            </a:r>
            <a:r>
              <a:rPr sz="1350" b="0">
                <a:solidFill>
                  <a:srgbClr val="C9C2BA"/>
                </a:solidFill>
                <a:latin typeface="Pretendard"/>
                <a:ea typeface="Pretendard"/>
              </a:rPr>
              <a:t> 쿠키가 닫히고 비용이 오르며, 온라인 데이터의 정교함이 구조적으로 하락하고 있다 — 광고 산업 전체가 흔들리는 중이다.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383280"/>
            <a:ext cx="2444419" cy="2194560"/>
          </a:xfrm>
          <a:prstGeom prst="roundRect">
            <a:avLst>
              <a:gd name="adj" fmla="val 45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46304" bIns="109728"/>
          <a:lstStyle/>
          <a:p>
            <a:pPr algn="ctr">
              <a:lnSpc>
                <a:spcPct val="120000"/>
              </a:lnSpc>
            </a:pPr>
            <a:r>
              <a:rPr sz="950" b="1">
                <a:solidFill>
                  <a:srgbClr val="A29BFE"/>
                </a:solidFill>
                <a:latin typeface="Pretendard"/>
                <a:ea typeface="Pretendard"/>
              </a:rPr>
              <a:t>01 · 데이터</a:t>
            </a:r>
          </a:p>
          <a:p>
            <a:pPr>
              <a:lnSpc>
                <a:spcPct val="110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</a:rPr>
              <a:t>쿠키리스 가속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Safari·Firefox 이미 차단 — </a:t>
            </a:r>
            <a:r>
              <a:rPr sz="1050" b="1">
                <a:solidFill>
                  <a:srgbClr val="A29BFE"/>
                </a:solidFill>
                <a:latin typeface="Pretendard"/>
                <a:ea typeface="Pretendard"/>
              </a:rPr>
              <a:t>웹 절반이 쿠키리스</a:t>
            </a: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. iOS ATT로 앱 추적 제한.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383280"/>
            <a:ext cx="2444419" cy="32004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23411" y="3383280"/>
            <a:ext cx="2444419" cy="2194560"/>
          </a:xfrm>
          <a:prstGeom prst="roundRect">
            <a:avLst>
              <a:gd name="adj" fmla="val 45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46304" bIns="109728"/>
          <a:lstStyle/>
          <a:p>
            <a:pPr algn="ctr">
              <a:lnSpc>
                <a:spcPct val="120000"/>
              </a:lnSpc>
            </a:pPr>
            <a:r>
              <a:rPr sz="950" b="1">
                <a:solidFill>
                  <a:srgbClr val="A29BFE"/>
                </a:solidFill>
                <a:latin typeface="Pretendard"/>
                <a:ea typeface="Pretendard"/>
              </a:rPr>
              <a:t>02 · 비용</a:t>
            </a:r>
          </a:p>
          <a:p>
            <a:pPr>
              <a:lnSpc>
                <a:spcPct val="110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</a:rPr>
              <a:t>CAC 상승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이커머스 CAC </a:t>
            </a:r>
            <a:r>
              <a:rPr sz="1050" b="1">
                <a:solidFill>
                  <a:srgbClr val="A29BFE"/>
                </a:solidFill>
                <a:latin typeface="Pretendard"/>
                <a:ea typeface="Pretendard"/>
              </a:rPr>
              <a:t>’23→’25 40~60%↑</a:t>
            </a: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. 유료 트래픽만으론 성장 정체.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3411" y="3383280"/>
            <a:ext cx="2444419" cy="32004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23863" y="3383280"/>
            <a:ext cx="2444419" cy="2194560"/>
          </a:xfrm>
          <a:prstGeom prst="roundRect">
            <a:avLst>
              <a:gd name="adj" fmla="val 45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46304" bIns="109728"/>
          <a:lstStyle/>
          <a:p>
            <a:pPr algn="ctr">
              <a:lnSpc>
                <a:spcPct val="120000"/>
              </a:lnSpc>
            </a:pPr>
            <a:r>
              <a:rPr sz="950" b="1">
                <a:solidFill>
                  <a:srgbClr val="A29BFE"/>
                </a:solidFill>
                <a:latin typeface="Pretendard"/>
                <a:ea typeface="Pretendard"/>
              </a:rPr>
              <a:t>03 · 효율</a:t>
            </a:r>
          </a:p>
          <a:p>
            <a:pPr>
              <a:lnSpc>
                <a:spcPct val="110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</a:rPr>
              <a:t>Meta·Google 저하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Meta CPM 2020 대비 </a:t>
            </a:r>
            <a:r>
              <a:rPr sz="1050" b="1">
                <a:solidFill>
                  <a:srgbClr val="A29BFE"/>
                </a:solidFill>
                <a:latin typeface="Pretendard"/>
                <a:ea typeface="Pretendard"/>
              </a:rPr>
              <a:t>+89%</a:t>
            </a: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, Google CPC ’25 </a:t>
            </a:r>
            <a:r>
              <a:rPr sz="1050" b="1">
                <a:solidFill>
                  <a:srgbClr val="A29BFE"/>
                </a:solidFill>
                <a:latin typeface="Pretendard"/>
                <a:ea typeface="Pretendard"/>
              </a:rPr>
              <a:t>+33.7%</a:t>
            </a: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3863" y="3383280"/>
            <a:ext cx="2444419" cy="32004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24315" y="3383280"/>
            <a:ext cx="2444419" cy="2194560"/>
          </a:xfrm>
          <a:prstGeom prst="roundRect">
            <a:avLst>
              <a:gd name="adj" fmla="val 45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46304" bIns="109728"/>
          <a:lstStyle/>
          <a:p>
            <a:pPr algn="ctr">
              <a:lnSpc>
                <a:spcPct val="120000"/>
              </a:lnSpc>
            </a:pPr>
            <a:r>
              <a:rPr sz="950" b="1">
                <a:solidFill>
                  <a:srgbClr val="A29BFE"/>
                </a:solidFill>
                <a:latin typeface="Pretendard"/>
                <a:ea typeface="Pretendard"/>
              </a:rPr>
              <a:t>04 · 한계</a:t>
            </a:r>
          </a:p>
          <a:p>
            <a:pPr>
              <a:lnSpc>
                <a:spcPct val="110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</a:rPr>
              <a:t>온라인 데이터의 한계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클릭·노출까지만 안다. </a:t>
            </a:r>
            <a:r>
              <a:rPr sz="1050" b="1">
                <a:solidFill>
                  <a:srgbClr val="A29BFE"/>
                </a:solidFill>
                <a:latin typeface="Pretendard"/>
                <a:ea typeface="Pretendard"/>
              </a:rPr>
              <a:t>‘왜’는 모른다.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24315" y="3383280"/>
            <a:ext cx="2444419" cy="32004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7607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850" b="1">
                <a:solidFill>
                  <a:srgbClr val="C9C2BA"/>
                </a:solidFill>
                <a:latin typeface="Pretendard"/>
                <a:ea typeface="Pretendard"/>
              </a:rPr>
              <a:t>출처:</a:t>
            </a:r>
            <a:r>
              <a:rPr sz="850" b="0">
                <a:solidFill>
                  <a:srgbClr val="7A7570"/>
                </a:solidFill>
                <a:latin typeface="Pretendard"/>
                <a:ea typeface="Pretendard"/>
              </a:rPr>
              <a:t> 이커머스 CAC·CPM — Shopify·industry benchmarks(2024~2025). 쿠키 — Safari·Firefox 차단 + Apple ATT. ※ 구글 Chrome은 2024.7 서드파티 쿠키 폐지 철회.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327648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>
                <a:solidFill>
                  <a:srgbClr val="7A7570"/>
                </a:solidFill>
                <a:latin typeface="Pretendard"/>
                <a:ea typeface="Pretendard"/>
              </a:rPr>
              <a:t>PHYSICAL AD-TECH NETWORK · BY PROJECT RENT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C5CE7"/>
                </a:solidFill>
                <a:latin typeface="Pretendard"/>
                <a:ea typeface="Pretendard"/>
              </a:rPr>
              <a:t>02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PART 1 · OPENING — HIDDEN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47548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841248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69264"/>
            <a:ext cx="10545775" cy="581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</a:rPr>
              <a:t>80% of Consumption Happens Offline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95552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</a:rPr>
              <a:t>소비의 대부분은 오프라인에서 일어나지만, 데이터의 대부분은 온라인에서 수집된다.</a:t>
            </a:r>
            <a:r>
              <a:rPr sz="1350" b="0">
                <a:solidFill>
                  <a:srgbClr val="C9C2BA"/>
                </a:solidFill>
                <a:latin typeface="Pretendard"/>
                <a:ea typeface="Pretendard"/>
              </a:rPr>
              <a:t> 가장 큰 소비 현장이 가장 측정되지 않는다 — 거대한 공백이 비어 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474720"/>
            <a:ext cx="4572000" cy="228600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02336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600" b="0">
                <a:solidFill>
                  <a:srgbClr val="6C5CE7"/>
                </a:solidFill>
                <a:latin typeface="Pretendard"/>
                <a:ea typeface="Pretendard"/>
              </a:rPr>
              <a:t>80</a:t>
            </a:r>
            <a:r>
              <a:rPr sz="2000" b="0">
                <a:solidFill>
                  <a:srgbClr val="C9C2BA"/>
                </a:solidFill>
                <a:latin typeface="Pretendard"/>
                <a:ea typeface="Pretendard"/>
              </a:rPr>
              <a:t>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02920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>
                <a:solidFill>
                  <a:srgbClr val="7A7570"/>
                </a:solidFill>
                <a:latin typeface="Pretendard"/>
                <a:ea typeface="Pretendard"/>
              </a:rPr>
              <a:t>소비 지출이 오프라인에서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402336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600" b="0">
                <a:solidFill>
                  <a:srgbClr val="E17055"/>
                </a:solidFill>
                <a:latin typeface="Pretendard"/>
                <a:ea typeface="Pretendard"/>
              </a:rPr>
              <a:t>~0</a:t>
            </a:r>
            <a:r>
              <a:rPr sz="2000" b="0">
                <a:solidFill>
                  <a:srgbClr val="C9C2BA"/>
                </a:solidFill>
                <a:latin typeface="Pretendard"/>
                <a:ea typeface="Pretendard"/>
              </a:rPr>
              <a:t>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502920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>
                <a:solidFill>
                  <a:srgbClr val="7A7570"/>
                </a:solidFill>
                <a:latin typeface="Pretendard"/>
                <a:ea typeface="Pretendard"/>
              </a:rPr>
              <a:t>행동 단위 측정 가능 비율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56616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측정되지 않는 시장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4023360"/>
            <a:ext cx="46634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6C5CE7"/>
                </a:solidFill>
                <a:latin typeface="Pretendard"/>
                <a:ea typeface="Pretendard"/>
              </a:rPr>
              <a:t>•  </a:t>
            </a:r>
            <a:r>
              <a:rPr sz="1250" b="1">
                <a:solidFill>
                  <a:srgbClr val="F5F0EB"/>
                </a:solidFill>
                <a:latin typeface="Pretendard"/>
                <a:ea typeface="Pretendard"/>
              </a:rPr>
              <a:t>국내 오프라인 마케팅 10조+</a:t>
            </a:r>
            <a:r>
              <a:rPr sz="1250" b="0">
                <a:solidFill>
                  <a:srgbClr val="C9C2BA"/>
                </a:solidFill>
                <a:latin typeface="Pretendard"/>
                <a:ea typeface="Pretendard"/>
              </a:rPr>
              <a:t> — OOH 4.3조 + 카페·리테일 6조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200" b="1">
                <a:solidFill>
                  <a:srgbClr val="6C5CE7"/>
                </a:solidFill>
                <a:latin typeface="Pretendard"/>
                <a:ea typeface="Pretendard"/>
              </a:rPr>
              <a:t>•  </a:t>
            </a:r>
            <a:r>
              <a:rPr sz="1250" b="1">
                <a:solidFill>
                  <a:srgbClr val="F5F0EB"/>
                </a:solidFill>
                <a:latin typeface="Pretendard"/>
                <a:ea typeface="Pretendard"/>
              </a:rPr>
              <a:t>국내 디지털 광고 11.3조</a:t>
            </a:r>
            <a:r>
              <a:rPr sz="1250" b="0">
                <a:solidFill>
                  <a:srgbClr val="C9C2BA"/>
                </a:solidFill>
                <a:latin typeface="Pretendard"/>
                <a:ea typeface="Pretendard"/>
              </a:rPr>
              <a:t> (’25, KOBACO) — 측정은 여기 편중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200" b="1">
                <a:solidFill>
                  <a:srgbClr val="6C5CE7"/>
                </a:solidFill>
                <a:latin typeface="Pretendard"/>
                <a:ea typeface="Pretendard"/>
              </a:rPr>
              <a:t>•  </a:t>
            </a:r>
            <a:r>
              <a:rPr sz="1250" b="1">
                <a:solidFill>
                  <a:srgbClr val="F5F0EB"/>
                </a:solidFill>
                <a:latin typeface="Pretendard"/>
                <a:ea typeface="Pretendard"/>
              </a:rPr>
              <a:t>이 거대한 소비 현장이 ‘감’으로</a:t>
            </a:r>
            <a:r>
              <a:rPr sz="1250" b="0">
                <a:solidFill>
                  <a:srgbClr val="C9C2BA"/>
                </a:solidFill>
                <a:latin typeface="Pretendard"/>
                <a:ea typeface="Pretendard"/>
              </a:rPr>
              <a:t> 집행된다 — 최적화 불가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5216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850" b="1">
                <a:solidFill>
                  <a:srgbClr val="C9C2BA"/>
                </a:solidFill>
                <a:latin typeface="Pretendard"/>
                <a:ea typeface="Pretendard"/>
              </a:rPr>
              <a:t>출처:</a:t>
            </a:r>
            <a:r>
              <a:rPr sz="850" b="0">
                <a:solidFill>
                  <a:srgbClr val="7A7570"/>
                </a:solidFill>
                <a:latin typeface="Pretendard"/>
                <a:ea typeface="Pretendard"/>
              </a:rPr>
              <a:t> 국내 디지털광고 11.3조 — KOBACO(2025). 오프라인 마케팅·측정비율 — 내부 추정.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327648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>
                <a:solidFill>
                  <a:srgbClr val="7A7570"/>
                </a:solidFill>
                <a:latin typeface="Pretendard"/>
                <a:ea typeface="Pretendard"/>
              </a:rPr>
              <a:t>PHYSICAL AD-TECH NETWORK · BY PROJECT RENT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C5CE7"/>
                </a:solidFill>
                <a:latin typeface="Pretendard"/>
                <a:ea typeface="Pretendard"/>
              </a:rPr>
              <a:t>03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PART 1 · OPENING —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47548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841248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69264"/>
            <a:ext cx="10545775" cy="581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</a:rPr>
              <a:t>Behavior is the New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95552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</a:rPr>
              <a:t>검색어는 속일 수 있지만, 행동은 속일 수 없다.</a:t>
            </a:r>
            <a:r>
              <a:rPr sz="1350" b="0">
                <a:solidFill>
                  <a:srgbClr val="C9C2BA"/>
                </a:solidFill>
                <a:latin typeface="Pretendard"/>
                <a:ea typeface="Pretendard"/>
              </a:rPr>
              <a:t> 미래 경쟁은 데이터의 양이 아니라 해상도(High Resolution)에서 갈린다.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383280"/>
            <a:ext cx="5074920" cy="2377440"/>
          </a:xfrm>
          <a:prstGeom prst="roundRect">
            <a:avLst>
              <a:gd name="adj" fmla="val 40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611880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7A7570"/>
                </a:solidFill>
                <a:latin typeface="Pretendard"/>
                <a:ea typeface="Pretendard"/>
              </a:rPr>
              <a:t>온라인 데이터</a:t>
            </a:r>
          </a:p>
          <a:p>
            <a:pPr>
              <a:spcBef>
                <a:spcPts val="600"/>
              </a:spcBef>
            </a:pPr>
            <a:r>
              <a:rPr sz="2400" b="1">
                <a:solidFill>
                  <a:srgbClr val="C9C2BA"/>
                </a:solidFill>
                <a:latin typeface="Pretendard"/>
                <a:ea typeface="Pretendard"/>
              </a:rPr>
              <a:t>클릭 = 의도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100" b="0">
                <a:solidFill>
                  <a:srgbClr val="6C5CE7"/>
                </a:solidFill>
                <a:latin typeface="Pretendard"/>
                <a:ea typeface="Pretendard"/>
              </a:rPr>
              <a:t>•  </a:t>
            </a:r>
            <a:r>
              <a:rPr sz="1150" b="0">
                <a:solidFill>
                  <a:srgbClr val="C9C2BA"/>
                </a:solidFill>
                <a:latin typeface="Pretendard"/>
                <a:ea typeface="Pretendard"/>
              </a:rPr>
              <a:t>무엇을 클릭/검색했나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100" b="0">
                <a:solidFill>
                  <a:srgbClr val="6C5CE7"/>
                </a:solidFill>
                <a:latin typeface="Pretendard"/>
                <a:ea typeface="Pretendard"/>
              </a:rPr>
              <a:t>•  </a:t>
            </a:r>
            <a:r>
              <a:rPr sz="1150" b="0">
                <a:solidFill>
                  <a:srgbClr val="C9C2BA"/>
                </a:solidFill>
                <a:latin typeface="Pretendard"/>
                <a:ea typeface="Pretendard"/>
              </a:rPr>
              <a:t>표면적 관심 (저해상)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100" b="0">
                <a:solidFill>
                  <a:srgbClr val="6C5CE7"/>
                </a:solidFill>
                <a:latin typeface="Pretendard"/>
                <a:ea typeface="Pretendard"/>
              </a:rPr>
              <a:t>•  </a:t>
            </a:r>
            <a:r>
              <a:rPr sz="1150" b="0">
                <a:solidFill>
                  <a:srgbClr val="C9C2BA"/>
                </a:solidFill>
                <a:latin typeface="Pretendard"/>
                <a:ea typeface="Pretendard"/>
              </a:rPr>
              <a:t>쿠키·추적에 의존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100" b="0">
                <a:solidFill>
                  <a:srgbClr val="6C5CE7"/>
                </a:solidFill>
                <a:latin typeface="Pretendard"/>
                <a:ea typeface="Pretendard"/>
              </a:rPr>
              <a:t>•  </a:t>
            </a:r>
            <a:r>
              <a:rPr sz="1150" b="0">
                <a:solidFill>
                  <a:srgbClr val="C9C2BA"/>
                </a:solidFill>
                <a:latin typeface="Pretendard"/>
                <a:ea typeface="Pretendard"/>
              </a:rPr>
              <a:t>맥락 없는 단편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3383280"/>
            <a:ext cx="5074920" cy="2377440"/>
          </a:xfrm>
          <a:prstGeom prst="roundRect">
            <a:avLst>
              <a:gd name="adj" fmla="val 4000"/>
            </a:avLst>
          </a:prstGeom>
          <a:solidFill>
            <a:srgbClr val="221E33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3611880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29BFE"/>
                </a:solidFill>
                <a:latin typeface="Pretendard"/>
                <a:ea typeface="Pretendard"/>
              </a:rPr>
              <a:t>오프라인 행동 데이터</a:t>
            </a:r>
          </a:p>
          <a:p>
            <a:pPr>
              <a:spcBef>
                <a:spcPts val="600"/>
              </a:spcBef>
            </a:pPr>
            <a:r>
              <a:rPr sz="2400" b="1">
                <a:solidFill>
                  <a:srgbClr val="F5F0EB"/>
                </a:solidFill>
                <a:latin typeface="Pretendard"/>
                <a:ea typeface="Pretendard"/>
              </a:rPr>
              <a:t>행동 = 진실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100" b="0">
                <a:solidFill>
                  <a:srgbClr val="6C5CE7"/>
                </a:solidFill>
                <a:latin typeface="Pretendard"/>
                <a:ea typeface="Pretendard"/>
              </a:rPr>
              <a:t>•  </a:t>
            </a:r>
            <a:r>
              <a:rPr sz="1150" b="0">
                <a:solidFill>
                  <a:srgbClr val="C9C2BA"/>
                </a:solidFill>
                <a:latin typeface="Pretendard"/>
                <a:ea typeface="Pretendard"/>
              </a:rPr>
              <a:t>방문·체류·반응·구매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100" b="0">
                <a:solidFill>
                  <a:srgbClr val="6C5CE7"/>
                </a:solidFill>
                <a:latin typeface="Pretendard"/>
                <a:ea typeface="Pretendard"/>
              </a:rPr>
              <a:t>•  </a:t>
            </a:r>
            <a:r>
              <a:rPr sz="1150" b="1">
                <a:solidFill>
                  <a:srgbClr val="F5F0EB"/>
                </a:solidFill>
                <a:latin typeface="Pretendard"/>
                <a:ea typeface="Pretendard"/>
              </a:rPr>
              <a:t>실제 행동의 맥락 (고해상)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100" b="0">
                <a:solidFill>
                  <a:srgbClr val="6C5CE7"/>
                </a:solidFill>
                <a:latin typeface="Pretendard"/>
                <a:ea typeface="Pretendard"/>
              </a:rPr>
              <a:t>•  </a:t>
            </a:r>
            <a:r>
              <a:rPr sz="1150" b="0">
                <a:solidFill>
                  <a:srgbClr val="C9C2BA"/>
                </a:solidFill>
                <a:latin typeface="Pretendard"/>
                <a:ea typeface="Pretendard"/>
              </a:rPr>
              <a:t>비식별 퍼스트파티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100" b="0">
                <a:solidFill>
                  <a:srgbClr val="6C5CE7"/>
                </a:solidFill>
                <a:latin typeface="Pretendard"/>
                <a:ea typeface="Pretendard"/>
              </a:rPr>
              <a:t>•  </a:t>
            </a:r>
            <a:r>
              <a:rPr sz="1150" b="0">
                <a:solidFill>
                  <a:srgbClr val="C9C2BA"/>
                </a:solidFill>
                <a:latin typeface="Pretendard"/>
                <a:ea typeface="Pretendard"/>
              </a:rPr>
              <a:t>‘왜 움직였는가’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327648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>
                <a:solidFill>
                  <a:srgbClr val="7A7570"/>
                </a:solidFill>
                <a:latin typeface="Pretendard"/>
                <a:ea typeface="Pretendard"/>
              </a:rPr>
              <a:t>PHYSICAL AD-TECH NETWORK · BY PROJECT RENT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C5CE7"/>
                </a:solidFill>
                <a:latin typeface="Pretendard"/>
                <a:ea typeface="Pretendard"/>
              </a:rPr>
              <a:t>04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PART 2 ·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47548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841248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69264"/>
            <a:ext cx="10545775" cy="581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</a:rPr>
              <a:t>Physical Ad-Tech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95552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</a:rPr>
              <a:t>오프라인 공간을 광고 → 행동 → 구매 데이터가 연결되는 네트워크로 전환한다.</a:t>
            </a:r>
            <a:r>
              <a:rPr sz="1350" b="0">
                <a:solidFill>
                  <a:srgbClr val="C9C2BA"/>
                </a:solidFill>
                <a:latin typeface="Pretendard"/>
                <a:ea typeface="Pretendard"/>
              </a:rPr>
              <a:t> 지금까지 끊겨 있던 광고와 커머스를 하나의 측정 가능한 흐름으로 잇는다.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383280"/>
            <a:ext cx="1721053" cy="182880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931920"/>
            <a:ext cx="146502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6C5CE7"/>
                </a:solidFill>
                <a:latin typeface="Pretendard"/>
                <a:ea typeface="Pretendard"/>
              </a:rPr>
              <a:t>01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250" b="1">
                <a:solidFill>
                  <a:srgbClr val="F5F0EB"/>
                </a:solidFill>
                <a:latin typeface="Pretendard"/>
                <a:ea typeface="Pretendard"/>
              </a:rPr>
              <a:t>광고</a:t>
            </a:r>
          </a:p>
          <a:p>
            <a:pPr>
              <a:lnSpc>
                <a:spcPct val="125000"/>
              </a:lnSpc>
              <a:spcBef>
                <a:spcPts val="500"/>
              </a:spcBef>
            </a:pPr>
            <a:r>
              <a:rPr sz="900" b="0">
                <a:solidFill>
                  <a:srgbClr val="7A7570"/>
                </a:solidFill>
                <a:latin typeface="Pretendard"/>
                <a:ea typeface="Pretendard"/>
              </a:rPr>
              <a:t>브랜드 캠페인이 거점에서 시작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15997" y="416052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C5CE7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80589" y="3383280"/>
            <a:ext cx="1721053" cy="182880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5181" y="3931920"/>
            <a:ext cx="146502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6C5CE7"/>
                </a:solidFill>
                <a:latin typeface="Pretendard"/>
                <a:ea typeface="Pretendard"/>
              </a:rPr>
              <a:t>02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250" b="1">
                <a:solidFill>
                  <a:srgbClr val="F5F0EB"/>
                </a:solidFill>
                <a:latin typeface="Pretendard"/>
                <a:ea typeface="Pretendard"/>
              </a:rPr>
              <a:t>방문</a:t>
            </a:r>
          </a:p>
          <a:p>
            <a:pPr>
              <a:lnSpc>
                <a:spcPct val="125000"/>
              </a:lnSpc>
              <a:spcBef>
                <a:spcPts val="500"/>
              </a:spcBef>
            </a:pPr>
            <a:r>
              <a:rPr sz="900" b="0">
                <a:solidFill>
                  <a:srgbClr val="7A7570"/>
                </a:solidFill>
                <a:latin typeface="Pretendard"/>
                <a:ea typeface="Pretendard"/>
              </a:rPr>
              <a:t>고객이 현장에 진입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3626" y="416052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C5CE7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8218" y="3383280"/>
            <a:ext cx="1721053" cy="182880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2810" y="3931920"/>
            <a:ext cx="146502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6C5CE7"/>
                </a:solidFill>
                <a:latin typeface="Pretendard"/>
                <a:ea typeface="Pretendard"/>
              </a:rPr>
              <a:t>03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250" b="1">
                <a:solidFill>
                  <a:srgbClr val="F5F0EB"/>
                </a:solidFill>
                <a:latin typeface="Pretendard"/>
                <a:ea typeface="Pretendard"/>
              </a:rPr>
              <a:t>체류</a:t>
            </a:r>
          </a:p>
          <a:p>
            <a:pPr>
              <a:lnSpc>
                <a:spcPct val="125000"/>
              </a:lnSpc>
              <a:spcBef>
                <a:spcPts val="500"/>
              </a:spcBef>
            </a:pPr>
            <a:r>
              <a:rPr sz="900" b="0">
                <a:solidFill>
                  <a:srgbClr val="7A7570"/>
                </a:solidFill>
                <a:latin typeface="Pretendard"/>
                <a:ea typeface="Pretendard"/>
              </a:rPr>
              <a:t>머무름·동선이 데이터로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31255" y="416052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C5CE7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5847" y="3383280"/>
            <a:ext cx="1721053" cy="182880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0439" y="3931920"/>
            <a:ext cx="146502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6C5CE7"/>
                </a:solidFill>
                <a:latin typeface="Pretendard"/>
                <a:ea typeface="Pretendard"/>
              </a:rPr>
              <a:t>04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250" b="1">
                <a:solidFill>
                  <a:srgbClr val="F5F0EB"/>
                </a:solidFill>
                <a:latin typeface="Pretendard"/>
                <a:ea typeface="Pretendard"/>
              </a:rPr>
              <a:t>반응</a:t>
            </a:r>
          </a:p>
          <a:p>
            <a:pPr>
              <a:lnSpc>
                <a:spcPct val="125000"/>
              </a:lnSpc>
              <a:spcBef>
                <a:spcPts val="500"/>
              </a:spcBef>
            </a:pPr>
            <a:r>
              <a:rPr sz="900" b="0">
                <a:solidFill>
                  <a:srgbClr val="7A7570"/>
                </a:solidFill>
                <a:latin typeface="Pretendard"/>
                <a:ea typeface="Pretendard"/>
              </a:rPr>
              <a:t>관심·선택을 비식별 기록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8884" y="416052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C5CE7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53476" y="3383280"/>
            <a:ext cx="1721053" cy="182880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8068" y="3931920"/>
            <a:ext cx="146502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6C5CE7"/>
                </a:solidFill>
                <a:latin typeface="Pretendard"/>
                <a:ea typeface="Pretendard"/>
              </a:rPr>
              <a:t>05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250" b="1">
                <a:solidFill>
                  <a:srgbClr val="F5F0EB"/>
                </a:solidFill>
                <a:latin typeface="Pretendard"/>
                <a:ea typeface="Pretendard"/>
              </a:rPr>
              <a:t>구매</a:t>
            </a:r>
          </a:p>
          <a:p>
            <a:pPr>
              <a:lnSpc>
                <a:spcPct val="125000"/>
              </a:lnSpc>
              <a:spcBef>
                <a:spcPts val="500"/>
              </a:spcBef>
            </a:pPr>
            <a:r>
              <a:rPr sz="900" b="0">
                <a:solidFill>
                  <a:srgbClr val="7A7570"/>
                </a:solidFill>
                <a:latin typeface="Pretendard"/>
                <a:ea typeface="Pretendard"/>
              </a:rPr>
              <a:t>전환 발생·매출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6514" y="416052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C5CE7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11106" y="3383280"/>
            <a:ext cx="1721053" cy="182880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75697" y="3931920"/>
            <a:ext cx="146502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6C5CE7"/>
                </a:solidFill>
                <a:latin typeface="Pretendard"/>
                <a:ea typeface="Pretendard"/>
              </a:rPr>
              <a:t>06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250" b="1">
                <a:solidFill>
                  <a:srgbClr val="F5F0EB"/>
                </a:solidFill>
                <a:latin typeface="Pretendard"/>
                <a:ea typeface="Pretendard"/>
              </a:rPr>
              <a:t>재방문</a:t>
            </a:r>
          </a:p>
          <a:p>
            <a:pPr>
              <a:lnSpc>
                <a:spcPct val="125000"/>
              </a:lnSpc>
              <a:spcBef>
                <a:spcPts val="500"/>
              </a:spcBef>
            </a:pPr>
            <a:r>
              <a:rPr sz="900" b="0">
                <a:solidFill>
                  <a:srgbClr val="7A7570"/>
                </a:solidFill>
                <a:latin typeface="Pretendard"/>
                <a:ea typeface="Pretendard"/>
              </a:rPr>
              <a:t>관계·리타겟으로 순환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5486400"/>
            <a:ext cx="10545775" cy="566928"/>
          </a:xfrm>
          <a:prstGeom prst="rect">
            <a:avLst/>
          </a:prstGeom>
          <a:solidFill>
            <a:srgbClr val="1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5486400"/>
            <a:ext cx="36576" cy="566928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5486400"/>
            <a:ext cx="1008857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C9C2BA"/>
                </a:solidFill>
                <a:latin typeface="Pretendard"/>
                <a:ea typeface="Pretendard"/>
              </a:rPr>
              <a:t>모든 단계가 </a:t>
            </a:r>
            <a:r>
              <a:rPr sz="1250" b="1">
                <a:solidFill>
                  <a:srgbClr val="A29BFE"/>
                </a:solidFill>
                <a:latin typeface="Pretendard"/>
                <a:ea typeface="Pretendard"/>
              </a:rPr>
              <a:t>행동 데이터</a:t>
            </a:r>
            <a:r>
              <a:rPr sz="1250" b="0">
                <a:solidFill>
                  <a:srgbClr val="C9C2BA"/>
                </a:solidFill>
                <a:latin typeface="Pretendard"/>
                <a:ea typeface="Pretendard"/>
              </a:rPr>
              <a:t>를 남긴다 — 광고가 곧 데이터 수집 장치가 된다.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6327648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>
                <a:solidFill>
                  <a:srgbClr val="7A7570"/>
                </a:solidFill>
                <a:latin typeface="Pretendard"/>
                <a:ea typeface="Pretendard"/>
              </a:rPr>
              <a:t>PHYSICAL AD-TECH NETWORK · BY PROJECT RENT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C5CE7"/>
                </a:solidFill>
                <a:latin typeface="Pretendard"/>
                <a:ea typeface="Pretendard"/>
              </a:rPr>
              <a:t>05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PART 2 · SOLUTION — WHY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47548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841248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69264"/>
            <a:ext cx="10545775" cy="538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500" b="1">
                <a:solidFill>
                  <a:srgbClr val="F5F0EB"/>
                </a:solidFill>
                <a:latin typeface="Pretendard"/>
                <a:ea typeface="Pretendard"/>
              </a:rPr>
              <a:t>Most Companies Analyze Data. We Generate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528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</a:rPr>
              <a:t>대부분은 데이터를 분석하지만, 우리는 데이터가 생성되는 현장을 직접 운영한다.</a:t>
            </a:r>
            <a:r>
              <a:rPr sz="1350" b="0">
                <a:solidFill>
                  <a:srgbClr val="C9C2BA"/>
                </a:solidFill>
                <a:latin typeface="Pretendard"/>
                <a:ea typeface="Pretendard"/>
              </a:rPr>
              <a:t> 데이터를 사오는 게 아니라 만든다 — 이것이 복제할 수 없는 진입장벽이다.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566160"/>
            <a:ext cx="3931920" cy="219456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79476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7A7570"/>
                </a:solidFill>
                <a:latin typeface="Pretendard"/>
                <a:ea typeface="Pretendard"/>
              </a:rPr>
              <a:t>데이터가 생성되는 현장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251960"/>
            <a:ext cx="722376" cy="347472"/>
          </a:xfrm>
          <a:prstGeom prst="roundRect">
            <a:avLst>
              <a:gd name="adj" fmla="val 30000"/>
            </a:avLst>
          </a:prstGeom>
          <a:solidFill>
            <a:srgbClr val="221E33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251960"/>
            <a:ext cx="7223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A29BFE"/>
                </a:solidFill>
                <a:latin typeface="Pretendard"/>
                <a:ea typeface="Pretendard"/>
              </a:rPr>
              <a:t>팝업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9384" y="4251960"/>
            <a:ext cx="832104" cy="347472"/>
          </a:xfrm>
          <a:prstGeom prst="roundRect">
            <a:avLst>
              <a:gd name="adj" fmla="val 30000"/>
            </a:avLst>
          </a:prstGeom>
          <a:solidFill>
            <a:srgbClr val="221E33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9384" y="4251960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A29BFE"/>
                </a:solidFill>
                <a:latin typeface="Pretendard"/>
                <a:ea typeface="Pretendard"/>
              </a:rPr>
              <a:t>F&amp;B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71215" y="4251960"/>
            <a:ext cx="722376" cy="347472"/>
          </a:xfrm>
          <a:prstGeom prst="roundRect">
            <a:avLst>
              <a:gd name="adj" fmla="val 30000"/>
            </a:avLst>
          </a:prstGeom>
          <a:solidFill>
            <a:srgbClr val="221E33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1215" y="4251960"/>
            <a:ext cx="7223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A29BFE"/>
                </a:solidFill>
                <a:latin typeface="Pretendard"/>
                <a:ea typeface="Pretendard"/>
              </a:rPr>
              <a:t>공간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4251960"/>
            <a:ext cx="722376" cy="347472"/>
          </a:xfrm>
          <a:prstGeom prst="roundRect">
            <a:avLst>
              <a:gd name="adj" fmla="val 30000"/>
            </a:avLst>
          </a:prstGeom>
          <a:solidFill>
            <a:srgbClr val="221E33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4251960"/>
            <a:ext cx="7223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A29BFE"/>
                </a:solidFill>
                <a:latin typeface="Pretendard"/>
                <a:ea typeface="Pretendard"/>
              </a:rPr>
              <a:t>운영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35424" y="4251960"/>
            <a:ext cx="722376" cy="347472"/>
          </a:xfrm>
          <a:prstGeom prst="roundRect">
            <a:avLst>
              <a:gd name="adj" fmla="val 30000"/>
            </a:avLst>
          </a:prstGeom>
          <a:solidFill>
            <a:srgbClr val="221E33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5424" y="4251960"/>
            <a:ext cx="7223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A29BFE"/>
                </a:solidFill>
                <a:latin typeface="Pretendard"/>
                <a:ea typeface="Pretendard"/>
              </a:rPr>
              <a:t>판매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93776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00" b="0">
                <a:solidFill>
                  <a:srgbClr val="C9C2BA"/>
                </a:solidFill>
                <a:latin typeface="Pretendard"/>
                <a:ea typeface="Pretendard"/>
              </a:rPr>
              <a:t>직영 </a:t>
            </a:r>
            <a:r>
              <a:rPr sz="1200" b="1">
                <a:solidFill>
                  <a:srgbClr val="F5F0EB"/>
                </a:solidFill>
                <a:latin typeface="Pretendard"/>
                <a:ea typeface="Pretendard"/>
              </a:rPr>
              <a:t>8거점</a:t>
            </a:r>
            <a:r>
              <a:rPr sz="1200" b="0">
                <a:solidFill>
                  <a:srgbClr val="C9C2BA"/>
                </a:solidFill>
                <a:latin typeface="Pretendard"/>
                <a:ea typeface="Pretendard"/>
              </a:rPr>
              <a:t> · </a:t>
            </a:r>
            <a:r>
              <a:rPr sz="1200" b="1">
                <a:solidFill>
                  <a:srgbClr val="F5F0EB"/>
                </a:solidFill>
                <a:latin typeface="Pretendard"/>
                <a:ea typeface="Pretendard"/>
              </a:rPr>
              <a:t>350+ 팝업·40+ 계약</a:t>
            </a:r>
            <a:r>
              <a:rPr sz="1200" b="0">
                <a:solidFill>
                  <a:srgbClr val="C9C2BA"/>
                </a:solidFill>
                <a:latin typeface="Pretendard"/>
                <a:ea typeface="Pretendard"/>
              </a:rPr>
              <a:t> — 데이터 소스를 </a:t>
            </a:r>
            <a:r>
              <a:rPr sz="1200" b="1">
                <a:solidFill>
                  <a:srgbClr val="A29BFE"/>
                </a:solidFill>
                <a:latin typeface="Pretendard"/>
                <a:ea typeface="Pretendard"/>
              </a:rPr>
              <a:t>소유</a:t>
            </a:r>
            <a:r>
              <a:rPr sz="1200" b="0">
                <a:solidFill>
                  <a:srgbClr val="C9C2BA"/>
                </a:solidFill>
                <a:latin typeface="Pretendard"/>
                <a:ea typeface="Pretendard"/>
              </a:rPr>
              <a:t>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611880"/>
            <a:ext cx="53949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6C5CE7"/>
                </a:solidFill>
                <a:latin typeface="Pretendard"/>
                <a:ea typeface="Pretendard"/>
              </a:rPr>
              <a:t>•  </a:t>
            </a:r>
            <a:r>
              <a:rPr sz="1250" b="1">
                <a:solidFill>
                  <a:srgbClr val="F5F0EB"/>
                </a:solidFill>
                <a:latin typeface="Pretendard"/>
                <a:ea typeface="Pretendard"/>
              </a:rPr>
              <a:t>데이터를 사오지 않는다 — 만든다.</a:t>
            </a:r>
            <a:r>
              <a:rPr sz="1250" b="0">
                <a:solidFill>
                  <a:srgbClr val="C9C2BA"/>
                </a:solidFill>
                <a:latin typeface="Pretendard"/>
                <a:ea typeface="Pretendard"/>
              </a:rPr>
              <a:t> 현장을 직접 운영해 행동 데이터를 원천 생성</a:t>
            </a:r>
          </a:p>
          <a:p>
            <a:pPr>
              <a:lnSpc>
                <a:spcPct val="130000"/>
              </a:lnSpc>
              <a:spcBef>
                <a:spcPts val="1300"/>
              </a:spcBef>
            </a:pPr>
            <a:r>
              <a:rPr sz="1200" b="1">
                <a:solidFill>
                  <a:srgbClr val="6C5CE7"/>
                </a:solidFill>
                <a:latin typeface="Pretendard"/>
                <a:ea typeface="Pretendard"/>
              </a:rPr>
              <a:t>•  </a:t>
            </a:r>
            <a:r>
              <a:rPr sz="1250" b="1">
                <a:solidFill>
                  <a:srgbClr val="F5F0EB"/>
                </a:solidFill>
                <a:latin typeface="Pretendard"/>
                <a:ea typeface="Pretendard"/>
              </a:rPr>
              <a:t>풀스택 동시 실행.</a:t>
            </a:r>
            <a:r>
              <a:rPr sz="1250" b="0">
                <a:solidFill>
                  <a:srgbClr val="C9C2BA"/>
                </a:solidFill>
                <a:latin typeface="Pretendard"/>
                <a:ea typeface="Pretendard"/>
              </a:rPr>
              <a:t> 기획·공간·F&amp;B·운영·판매·데이터를 한 몸으로</a:t>
            </a:r>
          </a:p>
          <a:p>
            <a:pPr>
              <a:lnSpc>
                <a:spcPct val="130000"/>
              </a:lnSpc>
              <a:spcBef>
                <a:spcPts val="1300"/>
              </a:spcBef>
            </a:pPr>
            <a:r>
              <a:rPr sz="1200" b="1">
                <a:solidFill>
                  <a:srgbClr val="6C5CE7"/>
                </a:solidFill>
                <a:latin typeface="Pretendard"/>
                <a:ea typeface="Pretendard"/>
              </a:rPr>
              <a:t>•  </a:t>
            </a:r>
            <a:r>
              <a:rPr sz="1250" b="1">
                <a:solidFill>
                  <a:srgbClr val="F5F0EB"/>
                </a:solidFill>
                <a:latin typeface="Pretendard"/>
                <a:ea typeface="Pretendard"/>
              </a:rPr>
              <a:t>분석만 하는 회사와 다르다.</a:t>
            </a:r>
            <a:r>
              <a:rPr sz="1250" b="0">
                <a:solidFill>
                  <a:srgbClr val="C9C2BA"/>
                </a:solidFill>
                <a:latin typeface="Pretendard"/>
                <a:ea typeface="Pretendard"/>
              </a:rPr>
              <a:t> 데이터가 태어나는 곳을 가졌다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6327648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>
                <a:solidFill>
                  <a:srgbClr val="7A7570"/>
                </a:solidFill>
                <a:latin typeface="Pretendard"/>
                <a:ea typeface="Pretendard"/>
              </a:rPr>
              <a:t>PHYSICAL AD-TECH NETWORK · BY PROJECT RENT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C5CE7"/>
                </a:solidFill>
                <a:latin typeface="Pretendard"/>
                <a:ea typeface="Pretendard"/>
              </a:rPr>
              <a:t>06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PART 2 · SOLUTION — PRODUCT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47548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841248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69264"/>
            <a:ext cx="10545775" cy="581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</a:rPr>
              <a:t>The Engine Behind the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95552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</a:rPr>
              <a:t>광고를 측정하는 것이 아니라 행동을 측정한다.</a:t>
            </a:r>
            <a:r>
              <a:rPr sz="1350" b="0">
                <a:solidFill>
                  <a:srgbClr val="C9C2BA"/>
                </a:solidFill>
                <a:latin typeface="Pretendard"/>
                <a:ea typeface="Pretendard"/>
              </a:rPr>
              <a:t> Bracket → Physical AI → RXR → Attribution → Commerce로 이어지는 엔진. 기술은 목적이 아니라 네트워크의 심장이다.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566160"/>
            <a:ext cx="2072579" cy="173736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4087368"/>
            <a:ext cx="1816547" cy="1042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6C5CE7"/>
                </a:solidFill>
                <a:latin typeface="Pretendard"/>
                <a:ea typeface="Pretendard"/>
              </a:rPr>
              <a:t>01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250" b="1">
                <a:solidFill>
                  <a:srgbClr val="F5F0EB"/>
                </a:solidFill>
                <a:latin typeface="Pretendard"/>
                <a:ea typeface="Pretendard"/>
              </a:rPr>
              <a:t>Bracket</a:t>
            </a:r>
          </a:p>
          <a:p>
            <a:pPr>
              <a:lnSpc>
                <a:spcPct val="125000"/>
              </a:lnSpc>
              <a:spcBef>
                <a:spcPts val="500"/>
              </a:spcBef>
            </a:pPr>
            <a:r>
              <a:rPr sz="900" b="0">
                <a:solidFill>
                  <a:srgbClr val="7A7570"/>
                </a:solidFill>
                <a:latin typeface="Pretendard"/>
                <a:ea typeface="Pretendard"/>
              </a:rPr>
              <a:t>유휴 공간을 지능형 미디어 노드로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67523" y="4297679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C5CE7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32115" y="3566160"/>
            <a:ext cx="2072579" cy="173736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6707" y="4087368"/>
            <a:ext cx="1816547" cy="1042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6C5CE7"/>
                </a:solidFill>
                <a:latin typeface="Pretendard"/>
                <a:ea typeface="Pretendard"/>
              </a:rPr>
              <a:t>02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250" b="1">
                <a:solidFill>
                  <a:srgbClr val="F5F0EB"/>
                </a:solidFill>
                <a:latin typeface="Pretendard"/>
                <a:ea typeface="Pretendard"/>
              </a:rPr>
              <a:t>Physical AI</a:t>
            </a:r>
          </a:p>
          <a:p>
            <a:pPr>
              <a:lnSpc>
                <a:spcPct val="125000"/>
              </a:lnSpc>
              <a:spcBef>
                <a:spcPts val="500"/>
              </a:spcBef>
            </a:pPr>
            <a:r>
              <a:rPr sz="900" b="0">
                <a:solidFill>
                  <a:srgbClr val="7A7570"/>
                </a:solidFill>
                <a:latin typeface="Pretendard"/>
                <a:ea typeface="Pretendard"/>
              </a:rPr>
              <a:t>LAS 실시간 취향 분류 (32종+, 비식별)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6678" y="4297679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C5CE7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41270" y="3566160"/>
            <a:ext cx="2072579" cy="173736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05862" y="4087368"/>
            <a:ext cx="1816547" cy="1042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6C5CE7"/>
                </a:solidFill>
                <a:latin typeface="Pretendard"/>
                <a:ea typeface="Pretendard"/>
              </a:rPr>
              <a:t>03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250" b="1">
                <a:solidFill>
                  <a:srgbClr val="F5F0EB"/>
                </a:solidFill>
                <a:latin typeface="Pretendard"/>
                <a:ea typeface="Pretendard"/>
              </a:rPr>
              <a:t>RXR</a:t>
            </a:r>
          </a:p>
          <a:p>
            <a:pPr>
              <a:lnSpc>
                <a:spcPct val="125000"/>
              </a:lnSpc>
              <a:spcBef>
                <a:spcPts val="500"/>
              </a:spcBef>
            </a:pPr>
            <a:r>
              <a:rPr sz="900" b="0">
                <a:solidFill>
                  <a:srgbClr val="7A7570"/>
                </a:solidFill>
                <a:latin typeface="Pretendard"/>
                <a:ea typeface="Pretendard"/>
              </a:rPr>
              <a:t>행동 분석 엔진 — 네트워크의 심장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5833" y="4297679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C5CE7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50425" y="3566160"/>
            <a:ext cx="2072579" cy="173736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017" y="4087368"/>
            <a:ext cx="1816547" cy="1042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6C5CE7"/>
                </a:solidFill>
                <a:latin typeface="Pretendard"/>
                <a:ea typeface="Pretendard"/>
              </a:rPr>
              <a:t>04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250" b="1">
                <a:solidFill>
                  <a:srgbClr val="F5F0EB"/>
                </a:solidFill>
                <a:latin typeface="Pretendard"/>
                <a:ea typeface="Pretendard"/>
              </a:rPr>
              <a:t>Attribution</a:t>
            </a:r>
          </a:p>
          <a:p>
            <a:pPr>
              <a:lnSpc>
                <a:spcPct val="125000"/>
              </a:lnSpc>
              <a:spcBef>
                <a:spcPts val="500"/>
              </a:spcBef>
            </a:pPr>
            <a:r>
              <a:rPr sz="900" b="0">
                <a:solidFill>
                  <a:srgbClr val="7A7570"/>
                </a:solidFill>
                <a:latin typeface="Pretendard"/>
                <a:ea typeface="Pretendard"/>
              </a:rPr>
              <a:t>오프라인 경험 → 온라인 매출 증명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4988" y="4297679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C5CE7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59580" y="3566160"/>
            <a:ext cx="2072579" cy="173736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24172" y="4087368"/>
            <a:ext cx="1816547" cy="1042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6C5CE7"/>
                </a:solidFill>
                <a:latin typeface="Pretendard"/>
                <a:ea typeface="Pretendard"/>
              </a:rPr>
              <a:t>05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250" b="1">
                <a:solidFill>
                  <a:srgbClr val="F5F0EB"/>
                </a:solidFill>
                <a:latin typeface="Pretendard"/>
                <a:ea typeface="Pretendard"/>
              </a:rPr>
              <a:t>Commerce</a:t>
            </a:r>
          </a:p>
          <a:p>
            <a:pPr>
              <a:lnSpc>
                <a:spcPct val="125000"/>
              </a:lnSpc>
              <a:spcBef>
                <a:spcPts val="500"/>
              </a:spcBef>
            </a:pPr>
            <a:r>
              <a:rPr sz="900" b="0">
                <a:solidFill>
                  <a:srgbClr val="7A7570"/>
                </a:solidFill>
                <a:latin typeface="Pretendard"/>
                <a:ea typeface="Pretendard"/>
              </a:rPr>
              <a:t>전환·재방문으로 닫는 루프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57784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850" b="1">
                <a:solidFill>
                  <a:srgbClr val="C9C2BA"/>
                </a:solidFill>
                <a:latin typeface="Pretendard"/>
                <a:ea typeface="Pretendard"/>
              </a:rPr>
              <a:t>IP:</a:t>
            </a:r>
            <a:r>
              <a:rPr sz="850" b="0">
                <a:solidFill>
                  <a:srgbClr val="7A7570"/>
                </a:solidFill>
                <a:latin typeface="Pretendard"/>
                <a:ea typeface="Pretendard"/>
              </a:rPr>
              <a:t> 특허 제10-2545502호(라이프스타일 AI 세그멘테이션) · LAS 32종+ 비식별 처리 · CTO 전 퓨리오사 출신 · Alpha/Beta 구축 중.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327648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>
                <a:solidFill>
                  <a:srgbClr val="7A7570"/>
                </a:solidFill>
                <a:latin typeface="Pretendard"/>
                <a:ea typeface="Pretendard"/>
              </a:rPr>
              <a:t>PHYSICAL AD-TECH NETWORK · BY PROJECT RENT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C5CE7"/>
                </a:solidFill>
                <a:latin typeface="Pretendard"/>
                <a:ea typeface="Pretendard"/>
              </a:rPr>
              <a:t>07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PART 2 · SOLUTION — CORE ASSET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47548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841248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69264"/>
            <a:ext cx="10545775" cy="581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</a:rPr>
              <a:t>The Data No One Else Can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95552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</a:rPr>
              <a:t>이 데이터는 사올 수 없다 — 350개 이상의 라이브 리테일 환경을 직접 운영해야만 쌓인다.</a:t>
            </a:r>
            <a:r>
              <a:rPr sz="1350" b="0">
                <a:solidFill>
                  <a:srgbClr val="C9C2BA"/>
                </a:solidFill>
                <a:latin typeface="Pretendard"/>
                <a:ea typeface="Pretendard"/>
              </a:rPr>
              <a:t> 측정사는 외부 데이터에 의존하지만, 우리는 데이터가 생성되는 현장을 소유한다. 양이 아니라 1st-party의 질이 자산이다.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566160"/>
            <a:ext cx="2444419" cy="2103120"/>
          </a:xfrm>
          <a:prstGeom prst="roundRect">
            <a:avLst>
              <a:gd name="adj" fmla="val 45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566160"/>
            <a:ext cx="2444419" cy="32004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3840480"/>
            <a:ext cx="2078659" cy="1645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0">
                <a:solidFill>
                  <a:srgbClr val="6C5CE7"/>
                </a:solidFill>
                <a:latin typeface="Pretendard"/>
                <a:ea typeface="Pretendard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F5F0EB"/>
                </a:solidFill>
                <a:latin typeface="Pretendard"/>
                <a:ea typeface="Pretendard"/>
              </a:rPr>
              <a:t>방문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누가, 언제, 어떤 경로로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3411" y="3566160"/>
            <a:ext cx="2444419" cy="2103120"/>
          </a:xfrm>
          <a:prstGeom prst="roundRect">
            <a:avLst>
              <a:gd name="adj" fmla="val 45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3411" y="3566160"/>
            <a:ext cx="2444419" cy="32004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4579" y="3840480"/>
            <a:ext cx="2078659" cy="1645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0">
                <a:solidFill>
                  <a:srgbClr val="6C5CE7"/>
                </a:solidFill>
                <a:latin typeface="Pretendard"/>
                <a:ea typeface="Pretendard"/>
              </a:rPr>
              <a:t>02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F5F0EB"/>
                </a:solidFill>
                <a:latin typeface="Pretendard"/>
                <a:ea typeface="Pretendard"/>
              </a:rPr>
              <a:t>체류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어디서, 얼마나 머물렀나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3863" y="3566160"/>
            <a:ext cx="2444419" cy="2103120"/>
          </a:xfrm>
          <a:prstGeom prst="roundRect">
            <a:avLst>
              <a:gd name="adj" fmla="val 45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3863" y="3566160"/>
            <a:ext cx="2444419" cy="32004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5031" y="3840480"/>
            <a:ext cx="2078659" cy="1645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0">
                <a:solidFill>
                  <a:srgbClr val="6C5CE7"/>
                </a:solidFill>
                <a:latin typeface="Pretendard"/>
                <a:ea typeface="Pretendard"/>
              </a:rPr>
              <a:t>03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F5F0EB"/>
                </a:solidFill>
                <a:latin typeface="Pretendard"/>
                <a:ea typeface="Pretendard"/>
              </a:rPr>
              <a:t>반응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무엇 앞에서 멈추고 선택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24315" y="3566160"/>
            <a:ext cx="2444419" cy="2103120"/>
          </a:xfrm>
          <a:prstGeom prst="roundRect">
            <a:avLst>
              <a:gd name="adj" fmla="val 45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24315" y="3566160"/>
            <a:ext cx="2444419" cy="32004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5483" y="3840480"/>
            <a:ext cx="2078659" cy="1645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0">
                <a:solidFill>
                  <a:srgbClr val="6C5CE7"/>
                </a:solidFill>
                <a:latin typeface="Pretendard"/>
                <a:ea typeface="Pretendard"/>
              </a:rPr>
              <a:t>04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F5F0EB"/>
                </a:solidFill>
                <a:latin typeface="Pretendard"/>
                <a:ea typeface="Pretendard"/>
              </a:rPr>
              <a:t>구매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경험이 전환으로 이어졌나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0644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850" b="1">
                <a:solidFill>
                  <a:srgbClr val="C9C2BA"/>
                </a:solidFill>
                <a:latin typeface="Pretendard"/>
                <a:ea typeface="Pretendard"/>
              </a:rPr>
              <a:t>350+ 팝업 · 40+ 기업 계약 리서치</a:t>
            </a:r>
            <a:r>
              <a:rPr sz="850" b="0">
                <a:solidFill>
                  <a:srgbClr val="7A7570"/>
                </a:solidFill>
                <a:latin typeface="Pretendard"/>
                <a:ea typeface="Pretendard"/>
              </a:rPr>
              <a:t>에서 축적한 1st-party 오프라인 행동 데이터. ※ 고유 프로필·이벤트 실측치는 집계 후 갱신 [확인 필요].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327648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>
                <a:solidFill>
                  <a:srgbClr val="7A7570"/>
                </a:solidFill>
                <a:latin typeface="Pretendard"/>
                <a:ea typeface="Pretendard"/>
              </a:rPr>
              <a:t>PHYSICAL AD-TECH NETWORK · BY PROJECT RENT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C5CE7"/>
                </a:solidFill>
                <a:latin typeface="Pretendard"/>
                <a:ea typeface="Pretendard"/>
              </a:rPr>
              <a:t>08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PART 3 · 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47548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841248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69264"/>
            <a:ext cx="10545775" cy="581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</a:rPr>
              <a:t>Already Proven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95552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</a:rPr>
              <a:t>우리는 이 구조를 설명하는 회사가 아니라, 이미 운영해본 회사다.</a:t>
            </a:r>
            <a:r>
              <a:rPr sz="1350" b="0">
                <a:solidFill>
                  <a:srgbClr val="C9C2BA"/>
                </a:solidFill>
                <a:latin typeface="Pretendard"/>
                <a:ea typeface="Pretendard"/>
              </a:rPr>
              <a:t> 외부 자본 없이 6년 흑자로 쌓은 실행력 위에 데이터 레이어를 얹는다.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7A7570"/>
                </a:solidFill>
                <a:latin typeface="Pretendard"/>
                <a:ea typeface="Pretendard"/>
              </a:rPr>
              <a:t>매출 추이 (억원)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500116"/>
            <a:ext cx="566928" cy="169164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244084"/>
            <a:ext cx="7498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C9C2BA"/>
                </a:solidFill>
                <a:latin typeface="Pretendard"/>
                <a:ea typeface="Pretendard"/>
              </a:rPr>
              <a:t>3.7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15000"/>
            <a:ext cx="7498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A7570"/>
                </a:solidFill>
                <a:latin typeface="Pretendard"/>
                <a:ea typeface="Pretendard"/>
              </a:rPr>
              <a:t>'19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3936" y="5143500"/>
            <a:ext cx="566928" cy="52578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82495" y="4887468"/>
            <a:ext cx="7498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C9C2BA"/>
                </a:solidFill>
                <a:latin typeface="Pretendard"/>
                <a:ea typeface="Pretendard"/>
              </a:rPr>
              <a:t>11.5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82495" y="5715000"/>
            <a:ext cx="7498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A7570"/>
                </a:solidFill>
                <a:latin typeface="Pretendard"/>
                <a:ea typeface="Pretendard"/>
              </a:rPr>
              <a:t>'20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33472" y="4434840"/>
            <a:ext cx="566928" cy="123444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42032" y="4178807"/>
            <a:ext cx="7498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C9C2BA"/>
                </a:solidFill>
                <a:latin typeface="Pretendard"/>
                <a:ea typeface="Pretendard"/>
              </a:rPr>
              <a:t>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2032" y="5715000"/>
            <a:ext cx="7498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A7570"/>
                </a:solidFill>
                <a:latin typeface="Pretendard"/>
                <a:ea typeface="Pretendard"/>
              </a:rPr>
              <a:t>'21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93008" y="4434840"/>
            <a:ext cx="566928" cy="123444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01568" y="4178807"/>
            <a:ext cx="7498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C9C2BA"/>
                </a:solidFill>
                <a:latin typeface="Pretendard"/>
                <a:ea typeface="Pretendard"/>
              </a:rPr>
              <a:t>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5715000"/>
            <a:ext cx="7498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A7570"/>
                </a:solidFill>
                <a:latin typeface="Pretendard"/>
                <a:ea typeface="Pretendard"/>
              </a:rPr>
              <a:t>'22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52544" y="4297680"/>
            <a:ext cx="566928" cy="13716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61104" y="4041648"/>
            <a:ext cx="7498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C9C2BA"/>
                </a:solidFill>
                <a:latin typeface="Pretendard"/>
                <a:ea typeface="Pretendard"/>
              </a:rPr>
              <a:t>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61104" y="5715000"/>
            <a:ext cx="7498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A7570"/>
                </a:solidFill>
                <a:latin typeface="Pretendard"/>
                <a:ea typeface="Pretendard"/>
              </a:rPr>
              <a:t>'23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79" y="3840480"/>
            <a:ext cx="566928" cy="18288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0" y="3584448"/>
            <a:ext cx="7498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5F0EB"/>
                </a:solidFill>
                <a:latin typeface="Pretendard"/>
                <a:ea typeface="Pretendard"/>
              </a:rPr>
              <a:t>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5715000"/>
            <a:ext cx="7498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C5CE7"/>
                </a:solidFill>
                <a:latin typeface="Pretendard"/>
                <a:ea typeface="Pretendard"/>
              </a:rPr>
              <a:t>'24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429000"/>
            <a:ext cx="2369667" cy="105156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575304"/>
            <a:ext cx="23696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7A7570"/>
                </a:solidFill>
                <a:latin typeface="Pretendard"/>
                <a:ea typeface="Pretendard"/>
              </a:rPr>
              <a:t>2024 매출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786530"/>
            <a:ext cx="23696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6C5CE7"/>
                </a:solidFill>
                <a:latin typeface="Pretendard"/>
                <a:ea typeface="Pretendard"/>
              </a:rPr>
              <a:t>40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</a:rPr>
              <a:t>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99067" y="3429000"/>
            <a:ext cx="2369667" cy="105156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99067" y="3575304"/>
            <a:ext cx="23696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7A7570"/>
                </a:solidFill>
                <a:latin typeface="Pretendard"/>
                <a:ea typeface="Pretendard"/>
              </a:rPr>
              <a:t>영업이익률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9067" y="3786530"/>
            <a:ext cx="23696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6C5CE7"/>
                </a:solidFill>
                <a:latin typeface="Pretendard"/>
                <a:ea typeface="Pretendard"/>
              </a:rPr>
              <a:t>21.6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</a:rPr>
              <a:t>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617720"/>
            <a:ext cx="2369667" cy="105156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764024"/>
            <a:ext cx="23696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7A7570"/>
                </a:solidFill>
                <a:latin typeface="Pretendard"/>
                <a:ea typeface="Pretendard"/>
              </a:rPr>
              <a:t>CAGR '19~'24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975250"/>
            <a:ext cx="23696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6C5CE7"/>
                </a:solidFill>
                <a:latin typeface="Pretendard"/>
                <a:ea typeface="Pretendard"/>
              </a:rPr>
              <a:t>183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</a:rPr>
              <a:t>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99067" y="4617720"/>
            <a:ext cx="2369667" cy="105156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99067" y="4764024"/>
            <a:ext cx="23696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7A7570"/>
                </a:solidFill>
                <a:latin typeface="Pretendard"/>
                <a:ea typeface="Pretendard"/>
              </a:rPr>
              <a:t>연속 흑자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99067" y="4975250"/>
            <a:ext cx="23696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6C5CE7"/>
                </a:solidFill>
                <a:latin typeface="Pretendard"/>
                <a:ea typeface="Pretendard"/>
              </a:rPr>
              <a:t>6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</a:rPr>
              <a:t>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" y="6327648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>
                <a:solidFill>
                  <a:srgbClr val="7A7570"/>
                </a:solidFill>
                <a:latin typeface="Pretendard"/>
                <a:ea typeface="Pretendard"/>
              </a:rPr>
              <a:t>PHYSICAL AD-TECH NETWORK · BY PROJECT RENT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C5CE7"/>
                </a:solidFill>
                <a:latin typeface="Pretendard"/>
                <a:ea typeface="Pretendard"/>
              </a:rPr>
              <a:t>09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PART 3 · TRACTION —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47548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841248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69264"/>
            <a:ext cx="10545775" cy="581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</a:rPr>
              <a:t>Advertising That Generates Assets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95552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</a:rPr>
              <a:t>광고비는 사라지는 비용이 아니라, 축적되는 자산이 될 수 있다.</a:t>
            </a:r>
            <a:r>
              <a:rPr sz="1350" b="0">
                <a:solidFill>
                  <a:srgbClr val="C9C2BA"/>
                </a:solidFill>
                <a:latin typeface="Pretendard"/>
                <a:ea typeface="Pretendard"/>
              </a:rPr>
              <a:t> 각 캠페인이 성과를 내는 동시에 행동 데이터로 축적된다 — ‘비용 → 자산’ 전환의 실증.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566160"/>
            <a:ext cx="2444419" cy="201168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12463"/>
            <a:ext cx="24444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7A7570"/>
                </a:solidFill>
                <a:latin typeface="Pretendard"/>
                <a:ea typeface="Pretendard"/>
              </a:rPr>
              <a:t>가나초콜릿하우스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50131"/>
            <a:ext cx="24444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6C5CE7"/>
                </a:solidFill>
                <a:latin typeface="Pretendard"/>
                <a:ea typeface="Pretendard"/>
              </a:rPr>
              <a:t>4,500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</a:rPr>
              <a:t>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93792"/>
            <a:ext cx="24444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7A7570"/>
                </a:solidFill>
                <a:latin typeface="Pretendard"/>
                <a:ea typeface="Pretendard"/>
              </a:rPr>
              <a:t>마케팅 효율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3411" y="3566160"/>
            <a:ext cx="2444419" cy="201168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3411" y="3712463"/>
            <a:ext cx="24444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7A7570"/>
                </a:solidFill>
                <a:latin typeface="Pretendard"/>
                <a:ea typeface="Pretendard"/>
              </a:rPr>
              <a:t>Apple TV+ 파친코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3411" y="4250131"/>
            <a:ext cx="24444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6C5CE7"/>
                </a:solidFill>
                <a:latin typeface="Pretendard"/>
                <a:ea typeface="Pretendard"/>
              </a:rPr>
              <a:t>88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</a:rPr>
              <a:t>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3411" y="5193792"/>
            <a:ext cx="24444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7A7570"/>
                </a:solidFill>
                <a:latin typeface="Pretendard"/>
                <a:ea typeface="Pretendard"/>
              </a:rPr>
              <a:t>시청 희망률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863" y="3566160"/>
            <a:ext cx="2444419" cy="201168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3863" y="3712463"/>
            <a:ext cx="24444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7A7570"/>
                </a:solidFill>
                <a:latin typeface="Pretendard"/>
                <a:ea typeface="Pretendard"/>
              </a:rPr>
              <a:t>비욘드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3863" y="4250131"/>
            <a:ext cx="24444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6C5CE7"/>
                </a:solidFill>
                <a:latin typeface="Pretendard"/>
                <a:ea typeface="Pretendard"/>
              </a:rPr>
              <a:t>100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</a:rPr>
              <a:t>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3863" y="5193792"/>
            <a:ext cx="24444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7A7570"/>
                </a:solidFill>
                <a:latin typeface="Pretendard"/>
                <a:ea typeface="Pretendard"/>
              </a:rPr>
              <a:t>재방문 희망률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315" y="3566160"/>
            <a:ext cx="2444419" cy="201168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24315" y="3712463"/>
            <a:ext cx="24444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7A7570"/>
                </a:solidFill>
                <a:latin typeface="Pretendard"/>
                <a:ea typeface="Pretendard"/>
              </a:rPr>
              <a:t>삼성스토어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315" y="4250131"/>
            <a:ext cx="24444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6C5CE7"/>
                </a:solidFill>
                <a:latin typeface="Pretendard"/>
                <a:ea typeface="Pretendard"/>
              </a:rPr>
              <a:t>+44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</a:rPr>
              <a:t>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24315" y="5193792"/>
            <a:ext cx="24444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7A7570"/>
                </a:solidFill>
                <a:latin typeface="Pretendard"/>
                <a:ea typeface="Pretendard"/>
              </a:rPr>
              <a:t>방문객 활성화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80644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850" b="1">
                <a:solidFill>
                  <a:srgbClr val="C9C2BA"/>
                </a:solidFill>
                <a:latin typeface="Pretendard"/>
                <a:ea typeface="Pretendard"/>
              </a:rPr>
              <a:t>계약 기반 1st-party 데이터 프로젝트</a:t>
            </a:r>
            <a:r>
              <a:rPr sz="850" b="0">
                <a:solidFill>
                  <a:srgbClr val="7A7570"/>
                </a:solidFill>
                <a:latin typeface="Pretendard"/>
                <a:ea typeface="Pretendard"/>
              </a:rPr>
              <a:t> — 현대 오픈디자인랩 · 삼성 바스켓스토어 · 애플TV · 가나초콜릿하우스 외. 고객 350+ 팝업·40+ 계약. ※수치 측정정의는 부록.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327648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>
                <a:solidFill>
                  <a:srgbClr val="7A7570"/>
                </a:solidFill>
                <a:latin typeface="Pretendard"/>
                <a:ea typeface="Pretendard"/>
              </a:rPr>
              <a:t>PHYSICAL AD-TECH NETWORK · BY PROJECT RENT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C5CE7"/>
                </a:solidFill>
                <a:latin typeface="Pretendard"/>
                <a:ea typeface="Pretendard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PART 3 · TRACTION —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47548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841248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69264"/>
            <a:ext cx="10545775" cy="581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</a:rPr>
              <a:t>The Perfect Timing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95552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</a:rPr>
              <a:t>네 변곡점이 동시에 열렸다.</a:t>
            </a:r>
            <a:r>
              <a:rPr sz="1350" b="0">
                <a:solidFill>
                  <a:srgbClr val="C9C2BA"/>
                </a:solidFill>
                <a:latin typeface="Pretendard"/>
                <a:ea typeface="Pretendard"/>
              </a:rPr>
              <a:t> 쿠키리스로 퍼스트파티 데이터 가치가 오르고, 리테일미디어가 성장하며, 팝업이 폭발하고, AI 비용이 급락한 지금이 카테고리 선점의 창이다.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383280"/>
            <a:ext cx="2444419" cy="2194560"/>
          </a:xfrm>
          <a:prstGeom prst="roundRect">
            <a:avLst>
              <a:gd name="adj" fmla="val 45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46304" bIns="109728"/>
          <a:lstStyle/>
          <a:p>
            <a:pPr algn="ctr">
              <a:lnSpc>
                <a:spcPct val="120000"/>
              </a:lnSpc>
            </a:pPr>
            <a:r>
              <a:rPr sz="950" b="1">
                <a:solidFill>
                  <a:srgbClr val="A29BFE"/>
                </a:solidFill>
                <a:latin typeface="Pretendard"/>
                <a:ea typeface="Pretendard"/>
              </a:rPr>
              <a:t>01 · 데이터</a:t>
            </a:r>
          </a:p>
          <a:p>
            <a:pPr>
              <a:lnSpc>
                <a:spcPct val="110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</a:rPr>
              <a:t>쿠키리스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웹 ~50% 쿠키리스 + ATT → </a:t>
            </a:r>
            <a:r>
              <a:rPr sz="1050" b="1">
                <a:solidFill>
                  <a:srgbClr val="A29BFE"/>
                </a:solidFill>
                <a:latin typeface="Pretendard"/>
                <a:ea typeface="Pretendard"/>
              </a:rPr>
              <a:t>퍼스트파티·오프라인 가치↑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383280"/>
            <a:ext cx="2444419" cy="32004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23411" y="3383280"/>
            <a:ext cx="2444419" cy="2194560"/>
          </a:xfrm>
          <a:prstGeom prst="roundRect">
            <a:avLst>
              <a:gd name="adj" fmla="val 45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46304" bIns="109728"/>
          <a:lstStyle/>
          <a:p>
            <a:pPr algn="ctr">
              <a:lnSpc>
                <a:spcPct val="120000"/>
              </a:lnSpc>
            </a:pPr>
            <a:r>
              <a:rPr sz="950" b="1">
                <a:solidFill>
                  <a:srgbClr val="A29BFE"/>
                </a:solidFill>
                <a:latin typeface="Pretendard"/>
                <a:ea typeface="Pretendard"/>
              </a:rPr>
              <a:t>02 · 시장</a:t>
            </a:r>
          </a:p>
          <a:p>
            <a:pPr>
              <a:lnSpc>
                <a:spcPct val="110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</a:rPr>
              <a:t>Retail Media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글로벌 </a:t>
            </a:r>
            <a:r>
              <a:rPr sz="1050" b="1">
                <a:solidFill>
                  <a:srgbClr val="A29BFE"/>
                </a:solidFill>
                <a:latin typeface="Pretendard"/>
                <a:ea typeface="Pretendard"/>
              </a:rPr>
              <a:t>2030 $312B · CAGR 11%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3411" y="3383280"/>
            <a:ext cx="2444419" cy="32004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23863" y="3383280"/>
            <a:ext cx="2444419" cy="2194560"/>
          </a:xfrm>
          <a:prstGeom prst="roundRect">
            <a:avLst>
              <a:gd name="adj" fmla="val 45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46304" bIns="109728"/>
          <a:lstStyle/>
          <a:p>
            <a:pPr algn="ctr">
              <a:lnSpc>
                <a:spcPct val="120000"/>
              </a:lnSpc>
            </a:pPr>
            <a:r>
              <a:rPr sz="950" b="1">
                <a:solidFill>
                  <a:srgbClr val="A29BFE"/>
                </a:solidFill>
                <a:latin typeface="Pretendard"/>
                <a:ea typeface="Pretendard"/>
              </a:rPr>
              <a:t>03 · 행동</a:t>
            </a:r>
          </a:p>
          <a:p>
            <a:pPr>
              <a:lnSpc>
                <a:spcPct val="110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</a:rPr>
              <a:t>팝업 폭발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국내 팝업 </a:t>
            </a:r>
            <a:r>
              <a:rPr sz="1050" b="1">
                <a:solidFill>
                  <a:srgbClr val="A29BFE"/>
                </a:solidFill>
                <a:latin typeface="Pretendard"/>
                <a:ea typeface="Pretendard"/>
              </a:rPr>
              <a:t>3,077개 (+80% YoY)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3863" y="3383280"/>
            <a:ext cx="2444419" cy="32004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24315" y="3383280"/>
            <a:ext cx="2444419" cy="2194560"/>
          </a:xfrm>
          <a:prstGeom prst="roundRect">
            <a:avLst>
              <a:gd name="adj" fmla="val 45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46304" bIns="109728"/>
          <a:lstStyle/>
          <a:p>
            <a:pPr algn="ctr">
              <a:lnSpc>
                <a:spcPct val="120000"/>
              </a:lnSpc>
            </a:pPr>
            <a:r>
              <a:rPr sz="950" b="1">
                <a:solidFill>
                  <a:srgbClr val="A29BFE"/>
                </a:solidFill>
                <a:latin typeface="Pretendard"/>
                <a:ea typeface="Pretendard"/>
              </a:rPr>
              <a:t>04 · 기술</a:t>
            </a:r>
          </a:p>
          <a:p>
            <a:pPr>
              <a:lnSpc>
                <a:spcPct val="110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</a:rPr>
              <a:t>AI 발전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행동 데이터 해석 비용 급락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24315" y="3383280"/>
            <a:ext cx="2444419" cy="32004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7607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850" b="1">
                <a:solidFill>
                  <a:srgbClr val="C9C2BA"/>
                </a:solidFill>
                <a:latin typeface="Pretendard"/>
                <a:ea typeface="Pretendard"/>
              </a:rPr>
              <a:t>출처:</a:t>
            </a:r>
            <a:r>
              <a:rPr sz="850" b="0">
                <a:solidFill>
                  <a:srgbClr val="7A7570"/>
                </a:solidFill>
                <a:latin typeface="Pretendard"/>
                <a:ea typeface="Pretendard"/>
              </a:rPr>
              <a:t> Retail Media — Forrester(2025) $184B→$312B (Forrester 고유 정의 · 타 기관 추정 $37~57B). 팝업 3,077개 — 업계 집계(2024).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327648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>
                <a:solidFill>
                  <a:srgbClr val="7A7570"/>
                </a:solidFill>
                <a:latin typeface="Pretendard"/>
                <a:ea typeface="Pretendard"/>
              </a:rPr>
              <a:t>PHYSICAL AD-TECH NETWORK · BY PROJECT RENT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C5CE7"/>
                </a:solidFill>
                <a:latin typeface="Pretendard"/>
                <a:ea typeface="Pretendard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PART 4 ·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47548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841248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69264"/>
            <a:ext cx="10545775" cy="581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</a:rPr>
              <a:t>How We Make Money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95552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</a:rPr>
              <a:t>데이터는 수익원이 아니라, 수익을 강화하는 자산이다.</a:t>
            </a:r>
            <a:r>
              <a:rPr sz="1350" b="0">
                <a:solidFill>
                  <a:srgbClr val="C9C2BA"/>
                </a:solidFill>
                <a:latin typeface="Pretendard"/>
                <a:ea typeface="Pretendard"/>
              </a:rPr>
              <a:t> 같은 데이터가 광고 · 커머스 · 인텔리전스 3중으로 수익화된다. 현 매출 40억은 광고 수익을 중심으로 발생 중.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566160"/>
            <a:ext cx="3344570" cy="2103120"/>
          </a:xfrm>
          <a:prstGeom prst="roundRect">
            <a:avLst>
              <a:gd name="adj" fmla="val 45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/>
            <a:r>
              <a:rPr sz="950" b="1">
                <a:solidFill>
                  <a:srgbClr val="A29BFE"/>
                </a:solidFill>
                <a:latin typeface="Pretendard"/>
                <a:ea typeface="Pretendard"/>
              </a:rPr>
              <a:t>01 · AD REVENUE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F5F0EB"/>
                </a:solidFill>
                <a:latin typeface="Pretendard"/>
                <a:ea typeface="Pretendard"/>
              </a:rPr>
              <a:t>광고 수익</a:t>
            </a: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sz="1100" b="0">
                <a:solidFill>
                  <a:srgbClr val="6C5CE7"/>
                </a:solidFill>
                <a:latin typeface="Pretendard"/>
                <a:ea typeface="Pretendard"/>
              </a:rPr>
              <a:t>•  </a:t>
            </a:r>
            <a:r>
              <a:rPr sz="1150" b="0">
                <a:solidFill>
                  <a:srgbClr val="C9C2BA"/>
                </a:solidFill>
                <a:latin typeface="Pretendard"/>
                <a:ea typeface="Pretendard"/>
              </a:rPr>
              <a:t>광고비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 b="0">
                <a:solidFill>
                  <a:srgbClr val="6C5CE7"/>
                </a:solidFill>
                <a:latin typeface="Pretendard"/>
                <a:ea typeface="Pretendard"/>
              </a:rPr>
              <a:t>•  </a:t>
            </a:r>
            <a:r>
              <a:rPr sz="1150" b="0">
                <a:solidFill>
                  <a:srgbClr val="C9C2BA"/>
                </a:solidFill>
                <a:latin typeface="Pretendard"/>
                <a:ea typeface="Pretendard"/>
              </a:rPr>
              <a:t>프로모션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 b="0">
                <a:solidFill>
                  <a:srgbClr val="6C5CE7"/>
                </a:solidFill>
                <a:latin typeface="Pretendard"/>
                <a:ea typeface="Pretendard"/>
              </a:rPr>
              <a:t>•  </a:t>
            </a:r>
            <a:r>
              <a:rPr sz="1150" b="0">
                <a:solidFill>
                  <a:srgbClr val="C9C2BA"/>
                </a:solidFill>
                <a:latin typeface="Pretendard"/>
                <a:ea typeface="Pretendard"/>
              </a:rPr>
              <a:t>브랜드 캠페인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3562" y="3566160"/>
            <a:ext cx="3344570" cy="2103120"/>
          </a:xfrm>
          <a:prstGeom prst="roundRect">
            <a:avLst>
              <a:gd name="adj" fmla="val 45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/>
            <a:r>
              <a:rPr sz="950" b="1">
                <a:solidFill>
                  <a:srgbClr val="8FA37E"/>
                </a:solidFill>
                <a:latin typeface="Pretendard"/>
                <a:ea typeface="Pretendard"/>
              </a:rPr>
              <a:t>02 · COMMERCE REVENUE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F5F0EB"/>
                </a:solidFill>
                <a:latin typeface="Pretendard"/>
                <a:ea typeface="Pretendard"/>
              </a:rPr>
              <a:t>커머스 수익</a:t>
            </a: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sz="1100" b="0">
                <a:solidFill>
                  <a:srgbClr val="6C5CE7"/>
                </a:solidFill>
                <a:latin typeface="Pretendard"/>
                <a:ea typeface="Pretendard"/>
              </a:rPr>
              <a:t>•  </a:t>
            </a:r>
            <a:r>
              <a:rPr sz="1150" b="0">
                <a:solidFill>
                  <a:srgbClr val="C9C2BA"/>
                </a:solidFill>
                <a:latin typeface="Pretendard"/>
                <a:ea typeface="Pretendard"/>
              </a:rPr>
              <a:t>판매 수수료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 b="0">
                <a:solidFill>
                  <a:srgbClr val="6C5CE7"/>
                </a:solidFill>
                <a:latin typeface="Pretendard"/>
                <a:ea typeface="Pretendard"/>
              </a:rPr>
              <a:t>•  </a:t>
            </a:r>
            <a:r>
              <a:rPr sz="1150" b="0">
                <a:solidFill>
                  <a:srgbClr val="C9C2BA"/>
                </a:solidFill>
                <a:latin typeface="Pretendard"/>
                <a:ea typeface="Pretendard"/>
              </a:rPr>
              <a:t>특약매입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 b="0">
                <a:solidFill>
                  <a:srgbClr val="6C5CE7"/>
                </a:solidFill>
                <a:latin typeface="Pretendard"/>
                <a:ea typeface="Pretendard"/>
              </a:rPr>
              <a:t>•  </a:t>
            </a:r>
            <a:r>
              <a:rPr sz="1150" b="0">
                <a:solidFill>
                  <a:srgbClr val="C9C2BA"/>
                </a:solidFill>
                <a:latin typeface="Pretendard"/>
                <a:ea typeface="Pretendard"/>
              </a:rPr>
              <a:t>위탁판매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4164" y="3566160"/>
            <a:ext cx="3344570" cy="2103120"/>
          </a:xfrm>
          <a:prstGeom prst="roundRect">
            <a:avLst>
              <a:gd name="adj" fmla="val 4500"/>
            </a:avLst>
          </a:prstGeom>
          <a:solidFill>
            <a:srgbClr val="221E33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/>
            <a:r>
              <a:rPr sz="950" b="1">
                <a:solidFill>
                  <a:srgbClr val="A29BFE"/>
                </a:solidFill>
                <a:latin typeface="Pretendard"/>
                <a:ea typeface="Pretendard"/>
              </a:rPr>
              <a:t>03 · INTELLIGENCE REVENUE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F5F0EB"/>
                </a:solidFill>
                <a:latin typeface="Pretendard"/>
                <a:ea typeface="Pretendard"/>
              </a:rPr>
              <a:t>데이터 수익</a:t>
            </a: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sz="1100" b="0">
                <a:solidFill>
                  <a:srgbClr val="6C5CE7"/>
                </a:solidFill>
                <a:latin typeface="Pretendard"/>
                <a:ea typeface="Pretendard"/>
              </a:rPr>
              <a:t>•  </a:t>
            </a:r>
            <a:r>
              <a:rPr sz="1150" b="0">
                <a:solidFill>
                  <a:srgbClr val="C9C2BA"/>
                </a:solidFill>
                <a:latin typeface="Pretendard"/>
                <a:ea typeface="Pretendard"/>
              </a:rPr>
              <a:t>데이터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 b="0">
                <a:solidFill>
                  <a:srgbClr val="6C5CE7"/>
                </a:solidFill>
                <a:latin typeface="Pretendard"/>
                <a:ea typeface="Pretendard"/>
              </a:rPr>
              <a:t>•  </a:t>
            </a:r>
            <a:r>
              <a:rPr sz="1150" b="0">
                <a:solidFill>
                  <a:srgbClr val="C9C2BA"/>
                </a:solidFill>
                <a:latin typeface="Pretendard"/>
                <a:ea typeface="Pretendard"/>
              </a:rPr>
              <a:t>리포트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 b="0">
                <a:solidFill>
                  <a:srgbClr val="6C5CE7"/>
                </a:solidFill>
                <a:latin typeface="Pretendard"/>
                <a:ea typeface="Pretendard"/>
              </a:rPr>
              <a:t>•  </a:t>
            </a:r>
            <a:r>
              <a:rPr sz="1150" b="0">
                <a:solidFill>
                  <a:srgbClr val="C9C2BA"/>
                </a:solidFill>
                <a:latin typeface="Pretendard"/>
                <a:ea typeface="Pretendard"/>
              </a:rPr>
              <a:t>SaaS 구독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327648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>
                <a:solidFill>
                  <a:srgbClr val="7A7570"/>
                </a:solidFill>
                <a:latin typeface="Pretendard"/>
                <a:ea typeface="Pretendard"/>
              </a:rPr>
              <a:t>PHYSICAL AD-TECH NETWORK · BY PROJECT RENT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C5CE7"/>
                </a:solidFill>
                <a:latin typeface="Pretendard"/>
                <a:ea typeface="Pretendard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PART 4 · BUSINESS MODEL — J-CURVE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47548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841248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69264"/>
            <a:ext cx="10545775" cy="581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</a:rPr>
              <a:t>From Advertising to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95552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</a:rPr>
              <a:t>광고에서 시작해 지능으로 끝난다.</a:t>
            </a:r>
            <a:r>
              <a:rPr sz="1350" b="0">
                <a:solidFill>
                  <a:srgbClr val="C9C2BA"/>
                </a:solidFill>
                <a:latin typeface="Pretendard"/>
                <a:ea typeface="Pretendard"/>
              </a:rPr>
              <a:t> 데이터가 쌓일수록 가속하는 비선형 성장. (SaaS 단위지표 NRR·payback은 [확인 필요 · Beta 후])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566160"/>
            <a:ext cx="3344570" cy="2103120"/>
          </a:xfrm>
          <a:prstGeom prst="roundRect">
            <a:avLst>
              <a:gd name="adj" fmla="val 45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3749039"/>
            <a:ext cx="2011680" cy="310896"/>
          </a:xfrm>
          <a:prstGeom prst="roundRect">
            <a:avLst>
              <a:gd name="adj" fmla="val 30000"/>
            </a:avLst>
          </a:prstGeom>
          <a:solidFill>
            <a:srgbClr val="221E33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49039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A29BFE"/>
                </a:solidFill>
                <a:latin typeface="Pretendard"/>
                <a:ea typeface="Pretendard"/>
              </a:rPr>
              <a:t>PHASE 1 · 현재 40억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51960"/>
            <a:ext cx="297881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>
                <a:solidFill>
                  <a:srgbClr val="F5F0EB"/>
                </a:solidFill>
                <a:latin typeface="Pretendard"/>
                <a:ea typeface="Pretendard"/>
              </a:rPr>
              <a:t>Physical Ad Inventory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100" b="0">
                <a:solidFill>
                  <a:srgbClr val="C9C2BA"/>
                </a:solidFill>
                <a:latin typeface="Pretendard"/>
                <a:ea typeface="Pretendard"/>
              </a:rPr>
              <a:t>브랜드가 거점을 광고 지면으로 구매 → 광고·공간 수익. 동시에 행동 데이터 축적.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3562" y="3566160"/>
            <a:ext cx="3344570" cy="2103120"/>
          </a:xfrm>
          <a:prstGeom prst="roundRect">
            <a:avLst>
              <a:gd name="adj" fmla="val 45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06442" y="3749039"/>
            <a:ext cx="1463040" cy="310896"/>
          </a:xfrm>
          <a:prstGeom prst="roundRect">
            <a:avLst>
              <a:gd name="adj" fmla="val 30000"/>
            </a:avLst>
          </a:prstGeom>
          <a:solidFill>
            <a:srgbClr val="1A1A1A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6442" y="3749039"/>
            <a:ext cx="1463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7A7570"/>
                </a:solidFill>
                <a:latin typeface="Pretendard"/>
                <a:ea typeface="Pretendard"/>
              </a:rPr>
              <a:t>PHASE 2 · ’26~’27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6442" y="4251960"/>
            <a:ext cx="297881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>
                <a:solidFill>
                  <a:srgbClr val="F5F0EB"/>
                </a:solidFill>
                <a:latin typeface="Pretendard"/>
                <a:ea typeface="Pretendard"/>
              </a:rPr>
              <a:t>Behavior Data SaaS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100" b="0">
                <a:solidFill>
                  <a:srgbClr val="C9C2BA"/>
                </a:solidFill>
                <a:latin typeface="Pretendard"/>
                <a:ea typeface="Pretendard"/>
              </a:rPr>
              <a:t>취향·행동 데이터를 구독 모델로 — Recurring Revenue.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4164" y="3566160"/>
            <a:ext cx="3344570" cy="2103120"/>
          </a:xfrm>
          <a:prstGeom prst="roundRect">
            <a:avLst>
              <a:gd name="adj" fmla="val 45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07044" y="3749039"/>
            <a:ext cx="1463040" cy="310896"/>
          </a:xfrm>
          <a:prstGeom prst="roundRect">
            <a:avLst>
              <a:gd name="adj" fmla="val 30000"/>
            </a:avLst>
          </a:prstGeom>
          <a:solidFill>
            <a:srgbClr val="1A1A1A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7044" y="3749039"/>
            <a:ext cx="1463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7A7570"/>
                </a:solidFill>
                <a:latin typeface="Pretendard"/>
                <a:ea typeface="Pretendard"/>
              </a:rPr>
              <a:t>PHASE 3 · ’27~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7044" y="4251960"/>
            <a:ext cx="297881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>
                <a:solidFill>
                  <a:srgbClr val="F5F0EB"/>
                </a:solidFill>
                <a:latin typeface="Pretendard"/>
                <a:ea typeface="Pretendard"/>
              </a:rPr>
              <a:t>Commerce Platform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100" b="0">
                <a:solidFill>
                  <a:srgbClr val="C9C2BA"/>
                </a:solidFill>
                <a:latin typeface="Pretendard"/>
                <a:ea typeface="Pretendard"/>
              </a:rPr>
              <a:t>방문자 전용 결제·추천 — Transaction Revenue.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532120"/>
            <a:ext cx="10545775" cy="566928"/>
          </a:xfrm>
          <a:prstGeom prst="rect">
            <a:avLst/>
          </a:prstGeom>
          <a:solidFill>
            <a:srgbClr val="1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5532120"/>
            <a:ext cx="36576" cy="566928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5532120"/>
            <a:ext cx="1008857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C9C2BA"/>
                </a:solidFill>
                <a:latin typeface="Pretendard"/>
                <a:ea typeface="Pretendard"/>
              </a:rPr>
              <a:t>Phase 2는 새 사업이 아니다 — 기업은 </a:t>
            </a:r>
            <a:r>
              <a:rPr sz="1250" b="1">
                <a:solidFill>
                  <a:srgbClr val="A29BFE"/>
                </a:solidFill>
                <a:latin typeface="Pretendard"/>
                <a:ea typeface="Pretendard"/>
              </a:rPr>
              <a:t>이미 계약형으로 우리 데이터를 구매 중</a:t>
            </a:r>
            <a:r>
              <a:rPr sz="1250" b="0">
                <a:solidFill>
                  <a:srgbClr val="C9C2BA"/>
                </a:solidFill>
                <a:latin typeface="Pretendard"/>
                <a:ea typeface="Pretendard"/>
              </a:rPr>
              <a:t>(현대·삼성·애플TV·가나). 이를 구독으로 제품화한다.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327648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>
                <a:solidFill>
                  <a:srgbClr val="7A7570"/>
                </a:solidFill>
                <a:latin typeface="Pretendard"/>
                <a:ea typeface="Pretendard"/>
              </a:rPr>
              <a:t>PHYSICAL AD-TECH NETWORK · BY PROJECT RENT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C5CE7"/>
                </a:solidFill>
                <a:latin typeface="Pretendard"/>
                <a:ea typeface="Pretendard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PART 4 · BUSINESS MODEL — FLYWHEEL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47548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841248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69264"/>
            <a:ext cx="10545775" cy="581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</a:rPr>
              <a:t>The Network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95552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</a:rPr>
              <a:t>더 많은 거점이 더 많은 데이터를 만들고, 더 많은 데이터가 더 많은 브랜드를 부른다.</a:t>
            </a:r>
            <a:r>
              <a:rPr sz="1350" b="0">
                <a:solidFill>
                  <a:srgbClr val="C9C2BA"/>
                </a:solidFill>
                <a:latin typeface="Pretendard"/>
                <a:ea typeface="Pretendard"/>
              </a:rPr>
              <a:t> 선형 성장이 아니라 시간이 갈수록 벌어지는 데이터 네트워크 효과 — 그래서 플랫폼이다.</a:t>
            </a:r>
          </a:p>
        </p:txBody>
      </p:sp>
      <p:sp>
        <p:nvSpPr>
          <p:cNvPr id="8" name="Oval 7"/>
          <p:cNvSpPr/>
          <p:nvPr/>
        </p:nvSpPr>
        <p:spPr>
          <a:xfrm>
            <a:off x="2720340" y="2628900"/>
            <a:ext cx="1143000" cy="1143000"/>
          </a:xfrm>
          <a:prstGeom prst="ellipse">
            <a:avLst/>
          </a:prstGeom>
          <a:solidFill>
            <a:srgbClr val="222222"/>
          </a:solidFill>
          <a:ln w="1587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6C5CE7"/>
                </a:solidFill>
                <a:latin typeface="Pretendard"/>
                <a:ea typeface="Pretendard"/>
              </a:rPr>
              <a:t>01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F5F0EB"/>
                </a:solidFill>
                <a:latin typeface="Pretendard"/>
                <a:ea typeface="Pretendard"/>
              </a:rPr>
              <a:t>거점</a:t>
            </a:r>
          </a:p>
          <a:p>
            <a:pPr algn="ctr">
              <a:spcBef>
                <a:spcPts val="100"/>
              </a:spcBef>
            </a:pPr>
            <a:r>
              <a:rPr sz="750" b="0">
                <a:solidFill>
                  <a:srgbClr val="7A7570"/>
                </a:solidFill>
                <a:latin typeface="Pretendard"/>
                <a:ea typeface="Pretendard"/>
              </a:rPr>
              <a:t>방문이 시작</a:t>
            </a:r>
          </a:p>
        </p:txBody>
      </p:sp>
      <p:sp>
        <p:nvSpPr>
          <p:cNvPr id="9" name="Oval 8"/>
          <p:cNvSpPr/>
          <p:nvPr/>
        </p:nvSpPr>
        <p:spPr>
          <a:xfrm>
            <a:off x="3981326" y="3545060"/>
            <a:ext cx="1143000" cy="1143000"/>
          </a:xfrm>
          <a:prstGeom prst="ellipse">
            <a:avLst/>
          </a:prstGeom>
          <a:solidFill>
            <a:srgbClr val="22222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6C5CE7"/>
                </a:solidFill>
                <a:latin typeface="Pretendard"/>
                <a:ea typeface="Pretendard"/>
              </a:rPr>
              <a:t>02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F5F0EB"/>
                </a:solidFill>
                <a:latin typeface="Pretendard"/>
                <a:ea typeface="Pretendard"/>
              </a:rPr>
              <a:t>행동 데이터</a:t>
            </a:r>
          </a:p>
          <a:p>
            <a:pPr algn="ctr">
              <a:spcBef>
                <a:spcPts val="100"/>
              </a:spcBef>
            </a:pPr>
            <a:r>
              <a:rPr sz="750" b="0">
                <a:solidFill>
                  <a:srgbClr val="7A7570"/>
                </a:solidFill>
                <a:latin typeface="Pretendard"/>
                <a:ea typeface="Pretendard"/>
              </a:rPr>
              <a:t>방문·체류 수집</a:t>
            </a:r>
          </a:p>
        </p:txBody>
      </p:sp>
      <p:sp>
        <p:nvSpPr>
          <p:cNvPr id="10" name="Oval 9"/>
          <p:cNvSpPr/>
          <p:nvPr/>
        </p:nvSpPr>
        <p:spPr>
          <a:xfrm>
            <a:off x="3499672" y="5027439"/>
            <a:ext cx="1143000" cy="1143000"/>
          </a:xfrm>
          <a:prstGeom prst="ellipse">
            <a:avLst/>
          </a:prstGeom>
          <a:solidFill>
            <a:srgbClr val="22222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6C5CE7"/>
                </a:solidFill>
                <a:latin typeface="Pretendard"/>
                <a:ea typeface="Pretendard"/>
              </a:rPr>
              <a:t>03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F5F0EB"/>
                </a:solidFill>
                <a:latin typeface="Pretendard"/>
                <a:ea typeface="Pretendard"/>
              </a:rPr>
              <a:t>AI</a:t>
            </a:r>
          </a:p>
          <a:p>
            <a:pPr algn="ctr">
              <a:spcBef>
                <a:spcPts val="100"/>
              </a:spcBef>
            </a:pPr>
            <a:r>
              <a:rPr sz="750" b="0">
                <a:solidFill>
                  <a:srgbClr val="7A7570"/>
                </a:solidFill>
                <a:latin typeface="Pretendard"/>
                <a:ea typeface="Pretendard"/>
              </a:rPr>
              <a:t>RXR 해석</a:t>
            </a:r>
          </a:p>
        </p:txBody>
      </p:sp>
      <p:sp>
        <p:nvSpPr>
          <p:cNvPr id="11" name="Oval 10"/>
          <p:cNvSpPr/>
          <p:nvPr/>
        </p:nvSpPr>
        <p:spPr>
          <a:xfrm>
            <a:off x="1941007" y="5027439"/>
            <a:ext cx="1143000" cy="1143000"/>
          </a:xfrm>
          <a:prstGeom prst="ellipse">
            <a:avLst/>
          </a:prstGeom>
          <a:solidFill>
            <a:srgbClr val="22222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6C5CE7"/>
                </a:solidFill>
                <a:latin typeface="Pretendard"/>
                <a:ea typeface="Pretendard"/>
              </a:rPr>
              <a:t>04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F5F0EB"/>
                </a:solidFill>
                <a:latin typeface="Pretendard"/>
                <a:ea typeface="Pretendard"/>
              </a:rPr>
              <a:t>광고 효율</a:t>
            </a:r>
          </a:p>
          <a:p>
            <a:pPr algn="ctr">
              <a:spcBef>
                <a:spcPts val="100"/>
              </a:spcBef>
            </a:pPr>
            <a:r>
              <a:rPr sz="750" b="0">
                <a:solidFill>
                  <a:srgbClr val="7A7570"/>
                </a:solidFill>
                <a:latin typeface="Pretendard"/>
                <a:ea typeface="Pretendard"/>
              </a:rPr>
              <a:t>ROAS 증명</a:t>
            </a:r>
          </a:p>
        </p:txBody>
      </p:sp>
      <p:sp>
        <p:nvSpPr>
          <p:cNvPr id="12" name="Oval 11"/>
          <p:cNvSpPr/>
          <p:nvPr/>
        </p:nvSpPr>
        <p:spPr>
          <a:xfrm>
            <a:off x="1459353" y="3545060"/>
            <a:ext cx="1143000" cy="1143000"/>
          </a:xfrm>
          <a:prstGeom prst="ellipse">
            <a:avLst/>
          </a:prstGeom>
          <a:solidFill>
            <a:srgbClr val="22222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6C5CE7"/>
                </a:solidFill>
                <a:latin typeface="Pretendard"/>
                <a:ea typeface="Pretendard"/>
              </a:rPr>
              <a:t>05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F5F0EB"/>
                </a:solidFill>
                <a:latin typeface="Pretendard"/>
                <a:ea typeface="Pretendard"/>
              </a:rPr>
              <a:t>브랜드 유입</a:t>
            </a:r>
          </a:p>
          <a:p>
            <a:pPr algn="ctr">
              <a:spcBef>
                <a:spcPts val="100"/>
              </a:spcBef>
            </a:pPr>
            <a:r>
              <a:rPr sz="750" b="0">
                <a:solidFill>
                  <a:srgbClr val="7A7570"/>
                </a:solidFill>
                <a:latin typeface="Pretendard"/>
                <a:ea typeface="Pretendard"/>
              </a:rPr>
              <a:t>→ 더 많은 거점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429768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6C5CE7"/>
                </a:solidFill>
                <a:latin typeface="Pretendard"/>
                <a:ea typeface="Pretendard"/>
              </a:rPr>
              <a:t>Network Effect</a:t>
            </a:r>
          </a:p>
          <a:p>
            <a:pPr algn="ctr"/>
            <a:r>
              <a:rPr sz="900" b="0">
                <a:solidFill>
                  <a:srgbClr val="7A7570"/>
                </a:solidFill>
                <a:latin typeface="Pretendard"/>
                <a:ea typeface="Pretendard"/>
              </a:rPr>
              <a:t>쓸수록 강해진다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023360"/>
            <a:ext cx="45720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</a:rPr>
              <a:t>더 많은 거점이 더 많은 데이터를 만들고,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</a:rPr>
              <a:t>더 많은 데이터가 </a:t>
            </a:r>
            <a:r>
              <a:rPr sz="1500" b="1">
                <a:solidFill>
                  <a:srgbClr val="6C5CE7"/>
                </a:solidFill>
                <a:latin typeface="Pretendard"/>
                <a:ea typeface="Pretendard"/>
              </a:rPr>
              <a:t>더 많은 브랜드를 부른다.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486400"/>
            <a:ext cx="10545775" cy="566928"/>
          </a:xfrm>
          <a:prstGeom prst="rect">
            <a:avLst/>
          </a:prstGeom>
          <a:solidFill>
            <a:srgbClr val="1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5486400"/>
            <a:ext cx="36576" cy="566928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5486400"/>
            <a:ext cx="1008857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C9C2BA"/>
                </a:solidFill>
                <a:latin typeface="Pretendard"/>
                <a:ea typeface="Pretendard"/>
              </a:rPr>
              <a:t>선형 성장(매장×매출)이 아니라 </a:t>
            </a:r>
            <a:r>
              <a:rPr sz="1250" b="1">
                <a:solidFill>
                  <a:srgbClr val="A29BFE"/>
                </a:solidFill>
                <a:latin typeface="Pretendard"/>
                <a:ea typeface="Pretendard"/>
              </a:rPr>
              <a:t>비선형 성장(데이터 네트워크 효과)</a:t>
            </a:r>
            <a:r>
              <a:rPr sz="1250" b="0">
                <a:solidFill>
                  <a:srgbClr val="C9C2BA"/>
                </a:solidFill>
                <a:latin typeface="Pretendard"/>
                <a:ea typeface="Pretendard"/>
              </a:rPr>
              <a:t>. 시간이 갈수록 벌어지는 해자.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327648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>
                <a:solidFill>
                  <a:srgbClr val="7A7570"/>
                </a:solidFill>
                <a:latin typeface="Pretendard"/>
                <a:ea typeface="Pretendard"/>
              </a:rPr>
              <a:t>PHYSICAL AD-TECH NETWORK · BY PROJECT RENT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C5CE7"/>
                </a:solidFill>
                <a:latin typeface="Pretendard"/>
                <a:ea typeface="Pretendard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PART 4 · BUSINESS MODEL — MARKET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47548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841248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69264"/>
            <a:ext cx="10545775" cy="581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</a:rPr>
              <a:t>The Future of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95552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</a:rPr>
              <a:t>우리는 광고 플랫폼이 아니라, 브랜드가 발견되고 성장하는 인프라를 만든다.</a:t>
            </a:r>
            <a:r>
              <a:rPr sz="1350" b="0">
                <a:solidFill>
                  <a:srgbClr val="C9C2BA"/>
                </a:solidFill>
                <a:latin typeface="Pretendard"/>
                <a:ea typeface="Pretendard"/>
              </a:rPr>
              <a:t> 한국에서 검증한 네트워크를 글로벌 유통 인프라로 — $312B 시장으로 확장하는 10배 스토리.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566160"/>
            <a:ext cx="2599867" cy="173736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4087368"/>
            <a:ext cx="2343835" cy="1042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6C5CE7"/>
                </a:solidFill>
                <a:latin typeface="Pretendard"/>
                <a:ea typeface="Pretendard"/>
              </a:rPr>
              <a:t>01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250" b="1">
                <a:solidFill>
                  <a:srgbClr val="F5F0EB"/>
                </a:solidFill>
                <a:latin typeface="Pretendard"/>
                <a:ea typeface="Pretendard"/>
              </a:rPr>
              <a:t>한국</a:t>
            </a:r>
          </a:p>
          <a:p>
            <a:pPr>
              <a:lnSpc>
                <a:spcPct val="125000"/>
              </a:lnSpc>
              <a:spcBef>
                <a:spcPts val="500"/>
              </a:spcBef>
            </a:pPr>
            <a:r>
              <a:rPr sz="900" b="0">
                <a:solidFill>
                  <a:srgbClr val="7A7570"/>
                </a:solidFill>
                <a:latin typeface="Pretendard"/>
                <a:ea typeface="Pretendard"/>
              </a:rPr>
              <a:t>성수 직영 거점에서 검증 — 350+ 팝업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4811" y="4297679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C5CE7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9403" y="3566160"/>
            <a:ext cx="2599867" cy="173736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3995" y="4087368"/>
            <a:ext cx="2343835" cy="1042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6C5CE7"/>
                </a:solidFill>
                <a:latin typeface="Pretendard"/>
                <a:ea typeface="Pretendard"/>
              </a:rPr>
              <a:t>02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250" b="1">
                <a:solidFill>
                  <a:srgbClr val="F5F0EB"/>
                </a:solidFill>
                <a:latin typeface="Pretendard"/>
                <a:ea typeface="Pretendard"/>
              </a:rPr>
              <a:t>일본</a:t>
            </a:r>
          </a:p>
          <a:p>
            <a:pPr>
              <a:lnSpc>
                <a:spcPct val="125000"/>
              </a:lnSpc>
              <a:spcBef>
                <a:spcPts val="500"/>
              </a:spcBef>
            </a:pPr>
            <a:r>
              <a:rPr sz="900" b="0">
                <a:solidFill>
                  <a:srgbClr val="7A7570"/>
                </a:solidFill>
                <a:latin typeface="Pretendard"/>
                <a:ea typeface="Pretendard"/>
              </a:rPr>
              <a:t>기존 글로벌 실적 (더셀렉츠 도쿄)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1255" y="4297679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C5CE7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5847" y="3566160"/>
            <a:ext cx="2599867" cy="173736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0439" y="4087368"/>
            <a:ext cx="2343835" cy="1042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6C5CE7"/>
                </a:solidFill>
                <a:latin typeface="Pretendard"/>
                <a:ea typeface="Pretendard"/>
              </a:rPr>
              <a:t>03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250" b="1">
                <a:solidFill>
                  <a:srgbClr val="F5F0EB"/>
                </a:solidFill>
                <a:latin typeface="Pretendard"/>
                <a:ea typeface="Pretendard"/>
              </a:rPr>
              <a:t>미국</a:t>
            </a:r>
          </a:p>
          <a:p>
            <a:pPr>
              <a:lnSpc>
                <a:spcPct val="125000"/>
              </a:lnSpc>
              <a:spcBef>
                <a:spcPts val="500"/>
              </a:spcBef>
            </a:pPr>
            <a:r>
              <a:rPr sz="900" b="0">
                <a:solidFill>
                  <a:srgbClr val="7A7570"/>
                </a:solidFill>
                <a:latin typeface="Pretendard"/>
                <a:ea typeface="Pretendard"/>
              </a:rPr>
              <a:t>Apple TV+ 파친코 등 글로벌 IP 협업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7699" y="4297679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C5CE7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32291" y="3566160"/>
            <a:ext cx="2599867" cy="173736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96883" y="4087368"/>
            <a:ext cx="2343835" cy="1042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6C5CE7"/>
                </a:solidFill>
                <a:latin typeface="Pretendard"/>
                <a:ea typeface="Pretendard"/>
              </a:rPr>
              <a:t>04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250" b="1">
                <a:solidFill>
                  <a:srgbClr val="F5F0EB"/>
                </a:solidFill>
                <a:latin typeface="Pretendard"/>
                <a:ea typeface="Pretendard"/>
              </a:rPr>
              <a:t>글로벌 네트워크</a:t>
            </a:r>
          </a:p>
          <a:p>
            <a:pPr>
              <a:lnSpc>
                <a:spcPct val="125000"/>
              </a:lnSpc>
              <a:spcBef>
                <a:spcPts val="500"/>
              </a:spcBef>
            </a:pPr>
            <a:r>
              <a:rPr sz="900" b="0">
                <a:solidFill>
                  <a:srgbClr val="7A7570"/>
                </a:solidFill>
                <a:latin typeface="Pretendard"/>
                <a:ea typeface="Pretendard"/>
              </a:rPr>
              <a:t>발견·성장·유통이 일어나는 인프라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6327648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>
                <a:solidFill>
                  <a:srgbClr val="7A7570"/>
                </a:solidFill>
                <a:latin typeface="Pretendard"/>
                <a:ea typeface="Pretendard"/>
              </a:rPr>
              <a:t>PHYSICAL AD-TECH NETWORK · BY PROJECT RENT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C5CE7"/>
                </a:solidFill>
                <a:latin typeface="Pretendard"/>
                <a:ea typeface="Pretendard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PART 5 · WHY WE WIN —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47548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841248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69264"/>
            <a:ext cx="10545775" cy="581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</a:rPr>
              <a:t>Everyone Measures. We Operate.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95552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</a:rPr>
              <a:t>경쟁자는 발자국을 측정한다. 우리는 발자국이 생기는 현장을 운영한다.</a:t>
            </a:r>
            <a:r>
              <a:rPr sz="1350" b="0">
                <a:solidFill>
                  <a:srgbClr val="C9C2BA"/>
                </a:solidFill>
                <a:latin typeface="Pretendard"/>
                <a:ea typeface="Pretendard"/>
              </a:rPr>
              <a:t> 측정만 하는 회사, 자사 채널에 갇힌 RMN과 달리 — 우리는 350+ 현장을 직접 소유·운영하며 1st-party 데이터를 생성한다.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3383280"/>
          <a:ext cx="1054577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103120"/>
                <a:gridCol w="2103120"/>
                <a:gridCol w="2103120"/>
                <a:gridCol w="2773375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7A7570"/>
                          </a:solidFill>
                          <a:latin typeface="Pretendard"/>
                          <a:ea typeface="Pretendard"/>
                        </a:rPr>
                        <a:t>구분</a:t>
                      </a:r>
                    </a:p>
                  </a:txBody>
                  <a:tcPr marL="118872" marT="27432" marB="27432" anchor="ctr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7A7570"/>
                          </a:solidFill>
                          <a:latin typeface="Pretendard"/>
                          <a:ea typeface="Pretendard"/>
                        </a:rPr>
                        <a:t>Cosmose · 측정류</a:t>
                      </a:r>
                    </a:p>
                  </a:txBody>
                  <a:tcPr marL="118872" marT="27432" marB="27432" anchor="ctr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7A7570"/>
                          </a:solidFill>
                          <a:latin typeface="Pretendard"/>
                          <a:ea typeface="Pretendard"/>
                        </a:rPr>
                        <a:t>대기업 RMN</a:t>
                      </a:r>
                    </a:p>
                  </a:txBody>
                  <a:tcPr marL="118872" marT="27432" marB="27432" anchor="ctr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7A7570"/>
                          </a:solidFill>
                          <a:latin typeface="Pretendard"/>
                          <a:ea typeface="Pretendard"/>
                        </a:rPr>
                        <a:t>in-store 스크린</a:t>
                      </a:r>
                    </a:p>
                  </a:txBody>
                  <a:tcPr marL="118872" marT="27432" marB="27432" anchor="ctr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A29BFE"/>
                          </a:solidFill>
                          <a:latin typeface="Pretendard"/>
                          <a:ea typeface="Pretendard"/>
                        </a:rPr>
                        <a:t>Project Rent</a:t>
                      </a:r>
                    </a:p>
                  </a:txBody>
                  <a:tcPr marL="118872" marT="27432" marB="27432" anchor="ctr">
                    <a:solidFill>
                      <a:srgbClr val="1E1B2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C9C2BA"/>
                          </a:solidFill>
                          <a:latin typeface="Pretendard"/>
                          <a:ea typeface="Pretendard"/>
                        </a:rPr>
                        <a:t>방식</a:t>
                      </a:r>
                    </a:p>
                  </a:txBody>
                  <a:tcPr marL="118872" marT="27432" marB="27432" anchor="ctr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C9C2BA"/>
                          </a:solidFill>
                          <a:latin typeface="Pretendard"/>
                          <a:ea typeface="Pretendard"/>
                        </a:rPr>
                        <a:t>행동 측정만</a:t>
                      </a:r>
                    </a:p>
                  </a:txBody>
                  <a:tcPr marL="118872" marT="27432" marB="27432" anchor="ctr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C9C2BA"/>
                          </a:solidFill>
                          <a:latin typeface="Pretendard"/>
                          <a:ea typeface="Pretendard"/>
                        </a:rPr>
                        <a:t>자사 채널 광고</a:t>
                      </a:r>
                    </a:p>
                  </a:txBody>
                  <a:tcPr marL="118872" marT="27432" marB="27432" anchor="ctr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C9C2BA"/>
                          </a:solidFill>
                          <a:latin typeface="Pretendard"/>
                          <a:ea typeface="Pretendard"/>
                        </a:rPr>
                        <a:t>노출만</a:t>
                      </a:r>
                    </a:p>
                  </a:txBody>
                  <a:tcPr marL="118872" marT="27432" marB="27432" anchor="ctr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5F0EB"/>
                          </a:solidFill>
                          <a:latin typeface="Pretendard"/>
                          <a:ea typeface="Pretendard"/>
                        </a:rPr>
                        <a:t>현장 소유·운영</a:t>
                      </a:r>
                    </a:p>
                  </a:txBody>
                  <a:tcPr marL="118872" marT="27432" marB="27432" anchor="ctr">
                    <a:solidFill>
                      <a:srgbClr val="1E1B2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C9C2BA"/>
                          </a:solidFill>
                          <a:latin typeface="Pretendard"/>
                          <a:ea typeface="Pretendard"/>
                        </a:rPr>
                        <a:t>데이터 소유</a:t>
                      </a:r>
                    </a:p>
                  </a:txBody>
                  <a:tcPr marL="118872" marT="27432" marB="27432" anchor="ctr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C9C2BA"/>
                          </a:solidFill>
                          <a:latin typeface="Pretendard"/>
                          <a:ea typeface="Pretendard"/>
                        </a:rPr>
                        <a:t>외부 의존</a:t>
                      </a:r>
                    </a:p>
                  </a:txBody>
                  <a:tcPr marL="118872" marT="27432" marB="27432" anchor="ctr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C9C2BA"/>
                          </a:solidFill>
                          <a:latin typeface="Pretendard"/>
                          <a:ea typeface="Pretendard"/>
                        </a:rPr>
                        <a:t>자사 한정</a:t>
                      </a:r>
                    </a:p>
                  </a:txBody>
                  <a:tcPr marL="118872" marT="27432" marB="27432" anchor="ctr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C9C2BA"/>
                          </a:solidFill>
                          <a:latin typeface="Pretendard"/>
                          <a:ea typeface="Pretendard"/>
                        </a:rPr>
                        <a:t>없음</a:t>
                      </a:r>
                    </a:p>
                  </a:txBody>
                  <a:tcPr marL="118872" marT="27432" marB="27432" anchor="ctr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5F0EB"/>
                          </a:solidFill>
                          <a:latin typeface="Pretendard"/>
                          <a:ea typeface="Pretendard"/>
                        </a:rPr>
                        <a:t>350+ 현장 생성</a:t>
                      </a:r>
                    </a:p>
                  </a:txBody>
                  <a:tcPr marL="118872" marT="27432" marB="27432" anchor="ctr">
                    <a:solidFill>
                      <a:srgbClr val="1E1B2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C9C2BA"/>
                          </a:solidFill>
                          <a:latin typeface="Pretendard"/>
                          <a:ea typeface="Pretendard"/>
                        </a:rPr>
                        <a:t>1st-party</a:t>
                      </a:r>
                    </a:p>
                  </a:txBody>
                  <a:tcPr marL="118872" marT="27432" marB="27432" anchor="ctr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C9C2BA"/>
                          </a:solidFill>
                          <a:latin typeface="Pretendard"/>
                          <a:ea typeface="Pretendard"/>
                        </a:rPr>
                        <a:t>제한적</a:t>
                      </a:r>
                    </a:p>
                  </a:txBody>
                  <a:tcPr marL="118872" marT="27432" marB="27432" anchor="ctr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C9C2BA"/>
                          </a:solidFill>
                          <a:latin typeface="Pretendard"/>
                          <a:ea typeface="Pretendard"/>
                        </a:rPr>
                        <a:t>자사몰</a:t>
                      </a:r>
                    </a:p>
                  </a:txBody>
                  <a:tcPr marL="118872" marT="27432" marB="27432" anchor="ctr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C9C2BA"/>
                          </a:solidFill>
                          <a:latin typeface="Pretendard"/>
                          <a:ea typeface="Pretendard"/>
                        </a:rPr>
                        <a:t>없음</a:t>
                      </a:r>
                    </a:p>
                  </a:txBody>
                  <a:tcPr marL="118872" marT="27432" marB="27432" anchor="ctr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5F0EB"/>
                          </a:solidFill>
                          <a:latin typeface="Pretendard"/>
                          <a:ea typeface="Pretendard"/>
                        </a:rPr>
                        <a:t>오프라인 1st-party</a:t>
                      </a:r>
                    </a:p>
                  </a:txBody>
                  <a:tcPr marL="118872" marT="27432" marB="27432" anchor="ctr">
                    <a:solidFill>
                      <a:srgbClr val="1E1B2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C9C2BA"/>
                          </a:solidFill>
                          <a:latin typeface="Pretendard"/>
                          <a:ea typeface="Pretendard"/>
                        </a:rPr>
                        <a:t>현장</a:t>
                      </a:r>
                    </a:p>
                  </a:txBody>
                  <a:tcPr marL="118872" marT="27432" marB="27432" anchor="ctr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C9C2BA"/>
                          </a:solidFill>
                          <a:latin typeface="Pretendard"/>
                          <a:ea typeface="Pretendard"/>
                        </a:rPr>
                        <a:t>미소유</a:t>
                      </a:r>
                    </a:p>
                  </a:txBody>
                  <a:tcPr marL="118872" marT="27432" marB="27432" anchor="ctr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C9C2BA"/>
                          </a:solidFill>
                          <a:latin typeface="Pretendard"/>
                          <a:ea typeface="Pretendard"/>
                        </a:rPr>
                        <a:t>자사 매장</a:t>
                      </a:r>
                    </a:p>
                  </a:txBody>
                  <a:tcPr marL="118872" marT="27432" marB="27432" anchor="ctr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C9C2BA"/>
                          </a:solidFill>
                          <a:latin typeface="Pretendard"/>
                          <a:ea typeface="Pretendard"/>
                        </a:rPr>
                        <a:t>임대 면적</a:t>
                      </a:r>
                    </a:p>
                  </a:txBody>
                  <a:tcPr marL="118872" marT="27432" marB="27432" anchor="ctr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5F0EB"/>
                          </a:solidFill>
                          <a:latin typeface="Pretendard"/>
                          <a:ea typeface="Pretendard"/>
                        </a:rPr>
                        <a:t>직영 8 + 350+</a:t>
                      </a:r>
                    </a:p>
                  </a:txBody>
                  <a:tcPr marL="118872" marT="27432" marB="27432" anchor="ctr">
                    <a:solidFill>
                      <a:srgbClr val="1E1B2E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22960" y="5650992"/>
            <a:ext cx="10545775" cy="457200"/>
          </a:xfrm>
          <a:prstGeom prst="rect">
            <a:avLst/>
          </a:prstGeom>
          <a:solidFill>
            <a:srgbClr val="1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5650992"/>
            <a:ext cx="36576" cy="4572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5650992"/>
            <a:ext cx="1008857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C9C2BA"/>
                </a:solidFill>
                <a:latin typeface="Pretendard"/>
                <a:ea typeface="Pretendard"/>
              </a:rPr>
              <a:t>카테고리에 </a:t>
            </a:r>
            <a:r>
              <a:rPr sz="1250" b="1">
                <a:solidFill>
                  <a:srgbClr val="A29BFE"/>
                </a:solidFill>
                <a:latin typeface="Pretendard"/>
                <a:ea typeface="Pretendard"/>
              </a:rPr>
              <a:t>현장을 소유·운영하는 네트워크형 승자는 아직 없다</a:t>
            </a:r>
            <a:r>
              <a:rPr sz="1250" b="0">
                <a:solidFill>
                  <a:srgbClr val="C9C2BA"/>
                </a:solidFill>
                <a:latin typeface="Pretendard"/>
                <a:ea typeface="Pretendard"/>
              </a:rPr>
              <a:t> — 우리가 그 자리를 만든다.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327648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>
                <a:solidFill>
                  <a:srgbClr val="7A7570"/>
                </a:solidFill>
                <a:latin typeface="Pretendard"/>
                <a:ea typeface="Pretendard"/>
              </a:rPr>
              <a:t>PHYSICAL AD-TECH NETWORK · BY PROJECT RENT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C5CE7"/>
                </a:solidFill>
                <a:latin typeface="Pretendard"/>
                <a:ea typeface="Pretendard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PART 5 · WHY WE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47548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841248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69264"/>
            <a:ext cx="10545775" cy="581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</a:rPr>
              <a:t>Why Project Rent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95552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</a:rPr>
              <a:t>비전을 가진 회사는 많지만, 우리는 이미 비전의 일부를 운영하고 있다.</a:t>
            </a:r>
            <a:r>
              <a:rPr sz="1350" b="0">
                <a:solidFill>
                  <a:srgbClr val="C9C2BA"/>
                </a:solidFill>
                <a:latin typeface="Pretendard"/>
                <a:ea typeface="Pretendard"/>
              </a:rPr>
              <a:t> 기획·공간·F&amp;B·운영·판매·데이터를 한 몸으로 실행하는 풀스택 — 분석만, 중개만 하는 곳과 다른 희소함.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611880"/>
            <a:ext cx="10545775" cy="91440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76732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7A7570"/>
                </a:solidFill>
                <a:latin typeface="Pretendard"/>
                <a:ea typeface="Pretendard"/>
              </a:rPr>
              <a:t>통합 역량 (풀스택)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114800"/>
            <a:ext cx="740664" cy="347472"/>
          </a:xfrm>
          <a:prstGeom prst="roundRect">
            <a:avLst>
              <a:gd name="adj" fmla="val 30000"/>
            </a:avLst>
          </a:prstGeom>
          <a:solidFill>
            <a:srgbClr val="221E33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114800"/>
            <a:ext cx="74066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A29BFE"/>
                </a:solidFill>
                <a:latin typeface="Pretendard"/>
                <a:ea typeface="Pretendard"/>
              </a:rPr>
              <a:t>기획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4114800"/>
            <a:ext cx="740664" cy="347472"/>
          </a:xfrm>
          <a:prstGeom prst="roundRect">
            <a:avLst>
              <a:gd name="adj" fmla="val 30000"/>
            </a:avLst>
          </a:prstGeom>
          <a:solidFill>
            <a:srgbClr val="221E33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4114800"/>
            <a:ext cx="74066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A29BFE"/>
                </a:solidFill>
                <a:latin typeface="Pretendard"/>
                <a:ea typeface="Pretendard"/>
              </a:rPr>
              <a:t>공간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4114800"/>
            <a:ext cx="859536" cy="347472"/>
          </a:xfrm>
          <a:prstGeom prst="roundRect">
            <a:avLst>
              <a:gd name="adj" fmla="val 30000"/>
            </a:avLst>
          </a:prstGeom>
          <a:solidFill>
            <a:srgbClr val="221E33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4114800"/>
            <a:ext cx="8595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A29BFE"/>
                </a:solidFill>
                <a:latin typeface="Pretendard"/>
                <a:ea typeface="Pretendard"/>
              </a:rPr>
              <a:t>F&amp;B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22191" y="4114800"/>
            <a:ext cx="740664" cy="347472"/>
          </a:xfrm>
          <a:prstGeom prst="roundRect">
            <a:avLst>
              <a:gd name="adj" fmla="val 30000"/>
            </a:avLst>
          </a:prstGeom>
          <a:solidFill>
            <a:srgbClr val="221E33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22191" y="4114800"/>
            <a:ext cx="74066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A29BFE"/>
                </a:solidFill>
                <a:latin typeface="Pretendard"/>
                <a:ea typeface="Pretendard"/>
              </a:rPr>
              <a:t>운영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0872" y="4114800"/>
            <a:ext cx="740664" cy="347472"/>
          </a:xfrm>
          <a:prstGeom prst="roundRect">
            <a:avLst>
              <a:gd name="adj" fmla="val 30000"/>
            </a:avLst>
          </a:prstGeom>
          <a:solidFill>
            <a:srgbClr val="221E33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90872" y="4114800"/>
            <a:ext cx="74066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A29BFE"/>
                </a:solidFill>
                <a:latin typeface="Pretendard"/>
                <a:ea typeface="Pretendard"/>
              </a:rPr>
              <a:t>판매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59552" y="4114800"/>
            <a:ext cx="859536" cy="347472"/>
          </a:xfrm>
          <a:prstGeom prst="roundRect">
            <a:avLst>
              <a:gd name="adj" fmla="val 30000"/>
            </a:avLst>
          </a:prstGeom>
          <a:solidFill>
            <a:srgbClr val="221E33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59552" y="4114800"/>
            <a:ext cx="8595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A29BFE"/>
                </a:solidFill>
                <a:latin typeface="Pretendard"/>
                <a:ea typeface="Pretendard"/>
              </a:rPr>
              <a:t>데이터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846320"/>
            <a:ext cx="1054577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6C5CE7"/>
                </a:solidFill>
                <a:latin typeface="Pretendard"/>
                <a:ea typeface="Pretendard"/>
              </a:rPr>
              <a:t>•  </a:t>
            </a:r>
            <a:r>
              <a:rPr sz="1300" b="1">
                <a:solidFill>
                  <a:srgbClr val="F5F0EB"/>
                </a:solidFill>
                <a:latin typeface="Pretendard"/>
                <a:ea typeface="Pretendard"/>
              </a:rPr>
              <a:t>풀스택 동시 실행은 희소하다.</a:t>
            </a:r>
            <a:r>
              <a:rPr sz="1300" b="0">
                <a:solidFill>
                  <a:srgbClr val="C9C2BA"/>
                </a:solidFill>
                <a:latin typeface="Pretendard"/>
                <a:ea typeface="Pretendard"/>
              </a:rPr>
              <a:t> 기획부터 데이터까지 한 팀이 한 흐름으로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200" b="1">
                <a:solidFill>
                  <a:srgbClr val="6C5CE7"/>
                </a:solidFill>
                <a:latin typeface="Pretendard"/>
                <a:ea typeface="Pretendard"/>
              </a:rPr>
              <a:t>•  </a:t>
            </a:r>
            <a:r>
              <a:rPr sz="1300" b="1">
                <a:solidFill>
                  <a:srgbClr val="F5F0EB"/>
                </a:solidFill>
                <a:latin typeface="Pretendard"/>
                <a:ea typeface="Pretendard"/>
              </a:rPr>
              <a:t>분석만 하는 곳과 다르다.</a:t>
            </a:r>
            <a:r>
              <a:rPr sz="1300" b="0">
                <a:solidFill>
                  <a:srgbClr val="C9C2BA"/>
                </a:solidFill>
                <a:latin typeface="Pretendard"/>
                <a:ea typeface="Pretendard"/>
              </a:rPr>
              <a:t> 데이터가 태어나는 현장을 소유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200" b="1">
                <a:solidFill>
                  <a:srgbClr val="6C5CE7"/>
                </a:solidFill>
                <a:latin typeface="Pretendard"/>
                <a:ea typeface="Pretendard"/>
              </a:rPr>
              <a:t>•  </a:t>
            </a:r>
            <a:r>
              <a:rPr sz="1300" b="1">
                <a:solidFill>
                  <a:srgbClr val="F5F0EB"/>
                </a:solidFill>
                <a:latin typeface="Pretendard"/>
                <a:ea typeface="Pretendard"/>
              </a:rPr>
              <a:t>중개만 하는 곳과 다르다.</a:t>
            </a:r>
            <a:r>
              <a:rPr sz="1300" b="0">
                <a:solidFill>
                  <a:srgbClr val="C9C2BA"/>
                </a:solidFill>
                <a:latin typeface="Pretendard"/>
                <a:ea typeface="Pretendard"/>
              </a:rPr>
              <a:t> 공간을 운영하며 행동·구매까지 연결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327648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>
                <a:solidFill>
                  <a:srgbClr val="7A7570"/>
                </a:solidFill>
                <a:latin typeface="Pretendard"/>
                <a:ea typeface="Pretendard"/>
              </a:rPr>
              <a:t>PHYSICAL AD-TECH NETWORK · BY PROJECT RENT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C5CE7"/>
                </a:solidFill>
                <a:latin typeface="Pretendard"/>
                <a:ea typeface="Pretendard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PART 5 · WHY WE WIN —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47548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841248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69264"/>
            <a:ext cx="10545775" cy="581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</a:rPr>
              <a:t>Built by Operators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95552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</a:rPr>
              <a:t>우리는 컨설턴트가 아니라 운영자다.</a:t>
            </a:r>
            <a:r>
              <a:rPr sz="1350" b="0">
                <a:solidFill>
                  <a:srgbClr val="C9C2BA"/>
                </a:solidFill>
                <a:latin typeface="Pretendard"/>
                <a:ea typeface="Pretendard"/>
              </a:rPr>
              <a:t> 350+ 팝업·40+ 기업 계약으로 오프라인 리테일 시장을 직접 만든 팀 — 비전을 말하는 게 아니라 운영해 왔다.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566160"/>
            <a:ext cx="3931920" cy="219456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794760"/>
            <a:ext cx="3383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A29BFE"/>
                </a:solidFill>
                <a:latin typeface="Pretendard"/>
                <a:ea typeface="Pretendard"/>
              </a:rPr>
              <a:t>FOUNDER · CEO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F5F0EB"/>
                </a:solidFill>
                <a:latin typeface="Pretendard"/>
                <a:ea typeface="Pretendard"/>
              </a:rPr>
              <a:t>최원석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200" b="0">
                <a:solidFill>
                  <a:srgbClr val="C9C2BA"/>
                </a:solidFill>
                <a:latin typeface="Pretendard"/>
                <a:ea typeface="Pretendard"/>
              </a:rPr>
              <a:t>산업디자이너 → 대기업 브랜더 → 필라멘트앤코 → 프로젝트렌트. 공간·브랜드·비즈니스를 잇는 </a:t>
            </a:r>
            <a:r>
              <a:rPr sz="1200" b="1">
                <a:solidFill>
                  <a:srgbClr val="A29BFE"/>
                </a:solidFill>
                <a:latin typeface="Pretendard"/>
                <a:ea typeface="Pretendard"/>
              </a:rPr>
              <a:t>비즈니스 디자이너</a:t>
            </a:r>
            <a:r>
              <a:rPr sz="1200" b="0">
                <a:solidFill>
                  <a:srgbClr val="C9C2BA"/>
                </a:solidFill>
                <a:latin typeface="Pretendard"/>
                <a:ea typeface="Pretendard"/>
              </a:rPr>
              <a:t>. "성수동의 스티브 잡스"(KBS).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3566160"/>
            <a:ext cx="3055467" cy="1051560"/>
          </a:xfrm>
          <a:prstGeom prst="roundRect">
            <a:avLst>
              <a:gd name="adj" fmla="val 45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46304" bIns="109728"/>
          <a:lstStyle/>
          <a:p>
            <a:pPr algn="ctr">
              <a:lnSpc>
                <a:spcPct val="120000"/>
              </a:lnSpc>
            </a:pPr>
            <a:r>
              <a:rPr sz="950" b="1">
                <a:solidFill>
                  <a:srgbClr val="A29BFE"/>
                </a:solidFill>
                <a:latin typeface="Pretendard"/>
                <a:ea typeface="Pretendard"/>
              </a:rPr>
              <a:t>CTO</a:t>
            </a:r>
          </a:p>
          <a:p>
            <a:pPr>
              <a:lnSpc>
                <a:spcPct val="110000"/>
              </a:lnSpc>
            </a:pPr>
            <a:r>
              <a:rPr sz="1400" b="1">
                <a:solidFill>
                  <a:srgbClr val="F5F0EB"/>
                </a:solidFill>
                <a:latin typeface="Pretendard"/>
                <a:ea typeface="Pretendard"/>
              </a:rPr>
              <a:t>전 퓨리오사 출신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Physical AI 엔진 리드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13267" y="3566160"/>
            <a:ext cx="3055467" cy="1051560"/>
          </a:xfrm>
          <a:prstGeom prst="roundRect">
            <a:avLst>
              <a:gd name="adj" fmla="val 45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46304" bIns="109728"/>
          <a:lstStyle/>
          <a:p>
            <a:pPr algn="ctr">
              <a:lnSpc>
                <a:spcPct val="120000"/>
              </a:lnSpc>
            </a:pPr>
            <a:r>
              <a:rPr sz="950" b="1">
                <a:solidFill>
                  <a:srgbClr val="A29BFE"/>
                </a:solidFill>
                <a:latin typeface="Pretendard"/>
                <a:ea typeface="Pretendard"/>
              </a:rPr>
              <a:t>ADVISORY</a:t>
            </a:r>
          </a:p>
          <a:p>
            <a:pPr>
              <a:lnSpc>
                <a:spcPct val="110000"/>
              </a:lnSpc>
            </a:pPr>
            <a:r>
              <a:rPr sz="1400" b="1">
                <a:solidFill>
                  <a:srgbClr val="F5F0EB"/>
                </a:solidFill>
                <a:latin typeface="Pretendard"/>
                <a:ea typeface="Pretendard"/>
              </a:rPr>
              <a:t>행동과학 R&amp;D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행동·취향 모델링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4709160"/>
            <a:ext cx="6339535" cy="1051560"/>
          </a:xfrm>
          <a:prstGeom prst="roundRect">
            <a:avLst>
              <a:gd name="adj" fmla="val 45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46304" bIns="109728"/>
          <a:lstStyle/>
          <a:p>
            <a:pPr algn="ctr">
              <a:lnSpc>
                <a:spcPct val="120000"/>
              </a:lnSpc>
            </a:pPr>
            <a:r>
              <a:rPr sz="950" b="1">
                <a:solidFill>
                  <a:srgbClr val="A29BFE"/>
                </a:solidFill>
                <a:latin typeface="Pretendard"/>
                <a:ea typeface="Pretendard"/>
              </a:rPr>
              <a:t>조직</a:t>
            </a:r>
          </a:p>
          <a:p>
            <a:pPr>
              <a:lnSpc>
                <a:spcPct val="110000"/>
              </a:lnSpc>
            </a:pPr>
            <a:r>
              <a:rPr sz="1400" b="1">
                <a:solidFill>
                  <a:srgbClr val="F5F0EB"/>
                </a:solidFill>
                <a:latin typeface="Pretendard"/>
                <a:ea typeface="Pretendard"/>
              </a:rPr>
              <a:t>6명 · 전원 AX · 인당 6.7억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미디어: KBS · 메종코리아 · 롱블랙. 소수 정예 운영 조직.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327648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>
                <a:solidFill>
                  <a:srgbClr val="7A7570"/>
                </a:solidFill>
                <a:latin typeface="Pretendard"/>
                <a:ea typeface="Pretendard"/>
              </a:rPr>
              <a:t>PHYSICAL AD-TECH NETWORK · BY PROJECT 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C5CE7"/>
                </a:solidFill>
                <a:latin typeface="Pretendard"/>
                <a:ea typeface="Pretendard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PART 5 · WHY WE WIN — 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47548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841248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69264"/>
            <a:ext cx="10545775" cy="581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</a:rPr>
              <a:t>What You're Actually Buying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95552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</a:rPr>
              <a:t>에이전시 경제가 데이터 자산을 키운다. 이 라운드는 그 자산이 SaaS가 되는 순간을 산다.</a:t>
            </a:r>
            <a:r>
              <a:rPr sz="1350" b="0">
                <a:solidFill>
                  <a:srgbClr val="C9C2BA"/>
                </a:solidFill>
                <a:latin typeface="Pretendard"/>
                <a:ea typeface="Pretendard"/>
              </a:rPr>
              <a:t> 40억 에이전시 가격이 아니라, 흑자로 굴러가며 1st-party 데이터를 쌓는 회사의 옵션 가치다.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566160"/>
            <a:ext cx="3344570" cy="2103120"/>
          </a:xfrm>
          <a:prstGeom prst="roundRect">
            <a:avLst>
              <a:gd name="adj" fmla="val 45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 rIns="146304"/>
          <a:lstStyle/>
          <a:p>
            <a:pPr algn="ctr"/>
            <a:r>
              <a:rPr sz="950" b="1">
                <a:solidFill>
                  <a:srgbClr val="7A7570"/>
                </a:solidFill>
                <a:latin typeface="Pretendard"/>
                <a:ea typeface="Pretendard"/>
              </a:rPr>
              <a:t>① 하방 — 닫혔다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F5F0EB"/>
                </a:solidFill>
                <a:latin typeface="Pretendard"/>
                <a:ea typeface="Pretendard"/>
              </a:rPr>
              <a:t>40억 흑자 사업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050" b="0">
                <a:solidFill>
                  <a:srgbClr val="C9C2BA"/>
                </a:solidFill>
                <a:latin typeface="Pretendard"/>
                <a:ea typeface="Pretendard"/>
              </a:rPr>
              <a:t>6년 연속 흑자·영업이익률 21.6%가 데이터 자산을 자가 생성. 다운사이드가 닫혀 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3562" y="3566160"/>
            <a:ext cx="3344570" cy="2103120"/>
          </a:xfrm>
          <a:prstGeom prst="roundRect">
            <a:avLst>
              <a:gd name="adj" fmla="val 45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 rIns="146304"/>
          <a:lstStyle/>
          <a:p>
            <a:pPr algn="ctr"/>
            <a:r>
              <a:rPr sz="950" b="1">
                <a:solidFill>
                  <a:srgbClr val="7A7570"/>
                </a:solidFill>
                <a:latin typeface="Pretendard"/>
                <a:ea typeface="Pretendard"/>
              </a:rPr>
              <a:t>② 자산 — 독점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F5F0EB"/>
                </a:solidFill>
                <a:latin typeface="Pretendard"/>
                <a:ea typeface="Pretendard"/>
              </a:rPr>
              <a:t>1st-party 데이터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050" b="0">
                <a:solidFill>
                  <a:srgbClr val="C9C2BA"/>
                </a:solidFill>
                <a:latin typeface="Pretendard"/>
                <a:ea typeface="Pretendard"/>
              </a:rPr>
              <a:t>350+ 현장 · 40+ 계약에서 나오는, 아무도 못 만드는 오프라인 행동 데이터.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4164" y="3566160"/>
            <a:ext cx="3344570" cy="2103120"/>
          </a:xfrm>
          <a:prstGeom prst="roundRect">
            <a:avLst>
              <a:gd name="adj" fmla="val 4500"/>
            </a:avLst>
          </a:prstGeom>
          <a:solidFill>
            <a:srgbClr val="221E33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 rIns="146304"/>
          <a:lstStyle/>
          <a:p>
            <a:pPr algn="ctr"/>
            <a:r>
              <a:rPr sz="950" b="1">
                <a:solidFill>
                  <a:srgbClr val="A29BFE"/>
                </a:solidFill>
                <a:latin typeface="Pretendard"/>
                <a:ea typeface="Pretendard"/>
              </a:rPr>
              <a:t>③ 상방 — 열렸다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F5F0EB"/>
                </a:solidFill>
                <a:latin typeface="Pretendard"/>
                <a:ea typeface="Pretendard"/>
              </a:rPr>
              <a:t>데이터 SaaS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050" b="0">
                <a:solidFill>
                  <a:srgbClr val="C9C2BA"/>
                </a:solidFill>
                <a:latin typeface="Pretendard"/>
                <a:ea typeface="Pretendard"/>
              </a:rPr>
              <a:t>이미 계약형으로 팔리는 데이터를 구독 제품화 — 여기가 당신이 사는 업사이드.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669280"/>
            <a:ext cx="10545775" cy="457200"/>
          </a:xfrm>
          <a:prstGeom prst="rect">
            <a:avLst/>
          </a:prstGeom>
          <a:solidFill>
            <a:srgbClr val="1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5669280"/>
            <a:ext cx="36576" cy="4572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5669280"/>
            <a:ext cx="1008857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C9C2BA"/>
                </a:solidFill>
                <a:latin typeface="Pretendard"/>
                <a:ea typeface="Pretendard"/>
              </a:rPr>
              <a:t>Pre 200억 = 하방 닫힌 흑자 사업 + 상방 열린 데이터 SaaS의 </a:t>
            </a:r>
            <a:r>
              <a:rPr sz="1250" b="1">
                <a:solidFill>
                  <a:srgbClr val="A29BFE"/>
                </a:solidFill>
                <a:latin typeface="Pretendard"/>
                <a:ea typeface="Pretendard"/>
              </a:rPr>
              <a:t>비대칭 베팅</a:t>
            </a:r>
            <a:r>
              <a:rPr sz="1250" b="0">
                <a:solidFill>
                  <a:srgbClr val="C9C2BA"/>
                </a:solidFill>
                <a:latin typeface="Pretendard"/>
                <a:ea typeface="Pretendard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327648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>
                <a:solidFill>
                  <a:srgbClr val="7A7570"/>
                </a:solidFill>
                <a:latin typeface="Pretendard"/>
                <a:ea typeface="Pretendard"/>
              </a:rPr>
              <a:t>PHYSICAL AD-TECH NETWORK · BY PROJECT RENT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C5CE7"/>
                </a:solidFill>
                <a:latin typeface="Pretendard"/>
                <a:ea typeface="Pretendard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PART 5 · WHY WE WIN — INVESTMENT &amp;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47548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7A7570"/>
                </a:solidFill>
                <a:latin typeface="Pretendard"/>
                <a:ea typeface="Pretendard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841248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69264"/>
            <a:ext cx="10545775" cy="581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</a:rPr>
              <a:t>Building the Offline Data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95552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</a:rPr>
              <a:t>Google은 웹을 인덱싱했다. 우리는 현실 세계의 소비 행동을 인덱싱한다.</a:t>
            </a:r>
            <a:r>
              <a:rPr sz="1350" b="0">
                <a:solidFill>
                  <a:srgbClr val="C9C2BA"/>
                </a:solidFill>
                <a:latin typeface="Pretendard"/>
                <a:ea typeface="Pretendard"/>
              </a:rPr>
              <a:t> 우리는 광고를 측정하는 회사가 아니라, 사람의 행동을 측정하는 회사입니다.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7A7570"/>
                </a:solidFill>
                <a:latin typeface="Pretendard"/>
                <a:ea typeface="Pretendard"/>
              </a:rPr>
              <a:t>THE ASK · 자금 사용처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2103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>
                <a:solidFill>
                  <a:srgbClr val="F5F0EB"/>
                </a:solidFill>
                <a:latin typeface="Pretendard"/>
                <a:ea typeface="Pretendard"/>
              </a:rPr>
              <a:t>RXR 엔진 · 데이터 인프라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3858768"/>
            <a:ext cx="2103120" cy="219456"/>
          </a:xfrm>
          <a:prstGeom prst="rect">
            <a:avLst/>
          </a:prstGeom>
          <a:solidFill>
            <a:srgbClr val="22222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17520" y="3858768"/>
            <a:ext cx="841248" cy="219456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3840480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6C5CE7"/>
                </a:solidFill>
                <a:latin typeface="Pretendard"/>
                <a:ea typeface="Pretendard"/>
              </a:rPr>
              <a:t>8억 (40%)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61104"/>
            <a:ext cx="2103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>
                <a:solidFill>
                  <a:srgbClr val="F5F0EB"/>
                </a:solidFill>
                <a:latin typeface="Pretendard"/>
                <a:ea typeface="Pretendard"/>
              </a:rPr>
              <a:t>거점 · 커머스 확장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4279392"/>
            <a:ext cx="2103120" cy="219456"/>
          </a:xfrm>
          <a:prstGeom prst="rect">
            <a:avLst/>
          </a:prstGeom>
          <a:solidFill>
            <a:srgbClr val="22222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17520" y="4279392"/>
            <a:ext cx="525780" cy="219456"/>
          </a:xfrm>
          <a:prstGeom prst="rect">
            <a:avLst/>
          </a:prstGeom>
          <a:solidFill>
            <a:srgbClr val="8FA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4261104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8FA37E"/>
                </a:solidFill>
                <a:latin typeface="Pretendard"/>
                <a:ea typeface="Pretendard"/>
              </a:rPr>
              <a:t>5억 (25%)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81728"/>
            <a:ext cx="2103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>
                <a:solidFill>
                  <a:srgbClr val="F5F0EB"/>
                </a:solidFill>
                <a:latin typeface="Pretendard"/>
                <a:ea typeface="Pretendard"/>
              </a:rPr>
              <a:t>인력 (CTO·데이터)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4700016"/>
            <a:ext cx="2103120" cy="219456"/>
          </a:xfrm>
          <a:prstGeom prst="rect">
            <a:avLst/>
          </a:prstGeom>
          <a:solidFill>
            <a:srgbClr val="22222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17520" y="4700016"/>
            <a:ext cx="315468" cy="219456"/>
          </a:xfrm>
          <a:prstGeom prst="rect">
            <a:avLst/>
          </a:prstGeom>
          <a:solidFill>
            <a:srgbClr val="D9A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4681728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D9A34B"/>
                </a:solidFill>
                <a:latin typeface="Pretendard"/>
                <a:ea typeface="Pretendard"/>
              </a:rPr>
              <a:t>3억 (15%)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02352"/>
            <a:ext cx="2103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>
                <a:solidFill>
                  <a:srgbClr val="F5F0EB"/>
                </a:solidFill>
                <a:latin typeface="Pretendard"/>
                <a:ea typeface="Pretendard"/>
              </a:rPr>
              <a:t>거점 자산화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5120640"/>
            <a:ext cx="2103120" cy="219456"/>
          </a:xfrm>
          <a:prstGeom prst="rect">
            <a:avLst/>
          </a:prstGeom>
          <a:solidFill>
            <a:srgbClr val="22222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17520" y="5120640"/>
            <a:ext cx="210312" cy="219456"/>
          </a:xfrm>
          <a:prstGeom prst="rect">
            <a:avLst/>
          </a:prstGeom>
          <a:solidFill>
            <a:srgbClr val="B86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0" y="5102352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B86C4A"/>
                </a:solidFill>
                <a:latin typeface="Pretendard"/>
                <a:ea typeface="Pretendard"/>
              </a:rPr>
              <a:t>2억 (10%)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522976"/>
            <a:ext cx="2103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>
                <a:solidFill>
                  <a:srgbClr val="F5F0EB"/>
                </a:solidFill>
                <a:latin typeface="Pretendard"/>
                <a:ea typeface="Pretendard"/>
              </a:rPr>
              <a:t>운영자금 (24M)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5541264"/>
            <a:ext cx="2103120" cy="219456"/>
          </a:xfrm>
          <a:prstGeom prst="rect">
            <a:avLst/>
          </a:prstGeom>
          <a:solidFill>
            <a:srgbClr val="22222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017520" y="5541264"/>
            <a:ext cx="210312" cy="219456"/>
          </a:xfrm>
          <a:prstGeom prst="rect">
            <a:avLst/>
          </a:prstGeom>
          <a:solidFill>
            <a:srgbClr val="7A7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5522976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7A7570"/>
                </a:solidFill>
                <a:latin typeface="Pretendard"/>
                <a:ea typeface="Pretendard"/>
              </a:rPr>
              <a:t>2억 (10%)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3520440"/>
            <a:ext cx="1655978" cy="109728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3666744"/>
            <a:ext cx="16559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7A7570"/>
                </a:solidFill>
                <a:latin typeface="Pretendard"/>
                <a:ea typeface="Pretendard"/>
              </a:rPr>
              <a:t>Pre-money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3893515"/>
            <a:ext cx="16559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6C5CE7"/>
                </a:solidFill>
                <a:latin typeface="Pretendard"/>
                <a:ea typeface="Pretendard"/>
              </a:rPr>
              <a:t>200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</a:rPr>
              <a:t>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73898" y="3520440"/>
            <a:ext cx="1655978" cy="109728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73898" y="3666744"/>
            <a:ext cx="16559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7A7570"/>
                </a:solidFill>
                <a:latin typeface="Pretendard"/>
                <a:ea typeface="Pretendard"/>
              </a:rPr>
              <a:t>Raising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73898" y="3893515"/>
            <a:ext cx="16559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6C5CE7"/>
                </a:solidFill>
                <a:latin typeface="Pretendard"/>
                <a:ea typeface="Pretendard"/>
              </a:rPr>
              <a:t>20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</a:rPr>
              <a:t>억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12756" y="3520440"/>
            <a:ext cx="1655978" cy="109728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12756" y="3666744"/>
            <a:ext cx="16559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7A7570"/>
                </a:solidFill>
                <a:latin typeface="Pretendard"/>
                <a:ea typeface="Pretendard"/>
              </a:rPr>
              <a:t>Runway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12756" y="3893515"/>
            <a:ext cx="16559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6C5CE7"/>
                </a:solidFill>
                <a:latin typeface="Pretendard"/>
                <a:ea typeface="Pretendard"/>
              </a:rPr>
              <a:t>24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</a:rPr>
              <a:t>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48006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7A7570"/>
                </a:solidFill>
                <a:latin typeface="Pretendard"/>
                <a:ea typeface="Pretendard"/>
              </a:rPr>
              <a:t>미래 비전 — 하나의 흐름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5040" y="5166360"/>
            <a:ext cx="694944" cy="347472"/>
          </a:xfrm>
          <a:prstGeom prst="roundRect">
            <a:avLst>
              <a:gd name="adj" fmla="val 30000"/>
            </a:avLst>
          </a:prstGeom>
          <a:solidFill>
            <a:srgbClr val="221E33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0" y="5166360"/>
            <a:ext cx="6949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29BFE"/>
                </a:solidFill>
                <a:latin typeface="Pretendard"/>
                <a:ea typeface="Pretendard"/>
              </a:rPr>
              <a:t>광고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21424" y="5166360"/>
            <a:ext cx="694944" cy="347472"/>
          </a:xfrm>
          <a:prstGeom prst="roundRect">
            <a:avLst>
              <a:gd name="adj" fmla="val 30000"/>
            </a:avLst>
          </a:prstGeom>
          <a:solidFill>
            <a:srgbClr val="221E33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21424" y="5166360"/>
            <a:ext cx="6949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29BFE"/>
                </a:solidFill>
                <a:latin typeface="Pretendard"/>
                <a:ea typeface="Pretendard"/>
              </a:rPr>
              <a:t>행동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07808" y="5166360"/>
            <a:ext cx="694944" cy="347472"/>
          </a:xfrm>
          <a:prstGeom prst="roundRect">
            <a:avLst>
              <a:gd name="adj" fmla="val 30000"/>
            </a:avLst>
          </a:prstGeom>
          <a:solidFill>
            <a:srgbClr val="221E33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07808" y="5166360"/>
            <a:ext cx="6949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29BFE"/>
                </a:solidFill>
                <a:latin typeface="Pretendard"/>
                <a:ea typeface="Pretendard"/>
              </a:rPr>
              <a:t>구매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94192" y="5166360"/>
            <a:ext cx="813816" cy="347472"/>
          </a:xfrm>
          <a:prstGeom prst="roundRect">
            <a:avLst>
              <a:gd name="adj" fmla="val 30000"/>
            </a:avLst>
          </a:prstGeom>
          <a:solidFill>
            <a:srgbClr val="221E33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94192" y="5166360"/>
            <a:ext cx="81381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29BFE"/>
                </a:solidFill>
                <a:latin typeface="Pretendard"/>
                <a:ea typeface="Pretendard"/>
              </a:rPr>
              <a:t>데이터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99448" y="5166360"/>
            <a:ext cx="694944" cy="347472"/>
          </a:xfrm>
          <a:prstGeom prst="roundRect">
            <a:avLst>
              <a:gd name="adj" fmla="val 30000"/>
            </a:avLst>
          </a:prstGeom>
          <a:solidFill>
            <a:srgbClr val="221E33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99448" y="5166360"/>
            <a:ext cx="6949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29BFE"/>
                </a:solidFill>
                <a:latin typeface="Pretendard"/>
                <a:ea typeface="Pretendard"/>
              </a:rPr>
              <a:t>지능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085832" y="5166360"/>
            <a:ext cx="694944" cy="347472"/>
          </a:xfrm>
          <a:prstGeom prst="roundRect">
            <a:avLst>
              <a:gd name="adj" fmla="val 30000"/>
            </a:avLst>
          </a:prstGeom>
          <a:solidFill>
            <a:srgbClr val="221E33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85832" y="5166360"/>
            <a:ext cx="6949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29BFE"/>
                </a:solidFill>
                <a:latin typeface="Pretendard"/>
                <a:ea typeface="Pretendard"/>
              </a:rPr>
              <a:t>유통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56692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solidFill>
                  <a:srgbClr val="7A7570"/>
                </a:solidFill>
                <a:latin typeface="Pretendard"/>
                <a:ea typeface="Pretendard"/>
              </a:rPr>
              <a:t>문의: ws.choi@project-rent.com · 010-2870-0561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" y="6327648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>
                <a:solidFill>
                  <a:srgbClr val="7A7570"/>
                </a:solidFill>
                <a:latin typeface="Pretendard"/>
                <a:ea typeface="Pretendard"/>
              </a:rPr>
              <a:t>PHYSICAL AD-TECH NETWORK · BY PROJECT RENT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C5CE7"/>
                </a:solidFill>
                <a:latin typeface="Pretendard"/>
                <a:ea typeface="Pretendard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