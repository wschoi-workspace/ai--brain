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2A44"/>
                </a:solidFill>
              </a:defRPr>
            </a:pPr>
            <a:r>
              <a:t>I. 시장현황 및 문제점 (Market Status &amp; Problem)</a:t>
            </a:r>
          </a:p>
        </p:txBody>
      </p:sp>
      <p:sp>
        <p:nvSpPr>
          <p:cNvPr id="3" name="Rectangle 2"/>
          <p:cNvSpPr/>
          <p:nvPr/>
        </p:nvSpPr>
        <p:spPr>
          <a:xfrm>
            <a:off x="7223760" y="91440"/>
            <a:ext cx="1645920" cy="640080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100" b="1">
                <a:solidFill>
                  <a:srgbClr val="1F2A44"/>
                </a:solidFill>
              </a:defRPr>
            </a:pPr>
            <a:r>
              <a:t>1. 문제 정의 (Problem)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쿠키리스(Cookieless) 시대 도래로 디지털 광고의 '아이덴티티' 상실 — 연간 $10B+ 규모의 광고 비효율 발생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전체 리테일 매출의 80%는 오프라인에서 발생하나, 오프라인 행동 데이터의 디지털 활용률은 0%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오프라인 유동인구는 파편화된 채 '식별 가능한 취향 데이터'로 전환되지 못하고 블랙박스로 남아 있음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가장 순수한 소비자 데이터(발자국·손길)를 자산화·상품화한 플레이어가 부재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100" b="1">
                <a:solidFill>
                  <a:srgbClr val="1F2A44"/>
                </a:solidFill>
              </a:defRPr>
            </a:pPr>
            <a:r>
              <a:t>2. 시장 현황 (Why Now)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글로벌 리테일 미디어 시장의 폭발적 성장과 쿠키리스 전환이 동시 진행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퍼스트파티 데이터 CPM 프리미엄: 서드파티 대비 2~5배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퍼스트파티 기반 광고 전환율 향상: +23% (Google 발표)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글로벌 리테일 미디어 시장: $120B+ (2025) / CAGR 25%+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100" b="1">
                <a:solidFill>
                  <a:srgbClr val="1F2A44"/>
                </a:solidFill>
              </a:defRPr>
            </a:pPr>
            <a:r>
              <a:t>3. 시사점 (Implication)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오프라인의 '발자국·손길'은 조작 불가능한 가장 순수한 퍼스트파티 데이터 소스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이 데이터를 표준화된 하드웨어·AI로 수집·자산화하고 온라인 리타겟팅·커머스와 연결하는 풀스택 인프라 필요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㈜알엑스알은 이 문제를 해결하는 Physical Ad-Tech Network를 구축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2A44"/>
                </a:solidFill>
              </a:defRPr>
            </a:pPr>
            <a:r>
              <a:t>II. 해결방안 및 세부내용 (Solution &amp; Technology)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A44"/>
                </a:solidFill>
              </a:defRPr>
            </a:pPr>
            <a:r>
              <a:t>1. 연구개발 요약 (Solution)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223760" y="91440"/>
            <a:ext cx="1645920" cy="640080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100" b="1">
                <a:solidFill>
                  <a:srgbClr val="1F2A44"/>
                </a:solidFill>
              </a:defRPr>
            </a:pPr>
            <a:r>
              <a:t>가. 솔루션 개요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오프라인 기반 데이터-커머스 풀스택(Full-stack) 플랫폼 개발</a:t>
            </a:r>
          </a:p>
          <a:p>
            <a:pPr lvl="1">
              <a:spcBef>
                <a:spcPts val="100"/>
              </a:spcBef>
              <a:defRPr sz="1000">
                <a:solidFill>
                  <a:srgbClr val="2D3748"/>
                </a:solidFill>
              </a:defRPr>
            </a:pPr>
            <a:r>
              <a:t>  – = Ad-Tech(광고 지면) + SaaS(데이터 구독) + Commerce(OMO 결제)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오프라인의 '발자국'과 '손길'을 조작 불가능한 퍼스트파티 데이터로 전환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표준화 하드웨어 'Bracket' + 지능형 'Physical AI'로 오프라인 블랙박스를 데이터화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수집된 데이터를 전용 OMO 커머스 앱과 연결하여 인지→경험→구매→재구매 전 여정을 데이터로 통제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100" b="1">
                <a:solidFill>
                  <a:srgbClr val="1F2A44"/>
                </a:solidFill>
              </a:defRPr>
            </a:pPr>
            <a:r>
              <a:t>나. 핵심 차별점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국내 유일의 '오프라인 취향 데이터 → 온라인 구매 전환' 풀퍼널 커버 모델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Trade Desk(타겟팅) + Walmart Connect(오프라인 지면) + Criteo(리테일 미디어)를 결합한 유일한 풀스택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원천 특허 3건 확보: 온-오프라인 상관관계 분석 / LAS AI / Bracket 모듈 디자인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100" b="1">
                <a:solidFill>
                  <a:srgbClr val="1F2A44"/>
                </a:solidFill>
              </a:defRPr>
            </a:pPr>
            <a:r>
              <a:t>다. 정체성</a:t>
            </a:r>
          </a:p>
          <a:p>
            <a:pPr>
              <a:spcBef>
                <a:spcPts val="600"/>
              </a:spcBef>
              <a:defRPr sz="1000" b="1">
                <a:solidFill>
                  <a:srgbClr val="2E5BFF"/>
                </a:solidFill>
              </a:defRPr>
            </a:pPr>
            <a:r>
              <a:t>우리는 공간 기획사가 아닌, '도시의 유동인구를 데이터 자산으로 바꾸는 애드테크(Ad-Tech) 기업'</a:t>
            </a:r>
          </a:p>
          <a:p>
            <a:pPr>
              <a:spcBef>
                <a:spcPts val="600"/>
              </a:spcBef>
              <a:defRPr sz="1000" b="1">
                <a:solidFill>
                  <a:srgbClr val="2E5BFF"/>
                </a:solidFill>
              </a:defRPr>
            </a:pPr>
            <a:r>
              <a:t>The Google AdSense for Offline — 오프라인 광고 성과 측정의 De-facto Standard 지향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2A44"/>
                </a:solidFill>
              </a:defRPr>
            </a:pPr>
            <a:r>
              <a:t>II. 해결방안 및 세부내용 (Solution &amp; Technology)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A44"/>
                </a:solidFill>
              </a:defRPr>
            </a:pPr>
            <a:r>
              <a:t>2. 연구개발 내용 및 목표 (Technology &amp; Goal)</a:t>
            </a:r>
          </a:p>
        </p:txBody>
      </p:sp>
      <p:sp>
        <p:nvSpPr>
          <p:cNvPr id="4" name="Rectangle 3"/>
          <p:cNvSpPr/>
          <p:nvPr/>
        </p:nvSpPr>
        <p:spPr>
          <a:xfrm>
            <a:off x="7223760" y="91440"/>
            <a:ext cx="1645920" cy="640080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100" b="1">
                <a:solidFill>
                  <a:srgbClr val="1F2A44"/>
                </a:solidFill>
              </a:defRPr>
            </a:pPr>
            <a:r>
              <a:t>가. 4대 핵심 기술 모듈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100" b="1">
                <a:solidFill>
                  <a:srgbClr val="1F2A44"/>
                </a:solidFill>
              </a:defRPr>
            </a:pPr>
            <a:r>
              <a:t>① Bracket Node (표준화 H/W + 엣지 컴퓨팅)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표준화된 모듈형 하드웨어 — 48시간 내 설치 완료, AI 카메라 + 엣지 컴퓨팅 내장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유휴 오프라인 공간을 지능형 미디어 노드로 변환, 전국 네트워크 확장 구조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100" b="1">
                <a:solidFill>
                  <a:srgbClr val="1F2A44"/>
                </a:solidFill>
              </a:defRPr>
            </a:pPr>
            <a:r>
              <a:t>② LAS Engine (Lifestyle AI Segmentation)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실시간 외형·행동 분석으로 취향 태그 자동 생성 (비식별 처리)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개인정보 이슈 없이 고객별 AI 페르소나 프로필 구축 — 마케팅 시장 최고 희소 데이터 자산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100" b="1">
                <a:solidFill>
                  <a:srgbClr val="1F2A44"/>
                </a:solidFill>
              </a:defRPr>
            </a:pPr>
            <a:r>
              <a:t>③ RXR Data Bridge (오프라인↔온라인 커넥터)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Layer1: 오프라인 비식별 데이터 → Layer2: 모바일 AD-ID 매칭(Wi-Fi/BLE/앱 동의)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→ Layer3: 온라인 리타겟팅(Meta·Google·카카오 DSP) — 주요 DSP API 연동 완료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100" b="1">
                <a:solidFill>
                  <a:srgbClr val="1F2A44"/>
                </a:solidFill>
              </a:defRPr>
            </a:pPr>
            <a:r>
              <a:t>④ OMO Attribution (특허 알고리즘)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오프라인 방문 → 온라인 구매의 인과관계를 수학적으로 증명 (A/B 기반 Incrementality)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광고주에게 ROAS를 숫자로 보여주는 유일한 오프라인 솔루션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2A44"/>
                </a:solidFill>
              </a:defRPr>
            </a:pPr>
            <a:r>
              <a:t>II. 해결방안 및 세부내용 (Solution &amp; Technology)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A44"/>
                </a:solidFill>
              </a:defRPr>
            </a:pPr>
            <a:r>
              <a:t>2. 연구개발 내용 및 목표 (Technology &amp; Goal)</a:t>
            </a:r>
          </a:p>
        </p:txBody>
      </p:sp>
      <p:sp>
        <p:nvSpPr>
          <p:cNvPr id="4" name="Rectangle 3"/>
          <p:cNvSpPr/>
          <p:nvPr/>
        </p:nvSpPr>
        <p:spPr>
          <a:xfrm>
            <a:off x="7223760" y="91440"/>
            <a:ext cx="1645920" cy="640080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100" b="1">
                <a:solidFill>
                  <a:srgbClr val="1F2A44"/>
                </a:solidFill>
              </a:defRPr>
            </a:pPr>
            <a:r>
              <a:t>&lt;결과물의 성능지표&gt;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Bracket Node — 설치 완료 시간: 48시간 이내 / 객체 탐지 정확도(mAP): 92% 이상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LAS Engine — 세그먼트 분류 정확도: 85% 이상 / 실시간 처리 지연시간: 200ms 이내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Data Bridge — AD-ID 매칭률: 30% 이상 / DSP 연동 성공률: 99.5%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OMO Attribution — Incrementality Lift: ≥15% / ROAS 리포트 생성: 1시간 이내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100" b="1">
                <a:solidFill>
                  <a:srgbClr val="1F2A44"/>
                </a:solidFill>
              </a:defRPr>
            </a:pPr>
            <a:r>
              <a:t>&lt;평가방법 및 환경&gt;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100" b="1">
                <a:solidFill>
                  <a:srgbClr val="1F2A44"/>
                </a:solidFill>
              </a:defRPr>
            </a:pPr>
            <a:r>
              <a:t>실증 환경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프로젝트 렌트 직영 공간 (성수동 거점)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팝업스토어 3개소 이상 동시 운영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실제 브랜드 캠페인 데이터 활용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100" b="1">
                <a:solidFill>
                  <a:srgbClr val="1F2A44"/>
                </a:solidFill>
              </a:defRPr>
            </a:pPr>
            <a:r>
              <a:t>평가 프로토콜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A/B Split Test (노출군 vs 비노출군)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POS 매출 데이터 크로스 검증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CRM 동의 사용자 온라인 행동 추적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2A44"/>
                </a:solidFill>
              </a:defRPr>
            </a:pPr>
            <a:r>
              <a:t>II. 해결방안 및 세부내용 (Solution &amp; Technology)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A44"/>
                </a:solidFill>
              </a:defRPr>
            </a:pPr>
            <a:r>
              <a:t>3. 연구개발 현황 (Preparation Status)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223760" y="91440"/>
            <a:ext cx="1645920" cy="640080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100" b="1">
                <a:solidFill>
                  <a:srgbClr val="1F2A44"/>
                </a:solidFill>
              </a:defRPr>
            </a:pPr>
            <a:r>
              <a:t>&lt;개발대상 기술(제품, 서비스 등) 관련 지식재산권&gt;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100" b="1">
                <a:solidFill>
                  <a:srgbClr val="1F2A44"/>
                </a:solidFill>
              </a:defRPr>
            </a:pPr>
            <a:r>
              <a:t>가. 선행 기술 및 실증 트랙레코드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300+ 글로벌 브랜드 캠페인 실적 (Louis Vuitton, Hyundai Motor, Blue Bottle, Samsung 등)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일반 매장 대비 진입률 5배, 온라인 광고 대비 ROAS 3배 검증 (성수동 거점)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300회+ 오프라인 운영 노하우 = 실행력의 해자(Moat)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LAS AI 알고리즘 독자 개발 완료 (프로토타입 가동)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100" b="1">
                <a:solidFill>
                  <a:srgbClr val="1F2A44"/>
                </a:solidFill>
              </a:defRPr>
            </a:pPr>
            <a:r>
              <a:t>나. 지식재산권 현황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[특허 #1 등록] 온-오프라인 상관관계 분석 — 물리적+디지털 접점 기여도 계산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[특허 #2 등록] LAS AI 세그멘테이션 — 비식별 시각·행동 특징 결합 세그먼트 생성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[특허 #3 등록] Bracket 모듈 디자인 — 표준화 H/W로 공간→미디어 노드 변환 장치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[출원 예정] OMO Attribution 알고리즘 — 국내·미국 PCT 출원 검토 중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상기 3건은 사업 근간 원천기술, ㈜알엑스알로 양수(이전) 절차 병행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추가 출원 예정: 오프라인 미디어 입찰 / 적응형 공간 최적화 / Brand-Space Matching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2A44"/>
                </a:solidFill>
              </a:defRPr>
            </a:pPr>
            <a:r>
              <a:t>II. 해결방안 및 세부내용 (Solution &amp; Technology)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A44"/>
                </a:solidFill>
              </a:defRPr>
            </a:pPr>
            <a:r>
              <a:t>4. 표준화 전략</a:t>
            </a:r>
          </a:p>
        </p:txBody>
      </p:sp>
      <p:sp>
        <p:nvSpPr>
          <p:cNvPr id="4" name="Rectangle 3"/>
          <p:cNvSpPr/>
          <p:nvPr/>
        </p:nvSpPr>
        <p:spPr>
          <a:xfrm>
            <a:off x="7223760" y="91440"/>
            <a:ext cx="1645920" cy="640080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100" b="1">
                <a:solidFill>
                  <a:srgbClr val="1F2A44"/>
                </a:solidFill>
              </a:defRPr>
            </a:pPr>
            <a:r>
              <a:t>가. 표준화 대상 및 필요성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오프라인 광고 성과 측정은 산업 전반적으로 표준 부재 → 광고주 비용 집행 근거 미확립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㈜알엑스알은 하드웨어·데이터 스키마·리포트 포맷을 표준화하여 시장 규격 선점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100" b="1">
                <a:solidFill>
                  <a:srgbClr val="1F2A44"/>
                </a:solidFill>
              </a:defRPr>
            </a:pPr>
            <a:r>
              <a:t>나. 4대 표준화 축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① 하드웨어 표준화 (Bracket Node) — 모듈형 규격, 48시간 설치, 국내외 동일 폼팩터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② 데이터 스키마 표준화 (LAS 태그 사전) — 취향·행동 taxonomy, 브랜드 간 비교·리타겟팅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③ 리포트 표준화 (OMO Attribution Report) — ROAS·Incrementality·전환율 표준 지표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④ 개방형 네트워크 (Open Network) — 전국 확장, 3rd Party 매장 참여 API 공개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100" b="1">
                <a:solidFill>
                  <a:srgbClr val="1F2A44"/>
                </a:solidFill>
              </a:defRPr>
            </a:pPr>
            <a:r>
              <a:t>다. 표준·인증 획득 로드맵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1차년도: 사내 표준 확정 및 특허·상표 확보 (Event Taxonomy, Node Schema 등)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2차년도: KS/KISA 등 국내 표준 등록 신청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3차년도: 글로벌 애드테크 협회(IAB 등) 표준 제안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600"/>
              </a:spcBef>
              <a:defRPr sz="1000" b="1">
                <a:solidFill>
                  <a:srgbClr val="2E5BFF"/>
                </a:solidFill>
              </a:defRPr>
            </a:pPr>
            <a:r>
              <a:t>표준을 선점한 자가 플랫폼을 지배한다 — 오프라인 전환 측정의 공통 언어를 정의하여 시장 규격 선점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2A44"/>
                </a:solidFill>
              </a:defRPr>
            </a:pPr>
            <a:r>
              <a:t>II. 해결방안 및 세부내용 (Solution &amp; Technology)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A44"/>
                </a:solidFill>
              </a:defRPr>
            </a:pPr>
            <a:r>
              <a:t>5. 업무분장 및 추진일정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7223760" y="91440"/>
            <a:ext cx="1645920" cy="640080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100" b="1">
                <a:solidFill>
                  <a:srgbClr val="1F2A44"/>
                </a:solidFill>
              </a:defRPr>
            </a:pPr>
            <a:r>
              <a:t>3개년 연구개발 로드맵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100" b="1">
                <a:solidFill>
                  <a:srgbClr val="1F2A44"/>
                </a:solidFill>
              </a:defRPr>
            </a:pPr>
            <a:r>
              <a:t>[1차년도]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Bracket Node: 프로토타입 완성, 자사 공간 설치·검증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LAS Engine: 세그먼트 분류 MVP (정확도 80%+)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Data Bridge: Layer1 완성 — 비식별 이벤트 수집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OMO Attribution: A/B 테스트 설계, 기여도 모델 개발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사업화: SaaS MVP 출시, 자사 공간 실증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100" b="1">
                <a:solidFill>
                  <a:srgbClr val="1F2A44"/>
                </a:solidFill>
              </a:defRPr>
            </a:pPr>
            <a:r>
              <a:t>[2차년도]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Bracket Node: 양산형 설계, 10개 노드 확장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LAS Engine: 행동 벡터 군집화 (정확도 85%+)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Data Bridge: Layer2 AD-ID 매칭, DSP 연동 (Meta/Google)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OMO Attribution: Incrementality 측정, ROAS 리포트 자동화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사업화: 유료 고객 10사+, 월 구독 매출 발생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100" b="1">
                <a:solidFill>
                  <a:srgbClr val="1F2A44"/>
                </a:solidFill>
              </a:defRPr>
            </a:pPr>
            <a:r>
              <a:t>[3차년도]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Bracket Node: 100개 노드 네트워크, 3rd Party 배포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LAS Engine: 예측 모델 고도화, Purchase Intent Score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Data Bridge: Layer3 자동 리타겟팅, 실시간 캠페인 연동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OMO Attribution: 예측 기반 자동 최적화, Smart Bidding 엔진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사업화: 미디어 플랫폼 론칭, 거래 수수료 모델 전환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2A44"/>
                </a:solidFill>
              </a:defRPr>
            </a:pPr>
            <a:r>
              <a:t>III. 사업화 전략 (Scale-up)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A44"/>
                </a:solidFill>
              </a:defRPr>
            </a:pPr>
            <a:r>
              <a:t>1. 목표시장 및 경쟁사 현황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7223760" y="91440"/>
            <a:ext cx="1645920" cy="640080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100" b="1">
                <a:solidFill>
                  <a:srgbClr val="1F2A44"/>
                </a:solidFill>
              </a:defRPr>
            </a:pPr>
            <a:r>
              <a:t>가. 목표시장 (Target Market)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1차 타겟: 국내 프리미엄·라이프스타일 브랜드사(광고주) + 리테일 미디어 예산 집행 브랜드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2차 타겟: 글로벌 하이엔드 브랜드(도쿄·LA), 대형 리테일러 인프라 광고 상품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시장 성격: 쿠키리스로 폭발 성장 중인 글로벌 리테일 미디어 시장 ($120B+ / CAGR 25%)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100" b="1">
                <a:solidFill>
                  <a:srgbClr val="1F2A44"/>
                </a:solidFill>
              </a:defRPr>
            </a:pPr>
            <a:r>
              <a:t>나. 경쟁사 대비 포지션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RetailNext: 매장 행동 분석 → 한계: 온라인 연결 불가 → RXR: 풀퍼널+네트워크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Placer.ai: 위치 기반 트래픽 → 한계: 매장 내부 미측정 → RXR: 행동+공간+전환 통합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Walmart Connect: 자사 리테일 미디어 → 한계: 자사 매장 한정 → RXR: Open Network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The Trade Desk: 프로그래매틱 타겟팅 → 한계: 오프라인 데이터 없음 → RXR: 1st Party 보유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100" b="1">
                <a:solidFill>
                  <a:srgbClr val="1F2A44"/>
                </a:solidFill>
              </a:defRPr>
            </a:pPr>
            <a:r>
              <a:t>다. 수익모델 진화 (Google Ads 수익구조 복제)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Phase 1: 측정 SaaS (월 구독) → Phase 2: 성과 컨설팅 (프로젝트비)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Phase 3: 오디언스 데이터 (라이선스) → Phase 4: 미디어 플래닝 (Take Rate)</a:t>
            </a:r>
          </a:p>
          <a:p>
            <a:pPr>
              <a:spcBef>
                <a:spcPts val="200"/>
              </a:spcBef>
              <a:defRPr sz="1000">
                <a:solidFill>
                  <a:srgbClr val="2D3748"/>
                </a:solidFill>
              </a:defRPr>
            </a:pPr>
            <a:r>
              <a:t>• Phase 5: 자동 입찰 플랫폼 (거래액의 15~30% = RXR 수익)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600"/>
              </a:spcBef>
              <a:defRPr sz="1000" b="1">
                <a:solidFill>
                  <a:srgbClr val="2E5BFF"/>
                </a:solidFill>
              </a:defRPr>
            </a:pPr>
            <a:r>
              <a:t>Trade Desk + Walmart Connect + Criteo 결합 유일 풀스택 — 오프라인→온라인 풀퍼널 커버 기업 국내외 부재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