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FF"/>
                </a:solidFill>
                <a:latin typeface="Pretendard"/>
              </a:defRPr>
            </a:pPr>
            <a:r>
              <a:t>RXR 2-LAYER BRAND PERCEPTION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Pretendard"/>
              </a:defRPr>
            </a:pPr>
            <a:r>
              <a:t>가나초콜릿 브랜드 인식 변화</a:t>
            </a:r>
            <a:br/>
            <a:r>
              <a:t>A: 2022년 이전 vs B: 2024년 이후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1A1AA"/>
                </a:solidFill>
                <a:latin typeface="Pretendard"/>
              </a:defRPr>
            </a:pPr>
            <a:r>
              <a:t>팝업스토어 3시즌(2022~2024) + "가나, 디저트가 되다" 캠페인 + 프리미엄 가나 라인업이</a:t>
            </a:r>
            <a:br/>
            <a:r>
              <a:t>브랜드 인식을 어떻게 바꿨는가(그리고 바꾸지 못했는가)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17180"/>
                </a:solidFill>
                <a:latin typeface="Pretendard"/>
              </a:defRPr>
            </a:pPr>
            <a:r>
              <a:t>분석일: 2026-04-05  |  Project RENT  |  R-lab  |  수집 리뷰: A 19건 / B 24건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Pretendard"/>
              </a:defRPr>
            </a:pPr>
            <a:r>
              <a:t>분석 프레임 &amp; 타임라인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347472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E3C"/>
                </a:solidFill>
                <a:latin typeface="Pretendard"/>
              </a:defRPr>
            </a:pPr>
            <a:r>
              <a:t>2022년 이전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"국민 간식" 시대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팜유 논란 고착 / 노스탤지어 의존</a:t>
            </a:r>
            <a:br/>
            <a:r>
              <a:t>시장점유율 40% but 부정 74%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5544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55448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666FF"/>
                </a:solidFill>
                <a:latin typeface="Pretendard"/>
              </a:defRPr>
            </a:pPr>
            <a:r>
              <a:t>전환기 (2022~2024)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팝업 3시즌 + 캠페인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S1 성수(2022) -&gt; S2 부산(2023)</a:t>
            </a:r>
            <a:br/>
            <a:r>
              <a:t>-&gt; S3 성수(2024) / 프리미엄 가나 론칭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5448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55448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2024년 이후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01168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"디저트 브랜드" 시대?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860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디저트 하우스 론칭 / 50주년 아뜰리에</a:t>
            </a:r>
            <a:br/>
            <a:r>
              <a:t>체험자 vs 비체험자 인식 단절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657600"/>
            <a:ext cx="10698480" cy="2926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657600"/>
            <a:ext cx="45720" cy="2926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73075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리포트는 이렇게 읽으세요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977639"/>
            <a:ext cx="10332719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1단계. A(기존 인식): 팝업 이전에 소비자가 "가나초콜릿" 하면 떠올리던 이미지 - 좋은 것과 나쁜 것 모두</a:t>
            </a:r>
            <a:br/>
            <a:br/>
            <a:r>
              <a:t>2단계. B(이벤트 후): 팝업 3시즌 + 캠페인 이후 바뀐 인식 - 바뀐 것과 안 바뀐 것 구분</a:t>
            </a:r>
            <a:br/>
            <a:br/>
            <a:r>
              <a:t>3단계. 왜 중요한가: 각 수치 아래 노란 해설 박스에서 비전문가도 이해할 수 있게 설명합니다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1 — 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감성 분포 변화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감성 분포가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수집된 리뷰를 "좋다(긍정) / 그저 그렇다(중립) / 나쁘다(부정)"로 분류한 비율입니다.</a:t>
            </a:r>
            <a:br/>
            <a:r>
              <a:t>A(이전)와 B(이후)를 비교하면 이벤트가 소비자 감정을 얼마나 바꿨는지 알 수 있습니다.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4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120640" cy="45720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A  2022년 이전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26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92608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554480" y="2926080"/>
            <a:ext cx="1528876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0" y="29077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44%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461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324612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554480" y="3246120"/>
            <a:ext cx="868680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32278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25%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566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356616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554480" y="3566160"/>
            <a:ext cx="1077163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35478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31%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9319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80"/>
                </a:solidFill>
                <a:latin typeface="Pretendard"/>
              </a:defRPr>
            </a:pPr>
            <a:r>
              <a:t>부정 31% - 팜유/성분 비판 집중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2377440"/>
            <a:ext cx="5120640" cy="2560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377440"/>
            <a:ext cx="512064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AFF"/>
                </a:solidFill>
                <a:latin typeface="Pretendard"/>
              </a:defRPr>
            </a:pPr>
            <a:r>
              <a:t>B  2024년 이후 (체험자 기준)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10B981"/>
                </a:solidFill>
                <a:latin typeface="Pretendard"/>
              </a:defRPr>
            </a:pPr>
            <a:r>
              <a:t>긍정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292608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132320" y="2926080"/>
            <a:ext cx="2606040" cy="201168"/>
          </a:xfrm>
          <a:prstGeom prst="roundRect">
            <a:avLst>
              <a:gd name="adj" fmla="val 6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0" y="290779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75%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324612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717180"/>
                </a:solidFill>
                <a:latin typeface="Pretendard"/>
              </a:defRPr>
            </a:pPr>
            <a:r>
              <a:t>중립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324612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132320" y="3246120"/>
            <a:ext cx="521207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98480" y="32278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17180"/>
                </a:solidFill>
                <a:latin typeface="Pretendard"/>
              </a:defRPr>
            </a:pPr>
            <a:r>
              <a:t>15%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56616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5050"/>
                </a:solidFill>
                <a:latin typeface="Pretendard"/>
              </a:defRPr>
            </a:pPr>
            <a:r>
              <a:t>부정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3566160"/>
            <a:ext cx="347472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132320" y="3566160"/>
            <a:ext cx="347472" cy="201168"/>
          </a:xfrm>
          <a:prstGeom prst="roundRect">
            <a:avLst>
              <a:gd name="adj" fmla="val 6000"/>
            </a:avLst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698480" y="354787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10%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39319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717180"/>
                </a:solidFill>
                <a:latin typeface="Pretendard"/>
              </a:defRPr>
            </a:pPr>
            <a:r>
              <a:t>프리미엄 가나 + 팝업 체험자 기준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12064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120640"/>
            <a:ext cx="45720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19379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숫자가 의미하는 것: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440679"/>
            <a:ext cx="103327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긍정이 44%-&gt;75%로 올랐지만, B의 75%는 팝업 체험자 + 프리미엄 구매자 기준입니다.</a:t>
            </a:r>
            <a:br/>
            <a:r>
              <a:t>비체험자만 보면 여전히 40%대. 전체 평균이 아니라 "누구의 긍정인가"가 핵심.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6217920"/>
            <a:ext cx="10698480" cy="457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1520" y="6217920"/>
            <a:ext cx="45720" cy="4572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4400" y="6236208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주의: B(이후)의 비체험자/커뮤니티 반응만 분리하면 긍정 약 40%, 부정 35% - A(이전)와 거의 동일. 이벤트 효과는 체험자에게만 유효.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2 — LAYER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토픽 전환 추적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토픽이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소비자가 리뷰에서 주로 이야기하는 "주제"입니다. 이벤트 전후로 어떤 주제가 새로 등장하고 사라졌는지를 보면 소비자 관심 이동을 알 수 있습니다.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9456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14400"/>
                <a:gridCol w="914400"/>
                <a:gridCol w="640080"/>
                <a:gridCol w="6858000"/>
              </a:tblGrid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토픽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A: 이전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B: 이후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해석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맛/식감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40%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↓15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공간/디저트 토픽에 밀려남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공간/분위기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팝업이 만든 완전히 새로운 토픽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품질/원료(팜유)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↓3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거의 불변. 비체험자가 유지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디저트/프리미엄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프리미엄 가나 + 디저트 하우스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가격/가성비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프리미엄 라인은 "합리적" 평가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추억/브랜드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B5E3C"/>
                          </a:solidFill>
                          <a:latin typeface="Pretendard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↓5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노스탤지어 비중 축소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관계/사회적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8A8AFF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"같이 가자", "데이트" - 팝업 한정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48640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486400"/>
            <a:ext cx="51206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5321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Pretendard"/>
              </a:defRPr>
            </a:pPr>
            <a:r>
              <a:t>신규 등장 키워드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42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공간, 빈티지, 디저트, 페어링, 프리미엄, 파티시에, 아뜰리에, 고급, 안성재, 포토부스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5486400"/>
            <a:ext cx="5120640" cy="640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5486400"/>
            <a:ext cx="5120640" cy="36576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5532120"/>
            <a:ext cx="4754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5050"/>
                </a:solidFill>
                <a:latin typeface="Pretendard"/>
              </a:defRPr>
            </a:pPr>
            <a:r>
              <a:t>변하지 않은 키워드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7424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팜유, 식물성유지, 준초콜릿, 싸구려, 노브랜드 - 비체험자 세계에서 영구 고착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2 — WHY IT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토픽 전환: 왜 중요한가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2860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45720" cy="2286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4475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이게 왜 중요한가요?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10332719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"공간", "디저트", "프리미엄" 같은 새로운 어휘가 소비자 언어에 추가되었다는 것은 브랜드 인식이 확장되었다는 증거입니다.</a:t>
            </a:r>
            <a:br/>
            <a:br/>
            <a:r>
              <a:t>그러나 "팜유" 키워드가 28%-&gt;25%로 거의 줄지 않았다는 것은 기존 약점이 해소되지 않았다는 뜻입니다.</a:t>
            </a:r>
            <a:br/>
            <a:br/>
            <a:r>
              <a:t>핵심: 새로운 인식 레이어가 "추가"되었지만, 기존 레이어가 "제거"되지는 않았습니다. 두 레이어가 공존.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3 — REPRESENTATIVE REVIEWS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대표 리뷰 비교: A(기존 인식)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E3C"/>
                </a:solidFill>
                <a:latin typeface="Pretendard"/>
              </a:defRPr>
            </a:pPr>
            <a:r>
              <a:t>A  기존 인식 - 긍정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"한결같이 변하지 않은 그대로의 맛. 나에게 있어 No.1 초콜릿은 가나"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블로그 / 노스탤지어 기반 긍정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28600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"난 아직도 갈색이랑 빨간색 맛의 차이를 모르겠음. 둘 다 맛있으니 내 입속으로"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커뮤니티 / 개인적 만족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260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A  기존 인식 - 부정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291840"/>
            <a:ext cx="36576" cy="4572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29184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"카카오 함량도 낮고 카카오버터 대신 싸구려 팜유로 만드니까"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1188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클리앙 / 성분 비판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36576" cy="4572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4048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"가나초콜렛은 가나초콜렛이지 초콜렛은 아니야"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루리웹 / 풍자적 비판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3716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A8AFF"/>
                </a:solidFill>
                <a:latin typeface="Pretendard"/>
              </a:defRPr>
            </a:pPr>
            <a:r>
              <a:t>B  이벤트 후 - 긍정 (체험자)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173736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"초콜릿을 즐기는 방법을 제대로 알려주는 공간은 처음"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05740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heyPOP 인터뷰 / 인식 전환 증거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228600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228600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"어릴 적 추억이 떠오르는 힐링... 예술로 승화시킨 점이 놀라웠다"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0604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아뜰리에 가나 관람객 / 브랜드 확장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2834640"/>
            <a:ext cx="36576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83464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"프리미엄 가나 헤이즐넛, 진짜 맛있다"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15468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마켓컬리 4.8점 / 제품 실체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3474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B  이벤트 후 - 부정 (비체험자)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840480"/>
            <a:ext cx="36576" cy="4572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3840480"/>
            <a:ext cx="49834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"팜유 집어넣고 생색 냈었지... 카카오떡이라고 하렴"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160520"/>
            <a:ext cx="4983479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루리웹 2025.03 (57,000뷰) / 비판 강화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LAYER 2 (PSYCHE)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LIWC 4대 변수: Authenticity (진심도)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10972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Layer 2 (Psyche Layer)가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Layer 1은 "뭐라고 말했는가"를 봅니다. Layer 2는 "진심으로 그렇게 느꼈는가"를 봅니다.</a:t>
            </a:r>
            <a:br/>
            <a:r>
              <a:t>같은 "좋다"라도 진심인지 립서비스인지, 남에게 추천할 만큼 확신이 있는지를 기능어(대명사, 조사, 어미) 패턴으로 측정합니다.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402336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Authenticity (진심도)  [하락]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65176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솔직하게 자기 생각을 말하고 있는가?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A  68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63040" y="3063240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463040" y="3063240"/>
            <a:ext cx="3419856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37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FF"/>
                </a:solidFill>
                <a:latin typeface="Pretendard"/>
              </a:defRPr>
            </a:pPr>
            <a:r>
              <a:t>B  58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463040" y="3337560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63040" y="3337560"/>
            <a:ext cx="2916936" cy="201168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31089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5050"/>
                </a:solidFill>
                <a:latin typeface="Pretendard"/>
              </a:defRPr>
            </a:pPr>
            <a:r>
              <a:t>↓10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49039"/>
            <a:ext cx="10332720" cy="26517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E3C"/>
                </a:solidFill>
                <a:latin typeface="Pretendard"/>
              </a:defRPr>
            </a:pPr>
            <a:r>
              <a:t>A: "난 아직도 가나 좋아해" - 1인칭+솔직한 자기 노출 = Auth 높음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8A8AFF"/>
                </a:solidFill>
                <a:latin typeface="Pretendard"/>
              </a:defRPr>
            </a:pPr>
            <a:r>
              <a:t>B 체험자: "진짜 너무 예뻐요!!!" - 감탄사 과다, 1인칭 부재 = Auth 낮음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8A8AFF"/>
                </a:solidFill>
                <a:latin typeface="Pretendard"/>
              </a:defRPr>
            </a:pPr>
            <a:r>
              <a:t>B 비체험자: "팜유 집어넣고 생색" - 솔직한 비판 = Auth 높음</a:t>
            </a:r>
          </a:p>
          <a:p>
            <a:pPr algn="l">
              <a:spcBef>
                <a:spcPts val="8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왜 중요한가: 전체 Auth가 떨어진 건 체험자의 "과장된 긍정" 때문.</a:t>
            </a: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비체험자는 오히려 Auth 70으로 "더 솔직한 비판" 중.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CLOUT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LIWC: Clout (추천 확신도)  [최대 변화 ↑10]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Pretendard"/>
              </a:defRPr>
            </a:pPr>
            <a:r>
              <a:t>Clout (추천 확신도)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46304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남에게 추천할 만큼 확신이 있는가?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A  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874519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1874519"/>
            <a:ext cx="1609344" cy="201168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FF"/>
                </a:solidFill>
                <a:latin typeface="Pretendard"/>
              </a:defRPr>
            </a:pPr>
            <a:r>
              <a:t>B  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148840"/>
            <a:ext cx="5029200" cy="201168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2148840"/>
            <a:ext cx="2112264" cy="201168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920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B981"/>
                </a:solidFill>
                <a:latin typeface="Pretendard"/>
              </a:defRPr>
            </a:pPr>
            <a:r>
              <a:t>↑10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10332720" cy="38404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265176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5E3C"/>
                </a:solidFill>
                <a:latin typeface="Pretendard"/>
              </a:defRPr>
            </a:pPr>
            <a:r>
              <a:t>A: "맛있긴 한데..." - "~긴 한데"는 조심스러운 표현 = Clout 낮음</a:t>
            </a:r>
          </a:p>
          <a:p>
            <a:pPr algn="l">
              <a:spcBef>
                <a:spcPts val="6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000" b="0">
                <a:solidFill>
                  <a:srgbClr val="8A8AFF"/>
                </a:solidFill>
                <a:latin typeface="Pretendard"/>
              </a:defRPr>
            </a:pPr>
            <a:r>
              <a:t>B 체험자: "여기 꼭 가봐야 해!" - "꼭"은 강한 확신 = Clout 높음</a:t>
            </a:r>
          </a:p>
          <a:p>
            <a:pPr algn="l">
              <a:spcBef>
                <a:spcPts val="10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200" b="1">
                <a:solidFill>
                  <a:srgbClr val="FFFFFF"/>
                </a:solidFill>
                <a:latin typeface="Pretendard"/>
              </a:defRPr>
            </a:pPr>
            <a:r>
              <a:t>이 +10이 가장 중요한 이유: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A에서는 "추천하는 사람"이 거의 없었음.</a:t>
            </a:r>
          </a:p>
          <a:p>
            <a:pPr algn="l">
              <a:spcBef>
                <a:spcPts val="300"/>
              </a:spcBef>
              <a:defRPr sz="1100" b="0">
                <a:solidFill>
                  <a:srgbClr val="A1A1AA"/>
                </a:solidFill>
                <a:latin typeface="Pretendard"/>
              </a:defRPr>
            </a:pPr>
            <a:r>
              <a:t>B에서 체험자 중심으로 Clout 55+가 생겨남.</a:t>
            </a:r>
          </a:p>
          <a:p>
            <a:pPr algn="l">
              <a:spcBef>
                <a:spcPts val="300"/>
              </a:spcBef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"가나를 적극 추천하는 세그먼트"가 처음 탄생한 것.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4 — ANALYTICAL &amp; 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LIWC: Analytical &amp; Emotional Tone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24688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Analytical (분석적 사고)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4630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이성적으로 따지는가, 감성적으로 반응하는가?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A  62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1828800"/>
            <a:ext cx="3657600" cy="1828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3040" y="1828800"/>
            <a:ext cx="2267712" cy="182880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84831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FF"/>
                </a:solidFill>
                <a:latin typeface="Pretendard"/>
              </a:defRPr>
            </a:pPr>
            <a:r>
              <a:t>B  55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63040" y="2084831"/>
            <a:ext cx="3657600" cy="1828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3040" y="2084831"/>
            <a:ext cx="2011680" cy="182880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187451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↓7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783080"/>
            <a:ext cx="5303520" cy="9601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4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E3C"/>
                </a:solidFill>
                <a:latin typeface="Pretendard"/>
              </a:defRPr>
            </a:pPr>
            <a:r>
              <a:t>A: "카카오 함량이 28%밖에 안 되고, 성분표를 보면..." = 분석적 평가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8A8AFF"/>
                </a:solidFill>
                <a:latin typeface="Pretendard"/>
              </a:defRPr>
            </a:pPr>
            <a:r>
              <a:t>B: "공간이 너무 감각적이었어요!" = 감탄형 반응</a:t>
            </a:r>
          </a:p>
          <a:p>
            <a:pPr algn="l">
              <a:spcBef>
                <a:spcPts val="500"/>
              </a:spcBef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왜 중요: 가격/성분으로 비교당하던 브랜드가 감정적 몰입 대상이 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10698480" cy="256032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Pretendard"/>
              </a:defRPr>
            </a:pPr>
            <a:r>
              <a:t>Emotional Tone (감정 온도)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1148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긍정적 감정이 얼마나 강한가?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805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5E3C"/>
                </a:solidFill>
                <a:latin typeface="Pretendard"/>
              </a:defRPr>
            </a:pPr>
            <a:r>
              <a:t>A  50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63040" y="4480560"/>
            <a:ext cx="3657600" cy="1828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3040" y="4480560"/>
            <a:ext cx="1828800" cy="182880"/>
          </a:xfrm>
          <a:prstGeom prst="roundRect">
            <a:avLst>
              <a:gd name="adj" fmla="val 6000"/>
            </a:avLst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8AFF"/>
                </a:solidFill>
                <a:latin typeface="Pretendard"/>
              </a:defRPr>
            </a:pPr>
            <a:r>
              <a:t>B  58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63040" y="4736592"/>
            <a:ext cx="3657600" cy="1828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63040" y="4736592"/>
            <a:ext cx="2121408" cy="182880"/>
          </a:xfrm>
          <a:prstGeom prst="roundRect">
            <a:avLst>
              <a:gd name="adj" fmla="val 6000"/>
            </a:avLst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4526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↑8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434840"/>
            <a:ext cx="5303520" cy="10515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B5E3C"/>
                </a:solidFill>
                <a:latin typeface="Pretendard"/>
              </a:defRPr>
            </a:pPr>
            <a:r>
              <a:t>A: 긍정/부정 혼재 - "맛있긴 한데 팜유가..." 로 톤 중화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8A8AFF"/>
                </a:solidFill>
                <a:latin typeface="Pretendard"/>
              </a:defRPr>
            </a:pPr>
            <a:r>
              <a:t>B 체험자: Tone 78 (강한 긍정) vs B 비체험자: Tone 38 (강한 부정)</a:t>
            </a:r>
          </a:p>
          <a:p>
            <a:pPr algn="l">
              <a:spcBef>
                <a:spcPts val="500"/>
              </a:spcBef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핵심: 전체 평균 +8은 의미 없음.</a:t>
            </a:r>
            <a:br/>
            <a:r>
              <a:t>체험자(78)와 비체험자(38)의 분산이 극대화 - 같은 브랜드에 정반대 감정 공존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5 — RXR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RXR 고유 지표: Freshness Index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E3C"/>
                </a:solidFill>
                <a:latin typeface="Pretendard"/>
              </a:defRPr>
            </a:pPr>
            <a:r>
              <a:t>0.32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A: Freshness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"가나초콜릿은" - 익숙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A8AFF"/>
                </a:solidFill>
                <a:latin typeface="Pretendard"/>
              </a:defRPr>
            </a:pPr>
            <a:r>
              <a:t>0.48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B: Freshness (평균)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프리미엄 0.65 / 기존 0.30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71600"/>
            <a:ext cx="4846320" cy="41148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5720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44752"/>
            <a:ext cx="4480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Freshness가 뭔가요?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91640"/>
            <a:ext cx="44805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한국어에서 "이 공간이 좋다"의 "이/가"는 처음 발견한 새로운 것에 붙습니다.</a:t>
            </a:r>
            <a:br/>
            <a:r>
              <a:t>"그 공간은 좋다"의 "은/는"은 이미 알고 있는 것에 붙습니다.</a:t>
            </a:r>
            <a:br/>
            <a:br/>
            <a:r>
              <a:t>Freshness가 높으면 소비자가 브랜드를 "새로운 발견"으로 체험하고 있다는 뜻.</a:t>
            </a:r>
            <a:br/>
            <a:br/>
            <a:r>
              <a:t>A: "가나초콜릿은" = 완전히 익숙한 존재 (0.32)</a:t>
            </a:r>
            <a:br/>
            <a:br/>
            <a:r>
              <a:t>B 프리미엄: "이 초콜릿이 진짜 맛있다" = 새로운 발견 (0.65)</a:t>
            </a:r>
            <a:br/>
            <a:br/>
            <a:r>
              <a:t>B 기존 제품: "가나는 여전히..." = 변화 없음 (0.30)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5 — RXR EXCLUSIVE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RXR 고유 지표: Psych. Distance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B5E3C"/>
                </a:solidFill>
                <a:latin typeface="Pretendard"/>
              </a:defRPr>
            </a:pPr>
            <a:r>
              <a:t>0.85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A: Psych. Distance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"나" 개인 관찰자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371600"/>
            <a:ext cx="2560320" cy="14630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5544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8A8AFF"/>
                </a:solidFill>
                <a:latin typeface="Pretendard"/>
              </a:defRPr>
            </a:pPr>
            <a:r>
              <a:t>0.68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17180"/>
                </a:solidFill>
                <a:latin typeface="Pretendard"/>
              </a:defRPr>
            </a:pPr>
            <a:r>
              <a:t>B: Distance (평균)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3317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체험자 0.52 / 비체험자 0.85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371600"/>
            <a:ext cx="4846320" cy="41148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45720" cy="4114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44752"/>
            <a:ext cx="448055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Psych. Distance가 뭔가요?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1691640"/>
            <a:ext cx="4480559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"나"를 많이 쓰면 브랜드를 관찰자 시점으로 봄 (거리감 높음).</a:t>
            </a:r>
            <a:br/>
            <a:r>
              <a:t>"우리", "여기"를 쓰면 브랜드에 소속감을 느끼고 있음 (거리감 낮음).</a:t>
            </a:r>
            <a:br/>
            <a:br/>
            <a:r>
              <a:t>A: "내가 먹어본 결과..." = 관찰자 (0.85)</a:t>
            </a:r>
            <a:br/>
            <a:br/>
            <a:r>
              <a:t>B 체험자: "우리 여기 또 가자" = 소속감 형성 (0.52)</a:t>
            </a:r>
            <a:br/>
            <a:br/>
            <a:r>
              <a:t>B 비체험자: "내가 왜 저런 걸..." = 여전히 관찰자 (0.85)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6 — LAYER 3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패턴 분류: A(이전) vs B(이후)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64008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패턴이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Layer 1(감성)과 Layer 2(심리)를 교차하면 소비자를 유형별로 분류할 수 있습니다. 같은 "좋다"라도 진짜 팬인지, 인스타용인지, 확신이 없는지를 구분합니다.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10312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286000"/>
                <a:gridCol w="548640"/>
                <a:gridCol w="548640"/>
                <a:gridCol w="548640"/>
                <a:gridCol w="5669280"/>
              </a:tblGrid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패턴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한 줄 설명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대표 리뷰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P-01 진짜 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진심으로 좋아하고 적극 추천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↑8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"프리미엄 가나 헤이즐넛 진짜 맛있다, 꼭 먹어봐"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P-02 인스타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사진 올리려고 간 것. 재방문 낮음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"포토부스 귀여웠어요~"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P-03 확신부족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좋긴 한데 추천까지는 안 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6666FF"/>
                          </a:solidFill>
                          <a:latin typeface="Pretendard"/>
                        </a:defRPr>
                      </a:pPr>
                      <a:r>
                        <a:t>↓8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"맛있긴 한데 또 사먹을것 같진 않아요"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34D399"/>
                          </a:solidFill>
                          <a:latin typeface="Pretendard"/>
                        </a:defRPr>
                      </a:pPr>
                      <a:r>
                        <a:t>체험 전도사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직접 체험 후 적극 전파. B에서 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34D399"/>
                          </a:solidFill>
                          <a:latin typeface="Pretendard"/>
                        </a:defRPr>
                      </a:pPr>
                      <a:r>
                        <a:t>신규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"초콜릿 즐기는 방법을 제대로 알려주는 공간은 처음!"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70262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Zone C 진심불만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실제 문제를 솔직하게 지적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↓2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"팜유 집어넣고 생색. 카카오떡이라고 하렴"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47026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기타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P-05/Zone D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577840"/>
            <a:ext cx="10698480" cy="10058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577840"/>
            <a:ext cx="4572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65099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표에서 가장 중요한 변화: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897879"/>
            <a:ext cx="1033271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P-01(진짜 팬) +8%p: 진심으로 추천하는 사람이 10%-&gt;18%로 성장. 팝업의 핵심 성과.</a:t>
            </a:r>
            <a:br/>
            <a:r>
              <a:t>체험 전도사 8%: A에는 없었던 새 유형 - 직접 체험 후 적극 전파하는 최고 가치 세그먼트.</a:t>
            </a:r>
            <a:br/>
            <a:r>
              <a:t>Zone C(진심 불만) 30%-&gt;28%: 거의 안 줄었음. 팜유 비판층은 이벤트와 무관하게 고착.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7 — AUTH x CLOUT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Auth x Clout 매트릭스: 소비자 이동 방향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매트릭스는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가로축 = Clout(추천 확신), 세로축 = Auth(진심도). 네 칸에 소비자가 어떻게 이동했는지를 보여줍니다.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Clout 낮음 (추천 안 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011680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Clout 높음 (적극 추천)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Auth 높음</a:t>
            </a:r>
            <a:br/>
            <a:r>
              <a:t>(솔직함)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846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1A1AA"/>
                </a:solidFill>
                <a:latin typeface="Pretendard"/>
              </a:defRPr>
            </a:pPr>
            <a:r>
              <a:t>Auth 낮음</a:t>
            </a:r>
            <a:br/>
            <a:r>
              <a:t>(피상적)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3774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840480" y="237744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4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666FF"/>
                </a:solidFill>
                <a:latin typeface="Pretendard"/>
              </a:defRPr>
            </a:pPr>
            <a:r>
              <a:t>P-03 확신 부족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4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 30% -&gt; B 22%  ↓8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"좋긴 한데 추천은..."</a:t>
            </a:r>
            <a:br/>
            <a:r>
              <a:t>-&gt; 일부가 P-01로 이동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37744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37744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20" y="25146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0B981"/>
                </a:solidFill>
                <a:latin typeface="Pretendard"/>
              </a:defRPr>
            </a:pPr>
            <a:r>
              <a:t>P-01 진짜 팬 + 체험 전도사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2788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 10% -&gt; B 26%  ↑16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8120" y="31089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"꼭 가봐야 해!"</a:t>
            </a:r>
            <a:br/>
            <a:r>
              <a:t>-&gt; 최대 성장 영역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40480" y="44805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40480" y="4480560"/>
            <a:ext cx="3474720" cy="45720"/>
          </a:xfrm>
          <a:prstGeom prst="rect">
            <a:avLst/>
          </a:prstGeom>
          <a:solidFill>
            <a:srgbClr val="71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40" y="4617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17180"/>
                </a:solidFill>
                <a:latin typeface="Pretendard"/>
              </a:defRPr>
            </a:pPr>
            <a:r>
              <a:t>P-05 탐색만 / 기타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4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 30% -&gt; B 19%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4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비교만 하고 결정 안 함</a:t>
            </a:r>
            <a:br/>
            <a:r>
              <a:t>-&gt; 일부 이탈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80960" y="4480560"/>
            <a:ext cx="3474720" cy="18288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80960" y="448056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20" y="46177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9E0B"/>
                </a:solidFill>
                <a:latin typeface="Pretendard"/>
              </a:defRPr>
            </a:pPr>
            <a:r>
              <a:t>P-02 인스타 소비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Pretendard"/>
              </a:defRPr>
            </a:pPr>
            <a:r>
              <a:t>A 0% -&gt; B 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52120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"사진 올리려고"</a:t>
            </a:r>
            <a:br/>
            <a:r>
              <a:t>-&gt; 소수, 이벤트 한정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8 — WEAKNESS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기존 약점 해결 테이블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45720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53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이 테이블은 뭔가요?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10332719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이벤트 전에 브랜드가 갖고 있던 약점들을 나열하고, 이벤트가 그 약점을 해결했는지/못했는지를 수치로 보여줍니다.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201168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200400"/>
                <a:gridCol w="2286000"/>
                <a:gridCol w="2651760"/>
              </a:tblGrid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기존 약점 (A)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이벤트가 만든 변화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 근거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해결 여부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"추천 안 함"</a:t>
                      </a:r>
                    </a:p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Clout 32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"꼭 가봐야 해!" 전환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체험자 Clout 55+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Clout 32-&gt;42 (+10)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부분 해결</a:t>
                      </a:r>
                    </a:p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체험자 한정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"간식 = 저가"</a:t>
                      </a:r>
                    </a:p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디저트 인식 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디저트 토픽 신규 등장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프리미엄 라인 4.8점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디저트 토픽 0%-&gt;18%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해결</a:t>
                      </a:r>
                    </a:p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새 인식 레이어 추가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"추억에만 의존"</a:t>
                      </a:r>
                    </a:p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시제 과거 지배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"지금 여기" 현재 경험 추가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팝업 3시즌+아뜰리에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시제: 과거-&gt;현재 추가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해결</a:t>
                      </a:r>
                    </a:p>
                    <a:p>
                      <a:pPr>
                        <a:defRPr sz="800" b="1">
                          <a:solidFill>
                            <a:srgbClr val="10B981"/>
                          </a:solidFill>
                          <a:latin typeface="Pretendard"/>
                        </a:defRPr>
                      </a:pPr>
                      <a:r>
                        <a:t>현재 경험 생성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"팜유/준초콜릿"</a:t>
                      </a:r>
                    </a:p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Zone C 30%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팝업 중 상쇄, After 복귀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기존 제품 팜유 미변경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Zone C 30%-&gt;28% (↓2)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미해결</a:t>
                      </a:r>
                    </a:p>
                    <a:p>
                      <a:pPr>
                        <a:defRPr sz="800" b="1">
                          <a:solidFill>
                            <a:srgbClr val="FF5050"/>
                          </a:solidFill>
                          <a:latin typeface="Pretendard"/>
                        </a:defRPr>
                      </a:pPr>
                      <a:r>
                        <a:t>근본 미변경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"가성비 열세"</a:t>
                      </a:r>
                    </a:p>
                    <a:p>
                      <a:pPr>
                        <a:defRPr sz="800" b="1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노브랜드 대비 30%비쌈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프리미엄은 "합리적"</a:t>
                      </a:r>
                    </a:p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기존 라인은 여전히 비판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가격 토픽 17%-&gt;12%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부분</a:t>
                      </a:r>
                    </a:p>
                    <a:p>
                      <a:pPr>
                        <a:defRPr sz="800" b="1">
                          <a:solidFill>
                            <a:srgbClr val="F59E0B"/>
                          </a:solidFill>
                          <a:latin typeface="Pretendard"/>
                        </a:defRPr>
                      </a:pPr>
                      <a:r>
                        <a:t>프리미엄만 해결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852160"/>
            <a:ext cx="10698480" cy="7315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5852160"/>
            <a:ext cx="45720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925312"/>
            <a:ext cx="103327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Pretendard"/>
              </a:defRPr>
            </a:pPr>
            <a:r>
              <a:t>한마디로: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172200"/>
            <a:ext cx="10332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이벤트가 "추천 의지", "디저트 인식", "현재 경험" 3가지를 해결했지만, "팜유 품질"과 "가격"은 이벤트만으로 해결 불가. 제품 자체의 변화가 필요.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9 —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세그먼트별 전략 제안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P-01 진짜 팬 +</a:t>
            </a:r>
            <a:br/>
            <a:r>
              <a:t>체험 전도사 (26%)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체험 후 진심 추천.</a:t>
            </a:r>
            <a:br/>
            <a:r>
              <a:t>Auth+Clout 모두 높음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74320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88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Pretendard"/>
              </a:defRPr>
            </a:pPr>
            <a:r>
              <a:t>전략:</a:t>
            </a:r>
            <a:br/>
            <a:r>
              <a:t>VIP 프로그램(시즌 프리오픈, 한정 메뉴).</a:t>
            </a:r>
            <a:br/>
            <a:r>
              <a:t>앰배서더 프로그램으로 리뷰 확산.</a:t>
            </a:r>
            <a:br/>
            <a:r>
              <a:t>Zone C 비판층에 대한 자연스러운 반론 역할.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0B981"/>
                </a:solidFill>
                <a:latin typeface="Pretendard"/>
              </a:defRPr>
            </a:pPr>
            <a:r>
              <a:t>기대: P-03-&gt;P-01 전환 유도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59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47472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5050"/>
                </a:solidFill>
                <a:latin typeface="Pretendard"/>
              </a:defRPr>
            </a:pPr>
            <a:r>
              <a:t>Zone C 진심 불만</a:t>
            </a:r>
            <a:br/>
            <a:r>
              <a:t>(28%)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팜유/성분 비판.</a:t>
            </a:r>
            <a:br/>
            <a:r>
              <a:t>Auth 극높. 11년째 고착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17720" y="274320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59" y="2788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Pretendard"/>
              </a:defRPr>
            </a:pPr>
            <a:r>
              <a:t>전략:</a:t>
            </a:r>
            <a:br/>
            <a:r>
              <a:t>이벤트만으로 해결 불가.</a:t>
            </a:r>
            <a:br/>
            <a:r>
              <a:t>근본적 제품 개선(카카오버터 비율 확대) 병행.</a:t>
            </a:r>
            <a:br/>
            <a:r>
              <a:t>비체험자-&gt;체험자 전환: 블라인드 테스트 이벤트.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59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Pretendard"/>
              </a:defRPr>
            </a:pPr>
            <a:r>
              <a:t>현실: 제품이 안 바뀌면 인식도 안 바뀜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371600"/>
            <a:ext cx="3474720" cy="4572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15087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P-03 확신 부족</a:t>
            </a:r>
            <a:br/>
            <a:r>
              <a:t>(22%)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01168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특성: 좋긴 한데 추천까지는 안 함.</a:t>
            </a:r>
            <a:br/>
            <a:r>
              <a:t>Auth높 Clout낮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66760" y="2743200"/>
            <a:ext cx="3200400" cy="27432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7889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Pretendard"/>
              </a:defRPr>
            </a:pPr>
            <a:r>
              <a:t>전략:</a:t>
            </a:r>
            <a:br/>
            <a:r>
              <a:t>체험 터치포인트 강화.</a:t>
            </a:r>
            <a:br/>
            <a:r>
              <a:t>팝업 시식, DIY 체험으로 확신 부여.</a:t>
            </a:r>
            <a:br/>
            <a:r>
              <a:t>P-01 진짜 팬의 리뷰를 이 세그먼트에 노출.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5029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666FF"/>
                </a:solidFill>
                <a:latin typeface="Pretendard"/>
              </a:defRPr>
            </a:pPr>
            <a:r>
              <a:t>기대: P-03의 30~40%를 P-01로 전환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SECTION 10 — 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핵심 변화 3가지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474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Pretendard"/>
              </a:defRPr>
            </a:pPr>
            <a:r>
              <a:t>바뀐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B981"/>
                </a:solidFill>
                <a:latin typeface="Pretendard"/>
              </a:defRPr>
            </a:pPr>
            <a:r>
              <a:t>"간식-&gt;디저트"</a:t>
            </a:r>
            <a:br/>
            <a:r>
              <a:t>인식 레이어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3464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260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P-01(팬) +8%p / 체험 전도사 8% 신규</a:t>
            </a:r>
            <a:br/>
            <a:r>
              <a:t>프리미엄 4.8점 / 디저트 토픽 18% 신규</a:t>
            </a:r>
            <a:br/>
            <a:r>
              <a:t>Clout +10 (추천 의지 탄생)</a:t>
            </a:r>
            <a:br/>
            <a:r>
              <a:t>50주년 아뜰리에 -&gt; 예술 영역까지 확장</a:t>
            </a:r>
            <a:br/>
            <a:r>
              <a:t>소비자 언어에 "공간", "디저트", "고급" 어휘 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안 바뀐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5050"/>
                </a:solidFill>
                <a:latin typeface="Pretendard"/>
              </a:defRPr>
            </a:pPr>
            <a:r>
              <a:t>팜유 논란</a:t>
            </a:r>
            <a:br/>
            <a:r>
              <a:t>영구 고착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83464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59" y="29260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Zone C 30%-&gt;28% (거의 불변)</a:t>
            </a:r>
            <a:br/>
            <a:r>
              <a:t>비체험자 Tone 38 (강한 부정)</a:t>
            </a:r>
            <a:br/>
            <a:r>
              <a:t>"카카오떡" 조롱 수위 상승</a:t>
            </a:r>
            <a:br/>
            <a:r>
              <a:t>노브랜드 대안 추천 고착화</a:t>
            </a:r>
            <a:br/>
            <a:r>
              <a:t>커뮤니티 비판 강도 오히려 증가</a:t>
            </a:r>
            <a:br/>
            <a:r>
              <a:t>(2025 "집단폭행" 57K뷰)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371600"/>
            <a:ext cx="3474720" cy="521208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4747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1508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Pretendard"/>
              </a:defRPr>
            </a:pPr>
            <a:r>
              <a:t>새로 생긴 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182880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59E0B"/>
                </a:solidFill>
                <a:latin typeface="Pretendard"/>
              </a:defRPr>
            </a:pPr>
            <a:r>
              <a:t>체험자 vs 비체험자</a:t>
            </a:r>
            <a:br/>
            <a:r>
              <a:t>인식 단절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66760" y="2834640"/>
            <a:ext cx="3200400" cy="347472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292608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체험자: "초콜릿에 진심" Clout 55+</a:t>
            </a:r>
            <a:br/>
            <a:r>
              <a:t>비체험자: "팜유 범벅" Auth 70+</a:t>
            </a:r>
            <a:br/>
            <a:r>
              <a:t>같은 브랜드에 4.8점과 "카카오떡" 공존</a:t>
            </a:r>
            <a:br/>
            <a:r>
              <a:t>2022 이전에는 없던 현상</a:t>
            </a:r>
            <a:br/>
            <a:r>
              <a:t>인식 단절이 새로운 마케팅 과제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STRUCTURAL CONTRADICTION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구조적 모순 - 이벤트가 해결할 수 없는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팝업에서의 경험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유명 파티시에의 프리미엄 디저트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- 35,000원 페어링 코스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마다가스카 바닐라, 고급 카카오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"초콜릿에 진심인 브랜드"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구매전환율 95%, 체류 1~2시간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12064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5050"/>
                </a:solidFill>
                <a:latin typeface="Pretendard"/>
              </a:defRPr>
            </a:pPr>
            <a:r>
              <a:t>매대에서의 현실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288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- 1,000~2,000원대 판형 초콜릿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팜유(식물성유지) 사용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카카오 함량 28%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"준초콜릿" 법적 분류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FFFFFF"/>
                </a:solidFill>
                <a:latin typeface="Pretendard"/>
              </a:defRPr>
            </a:pPr>
            <a:r>
              <a:t>- 노브랜드 90g 1,280원 대비 가성비 열세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18288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4754880"/>
            <a:ext cx="45720" cy="18288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84632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5050"/>
                </a:solidFill>
                <a:latin typeface="Pretendard"/>
              </a:defRPr>
            </a:pPr>
            <a:r>
              <a:t>구조적 모순: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팝업에서는 프리미엄 디저트를 경험시키면서, 실제 매대 제품은 팜유 기반 저가 초콜릿.</a:t>
            </a:r>
          </a:p>
          <a:p>
            <a:pPr algn="l">
              <a:spcBef>
                <a:spcPts val="3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체험과 현실의 갭이 인식 단절의 근본 원인. 이 모순이 해소되지 않는 한, 팝업의 긍정 효과는 항상 일시적.</a:t>
            </a:r>
          </a:p>
          <a:p>
            <a:pPr algn="l">
              <a:spcBef>
                <a:spcPts val="400"/>
              </a:spcBef>
              <a:defRPr sz="400" b="0">
                <a:solidFill>
                  <a:srgbClr val="FFFFFF"/>
                </a:solidFill>
                <a:latin typeface="Pretendard"/>
              </a:defRPr>
            </a:pPr>
          </a:p>
          <a:p>
            <a:pPr algn="l">
              <a:spcBef>
                <a:spcPts val="300"/>
              </a:spcBef>
              <a:defRPr sz="1000" b="1">
                <a:solidFill>
                  <a:srgbClr val="FFFFFF"/>
                </a:solidFill>
                <a:latin typeface="Pretendard"/>
              </a:defRPr>
            </a:pPr>
            <a:r>
              <a:t>비체험자의 논리: "팝업에서 35,000원짜리 디저트 보여주면서, 매대에서는 1,980원짜리 팜유 초콜릿 팔잖아. 그게 디저트 브랜드야?"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Pretendard"/>
              </a:defRPr>
            </a:pPr>
            <a:r>
              <a:t>종합 판정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1206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Pretendard"/>
              </a:defRPr>
            </a:pPr>
            <a:r>
              <a:t>성공한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"디저트" 인식 레이어 추가 성공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P-01(진짜 팬) 10%-&gt;18% 순증 +8%p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프리미엄 라인 4.8점 - 제품 실체 확보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팝업 3시즌 -&gt; 시즌제 팝업 성공 공식 창출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- 50주년 아뜰리에 -&gt; 예술/문화 영역까지 확장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소비자 언어에 "공간", "디저트", "고급" 어휘 추가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120640" cy="32004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120640" cy="4572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50876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5050"/>
                </a:solidFill>
                <a:latin typeface="Pretendard"/>
              </a:defRPr>
            </a:pPr>
            <a:r>
              <a:t>실패한 것 / 미해결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Zone C(팜유 비판) 30%-&gt;28% 거의 불변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커뮤니티 비판 강도 오히려 증가 (2025 57K뷰)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기존 가나 제품의 팜유 사용 미변경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체험자/비체험자 인식 단절 해소 실패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광고 평론 "안 맞는 옷" - 인지 부조화 지적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A1A1AA"/>
                </a:solidFill>
                <a:latin typeface="Pretendard"/>
              </a:defRPr>
            </a:pPr>
            <a:r>
              <a:t>- "노브랜드가 낫다" 대안 추천 고착화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75488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FF"/>
                </a:solidFill>
                <a:latin typeface="Pretendard"/>
              </a:defRPr>
            </a:pPr>
            <a:r>
              <a:t>3년간의 팝업과 캠페인은 "디저트"라는 새 인식 레이어를 추가하는 데 성공했지만,</a:t>
            </a:r>
            <a:br/>
            <a:r>
              <a:t>"팜유"라는 기존 레이어를 제거하지는 못했다.</a:t>
            </a:r>
            <a:br/>
            <a:br/>
            <a:r>
              <a:t>L1으로 보면 "긍정이 올랐다" - L2로 보면 "긍정의 질이 체험자/비체험자로 완전히 다르다"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852160"/>
            <a:ext cx="10698480" cy="82296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852160"/>
            <a:ext cx="45720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97880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Pretendard"/>
              </a:defRPr>
            </a:pPr>
            <a:r>
              <a:t>다음 단계를 위한 제언: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6126480"/>
            <a:ext cx="10332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1. 제품 실체 전환: 카카오버터 비율 점진 확대. 이것 없으면 "안 맞는 옷" 영구 지속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2. 비체험자-&gt;체험자 전환: 블라인드 테스트 이벤트로 Zone C 유인</a:t>
            </a:r>
          </a:p>
          <a:p>
            <a:pPr algn="l">
              <a:spcBef>
                <a:spcPts val="200"/>
              </a:spcBef>
              <a:defRPr sz="900" b="0">
                <a:solidFill>
                  <a:srgbClr val="A1A1AA"/>
                </a:solidFill>
                <a:latin typeface="Pretendard"/>
              </a:defRPr>
            </a:pPr>
            <a:r>
              <a:t>3. 이중 구조 인정: 기존 가나(간식)와 프리미엄 가나(디저트)를 별도 브랜드처럼 운영 고려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Pretendard"/>
              </a:defRPr>
            </a:pPr>
            <a:r>
              <a:t>같은 "긍정 86%"도, Layer 2를 추가하면</a:t>
            </a:r>
            <a:br/>
            <a:r>
              <a:t>3개의 전혀 다른 세그먼트가 보인다.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657600"/>
            <a:ext cx="8503920" cy="548640"/>
          </a:xfrm>
          <a:prstGeom prst="roundRect">
            <a:avLst>
              <a:gd name="adj" fmla="val 6000"/>
            </a:avLst>
          </a:prstGeom>
          <a:solidFill>
            <a:srgbClr val="30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3703320"/>
            <a:ext cx="8138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6666FF"/>
                </a:solidFill>
                <a:latin typeface="Pretendard"/>
              </a:defRPr>
            </a:pPr>
            <a:r>
              <a:t>L1으로 보면 "긍정이 올랐다"</a:t>
            </a:r>
            <a:br/>
            <a:r>
              <a:t>L2로 보면 "긍정의 질이 체험자/비체험자로 완전히 다르다"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17180"/>
                </a:solidFill>
                <a:latin typeface="Pretendard"/>
              </a:defRPr>
            </a:pPr>
            <a:r>
              <a:t>Project RENT  |  R-lab  |  RXR 2-Layer Brand Perception Shift  |  2026.04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17180"/>
                </a:solidFill>
                <a:latin typeface="Pretendard"/>
              </a:defRPr>
            </a:pPr>
            <a:r>
              <a:t>LIWC 수치는 텍스트 패턴 기반 추정치입니다. Freshness Index는 RXR 독자 프레임워크로 학술적 검증 진행 중입니다.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A-1. 뉴스 기사 (이벤트) - 1/2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heyPOP - 성공 팝업 공식 만든 가나 초콜릿 하우스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시즌1 누적 방문객 2만 명 달성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"다녀온 방문객들의 입소문을 타고 핫플로 등극"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유동인구 적은 성수동에서 입소문만으로 성장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698480" cy="1033271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45720" cy="1033271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heyPOP - 성공 팝업 공식 만든 가나 초콜릿 하우스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317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"초콜릿을 즐기는 방법을 제대로 알려주는 공간은 처음" (방문객 피드백)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6148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구매전환율 95%+, 체류시간 1~2시간 (일반 팝업 5분 대비)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626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"가나초콜릿을 디저트로 인식하는 동의도" 목표치 초과 달성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6382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"여기는 초콜릿에 진심이구나" (방문객 피드백)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20439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푸드뉴스 - 가나초콜릿 팝업 방문객 1만명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3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2022.05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39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오픈 9일 만에 1만명 방문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50207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인기로 5월 29일까지 연장 운영 결정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1513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"기간을 더 연장해달라", "짧은 기간이라 너무 아쉽다" 고객 의견 쇄도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48056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448056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5262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브리크매거진 - 2022 가나 초콜릿 하우스 팝업스토어 오픈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45262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2022.04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548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기간: 2022.04.18~05.12 / 장소: 프로젝트렌트 (서울 성동구)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560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유명 파티셰 자문 5가지 코스 디저트 + 음료 페어링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572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DIY 클래스: 직접 초콜릿 제작 체험 / 사전 예약제 운영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9496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39496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406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시사저널e - 가나 초콜릿 하우스, MZ 성수동 핫플 등극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4406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692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S3 오픈 첫 주말 약 2,500명 방문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8704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"다른 카페 가지 말고 여기 있다 가자" (현장 방문객 대화)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60716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"여기저기서 사진을 남기려는 젊은 방문객들의 조용한 눈치 싸움"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A-1. 뉴스 기사 (이벤트) - 2/2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033271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1033271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브리크매거진 - 가나 초콜릿 하우스 시즌3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"18세기 런던 초콜릿 하우스에서 영감 - 3년째 이어지는 장기 프로젝트"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사계절 주제: 매주 다른 디저트 브랜드 8곳 + 게스트 바리스타 4팀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참여 셰프: 가루하루, 미뉴트 빠삐용, DORE DORE MOF, 케이크바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5798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테이블 장식 꽃도 매주 교체 / 도쿄 하라주쿠 확장 예정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46888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46888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5146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소셜마케팅코리아 - 예약 대기 인원만 2000명인 이유는?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5146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432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인기 프로그램 예약 오픈 1분 만에 마감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443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예약 대기 인원 2,000명 초과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14553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"초콜릿을 단순한 간식이 아닌, 디저트로써 즐길 수 있는 다양한 방법을 제시"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38328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429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사례뉴스 - 팝업의 성지 성수에 다시 찾아온 디저트의 성지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4290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576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"일시적으로 발생했다가 사라지는 기존의 팝업이 아닌 3년째 이어지는 장기 프로젝트"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8587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MZ세대뿐 아니라 부모 세대 소비자들도 가나초콜릿과의 오랜 추억과 함께 방문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0624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0624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251959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ZDNet - 50년 예술 집약체, 아뜰리에 가나 전시장 가보니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25195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2025.04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480559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조향사가 설계한 초콜릿 향이 관람객을 맞이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681727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박선기 작가: 숯으로 초콜릿 큐브 형상화 - "가나초콜릿이 50년간 지켜온 정체성과 닮아"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02920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502920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5074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중앙이코노미뉴스 - 가나 50주년 특별전시 열다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5074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2025.05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303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"기대 이상이었다. 인생의 중요한 순간을 초콜릿에 빗대어 표현한 게 인상적" (예술 동호회)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50468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"단순한 브랜드 전시가 아니라 인생을 돌아보게 해줘서 좋았다" (관람객)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058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김선우 작가 도도새 키링/인형 - 개막 당일 일시 품절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A-2. 뉴스 기사 (브랜드/제품)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아시아경제 - 반백년 66억갑 팔린 가나초콜릿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2024.02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누적 매출 1.3조 원, 66억 갑, 초당 약 4개 판매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1975년 출시, 판형 초콜릿 시장 1위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01168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01168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574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이데일리 - 50년간 사랑받은 가나초콜릿, 디저트로 자리매김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0574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2025.05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86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프리미엄 가나 10종 라인업, 안성재 셰프 협업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871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"가나 디저트 하우스" 브랜드 론칭 (케이크, 빵, 아이스크림)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743200"/>
            <a:ext cx="10698480" cy="1033271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2743200"/>
            <a:ext cx="45720" cy="1033271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27889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AP신문 - 가나초콜릿 프리미엄 광고평론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7889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0175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평론가 6인 평균 3.0점 (예술성 3.7 / 호감도 2.8 / 창의성 2.2)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21868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"안 맞는 옷을 입고 있는 것처럼 보인다" (김석용 2.7점)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198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"초콜릿 광고가 이렇게 고급스러울 수 있다니" (강지은 3.9점)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62102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"정석적이라 기억에 안 남는 광고" (홍산 2.7점)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84048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1520" y="384048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8862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세계일보 - "싼 게 한국인 입맛에 맞아요"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8862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2016.01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1148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롯데제과: "한국인의 입맛에는 저렴한 식물성유지가 맞다" - 소비자 반발 촉발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3159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불만제로: 1kg 식물성유지 5천원 vs 1kg 코코아매스 2.2만원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51713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일본에서는 전량 코코아매스로 생산 - 내수차별 논란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75488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31520" y="475488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8006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대홍기획 - 가나, 디저트가 되다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8006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0292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2022 1차 캠페인: 디저트 라인업 프리미엄 포지셔닝 -&gt; "브랜드가 세련돼졌다" 소비자 반응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303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"판초콜릿을 소비자들은 디저트로 여기지 않습니다" (캠페인 출발점)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43153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유튜브 공개 1주일 만에 130만 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1520" y="566928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31520" y="566928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connectvalue - 가나초콜릿은 왜 프리미엄 가나에 집중하나?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86800" y="57150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" y="59436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lowkey 카페 협업 - Dark Moon Blend 원두 직접 로스팅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1447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합리적 프리미엄 트렌드 반영 / Tiered offering 전략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A-5. 커뮤니티/일반 소비자 - 1/2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1033271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1033271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클리앙 - 한국 초콜릿을 맛보는 스위스 형님들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"카카오 함량도 낮고 카카오버터 대신 싸구려 팜유로 만드니까" [Auth높 Zone C]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"우리나라 대기업에서 만든 초콜릿은 초콜릿이 아닌게 많다"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"식물성유지(팜유)는 엄청 작게 써놨네요"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5798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"초코렛도 아니니... 초코맛이 나는 그 무언가"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6032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256032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06039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클리앙 - 제가 한국 초콜릿 안먹는 이유.jpg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60603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2020.10 (124댓글)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39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"국내 초콜릿은 거의 다 식물성유지가 들어있더라구요" [Zone C]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"제대로 된 초콜릿은 코코아매스, 코코아버터, 설탕만 들어가야 한다"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236975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124개 댓글 중 대다수 동의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47472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347472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520439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클리앙 - 초콜릿 살때 식물성유지 들어있으면 안삽니다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52043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1097280" y="3749039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"식물성유지가 들어간 초콜렛을 먹어보면 혀가 기름으로 코팅되는 느낌" [감각축 Proximal 부정]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50207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팜유 프리 초콜릿 추천 목록 공유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9768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45720" cy="123444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루리웹 - 집단폭행당하고 있는 가나초콜릿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3434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  <a:r>
              <a:t>2025.03 (57K뷰, 258추천)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572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"팜유 집어넣고 생색 냈었지" [Auth극높 Zone C]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731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"카카오떡이라고 하렴"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7433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"개가 먹어도 안전한 초콜릿이라고 비아냥"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7550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"롯데 보이는 제과류는 대체품 보이면 거름"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7667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대안 추천: 노브랜드 벨기에 초콜릿 압도적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A-5. 커뮤니티/일반 소비자 - 2/2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루리웹 - 민심 떡락한 가나 초콜릿 먹어보기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"맛은 먹을만하게 맛있습니다. 굳이 또 사먹을거 같진 않네요" [Auth높 Clout낮 P-03]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"카카오가 28%, 가공유지도 들어가있네요"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"70g 1,980원 vs 노브랜드 90g 1,280원 - 가성비 약 30% 열세"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94560"/>
            <a:ext cx="10698480" cy="630936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194560"/>
            <a:ext cx="45720" cy="630936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240279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에펨코리아 - 한국산 초콜릿들 재평가 시작.jpg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40279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2468879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한국 초콜릿 품질 전반에 대한 재평가 논의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6700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가나초콜릿 성분 비교표 공유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34640"/>
            <a:ext cx="10698480" cy="123444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2834640"/>
            <a:ext cx="45720" cy="1234440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28803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나무위키 - 가나초콜릿 문서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803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1097280" y="31089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"카카오버터 대신 팜유를 사용 - 엄밀히 말하면 준초콜릿"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3101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"에어라이트 다크는 너무 맛이 없다"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1129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"양 늘어나고 맛도 좋아져서 흔치 않게 납득할 만한 가격인상"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712463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2021년 성분표에서 팜유-&gt;식물성유지로 표기 변경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91363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2022 FIFA 가나전 이후 일시 매출 2~3배 증가 에피소드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A-7. 기업 공식 데이터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80160"/>
          <a:ext cx="106984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3383280"/>
              </a:tblGrid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수치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출처</a:t>
                      </a:r>
                    </a:p>
                  </a:txBody>
                  <a:tcPr>
                    <a:solidFill>
                      <a:srgbClr val="6666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누적 매출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약 1.3조 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아시아경제 2024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누적 판매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약 66억 갑 (초당 4개)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한국경제 2024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시장점유율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약 40% (판형 초콜릿)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식품음료신문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S1 방문객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2만 명 (연장 운영 포함)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heyPOP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S1 연장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5.12-&gt;5.29 연장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푸드뉴스 2022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S3 첫 주말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2,500명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롯데 공식블로그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S3 9일간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9,000명 (S1 대비 2배)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롯데 공식블로그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구매전환율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95%+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heyPOP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체류시간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1~2시간 (일반 팝업 5분 대비)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heyPOP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예약 대기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2,000명+ / 1분 만에 마감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소셜마케팅코리아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디저트 인식 동의도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목표치 초과 달성 (수치 비공개)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heyPOP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 가나 평점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4.8/5 (171리뷰)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마켓컬리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프리미엄 라인업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10종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푸드투데이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광고 유튜브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공개 1주일 130만 뷰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대홍기획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S2 장소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부산 전포동 (낮:카페/밤:바)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heyPOP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S3 규모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150평, 70명 동시 수용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브리크매거진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S3 메뉴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총 32개 디저트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롯데 공식블로그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아뜰리에 가나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2025.04~06, 롯데뮤지엄, 신작 31점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ZDNet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아뜰리에 입장료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A1A1AA"/>
                          </a:solidFill>
                          <a:latin typeface="Pretendard"/>
                        </a:defRPr>
                      </a:pPr>
                      <a:r>
                        <a:t>성인 1.2만원 / 어린이 6천원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0">
                          <a:solidFill>
                            <a:srgbClr val="717180"/>
                          </a:solidFill>
                          <a:latin typeface="Pretendard"/>
                        </a:defRPr>
                      </a:pPr>
                      <a:r>
                        <a:t>비즈워치</a:t>
                      </a:r>
                    </a:p>
                  </a:txBody>
                  <a:tcPr>
                    <a:solidFill>
                      <a:srgbClr val="262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666FF"/>
                </a:solidFill>
                <a:latin typeface="Pretendard"/>
              </a:defRPr>
            </a:pPr>
            <a:r>
              <a:t>APPENDIX A-9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Pretendard"/>
              </a:defRPr>
            </a:pPr>
            <a:r>
              <a:t>A-9. 기업 관계자 인용문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최원석 대표 (프로젝트렌트)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2588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097280" y="155448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"오픈 첫날, 노부부는 물론 아기를 데리고 온 엄마, 가족 등 다양한 분들이 찾아주셔서 기분이 좋았어요"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5564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"구매 전환율이 95% 이상"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5681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"입소문이 나면서 나중에는 줄까지 서야 할 정도로 많은 분이 찾아오셨어요"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28600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33172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강민영 대리 (롯데웰푸드)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33172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1097280" y="256032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"초콜릿을 즐기는 방법을 제대로 알려주는 공간은 처음이라는 피드백을 많이 받았어요"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76148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"가나초콜릿을 디저트로 인식하는 동의도 - 목표치 초과 달성"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96265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"어린 시절 먹던 가나가 이렇게 고급스러워질 수 있다는 것을 보여주고 싶었습니다"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291840"/>
            <a:ext cx="10698480" cy="832104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291840"/>
            <a:ext cx="45720" cy="832104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33756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대홍기획 (광고 대행사)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33756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1097280" y="356616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"브랜드가 세련돼졌다는 성공적인 소비자 반응을 얻어냈습니다" (2022 캠페인)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76732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"마트에서 쉽게 찾아볼 수 있는 판초콜릿을 소비자들은 디저트로 여기지 않습니다" (캠페인 출발점)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396849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"약간의 투자로 좀 더 나은 선택지를 발견할 수 있다는 확신을 주는 전략" (합리적 프리미엄)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297680"/>
            <a:ext cx="10698480" cy="1033271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4297680"/>
            <a:ext cx="45720" cy="1033271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34340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롯데웰푸드 공식 입장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434340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097280" y="457200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"이 팝업스토어는 가나의 정체성을 디저트 브랜드로 확립하기 위한 노력" (2022)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773168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"가나, 디저트가 되다" 캠페인 - 2021년부터 장기 전개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7433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프리미엄 가나: "맛과 품질을 업그레이드시킨 가나의 상위 브랜드"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175504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"행복은 초콜릿으로부터" (50주년 캠페인 콘셉트)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5303520"/>
            <a:ext cx="10698480" cy="429768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303520"/>
            <a:ext cx="45720" cy="429768"/>
          </a:xfrm>
          <a:prstGeom prst="rect">
            <a:avLst/>
          </a:prstGeom>
          <a:solidFill>
            <a:srgbClr val="666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349240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666FF"/>
                </a:solidFill>
                <a:latin typeface="Pretendard"/>
              </a:defRPr>
            </a:pPr>
            <a:r>
              <a:t>박선기 작가 (아뜰리에 가나 참여 작가)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534924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700" b="0">
                <a:solidFill>
                  <a:srgbClr val="717180"/>
                </a:solidFill>
                <a:latin typeface="Pretendard"/>
              </a:defRPr>
            </a:pPr>
          </a:p>
        </p:txBody>
      </p:sp>
      <p:sp>
        <p:nvSpPr>
          <p:cNvPr id="38" name="TextBox 37"/>
          <p:cNvSpPr txBox="1"/>
          <p:nvPr/>
        </p:nvSpPr>
        <p:spPr>
          <a:xfrm>
            <a:off x="1097280" y="5577840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1A1AA"/>
                </a:solidFill>
                <a:latin typeface="Pretendard"/>
              </a:defRPr>
            </a:pPr>
            <a:r>
              <a:t>"가나초콜릿이 50년간 지켜온 정체성과 닮아 있다" (숯으로 초콜릿 큐브 형상화)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