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FF"/>
                </a:solidFill>
                <a:latin typeface="Pretendard"/>
              </a:defRPr>
            </a:pPr>
            <a:r>
              <a:t>RXR 2-LAYER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Pretendard"/>
              </a:defRPr>
            </a:pPr>
            <a:r>
              <a:t>가나초콜릿 vs 가나초콜릿하우스</a:t>
            </a:r>
            <a:br/>
            <a:r>
              <a:t>동일 브랜드, 완전히 다른 심리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  <a:latin typeface="Pretendard"/>
              </a:defRPr>
            </a:pPr>
            <a:r>
              <a:t>제품 리뷰와 공간 리뷰를 RXR 2-Layer 프레임워크(Content Layer + Psyche Layer)로 분석하여,</a:t>
            </a:r>
            <a:br/>
            <a:r>
              <a:t>단일 레이어 분석이 놓치는 심리적 전환을 실증한다.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80"/>
                </a:solidFill>
                <a:latin typeface="Pretendard"/>
              </a:defRPr>
            </a:pPr>
            <a:r>
              <a:t>Project RENT  ·  R-lab  ·  2026.04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SECTION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Pretendard"/>
              </a:defRPr>
            </a:pPr>
            <a:r>
              <a:t>분석 대상 &amp; 데이터 개요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92608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572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E3C"/>
                </a:solidFill>
                <a:latin typeface="Pretendard"/>
              </a:defRPr>
            </a:pPr>
            <a:r>
              <a:t>A  가나초콜릿 (제품)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유형: 판형 초콜릿 (FMCG)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역사: 1975~ (51년), 누적 매출 1.3조 원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누적 판매량: 66억 갑 (초당 4개)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포지셔닝: "국민 초콜릿"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수집 리뷰: 커뮤니티/블로그/쇼핑몰 기반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292608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645920"/>
            <a:ext cx="512064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Pretendard"/>
              </a:defRPr>
            </a:pPr>
            <a:r>
              <a:t>B  가나초콜릿하우스 (공간)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유형: 체험형 팝업스토어 / 디저트 카페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역사: 2022~ (시즌3까지), 150평 규모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구매전환율: 95%+, 예약 1분 만에 마감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포지셔닝: "가나, 디저트가 되다"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수집 리뷰: 블로그/SNS/리뷰플랫폼 기반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54880"/>
            <a:ext cx="10698480" cy="182880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754880"/>
            <a:ext cx="45720" cy="1828800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8463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FF"/>
                </a:solidFill>
                <a:latin typeface="Pretendard"/>
              </a:defRPr>
            </a:pPr>
            <a:r>
              <a:t>분석 프레임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2120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Layer 1 (Content) - n-gram, 감성분류, 토픽 클러스터링으로 "무엇을 말했는가" 분석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Layer 2 (Psyche) - LIWC 4대 변수 + 대명사/조사/어미 패턴으로 "어떻게 말했는가" 분석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Layer 3 (Synthesis) - What x How 교차 분석으로 "왜 다른 반응인가" 진단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SECTION 2 — LAYER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Pretendard"/>
              </a:defRPr>
            </a:pPr>
            <a:r>
              <a:t>2-1. 감성 분포 비교: "무엇을 말했는가"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93776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E3C"/>
                </a:solidFill>
                <a:latin typeface="Pretendard"/>
              </a:defRPr>
            </a:pPr>
            <a:r>
              <a:t>A  가나초콜릿 - 감성 분포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Pretendard"/>
              </a:defRPr>
            </a:pPr>
            <a:r>
              <a:t>긍정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304288"/>
            <a:ext cx="3474720" cy="201168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2304288"/>
            <a:ext cx="1667865" cy="201168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59" y="22951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48%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17180"/>
                </a:solidFill>
                <a:latin typeface="Pretendard"/>
              </a:defRPr>
            </a:pPr>
            <a:r>
              <a:t>중립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2670048"/>
            <a:ext cx="3474720" cy="201168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828800" y="2670048"/>
            <a:ext cx="764438" cy="201168"/>
          </a:xfrm>
          <a:prstGeom prst="roundRect">
            <a:avLst>
              <a:gd name="adj" fmla="val 6000"/>
            </a:avLst>
          </a:prstGeom>
          <a:solidFill>
            <a:srgbClr val="71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59" y="266090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22%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017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5050"/>
                </a:solidFill>
                <a:latin typeface="Pretendard"/>
              </a:defRPr>
            </a:pPr>
            <a:r>
              <a:t>부정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3035808"/>
            <a:ext cx="3474720" cy="201168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828800" y="3035808"/>
            <a:ext cx="1042415" cy="201168"/>
          </a:xfrm>
          <a:prstGeom prst="roundRect">
            <a:avLst>
              <a:gd name="adj" fmla="val 6000"/>
            </a:avLst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59" y="30266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42900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80"/>
                </a:solidFill>
                <a:latin typeface="Pretendard"/>
              </a:defRPr>
            </a:pPr>
            <a:r>
              <a:t>부정 30% - "팜유", "싸구려 기름맛", "맛없다" 직접 비판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84048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1A1AA"/>
                </a:solidFill>
                <a:latin typeface="Pretendard"/>
              </a:defRPr>
            </a:pPr>
            <a:r>
              <a:t>대표 긍정: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717180"/>
                </a:solidFill>
                <a:latin typeface="Pretendard"/>
              </a:defRPr>
            </a:pPr>
            <a:r>
              <a:t>"입에서 사르르 녹는 달콤한 맛이 특징이다"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717180"/>
                </a:solidFill>
                <a:latin typeface="Pretendard"/>
              </a:defRPr>
            </a:pPr>
            <a:r>
              <a:t>"난 아직도 갈색이랑 빨간색 맛의 차이를 모르겠음"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FFFFFF"/>
                </a:solidFill>
                <a:latin typeface="Pretendard"/>
              </a:defRPr>
            </a:pPr>
          </a:p>
          <a:p>
            <a:pPr algn="l">
              <a:spcBef>
                <a:spcPts val="200"/>
              </a:spcBef>
              <a:defRPr sz="1000" b="1">
                <a:solidFill>
                  <a:srgbClr val="FF5050"/>
                </a:solidFill>
                <a:latin typeface="Pretendard"/>
              </a:defRPr>
            </a:pPr>
            <a:r>
              <a:t>대표 부정: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717180"/>
                </a:solidFill>
                <a:latin typeface="Pretendard"/>
              </a:defRPr>
            </a:pPr>
            <a:r>
              <a:t>"카카오버터 대신 싸구려 팜유로 만드니까"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717180"/>
                </a:solidFill>
                <a:latin typeface="Pretendard"/>
              </a:defRPr>
            </a:pPr>
            <a:r>
              <a:t>"가나초콜렛은 가나초콜렛이지 초콜렛은 아니야"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645920"/>
            <a:ext cx="5120640" cy="493776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783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Pretendard"/>
              </a:defRPr>
            </a:pPr>
            <a:r>
              <a:t>B  가나초콜릿하우스 - 감성 분포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2860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Pretendard"/>
              </a:defRPr>
            </a:pPr>
            <a:r>
              <a:t>긍정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2304288"/>
            <a:ext cx="3474720" cy="201168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06640" y="2304288"/>
            <a:ext cx="2988259" cy="201168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799" y="22951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86%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6517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17180"/>
                </a:solidFill>
                <a:latin typeface="Pretendard"/>
              </a:defRPr>
            </a:pPr>
            <a:r>
              <a:t>중립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0" y="2670048"/>
            <a:ext cx="3474720" cy="201168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06640" y="2670048"/>
            <a:ext cx="347472" cy="201168"/>
          </a:xfrm>
          <a:prstGeom prst="roundRect">
            <a:avLst>
              <a:gd name="adj" fmla="val 6000"/>
            </a:avLst>
          </a:prstGeom>
          <a:solidFill>
            <a:srgbClr val="71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799" y="266090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10%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017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5050"/>
                </a:solidFill>
                <a:latin typeface="Pretendard"/>
              </a:defRPr>
            </a:pPr>
            <a:r>
              <a:t>부정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06640" y="3035808"/>
            <a:ext cx="3474720" cy="201168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406640" y="3035808"/>
            <a:ext cx="138988" cy="201168"/>
          </a:xfrm>
          <a:prstGeom prst="roundRect">
            <a:avLst>
              <a:gd name="adj" fmla="val 6000"/>
            </a:avLst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799" y="30266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42900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80"/>
                </a:solidFill>
                <a:latin typeface="Pretendard"/>
              </a:defRPr>
            </a:pPr>
            <a:r>
              <a:t>부정은 품절/웨이팅 불만에 집중, 공간 자체 비판은 극소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84048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1A1AA"/>
                </a:solidFill>
                <a:latin typeface="Pretendard"/>
              </a:defRPr>
            </a:pPr>
            <a:r>
              <a:t>대표 긍정: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717180"/>
                </a:solidFill>
                <a:latin typeface="Pretendard"/>
              </a:defRPr>
            </a:pPr>
            <a:r>
              <a:t>"결론부터 이야기하자면 생각보다 더 좋았습니다!"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717180"/>
                </a:solidFill>
                <a:latin typeface="Pretendard"/>
              </a:defRPr>
            </a:pPr>
            <a:r>
              <a:t>"처음에는 홍보 팝업으로 생각했는데 완성도에 감동"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717180"/>
                </a:solidFill>
                <a:latin typeface="Pretendard"/>
              </a:defRPr>
            </a:pPr>
            <a:r>
              <a:t>"다른 카페 가지 말고 여기 있다 가자"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FFFFFF"/>
                </a:solidFill>
                <a:latin typeface="Pretendard"/>
              </a:defRPr>
            </a:pPr>
          </a:p>
          <a:p>
            <a:pPr algn="l">
              <a:spcBef>
                <a:spcPts val="200"/>
              </a:spcBef>
              <a:defRPr sz="1000" b="1">
                <a:solidFill>
                  <a:srgbClr val="FF5050"/>
                </a:solidFill>
                <a:latin typeface="Pretendard"/>
              </a:defRPr>
            </a:pPr>
            <a:r>
              <a:t>대표 부정: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717180"/>
                </a:solidFill>
                <a:latin typeface="Pretendard"/>
              </a:defRPr>
            </a:pPr>
            <a:r>
              <a:t>"별거 볼 건 없더라고요ㅠㅠ 초콜릿 특색이 덜 보이는 점 아쉬움"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SECTION 2 — LAYER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Pretendard"/>
              </a:defRPr>
            </a:pPr>
            <a:r>
              <a:t>2-2. 토픽 클러스터 &amp; 키워드 비교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3200400"/>
                <a:gridCol w="914400"/>
                <a:gridCol w="4297680"/>
              </a:tblGrid>
              <a:tr h="5715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토픽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제품 비중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제품 대표 키워드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공간 비중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공간 대표 키워드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맛/식감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8B5E3C"/>
                          </a:solidFill>
                          <a:latin typeface="Pretendard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"달콤", "사르르 녹는", "부드럽다", "쌉싸름"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7C3AED"/>
                          </a:solidFill>
                          <a:latin typeface="Pretendard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"진한 농도", "조화", "단짠단짠"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공간/분위기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7C3AED"/>
                          </a:solidFill>
                          <a:latin typeface="Pretendard"/>
                        </a:defRPr>
                      </a:pPr>
                      <a:r>
                        <a:t>36%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"고급스럽다", "빈티지", "포토존", "초콜릿 왕국"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가격/가성비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8B5E3C"/>
                          </a:solidFill>
                          <a:latin typeface="Pretendard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"납득할 만한", "가격 인상", "저가형"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"합리적", "35,000원 페어링"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품질/원료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8B5E3C"/>
                          </a:solidFill>
                          <a:latin typeface="Pretendard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"팜유", "카카오 함량", "카카오버터"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추억/브랜드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8B5E3C"/>
                          </a:solidFill>
                          <a:latin typeface="Pretendard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"어릴 때", "국민 초콜릿", "추억"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"50주년", "헤리티지"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관계/사회적 경험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7C3AED"/>
                          </a:solidFill>
                          <a:latin typeface="Pretendard"/>
                        </a:defRPr>
                      </a:pPr>
                      <a:r>
                        <a:t>22%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"데이트", "같이 가자", "가족", "눈치 싸움"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SNS/포토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"사진", "인스타", "포토부스"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6309360"/>
            <a:ext cx="10698480" cy="36576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32764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핵심:  제품은 맛/원료(42%+25%=67%)에 집중  |  공간은 분위기+관계(36%+22%=58%)에 집중  →  소비 경험의 질적 전환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SECTION 3 — LAYER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Pretendard"/>
              </a:defRPr>
            </a:pPr>
            <a:r>
              <a:t>3-1. LIWC 4대 변수 비교: "어떻게 말했는가"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698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1371600"/>
                <a:gridCol w="822960"/>
                <a:gridCol w="5486400"/>
              </a:tblGrid>
              <a:tr h="10058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변수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제품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공간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변화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기능어 근거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Authenticity</a:t>
                      </a:r>
                    </a:p>
                    <a:p>
                      <a:pPr>
                        <a:defRPr sz="9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(진정성)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Pretendard"/>
                        </a:defRPr>
                      </a:pPr>
                      <a:r>
                        <a:t>65 (높음)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Pretendard"/>
                        </a:defRPr>
                      </a:pPr>
                      <a:r>
                        <a:t>45 (중간)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5050"/>
                          </a:solidFill>
                          <a:latin typeface="Pretendard"/>
                        </a:defRPr>
                      </a:pPr>
                      <a:r>
                        <a:t>↓ 20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제품: "난 아직도", "솔직히", 부정 표현 포함 → 자기 노출 높음</a:t>
                      </a:r>
                    </a:p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공간: 감탄사 과다, 1인칭 부재, 부정 표현 거의 없음 → 사회적 바람직성 작용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Clout</a:t>
                      </a:r>
                    </a:p>
                    <a:p>
                      <a:pPr>
                        <a:defRPr sz="9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(추천 확신도)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Pretendard"/>
                        </a:defRPr>
                      </a:pPr>
                      <a:r>
                        <a:t>35 (낮음)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Pretendard"/>
                        </a:defRPr>
                      </a:pPr>
                      <a:r>
                        <a:t>65 (높음)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  <a:latin typeface="Pretendard"/>
                        </a:defRPr>
                      </a:pPr>
                      <a:r>
                        <a:t>↑ 30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제품: "맛있다" 단순 평가, 추천 발화 없음</a:t>
                      </a:r>
                    </a:p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공간: "꼭 가보세요", "여기 있다 가자", "-자" 청유형 → 타인에 대한 영향력 행사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Analytical</a:t>
                      </a:r>
                    </a:p>
                    <a:p>
                      <a:pPr>
                        <a:defRPr sz="9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(인식 방식)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D93F7"/>
                          </a:solidFill>
                          <a:latin typeface="Pretendard"/>
                        </a:defRPr>
                      </a:pPr>
                      <a:r>
                        <a:t>65 (분석적)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Pretendard"/>
                        </a:defRPr>
                      </a:pPr>
                      <a:r>
                        <a:t>45 (감성적)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5050"/>
                          </a:solidFill>
                          <a:latin typeface="Pretendard"/>
                        </a:defRPr>
                      </a:pPr>
                      <a:r>
                        <a:t>↓ 20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제품: "카카오 함량", "팜유", "가격 대비" → 인과적/비교적 서술</a:t>
                      </a:r>
                    </a:p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공간: "대박", "미쳤다", "환상" → 감탄형/직관적 반응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Emotional Tone</a:t>
                      </a:r>
                    </a:p>
                    <a:p>
                      <a:pPr>
                        <a:defRPr sz="9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(감정 강도)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55 (중립)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Pretendard"/>
                        </a:defRPr>
                      </a:pPr>
                      <a:r>
                        <a:t>80 (고강도 긍정)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  <a:latin typeface="Pretendard"/>
                        </a:defRPr>
                      </a:pPr>
                      <a:r>
                        <a:t>↑ 25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제품: 긍정/부정 혼재 → 톤 중화</a:t>
                      </a:r>
                    </a:p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공간: "감동", "왕국", "환상" + 부정어 거의 없음 → 순수 긍정 집중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SECTION 3 — LAYER 2 (RXR EXCLUSIVE)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Pretendard"/>
              </a:defRPr>
            </a:pPr>
            <a:r>
              <a:t>3-2. 추가 심리 지표 (RXR 고유)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6984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1371600"/>
                <a:gridCol w="4114800"/>
                <a:gridCol w="2194560"/>
              </a:tblGrid>
              <a:tr h="84124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지표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제품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공간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기능어 근거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해석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Freshness Index</a:t>
                      </a:r>
                    </a:p>
                    <a:p>
                      <a:pPr>
                        <a:defRPr sz="9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("이/가" vs "은/는")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B5E3C"/>
                          </a:solidFill>
                          <a:latin typeface="Pretendard"/>
                        </a:defRPr>
                      </a:pPr>
                      <a:r>
                        <a:t>0.35</a:t>
                      </a:r>
                    </a:p>
                    <a:p>
                      <a:pPr>
                        <a:defRPr sz="900" b="1">
                          <a:solidFill>
                            <a:srgbClr val="8B5E3C"/>
                          </a:solidFill>
                          <a:latin typeface="Pretendard"/>
                        </a:defRPr>
                      </a:pPr>
                      <a:r>
                        <a:t>"은/는" 우세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7C3AED"/>
                          </a:solidFill>
                          <a:latin typeface="Pretendard"/>
                        </a:defRPr>
                      </a:pPr>
                      <a:r>
                        <a:t>0.78</a:t>
                      </a:r>
                    </a:p>
                    <a:p>
                      <a:pPr>
                        <a:defRPr sz="900" b="1">
                          <a:solidFill>
                            <a:srgbClr val="7C3AED"/>
                          </a:solidFill>
                          <a:latin typeface="Pretendard"/>
                        </a:defRPr>
                      </a:pPr>
                      <a:r>
                        <a:t>"이/가" 우세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제품: "가나초콜릿은", "맛은" → 이미 알려진 주제</a:t>
                      </a:r>
                    </a:p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공간: "분위기가", "조화가", "공간이" → 새로운 발견의 초점화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제품은 51년 된 익숙한 존재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공간은 새로운 발견으로 체험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Psych. Distance</a:t>
                      </a:r>
                    </a:p>
                    <a:p>
                      <a:pPr>
                        <a:defRPr sz="9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(대명사 패턴)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B5E3C"/>
                          </a:solidFill>
                          <a:latin typeface="Pretendard"/>
                        </a:defRPr>
                      </a:pPr>
                      <a:r>
                        <a:t>0.82</a:t>
                      </a:r>
                    </a:p>
                    <a:p>
                      <a:pPr>
                        <a:defRPr sz="900" b="1">
                          <a:solidFill>
                            <a:srgbClr val="8B5E3C"/>
                          </a:solidFill>
                          <a:latin typeface="Pretendard"/>
                        </a:defRPr>
                      </a:pPr>
                      <a:r>
                        <a:t>"나/내" 지배적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7C3AED"/>
                          </a:solidFill>
                          <a:latin typeface="Pretendard"/>
                        </a:defRPr>
                      </a:pPr>
                      <a:r>
                        <a:t>0.41</a:t>
                      </a:r>
                    </a:p>
                    <a:p>
                      <a:pPr>
                        <a:defRPr sz="900" b="1">
                          <a:solidFill>
                            <a:srgbClr val="7C3AED"/>
                          </a:solidFill>
                          <a:latin typeface="Pretendard"/>
                        </a:defRPr>
                      </a:pPr>
                      <a:r>
                        <a:t>"여기/우리" 증가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제품: "난 아직도", "내 입속으로" → 개인 경험 서술</a:t>
                      </a:r>
                    </a:p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공간: "여기 있다 가자", "우리 같이" → 장소 귀속+집단 경험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제품은 관찰자 시점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공간은 참여자/귀속 시점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시제 프레임</a:t>
                      </a:r>
                    </a:p>
                    <a:p>
                      <a:pPr>
                        <a:defRPr sz="9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(과거/현재/미래)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B5E3C"/>
                          </a:solidFill>
                          <a:latin typeface="Pretendard"/>
                        </a:defRPr>
                      </a:pPr>
                      <a:r>
                        <a:t>과거 회고 우세</a:t>
                      </a:r>
                    </a:p>
                    <a:p>
                      <a:pPr>
                        <a:defRPr sz="900" b="1">
                          <a:solidFill>
                            <a:srgbClr val="8B5E3C"/>
                          </a:solidFill>
                          <a:latin typeface="Pretendard"/>
                        </a:defRPr>
                      </a:pPr>
                      <a:r>
                        <a:t>"-었-", "어릴 때"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7C3AED"/>
                          </a:solidFill>
                          <a:latin typeface="Pretendard"/>
                        </a:defRPr>
                      </a:pPr>
                      <a:r>
                        <a:t>현재+미래 우세</a:t>
                      </a:r>
                    </a:p>
                    <a:p>
                      <a:pPr>
                        <a:defRPr sz="900" b="1">
                          <a:solidFill>
                            <a:srgbClr val="7C3AED"/>
                          </a:solidFill>
                          <a:latin typeface="Pretendard"/>
                        </a:defRPr>
                      </a:pPr>
                      <a:r>
                        <a:t>"-ㄴ다", "-자"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제품: "먹었다", "어릴 때부터" → 기억 속의 브랜드</a:t>
                      </a:r>
                    </a:p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공간: "펼쳐진다", "가자" → 지금-여기 + 행동 촉구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제품은 노스탤지어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공간은 현재 몰입+확산 의지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감각 축</a:t>
                      </a:r>
                    </a:p>
                    <a:p>
                      <a:pPr>
                        <a:defRPr sz="9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(지배 감각)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B5E3C"/>
                          </a:solidFill>
                          <a:latin typeface="Pretendard"/>
                        </a:defRPr>
                      </a:pPr>
                      <a:r>
                        <a:t>미각+촉각</a:t>
                      </a:r>
                    </a:p>
                    <a:p>
                      <a:pPr>
                        <a:defRPr sz="900" b="1">
                          <a:solidFill>
                            <a:srgbClr val="8B5E3C"/>
                          </a:solidFill>
                          <a:latin typeface="Pretendard"/>
                        </a:defRPr>
                      </a:pPr>
                      <a:r>
                        <a:t>근접 감각(Proximal)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7C3AED"/>
                          </a:solidFill>
                          <a:latin typeface="Pretendard"/>
                        </a:defRPr>
                      </a:pPr>
                      <a:r>
                        <a:t>시각+공간</a:t>
                      </a:r>
                    </a:p>
                    <a:p>
                      <a:pPr>
                        <a:defRPr sz="900" b="1">
                          <a:solidFill>
                            <a:srgbClr val="7C3AED"/>
                          </a:solidFill>
                          <a:latin typeface="Pretendard"/>
                        </a:defRPr>
                      </a:pPr>
                      <a:r>
                        <a:t>원격 감각(Distal)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제품: "녹는", "부드럽다", "달콤한" → 입안 감각</a:t>
                      </a:r>
                    </a:p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공간: "고급스럽다", "포토존", "분위기" → 눈과 몸의 공간 경험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제품→공간 전환 시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감각 축 자체가 이동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852160"/>
            <a:ext cx="10698480" cy="82296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5852160"/>
            <a:ext cx="45720" cy="822960"/>
          </a:xfrm>
          <a:prstGeom prst="rect">
            <a:avLst/>
          </a:prstGeom>
          <a:solidFill>
            <a:srgbClr val="D94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897880"/>
            <a:ext cx="10241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46EF"/>
                </a:solidFill>
                <a:latin typeface="Pretendard"/>
              </a:defRPr>
            </a:pPr>
            <a:r>
              <a:t>Layer 2 결론: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126480"/>
            <a:ext cx="10241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Auth ↓20: 솔직한 개인 평가 → 사회적 공유 발화  |  Clout ↑30: 수동적 소비자 → 능동적 추천자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Freshness 0.35→0.78: "이미 아는 것" → "새로운 발견"  |  이 변화는 Layer 1(감성 점수)만으로는 절대 포착할 수 없다.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SECTION 4 — PATTERN DICTIONARY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Pretendard"/>
              </a:defRPr>
            </a:pPr>
            <a:r>
              <a:t>4-0. 2-Layer 교차 분석 패턴 사전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Layer 1(감성)과 Layer 2(심리)를 교차하면 아래 6개 패턴으로 분류된다. 각 패턴은 전혀 다른 전략적 의미를 갖는다.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698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097280"/>
                <a:gridCol w="1463040"/>
                <a:gridCol w="1645920"/>
                <a:gridCol w="2560320"/>
                <a:gridCol w="3200400"/>
              </a:tblGrid>
              <a:tr h="718457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패턴 ID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이름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L1 (Content) 신호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L2 (Psyche) 신호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의미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대응 전략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Pretendard"/>
                        </a:defRPr>
                      </a:pPr>
                      <a:r>
                        <a:t>P-01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진짜 팬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긍정 80%+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Auth 높음</a:t>
                      </a:r>
                    </a:p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Clout 높음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진심으로 좋아하고,</a:t>
                      </a:r>
                    </a:p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자신 있게 추천까지 한다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VIP 관리, 레퍼럴 앰배서더 전환,</a:t>
                      </a:r>
                    </a:p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이 세그먼트의 리뷰를 마케팅에 활용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Pretendard"/>
                        </a:defRPr>
                      </a:pPr>
                      <a:r>
                        <a:t>P-02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인스타 소비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긍정 80%+</a:t>
                      </a:r>
                    </a:p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"사진", "예쁘다"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Auth 낮음</a:t>
                      </a:r>
                    </a:p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Clout 낮음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바이럴은 되지만 진심이 아님.</a:t>
                      </a:r>
                    </a:p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"올리고 싶었을 뿐"</a:t>
                      </a:r>
                    </a:p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재방문 의향 낮음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체험 깊이 강화(시식/DIY),</a:t>
                      </a:r>
                    </a:p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포토존 뒤에 제품 터치포인트 배치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P-03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관심은 있지만</a:t>
                      </a:r>
                    </a:p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확신 부족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긍정 70%+</a:t>
                      </a:r>
                    </a:p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"괜찮다", "좋다"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Auth 높음</a:t>
                      </a:r>
                    </a:p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Clout 낮음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솔직하게 좋다고 느끼지만,</a:t>
                      </a:r>
                    </a:p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남에게 추천까지는 안 함.</a:t>
                      </a:r>
                    </a:p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"나는 좋은데 네가 좋아할지는..."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제품 체험 터치포인트 강화,</a:t>
                      </a:r>
                    </a:p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샘플링 확대로 확신 전환 유도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946EF"/>
                          </a:solidFill>
                          <a:latin typeface="Pretendard"/>
                        </a:defRPr>
                      </a:pPr>
                      <a:r>
                        <a:t>P-04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신선함 소진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키워드 변화 없음</a:t>
                      </a:r>
                    </a:p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감성 소폭 하락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Freshness 급락</a:t>
                      </a:r>
                    </a:p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("이/가"→"은/는")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내용은 같지만 "새로운 발견"</a:t>
                      </a:r>
                    </a:p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느낌이 사라짐.</a:t>
                      </a:r>
                    </a:p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2~3주차부터 진행되는 체험 피로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콘텐츠 리프레시 (신규 메뉴/존 오픈),</a:t>
                      </a:r>
                    </a:p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주간 리프레시 캘린더 적용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717180"/>
                          </a:solidFill>
                          <a:latin typeface="Pretendard"/>
                        </a:defRPr>
                      </a:pPr>
                      <a:r>
                        <a:t>P-05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탐색은 길지만</a:t>
                      </a:r>
                    </a:p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결정 못 함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체류시간 ↑</a:t>
                      </a:r>
                    </a:p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구매 ↓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Analytical 높음</a:t>
                      </a:r>
                    </a:p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Clout 낮음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비교/분석 모드에 갇혀 있음.</a:t>
                      </a:r>
                    </a:p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"좋은 건 알겠는데 뭘 사야 할지..."</a:t>
                      </a:r>
                    </a:p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선택 과부하(Choice Overload)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선택지 축소, 큐레이션 동선,</a:t>
                      </a:r>
                    </a:p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직원 추천 / 베스트 메뉴 강조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5050"/>
                          </a:solidFill>
                          <a:latin typeface="Pretendard"/>
                        </a:defRPr>
                      </a:pPr>
                      <a:r>
                        <a:t>P-06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브랜드 피로도</a:t>
                      </a:r>
                    </a:p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(조용한 이탈)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긍정 유지</a:t>
                      </a:r>
                    </a:p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but 언급량 ↓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Tone ↓ 추세</a:t>
                      </a:r>
                    </a:p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Clout ↓ 추세</a:t>
                      </a:r>
                    </a:p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Distance 변화 없음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불만은 아니지만 관심이 사라짐.</a:t>
                      </a:r>
                    </a:p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"싫어서 안 가는 게 아니라</a:t>
                      </a:r>
                    </a:p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그냥 생각이 안 나서 안 감"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긴급 리프레시 필요,</a:t>
                      </a:r>
                    </a:p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이벤트성 콘텐츠 투입,</a:t>
                      </a:r>
                    </a:p>
                    <a:p>
                      <a:pPr>
                        <a:defRPr sz="7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기존 고객 재활성화 프로그램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SECTION 4 — ZONE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Pretendard"/>
              </a:defRPr>
            </a:pPr>
            <a:r>
              <a:t>Zone 분류 (감성 x 진정성 매트릭스)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Pretendard"/>
              </a:defRPr>
            </a:pPr>
            <a:r>
              <a:t>Zone A: 진짜 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FF"/>
                </a:solidFill>
                <a:latin typeface="Pretendard"/>
              </a:defRPr>
            </a:pPr>
            <a:r>
              <a:t>감성 긍정 + Auth 높음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진심으로 좋아한다. P-01과 동일 영역.</a:t>
            </a:r>
            <a:br/>
            <a:r>
              <a:t>재방문/재구매 확률 가장 높은 세그먼트.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51206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Pretendard"/>
              </a:defRPr>
            </a:pPr>
            <a:r>
              <a:t>Zone B: 인스타 소비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4884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FF"/>
                </a:solidFill>
                <a:latin typeface="Pretendard"/>
              </a:defRPr>
            </a:pPr>
            <a:r>
              <a:t>감성 긍정 + Auth 낮음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688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"예쁘니까 올린 것." P-02와 동일 영역.</a:t>
            </a:r>
            <a:br/>
            <a:r>
              <a:t>바이럴 기여는 하지만 재방문 가치 낮음.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49039"/>
            <a:ext cx="5120640" cy="4572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31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5050"/>
                </a:solidFill>
                <a:latin typeface="Pretendard"/>
              </a:defRPr>
            </a:pPr>
            <a:r>
              <a:t>Zone C: 진심 불만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51959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FF"/>
                </a:solidFill>
                <a:latin typeface="Pretendard"/>
              </a:defRPr>
            </a:pPr>
            <a:r>
              <a:t>감성 부정 + Auth 높음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실제 문제가 존재한다는 신호. 무시 금지.</a:t>
            </a:r>
            <a:br/>
            <a:r>
              <a:t>"팜유 싸구려", "특색 없다" = 진짜 개선점.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749039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749039"/>
            <a:ext cx="5120640" cy="45720"/>
          </a:xfrm>
          <a:prstGeom prst="rect">
            <a:avLst/>
          </a:prstGeom>
          <a:solidFill>
            <a:srgbClr val="71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931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17180"/>
                </a:solidFill>
                <a:latin typeface="Pretendard"/>
              </a:defRPr>
            </a:pPr>
            <a:r>
              <a:t>Zone D: 노이즈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251959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FF"/>
                </a:solidFill>
                <a:latin typeface="Pretendard"/>
              </a:defRPr>
            </a:pPr>
            <a:r>
              <a:t>감성 부정 + Auth 낮음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57200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악의적/경쟁사 공격성 리뷰 가능성.</a:t>
            </a:r>
            <a:br/>
            <a:r>
              <a:t>분석 대상에서 필터링 후 제외.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760720"/>
            <a:ext cx="10698480" cy="82296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5760720"/>
            <a:ext cx="45720" cy="822960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806440"/>
            <a:ext cx="10241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읽는 법: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60350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아래 교차 분석에서 각 리뷰 유형에 패턴 ID가 부여된다. 패턴 ID를 보면 "이 리뷰가 어떤 심리 상태이고,</a:t>
            </a:r>
            <a:br/>
            <a:r>
              <a:t>어떤 전략으로 대응해야 하는지"가 즉시 파악된다. 이것이 단순 감성 분석(긍정/부정)과 2-Layer 분석의 결정적 차이.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SECTION 4 — CROSS ANALYSIS (PRODUCT)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Pretendard"/>
              </a:defRPr>
            </a:pPr>
            <a:r>
              <a:t>4-1. 제품 리뷰 - 패턴 매칭 결과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011680"/>
                <a:gridCol w="2286000"/>
                <a:gridCol w="1188720"/>
                <a:gridCol w="4023360"/>
              </a:tblGrid>
              <a:tr h="8229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리뷰 유형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L1 (Content)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L2 (Psyche)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패턴 ID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2-Layer 인사이트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솔직한 팬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긍정 / "맛있다", "맞다"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Auth 높음, Clout 낮음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P-03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관심은 있지만 추천 의지 없음.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"난 좋아하는데 남한테 권하기는..." - 개인적 만족에 머무름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분석적 비판자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부정 / "팜유", "싸구려"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Auth 높음, Analytical 높음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5050"/>
                          </a:solidFill>
                          <a:latin typeface="Pretendard"/>
                        </a:defRPr>
                      </a:pPr>
                      <a:r>
                        <a:t>P-03 변형</a:t>
                      </a:r>
                    </a:p>
                    <a:p>
                      <a:pPr>
                        <a:defRPr sz="1000" b="1">
                          <a:solidFill>
                            <a:srgbClr val="FF5050"/>
                          </a:solidFill>
                          <a:latin typeface="Pretendard"/>
                        </a:defRPr>
                      </a:pPr>
                      <a:r>
                        <a:t>(Zone C)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진심 불만. 실제 품질 문제 인지.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무시하면 안 됨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추억형 소비자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긍정 / "어릴 때", "추억"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Auth 높음, Tone 중립,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시제: 과거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Pretendard"/>
                        </a:defRPr>
                      </a:pPr>
                      <a:r>
                        <a:t>P-06 전조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노스탤지어 의존. 현재 브랜드 경험이 아닌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과거 기억에 의존 - 새 경험 없이 점진적 이탈 가능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029200"/>
            <a:ext cx="10698480" cy="155448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5029200"/>
            <a:ext cx="45720" cy="155448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12064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050"/>
                </a:solidFill>
                <a:latin typeface="Pretendard"/>
              </a:defRPr>
            </a:pPr>
            <a:r>
              <a:t>제품 진단: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44068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L1만 보면 "긍정 48%, 그럭저럭" - L2를 더하면 긍정 리뷰조차 추천 의지가 없고(Clout 35),</a:t>
            </a:r>
            <a:br/>
            <a:r>
              <a:t>과거 추억에 의존하고 있음이 드러남. 브랜드가 현재 시점에서 새로운 긍정 경험을 생산하지 못하고 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SECTION 4 — CROSS ANALYSIS (SPACE)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Pretendard"/>
              </a:defRPr>
            </a:pPr>
            <a:r>
              <a:t>4-2. 공간 리뷰 - 패턴 매칭 결과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011680"/>
                <a:gridCol w="2286000"/>
                <a:gridCol w="1188720"/>
                <a:gridCol w="4023360"/>
              </a:tblGrid>
              <a:tr h="65836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리뷰 유형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L1 (Content)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L2 (Psyche)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패턴 ID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2-Layer 인사이트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인스타 소비형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긍정 90%+ / "예쁘다", "사진"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Auth 낮음, Clout 낮음,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Tone 높음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Pretendard"/>
                        </a:defRPr>
                      </a:pPr>
                      <a:r>
                        <a:t>P-02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바이럴 =/= 충성. SNS 공유는 하지만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재방문 의향 약함. 인스타에 올리고 싶었을 뿐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기대 위반형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긍정 / "생각보다 좋았다",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"감동"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Auth 높음, Clout 높음,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Freshness 높음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Pretendard"/>
                        </a:defRPr>
                      </a:pPr>
                      <a:r>
                        <a:t>P-01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진짜 팬 전환. "제품 팝업인 줄 알았는데 진심인 공간"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스키마 위반이 진정한 긍정 반응 생성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관계 소비형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긍정 / "같이 가자",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"데이트"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Clout 높음, Distance 낮음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(우리/여기), 시제: 미래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Pretendard"/>
                        </a:defRPr>
                      </a:pPr>
                      <a:r>
                        <a:t>P-01 변형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행동 전환 완료. 단순 감상을 넘어 동반자에게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행동을 촉구 - 가장 높은 전환 가치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실망형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부정 / "별거 없다",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"아쉽다"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Auth 높음, Tone 낮음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5050"/>
                          </a:solidFill>
                          <a:latin typeface="Pretendard"/>
                        </a:defRPr>
                      </a:pPr>
                      <a:r>
                        <a:t>Zone C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진심 불만. 소수지만 Auth 높아 실제 문제 반영.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특히 "초콜릿 특색 부족"은 제품-공간 연결 약점 시사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029200"/>
            <a:ext cx="10698480" cy="155448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5029200"/>
            <a:ext cx="45720" cy="1554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12064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Pretendard"/>
              </a:defRPr>
            </a:pPr>
            <a:r>
              <a:t>공간 진단: 긍정 86%를 분해하면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44068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- 인스타 소비 (P-02): 약 40~45% - Auth 낮음, Clout 낮음. 바이럴은 되지만 재방문 가치 낮음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- 진짜 팬 (P-01): 약 30~35% - Auth+Clout 모두 높음. 진정한 브랜드 옹호자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- 관계 소비 (P-01 변형): 약 15~20% - 행동 전환까지 완료. 최고 가치 세그먼트</a:t>
            </a:r>
          </a:p>
          <a:p>
            <a:pPr algn="l">
              <a:spcBef>
                <a:spcPts val="600"/>
              </a:spcBef>
              <a:defRPr sz="1000" b="1">
                <a:solidFill>
                  <a:srgbClr val="6666FF"/>
                </a:solidFill>
                <a:latin typeface="Pretendard"/>
              </a:defRPr>
            </a:pPr>
            <a:r>
              <a:t>Layer 1의 "긍정 86%"는 하나의 숫자지만, Layer 2를 추가하면 3개의 전혀 다른 세그먼트가 드러난다.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SECTION 5 — KEY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Pretendard"/>
              </a:defRPr>
            </a:pPr>
            <a:r>
              <a:t>핵심 발견: 5대 심리 축의 체계적 전환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동일 브랜드 "가나"가 제품→공간으로 확장될 때, 소비자의 언어 구조에서 5개 심리 축이 동시에 전환된다.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188720"/>
                <a:gridCol w="457200"/>
                <a:gridCol w="1188720"/>
                <a:gridCol w="2560320"/>
                <a:gridCol w="3657600"/>
              </a:tblGrid>
              <a:tr h="7315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심리 축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제품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→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공간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기능어 증거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비즈니스 의미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1. 자아 축</a:t>
                      </a:r>
                    </a:p>
                    <a:p>
                      <a:pPr>
                        <a:defRPr sz="8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"나"→"여기/우리"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8B5E3C"/>
                          </a:solidFill>
                          <a:latin typeface="Pretendard"/>
                        </a:defRPr>
                      </a:pPr>
                      <a:r>
                        <a:t>개인적 경험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→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7C3AED"/>
                          </a:solidFill>
                          <a:latin typeface="Pretendard"/>
                        </a:defRPr>
                      </a:pPr>
                      <a:r>
                        <a:t>사회적 경험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D946EF"/>
                          </a:solidFill>
                          <a:latin typeface="Pretendard"/>
                        </a:defRPr>
                      </a:pPr>
                      <a:r>
                        <a:t>1인칭 단수 ↓</a:t>
                      </a:r>
                    </a:p>
                    <a:p>
                      <a:pPr>
                        <a:defRPr sz="700" b="0">
                          <a:solidFill>
                            <a:srgbClr val="D946EF"/>
                          </a:solidFill>
                          <a:latin typeface="Pretendard"/>
                        </a:defRPr>
                      </a:pPr>
                      <a:r>
                        <a:t>장소 지시어+복수형 ↑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공간이 소비를 "공유 가능한 경험"으로</a:t>
                      </a:r>
                    </a:p>
                    <a:p>
                      <a:pPr>
                        <a:defRPr sz="7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전환 - 바이럴 구조 형성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2. 시간 축</a:t>
                      </a:r>
                    </a:p>
                    <a:p>
                      <a:pPr>
                        <a:defRPr sz="8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과거→현재+미래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8B5E3C"/>
                          </a:solidFill>
                          <a:latin typeface="Pretendard"/>
                        </a:defRPr>
                      </a:pPr>
                      <a:r>
                        <a:t>노스탤지어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→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7C3AED"/>
                          </a:solidFill>
                          <a:latin typeface="Pretendard"/>
                        </a:defRPr>
                      </a:pPr>
                      <a:r>
                        <a:t>현재 몰입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D946EF"/>
                          </a:solidFill>
                          <a:latin typeface="Pretendard"/>
                        </a:defRPr>
                      </a:pPr>
                      <a:r>
                        <a:t>과거 시제 ↓</a:t>
                      </a:r>
                    </a:p>
                    <a:p>
                      <a:pPr>
                        <a:defRPr sz="700" b="0">
                          <a:solidFill>
                            <a:srgbClr val="D946EF"/>
                          </a:solidFill>
                          <a:latin typeface="Pretendard"/>
                        </a:defRPr>
                      </a:pPr>
                      <a:r>
                        <a:t>현재형+청유형(-자) ↑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브랜드가 "기억"에서 "현재 경험"으로</a:t>
                      </a:r>
                    </a:p>
                    <a:p>
                      <a:pPr>
                        <a:defRPr sz="7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리포지셔닝 - 노스탤지어 의존 탈피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3. 감각 축</a:t>
                      </a:r>
                    </a:p>
                    <a:p>
                      <a:pPr>
                        <a:defRPr sz="8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미각→시각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8B5E3C"/>
                          </a:solidFill>
                          <a:latin typeface="Pretendard"/>
                        </a:defRPr>
                      </a:pPr>
                      <a:r>
                        <a:t>입안 감각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→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7C3AED"/>
                          </a:solidFill>
                          <a:latin typeface="Pretendard"/>
                        </a:defRPr>
                      </a:pPr>
                      <a:r>
                        <a:t>공간 감각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D946EF"/>
                          </a:solidFill>
                          <a:latin typeface="Pretendard"/>
                        </a:defRPr>
                      </a:pPr>
                      <a:r>
                        <a:t>미각/촉각 단어 ↓</a:t>
                      </a:r>
                    </a:p>
                    <a:p>
                      <a:pPr>
                        <a:defRPr sz="700" b="0">
                          <a:solidFill>
                            <a:srgbClr val="D946EF"/>
                          </a:solidFill>
                          <a:latin typeface="Pretendard"/>
                        </a:defRPr>
                      </a:pPr>
                      <a:r>
                        <a:t>시각/공간 단어 ↑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근접(Proximal)→원격(Distal) 전환</a:t>
                      </a:r>
                    </a:p>
                    <a:p>
                      <a:pPr>
                        <a:defRPr sz="7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SNS 공유에 최적화된 감각 구조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4. 인지 축</a:t>
                      </a:r>
                    </a:p>
                    <a:p>
                      <a:pPr>
                        <a:defRPr sz="8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분석→감동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8B5E3C"/>
                          </a:solidFill>
                          <a:latin typeface="Pretendard"/>
                        </a:defRPr>
                      </a:pPr>
                      <a:r>
                        <a:t>이성적 평가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→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7C3AED"/>
                          </a:solidFill>
                          <a:latin typeface="Pretendard"/>
                        </a:defRPr>
                      </a:pPr>
                      <a:r>
                        <a:t>감성적 반응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D946EF"/>
                          </a:solidFill>
                          <a:latin typeface="Pretendard"/>
                        </a:defRPr>
                      </a:pPr>
                      <a:r>
                        <a:t>Analytical 65→45</a:t>
                      </a:r>
                    </a:p>
                    <a:p>
                      <a:pPr>
                        <a:defRPr sz="700" b="0">
                          <a:solidFill>
                            <a:srgbClr val="D946EF"/>
                          </a:solidFill>
                          <a:latin typeface="Pretendard"/>
                        </a:defRPr>
                      </a:pPr>
                      <a:r>
                        <a:t>인과 접속사 ↓, 감탄사 ↑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분석적 비교 대상→감정적 몰입 대상</a:t>
                      </a:r>
                    </a:p>
                    <a:p>
                      <a:pPr>
                        <a:defRPr sz="7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가격 경쟁에서 가치 경쟁으로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5. 행동 축</a:t>
                      </a:r>
                    </a:p>
                    <a:p>
                      <a:pPr>
                        <a:defRPr sz="8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평가→추천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8B5E3C"/>
                          </a:solidFill>
                          <a:latin typeface="Pretendard"/>
                        </a:defRPr>
                      </a:pPr>
                      <a:r>
                        <a:t>수동적 소비자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→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7C3AED"/>
                          </a:solidFill>
                          <a:latin typeface="Pretendard"/>
                        </a:defRPr>
                      </a:pPr>
                      <a:r>
                        <a:t>능동적 추천자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D946EF"/>
                          </a:solidFill>
                          <a:latin typeface="Pretendard"/>
                        </a:defRPr>
                      </a:pPr>
                      <a:r>
                        <a:t>Clout 35→65</a:t>
                      </a:r>
                    </a:p>
                    <a:p>
                      <a:pPr>
                        <a:defRPr sz="700" b="0">
                          <a:solidFill>
                            <a:srgbClr val="D946EF"/>
                          </a:solidFill>
                          <a:latin typeface="Pretendard"/>
                        </a:defRPr>
                      </a:pPr>
                      <a:r>
                        <a:t>청유형 어미 ↑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소비자가 자발적 영업사원으로 전환</a:t>
                      </a:r>
                    </a:p>
                    <a:p>
                      <a:pPr>
                        <a:defRPr sz="7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마케팅 비용 구조 변화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6035040"/>
            <a:ext cx="10698480" cy="64008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035040"/>
            <a:ext cx="45720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60807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이 전환 데이터의 가치: "공간이 좋다"는 누구나 알 수 있지만, "5개 심리 축이 동시에 전환된다"는 정량 데이터는 RXR 2-Layer만 제공할 수 있다.</a:t>
            </a:r>
            <a:br/>
            <a:r>
              <a:t>IR/제안서에서 "Clout 35→65, Freshness 0.35→0.78, 감각 축 Proximal→Distal 전환"이라고 말할 수 있는 근거.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SECTION 6 —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6-1. Layer 1만 vs 2-Layer 통합 - 인사이트 품질 비교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698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5669280"/>
              </a:tblGrid>
              <a:tr h="8382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질문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Layer 1만 답변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2-Layer 통합 답변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공간이 성공했나?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"긍정 86%, 성공"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"긍정 86% 중 진짜 팬은 30~35%. 나머지 40~45%는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인스타 소비형(Auth 낮음)으로 재방문 가치 낮음"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제품 브랜드는 건강한가?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"긍정 48%, 부정 30%, 보통"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"긍정 리뷰도 Clout 35 - 추천 의지 없음. 긍정의 대부분이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과거 추억 기반(시제 과거 우세)이라 현재 경험 생산력 부족"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공간이 제품 대비 나은 이유?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"감성 점수가 더 높다"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"5개 심리 축(자아/시간/감각/인지/행동)이 동시에 전환되며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소비자를 평가자에서 추천자로 변환"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다음 팝업에서 뭘 바꿔야?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"긍정 유지하면 된다"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"인스타 소비(P-02)를 진짜 팬(P-01)으로 전환하려면 체험 깊이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강화 필요. 포토존만으로는 Auth 올릴 수 없음. DIY/테이스팅 배치"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시즌4를 해야 하나?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"긍정이니 해도 됨"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"Freshness 0.78은 '아직 신선'이지만, 시즌 반복 시 하락 필연.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주간 리프레시 캘린더와 시즌별 차별화 콘텐츠 필수"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SECTION 6 —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6-2. 가나초콜릿하우스를 위한 세그먼트별 전략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93776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474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Pretendard"/>
              </a:defRPr>
            </a:pPr>
            <a:r>
              <a:t>인스타 소비형 (40~45%)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17180"/>
                </a:solidFill>
                <a:latin typeface="Pretendard"/>
              </a:defRPr>
            </a:pPr>
            <a:r>
              <a:t>프로필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3108960" cy="118872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6060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L1: 긍정 / "예쁘다", "사진"</a:t>
            </a:r>
            <a:br/>
            <a:r>
              <a:t>L2: Auth 낮음, Clout 낮음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Pretendard"/>
              </a:defRPr>
            </a:pPr>
            <a:r>
              <a:t>전략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114800"/>
            <a:ext cx="3108960" cy="228600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60520"/>
            <a:ext cx="2834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Pretendard"/>
              </a:defRPr>
            </a:pPr>
            <a:r>
              <a:t>포토존 뒤에 제품 체험 동선 배치.</a:t>
            </a:r>
            <a:br/>
            <a:r>
              <a:t>"사진 찍고 → 시식 → 구매"로 연결.</a:t>
            </a:r>
            <a:br/>
            <a:r>
              <a:t>SNS 공유 시 체험 쿠폰 제공하여</a:t>
            </a:r>
            <a:br/>
            <a:r>
              <a:t>바이럴을 체험으로 전환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645920"/>
            <a:ext cx="3474720" cy="493776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59" y="1645920"/>
            <a:ext cx="34747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783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Pretendard"/>
              </a:defRPr>
            </a:pPr>
            <a:r>
              <a:t>진짜 팬 (30~35%)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2860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17180"/>
                </a:solidFill>
                <a:latin typeface="Pretendard"/>
              </a:defRPr>
            </a:pPr>
            <a:r>
              <a:t>프로필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2560320"/>
            <a:ext cx="3108960" cy="118872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599" y="26060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L1: 긍정 / "감동", "진심"</a:t>
            </a:r>
            <a:br/>
            <a:r>
              <a:t>L2: Auth 높음, Clout 높음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8404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Pretendard"/>
              </a:defRPr>
            </a:pPr>
            <a:r>
              <a:t>전략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4114800"/>
            <a:ext cx="3108960" cy="228600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599" y="4160520"/>
            <a:ext cx="2834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Pretendard"/>
              </a:defRPr>
            </a:pPr>
            <a:r>
              <a:t>VIP 프로그램(시즌 프리오픈, 한정 메뉴).</a:t>
            </a:r>
            <a:br/>
            <a:r>
              <a:t>리뷰어 앰배서더 프로그램.</a:t>
            </a:r>
            <a:br/>
            <a:r>
              <a:t>이 세그먼트의 리뷰가</a:t>
            </a:r>
            <a:br/>
            <a:r>
              <a:t>다른 소비자의 P-02→P-01 전환을 유도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645920"/>
            <a:ext cx="3474720" cy="493776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1645920"/>
            <a:ext cx="3474720" cy="45720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1783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66FF"/>
                </a:solidFill>
                <a:latin typeface="Pretendard"/>
              </a:defRPr>
            </a:pPr>
            <a:r>
              <a:t>관계 소비형 (15~20%)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2860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17180"/>
                </a:solidFill>
                <a:latin typeface="Pretendard"/>
              </a:defRPr>
            </a:pPr>
            <a:r>
              <a:t>프로필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0" y="2560320"/>
            <a:ext cx="3108960" cy="118872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26060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L1: 긍정 / "같이", "데이트"</a:t>
            </a:r>
            <a:br/>
            <a:r>
              <a:t>L2: Clout 높음, Distance 낮음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8404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66FF"/>
                </a:solidFill>
                <a:latin typeface="Pretendard"/>
              </a:defRPr>
            </a:pPr>
            <a:r>
              <a:t>전략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4114800"/>
            <a:ext cx="3108960" cy="228600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9640" y="4160520"/>
            <a:ext cx="2834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Pretendard"/>
              </a:defRPr>
            </a:pPr>
            <a:r>
              <a:t>2인/그룹 전용 메뉴, 커플/가족 체험 코스.</a:t>
            </a:r>
            <a:br/>
            <a:r>
              <a:t>"함께 만드는 초콜릿" DIY를 핵심 프로그램.</a:t>
            </a:r>
            <a:br/>
            <a:r>
              <a:t>관계 기억에 브랜드 각인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Pretendard"/>
              </a:defRPr>
            </a:pPr>
            <a:r>
              <a:t>같은 "긍정 86%"도, Layer 2를 추가하면</a:t>
            </a:r>
            <a:br/>
            <a:r>
              <a:t>3개의 전혀 다른 세그먼트가 보인다.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029200" cy="256032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5029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Pretendard"/>
              </a:defRPr>
            </a:pPr>
            <a:r>
              <a:t>Layer 1만의 결론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- 제품: 긍정 48%, 보통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- 공간: 긍정 86%, 대성공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- "공간이 제품보다 좋다"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- 전략? "계속 하면 된다"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920240"/>
            <a:ext cx="5120640" cy="256032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920240"/>
            <a:ext cx="5120640" cy="36576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666FF"/>
                </a:solidFill>
                <a:latin typeface="Pretendard"/>
              </a:defRPr>
            </a:pPr>
            <a:r>
              <a:t>2-Layer 통합의 결론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Pretendard"/>
              </a:defRPr>
            </a:pPr>
            <a:r>
              <a:t>- 제품: Clout 35, 추천 의지 없음. 과거 추억 의존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FFFFFF"/>
                </a:solidFill>
                <a:latin typeface="Pretendard"/>
              </a:defRPr>
            </a:pPr>
            <a:r>
              <a:t>- 공간: 진짜 팬 30~35%, 인스타 소비 40~45%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FFFFFF"/>
                </a:solidFill>
                <a:latin typeface="Pretendard"/>
              </a:defRPr>
            </a:pPr>
            <a:r>
              <a:t>- 제품→공간 전환 시 5개 심리 축 동시 전환 실증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FFFFFF"/>
                </a:solidFill>
                <a:latin typeface="Pretendard"/>
              </a:defRPr>
            </a:pPr>
            <a:r>
              <a:t>- 전략: 세그먼트별 차별화 + Freshness 모니터링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10698480" cy="54864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09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FF"/>
                </a:solidFill>
                <a:latin typeface="Pretendard"/>
              </a:defRPr>
            </a:pPr>
            <a:r>
              <a:t>Layer 1은 "좋다/나쁘다"를 말해준다. Layer 2는 "왜 좋은지, 얼마나 진심인지, 언제까지 지속될지"를 말해준다.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39496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5394960"/>
            <a:ext cx="1828800" cy="36576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4864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666FF"/>
                </a:solidFill>
                <a:latin typeface="Pretendard"/>
              </a:defRPr>
            </a:pPr>
            <a:r>
              <a:t>자아 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760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"나"→"우리"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539496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0" y="5394960"/>
            <a:ext cx="1828800" cy="36576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0" y="54864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666FF"/>
                </a:solidFill>
                <a:latin typeface="Pretendard"/>
              </a:defRPr>
            </a:pPr>
            <a:r>
              <a:t>시간 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760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과거→현재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539496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03520" y="5394960"/>
            <a:ext cx="1828800" cy="36576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54864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666FF"/>
                </a:solidFill>
                <a:latin typeface="Pretendard"/>
              </a:defRPr>
            </a:pPr>
            <a:r>
              <a:t>감각 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5760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미각→시각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0" y="539496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06640" y="5394960"/>
            <a:ext cx="1828800" cy="36576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54864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666FF"/>
                </a:solidFill>
                <a:latin typeface="Pretendard"/>
              </a:defRPr>
            </a:pPr>
            <a:r>
              <a:t>인지 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5760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분석→감동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59" y="539496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09759" y="5394960"/>
            <a:ext cx="1828800" cy="36576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59" y="54864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666FF"/>
                </a:solidFill>
                <a:latin typeface="Pretendard"/>
              </a:defRPr>
            </a:pPr>
            <a:r>
              <a:t>행동 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59" y="5760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평가→추천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644652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17180"/>
                </a:solidFill>
                <a:latin typeface="Pretendard"/>
              </a:defRPr>
            </a:pPr>
            <a:r>
              <a:t>Project RENT  ·  R-lab  ·  RXR 2-Layer Case Study  ·  2026.04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