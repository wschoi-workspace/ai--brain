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050"/>
                </a:solidFill>
                <a:latin typeface="맑은 고딕"/>
              </a:defRPr>
            </a:pPr>
            <a:r>
              <a:t>RXR 4-AXIS DATA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오프라인 매장의 모든 것을</a:t>
            </a:r>
            <a:br/>
            <a:r>
              <a:t>숫자로 바꾸고, 고객의 진심까지 읽는다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맑은 고딕"/>
              </a:defRPr>
            </a:pPr>
            <a:r>
              <a:t>기존 솔루션은 퍼즐의 한 조각만 봅니다.</a:t>
            </a:r>
            <a:br/>
            <a:r>
              <a:t>RXR은 전체 그림을 완성하고, 고객의 무의식까지 데이터화합니다.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Project RENT  ·  R-lab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맑은 고딕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지금 시장의 블라인드 스팟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POS만 보는 세상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맑은 고딕"/>
              </a:defRPr>
            </a:pPr>
            <a:r>
              <a:t>"얼마 팔렸는지"만 안다.</a:t>
            </a:r>
            <a:br/>
            <a:r>
              <a:t>1,000명이 왔는데 10명만 샀다면,</a:t>
            </a:r>
            <a:br/>
            <a:r>
              <a:t>990명은 왜 안 샀는지 모른다.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120640"/>
            <a:ext cx="3108960" cy="82296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050"/>
                </a:solidFill>
                <a:latin typeface="맑은 고딕"/>
              </a:defRPr>
            </a:pPr>
            <a:r>
              <a:t>유입 · 행동 · 인식 = 전부 사각지대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카메라만 보는 세상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맑은 고딕"/>
              </a:defRPr>
            </a:pPr>
            <a:r>
              <a:t>"어디서 멈췄는지"까지.</a:t>
            </a:r>
            <a:br/>
            <a:r>
              <a:t>메이아이는 동선과 체류를 잡지만</a:t>
            </a:r>
            <a:br/>
            <a:r>
              <a:t>그게 매출이 됐는지는 모른다.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5120640"/>
            <a:ext cx="3108960" cy="82296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5212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050"/>
                </a:solidFill>
                <a:latin typeface="맑은 고딕"/>
              </a:defRPr>
            </a:pPr>
            <a:r>
              <a:t>매출 연결 · 고객 심리 = 사각지대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설문만 보는 세상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맑은 고딕"/>
              </a:defRPr>
            </a:pPr>
            <a:r>
              <a:t>"좋았다고 말했다."</a:t>
            </a:r>
            <a:br/>
            <a:r>
              <a:t>NPS 점수는 높은데</a:t>
            </a:r>
            <a:br/>
            <a:r>
              <a:t>그게 진심인지 모른다.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5120640"/>
            <a:ext cx="3108960" cy="82296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5212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5050"/>
                </a:solidFill>
                <a:latin typeface="맑은 고딕"/>
              </a:defRPr>
            </a:pPr>
            <a:r>
              <a:t>응답 편향 · 무의식 심리 = 사각지대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맑은 고딕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RXR 4축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맑은 고딕"/>
              </a:defRPr>
            </a:pPr>
            <a:r>
              <a:t>봤다 → 들어왔다 → 머물렀다 → 샀다 → 공유했다 → 진짜 느꼈다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103120" cy="4389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1031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맑은 고딕"/>
              </a:defRPr>
            </a:pPr>
            <a:r>
              <a:t>AXIS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유입</a:t>
            </a:r>
            <a:br/>
            <a:r>
              <a:t>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"몇 명이 봤고</a:t>
            </a:r>
            <a:br/>
            <a:r>
              <a:t>들어왔는가?"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맑은 고딕"/>
              </a:defRPr>
            </a:pPr>
            <a:r>
              <a:t>방문자 수</a:t>
            </a:r>
            <a:br/>
            <a:r>
              <a:t>시선 인식률</a:t>
            </a:r>
            <a:br/>
            <a:r>
              <a:t>입장 전환률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011680"/>
            <a:ext cx="2103120" cy="4389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2011680"/>
            <a:ext cx="210312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366F1"/>
                </a:solidFill>
                <a:latin typeface="맑은 고딕"/>
              </a:defRPr>
            </a:pPr>
            <a:r>
              <a:t>AXIS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514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행동</a:t>
            </a:r>
            <a:br/>
            <a:r>
              <a:t>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"어디서 머물고</a:t>
            </a:r>
            <a:br/>
            <a:r>
              <a:t>뭘 봤는가?"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1148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맑은 고딕"/>
              </a:defRPr>
            </a:pPr>
            <a:r>
              <a:t>동선 히트맵</a:t>
            </a:r>
            <a:br/>
            <a:r>
              <a:t>체류 시간</a:t>
            </a:r>
            <a:br/>
            <a:r>
              <a:t>성별·연령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2011680"/>
            <a:ext cx="2103120" cy="4389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2011680"/>
            <a:ext cx="21031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AXIS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514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매출</a:t>
            </a:r>
            <a:br/>
            <a:r>
              <a:t>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"누가 얼마나</a:t>
            </a:r>
            <a:br/>
            <a:r>
              <a:t>샀는가?"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148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맑은 고딕"/>
              </a:defRPr>
            </a:pPr>
            <a:r>
              <a:t>구매 전환률</a:t>
            </a:r>
            <a:br/>
            <a:r>
              <a:t>객단가</a:t>
            </a:r>
            <a:br/>
            <a:r>
              <a:t>타겟별 구매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2011680"/>
            <a:ext cx="2103120" cy="4389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2011680"/>
            <a:ext cx="2103120" cy="73152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46EF"/>
                </a:solidFill>
                <a:latin typeface="맑은 고딕"/>
              </a:defRPr>
            </a:pPr>
            <a:r>
              <a:t>AXIS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514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인식</a:t>
            </a:r>
            <a:br/>
            <a:r>
              <a:t>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"어떻게 느끼고</a:t>
            </a:r>
            <a:br/>
            <a:r>
              <a:t>퍼뜨렸는가?"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1148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맑은 고딕"/>
              </a:defRPr>
            </a:pPr>
            <a:r>
              <a:t>SNS 언급</a:t>
            </a:r>
            <a:br/>
            <a:r>
              <a:t>감성 분석</a:t>
            </a:r>
            <a:br/>
            <a:r>
              <a:t>NPS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2011680"/>
            <a:ext cx="2103120" cy="4389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0" y="2011680"/>
            <a:ext cx="2103120" cy="73152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2194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5050"/>
                </a:solidFill>
                <a:latin typeface="맑은 고딕"/>
              </a:defRPr>
            </a:pPr>
            <a:r>
              <a:t>+ FWA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2514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진심</a:t>
            </a:r>
            <a:br/>
            <a:r>
              <a:t>읽기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2004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"정말 진심으로</a:t>
            </a:r>
            <a:br/>
            <a:r>
              <a:t>좋았는가?"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41148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맑은 고딕"/>
              </a:defRPr>
            </a:pPr>
            <a:r>
              <a:t>진정성</a:t>
            </a:r>
            <a:br/>
            <a:r>
              <a:t>추천 확신도</a:t>
            </a:r>
            <a:br/>
            <a:r>
              <a:t>신선함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맑은 고딕"/>
              </a:defRPr>
            </a:pPr>
            <a:r>
              <a:t>SECRET WEAPON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같은 별점 5점이라도 진심의 깊이가 다르다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754880" cy="41148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99999"/>
                </a:solidFill>
                <a:latin typeface="맑은 고딕"/>
              </a:defRPr>
            </a:pPr>
            <a:r>
              <a:t>BEFORE — 기존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999999"/>
                </a:solidFill>
                <a:latin typeface="맑은 고딕"/>
              </a:defRPr>
            </a:pPr>
            <a:r>
              <a:t>81%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긍정 리뷰 비율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65760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749039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맑은 고딕"/>
              </a:defRPr>
            </a:pPr>
            <a:r>
              <a:t>"긍정이 81%니까 좋은 거네요"</a:t>
            </a:r>
            <a:br/>
            <a:br/>
            <a:r>
              <a:t>→ 끝. 더 이상 알 수 없음.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0175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66666"/>
                </a:solidFill>
                <a:latin typeface="맑은 고딕"/>
              </a:defRPr>
            </a:pPr>
            <a: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828800"/>
            <a:ext cx="4754880" cy="41148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1828800"/>
            <a:ext cx="4754880" cy="54864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5050"/>
                </a:solidFill>
                <a:latin typeface="맑은 고딕"/>
              </a:defRPr>
            </a:pPr>
            <a:r>
              <a:t>AFTER — RXR + FWA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5050"/>
                </a:solidFill>
                <a:latin typeface="맑은 고딕"/>
              </a:defRPr>
            </a:pPr>
            <a:r>
              <a:t>81%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긍정 리뷰 비율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365760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3749039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맑은 고딕"/>
              </a:defRPr>
            </a:pPr>
          </a:p>
          <a:p>
            <a:pPr algn="l">
              <a:defRPr sz="1300" b="1">
                <a:solidFill>
                  <a:srgbClr val="FF5050"/>
                </a:solidFill>
                <a:latin typeface="맑은 고딕"/>
              </a:defRPr>
            </a:pPr>
            <a:r>
              <a:t>Authenticity 42 → 과장/편향 의심</a:t>
            </a:r>
          </a:p>
          <a:p>
            <a:pPr algn="l">
              <a:defRPr sz="1300" b="1">
                <a:solidFill>
                  <a:srgbClr val="FF5050"/>
                </a:solidFill>
                <a:latin typeface="맑은 고딕"/>
              </a:defRPr>
            </a:pPr>
            <a:r>
              <a:t>Clout 38 → 단순 감상, 추천 확신 약함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10B981"/>
                </a:solidFill>
                <a:latin typeface="맑은 고딕"/>
              </a:defRPr>
            </a:pPr>
            <a:r>
              <a:t>→ "화제성은 있으나 진정한 옹호는 아직"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2651760" cy="10058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5050"/>
                </a:solidFill>
                <a:latin typeface="맑은 고딕"/>
              </a:defRPr>
            </a:pPr>
            <a:r>
              <a:t>Authenticity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진심도 측정기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080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"진짜인가, 과장인가"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5486400"/>
            <a:ext cx="2651760" cy="10058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5532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5050"/>
                </a:solidFill>
                <a:latin typeface="맑은 고딕"/>
              </a:defRPr>
            </a:pPr>
            <a:r>
              <a:t>Clout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806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추천 확신도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080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"자신 있게 권하는가"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486400"/>
            <a:ext cx="2651760" cy="10058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532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5050"/>
                </a:solidFill>
                <a:latin typeface="맑은 고딕"/>
              </a:defRPr>
            </a:pPr>
            <a:r>
              <a:t>Analytical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806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인식 방식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6080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"이성적 vs 감성적"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5486400"/>
            <a:ext cx="2651760" cy="100584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5532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5050"/>
                </a:solidFill>
                <a:latin typeface="맑은 고딕"/>
              </a:defRPr>
            </a:pPr>
            <a:r>
              <a:t>Emotional Tone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806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감정 심층 구조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60807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"표면 너머 진짜 감정"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PROVEN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가나초콜릿이 증명한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같은 브랜드가 제품→공간으로 확장됐을 때, 소비자의 언어 구조가 완전히 달라졌습니다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30175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맑은 고딕"/>
              </a:defRPr>
            </a:pPr>
            <a:r>
              <a:t>가나초콜릿 (제품)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미각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2423160"/>
            <a:ext cx="2633472" cy="20116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9392" y="24048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촉각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926080"/>
            <a:ext cx="1755648" cy="20116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29077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시각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3429000"/>
            <a:ext cx="438912" cy="20116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4832" y="34107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공간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931920"/>
            <a:ext cx="146304" cy="20116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92224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사회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4434840"/>
            <a:ext cx="292608" cy="201168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38528" y="4416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10%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20240"/>
            <a:ext cx="5029200" cy="30175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맑은 고딕"/>
              </a:defRPr>
            </a:pPr>
            <a:r>
              <a:t>가나초콜릿하우스 (공간)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4231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미각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2423160"/>
            <a:ext cx="1024128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24048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35%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9260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촉각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2926080"/>
            <a:ext cx="438912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29077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4290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시각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3429000"/>
            <a:ext cx="2487168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02368" y="341071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85%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9319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공간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3931920"/>
            <a:ext cx="2194560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39136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75%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4348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사회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4434840"/>
            <a:ext cx="2048256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63456" y="44165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70%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1206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166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Analytical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맑은 고딕"/>
              </a:defRPr>
            </a:pPr>
            <a:r>
              <a:t>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5532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맑은 고딕"/>
              </a:defRPr>
            </a:pPr>
            <a:r>
              <a:t>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897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이성적→감성적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66160" y="51206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5166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Clout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6616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맑은 고딕"/>
              </a:defRPr>
            </a:pPr>
            <a:r>
              <a:t>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5532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맑은 고딕"/>
              </a:defRPr>
            </a:pPr>
            <a:r>
              <a:t>65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897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소극→적극추천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51206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166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Authenticity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맑은 고딕"/>
              </a:defRPr>
            </a:pPr>
            <a:r>
              <a:t>65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5532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맑은 고딕"/>
              </a:defRPr>
            </a:pPr>
            <a:r>
              <a:t>45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897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솔직→인스타감성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35440" y="51206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35440" y="5166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Tone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3544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맑은 고딕"/>
              </a:defRPr>
            </a:pPr>
            <a:r>
              <a:t>55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87000" y="5532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54406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맑은 고딕"/>
              </a:defRPr>
            </a:pPr>
            <a:r>
              <a:t>80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5440" y="5897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중립→압도적 긍정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맑은 고딕"/>
              </a:defRPr>
            </a:pPr>
            <a: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소비자의 감정을 읽는 것이 왜 비즈니스의 핵심인가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47548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383280" cy="54864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매출은 후행지표다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감정 데이터는 선행지표.</a:t>
            </a:r>
            <a:br/>
            <a:r>
              <a:t>Clout 점수가 하락하면</a:t>
            </a:r>
            <a:br/>
            <a:r>
              <a:t>2~3주 뒤 재방문율이 떨어짐.</a:t>
            </a:r>
            <a:br/>
            <a:r>
              <a:t>매출이 떨어지기 전에</a:t>
            </a:r>
            <a:br/>
            <a:r>
              <a:t>운영 전략을 바꿀 수 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5212080"/>
            <a:ext cx="2834640" cy="100584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5050"/>
                </a:solidFill>
                <a:latin typeface="맑은 고딕"/>
              </a:defRPr>
            </a:pPr>
            <a:r>
              <a:t>-2~3주</a:t>
            </a:r>
            <a:br/>
            <a:r>
              <a:t>매출 하락 전</a:t>
            </a:r>
            <a:br/>
            <a:r>
              <a:t>조기 경고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383280" cy="47548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737360"/>
            <a:ext cx="3383280" cy="54864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설문은 거짓말한다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NPS "추천하겠다" 답변 중</a:t>
            </a:r>
            <a:br/>
            <a:r>
              <a:t>실제 추천 비율은 20% 미만.</a:t>
            </a:r>
            <a:br/>
            <a:r>
              <a:t>기능어분석은 무의식적</a:t>
            </a:r>
            <a:br/>
            <a:r>
              <a:t>언어 패턴을 읽어</a:t>
            </a:r>
            <a:br/>
            <a:r>
              <a:t>이 편향을 뚫고 진심을 포착.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5212080"/>
            <a:ext cx="2834640" cy="100584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5050"/>
                </a:solidFill>
                <a:latin typeface="맑은 고딕"/>
              </a:defRPr>
            </a:pPr>
            <a:r>
              <a:t>FWA</a:t>
            </a:r>
            <a:br/>
            <a:r>
              <a:t>무의식 패턴</a:t>
            </a:r>
            <a:br/>
            <a:r>
              <a:t>= 진짜 의도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37360"/>
            <a:ext cx="3383280" cy="47548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3383280" cy="54864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진짜 팬 vs 구경꾼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774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방문자 1만 명 중</a:t>
            </a:r>
            <a:br/>
            <a:r>
              <a:t>진짜 브랜드를 사랑하는</a:t>
            </a:r>
            <a:br/>
            <a:r>
              <a:t>사람은 몇 명인가?</a:t>
            </a:r>
            <a:br/>
            <a:r>
              <a:t>Clout 높은 리뷰어 =</a:t>
            </a:r>
            <a:br/>
            <a:r>
              <a:t>자발적 추천 핵심 팬.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5212080"/>
            <a:ext cx="2834640" cy="100584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5050"/>
                </a:solidFill>
                <a:latin typeface="맑은 고딕"/>
              </a:defRPr>
            </a:pPr>
            <a:r>
              <a:t>ROI</a:t>
            </a:r>
            <a:br/>
            <a:r>
              <a:t>핵심 팬 식별</a:t>
            </a:r>
            <a:br/>
            <a:r>
              <a:t>→ 타겟 집중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맑은 고딕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어떻게 감정을 분석하는가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  <a:latin typeface="맑은 고딕"/>
              </a:defRPr>
            </a:pPr>
            <a:r>
              <a:t>STEP 1. 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SNS 리뷰, 설문 개방형 응답,</a:t>
            </a:r>
            <a:br/>
            <a:r>
              <a:t>블로그 후기 등 텍스트 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  <a:latin typeface="맑은 고딕"/>
              </a:defRPr>
            </a:pPr>
            <a:r>
              <a:t>STEP 2. 기능어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대명사(나/우리/여기),</a:t>
            </a:r>
            <a:br/>
            <a:r>
              <a:t>조사(은/는 vs 이/가),</a:t>
            </a:r>
            <a:br/>
            <a:r>
              <a:t>감정어, 시제 패턴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맑은 고딕"/>
              </a:defRPr>
            </a:pPr>
            <a:r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  <a:latin typeface="맑은 고딕"/>
              </a:defRPr>
            </a:pPr>
            <a:r>
              <a:t>STEP 3. 심리 수치화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LIWC 알고리즘으로</a:t>
            </a:r>
            <a:br/>
            <a:r>
              <a:t>Authenticity, Clout 등</a:t>
            </a:r>
            <a:br/>
            <a:r>
              <a:t>0~100점으로 변환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5303520" cy="24688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5303520" cy="36576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3308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맑은 고딕"/>
              </a:defRPr>
            </a:pPr>
            <a:r>
              <a:t>리뷰 A — 과장/조작 의심  |  Authenticity: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"나는 정말 너무너무 좋았고 진짜 최고의</a:t>
            </a:r>
            <a:br/>
            <a:r>
              <a:t>경험이었어요!! 분위기도 완전 대박이고</a:t>
            </a:r>
            <a:br/>
            <a:r>
              <a:t>모든 게 완벽했습니다!!"</a:t>
            </a:r>
            <a:br/>
            <a:br/>
            <a:r>
              <a:t>→ 1인칭 과다 + 극단적 긍정어 반복 + 느낌표 과잉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114800"/>
            <a:ext cx="5303520" cy="24688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114800"/>
            <a:ext cx="5303520" cy="365760"/>
          </a:xfrm>
          <a:prstGeom prst="rect">
            <a:avLst/>
          </a:prstGeom>
          <a:solidFill>
            <a:srgbClr val="0A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33087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리뷰 B — 진정한 경험 공유  |  Authenticity: 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5720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"처음엔 단순 팝업인 줄 알았는데, 공간이</a:t>
            </a:r>
            <a:br/>
            <a:r>
              <a:t>생각보다 정성스럽게 구성돼 있었어요.</a:t>
            </a:r>
            <a:br/>
            <a:r>
              <a:t>테린느가 괜찮았고, 한번쯤 가볼 만해요."</a:t>
            </a:r>
            <a:br/>
            <a:br/>
            <a:r>
              <a:t>→ 초점 조사 + 구체적 디테일 + 균형 잡힌 평가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���정 데이터가 만드는 5가지 비즈니스 효과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브랜드 피로도 조기 감지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Freshness Index 하락 → 매출 하락 전 운영 전략 변경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737360"/>
            <a:ext cx="1645920" cy="68580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0" y="17373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050"/>
                </a:solidFill>
                <a:latin typeface="맑은 고딕"/>
              </a:defRPr>
            </a:pPr>
            <a:r>
              <a:t>-2~3주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조기 경고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334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가짜 바이럴 vs 진짜 옹호 구분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Authenticity 기반 캠페인 ROI 정밀 측정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724912"/>
            <a:ext cx="1645920" cy="68580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27249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050"/>
                </a:solidFill>
                <a:latin typeface="맑은 고딕"/>
              </a:defRPr>
            </a:pPr>
            <a:r>
              <a:t>79%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3090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탐지 정확도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2102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667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체류↑ 구매↓ 원인 규명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3250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Analytical↑ Clout↓ = 관심은 있으나 확신 부족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3712463"/>
            <a:ext cx="1645920" cy="68580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3712463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050"/>
                </a:solidFill>
                <a:latin typeface="맑은 고딕"/>
              </a:defRPr>
            </a:pPr>
            <a:r>
              <a:t>+19%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0782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전환율 개선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08576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6542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다음 프로젝트 재현 근거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2005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Clout 최고 요소를 식별 → 데이터 기반 기획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4700016"/>
            <a:ext cx="1645920" cy="68580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470001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050"/>
                </a:solidFill>
                <a:latin typeface="맑은 고딕"/>
              </a:defRPr>
            </a:pPr>
            <a: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50657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감 아닌 근거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59612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41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IR/제안서 독점 지표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00760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경쟁사가 말할 수 없는 심리 데이터 = 가치 경쟁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5687568"/>
            <a:ext cx="1645920" cy="68580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56875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050"/>
                </a:solidFill>
                <a:latin typeface="맑은 고딕"/>
              </a:defRPr>
            </a:pPr>
            <a:r>
              <a:t>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6053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독점 영역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A5E9"/>
                </a:solidFill>
                <a:latin typeface="맑은 고딕"/>
              </a:defRPr>
            </a:pPr>
            <a:r>
              <a:t>GLOBAL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해외 리테일테크와 무엇이 다른가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RetailNext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미국 · 세계 1위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센서+비디오</a:t>
            </a:r>
            <a:br/>
            <a:r>
              <a:t>히트맵, 동선, 전환율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5050"/>
                </a:solidFill>
                <a:latin typeface="맑은 고딕"/>
              </a:defRPr>
            </a:pPr>
            <a:r>
              <a:t>감정·인식·SNS = 전부 불가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Sensormatic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미국 · 연 400억건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최대 트래픽 네트워크</a:t>
            </a:r>
            <a:br/>
            <a:r>
              <a:t>직원 제외, Re-ID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310896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154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5050"/>
                </a:solidFill>
                <a:latin typeface="맑은 고딕"/>
              </a:defRPr>
            </a:pPr>
            <a:r>
              <a:t>"왜 샀는가" 답할 수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Placer.ai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0116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미국 · 모바일GPS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2860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센서 없이 위치 분석</a:t>
            </a:r>
            <a:br/>
            <a:r>
              <a:t>경쟁 매장 이동 패턴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10896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154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5050"/>
                </a:solidFill>
                <a:latin typeface="맑은 고딕"/>
              </a:defRPr>
            </a:pPr>
            <a:r>
              <a:t>매장 안 행동 모름. 감정 제로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1480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Quividi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4805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프랑스 · 표정분석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54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유일한 표정 mood 측정</a:t>
            </a:r>
            <a:br/>
            <a:r>
              <a:t>사이니지 앞 주목도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57784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23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5050"/>
                </a:solidFill>
                <a:latin typeface="맑은 고딕"/>
              </a:defRPr>
            </a:pPr>
            <a:r>
              <a:t>표정 읽기 ≠ 진심 읽기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11480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V-Count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4805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터키 · 130국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754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99% 정확도, 200+ KPI</a:t>
            </a:r>
            <a:br/>
            <a:r>
              <a:t>가성비 히트맵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59" y="557784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5623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5050"/>
                </a:solidFill>
                <a:latin typeface="맑은 고딕"/>
              </a:defRPr>
            </a:pPr>
            <a:r>
              <a:t>행동 "너머" 데이터 없음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114800"/>
            <a:ext cx="3383280" cy="21945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메이아이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44805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한국 · 300+ 매장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4754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기존 CCTV 활용</a:t>
            </a:r>
            <a:br/>
            <a:r>
              <a:t>Re-ID 92%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557784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5623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5050"/>
                </a:solidFill>
                <a:latin typeface="맑은 고딕"/>
              </a:defRPr>
            </a:pPr>
            <a:r>
              <a:t>POS 미연동. 감정 불가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맑은 고딕"/>
              </a:defRPr>
            </a:pPr>
            <a:r>
              <a:t>VS CONSULTING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글로벌 리서치 프레임워크와도 차원이 다르다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2004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McKinsey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CMAC · Retail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SKU 경제성, 가격 탄력성,</a:t>
            </a:r>
            <a:br/>
            <a:r>
              <a:t>고객 CLV, 미디어 믹스 최적화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474720"/>
            <a:ext cx="3200400" cy="109728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5050"/>
                </a:solidFill>
                <a:latin typeface="맑은 고딕"/>
              </a:defRPr>
            </a:pPr>
            <a:r>
              <a:t>수억 원/프로젝트. 일회성.</a:t>
            </a:r>
            <a:br/>
            <a:r>
              <a:t>비정형 데이터 약함. 감정=설문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32004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Bain NPS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Net Promoter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"추천하시겠습니까?" 단일 질문.</a:t>
            </a:r>
            <a:br/>
            <a:r>
              <a:t>NPS = 성장률의 20~60% 설명.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3474720"/>
            <a:ext cx="3200400" cy="109728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5204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5050"/>
                </a:solidFill>
                <a:latin typeface="맑은 고딕"/>
              </a:defRPr>
            </a:pPr>
            <a:r>
              <a:t>"왜"인지 모름. 문화 편향.</a:t>
            </a:r>
            <a:br/>
            <a:r>
              <a:t>조작 가능. 무의식 포착 불가.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383280" cy="32004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Kantar / Ipsos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05740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Brand Health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인지도, 선호도, 구매의향,</a:t>
            </a:r>
            <a:br/>
            <a:r>
              <a:t>브랜드 자산 종합. 21,000+ DB.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474720"/>
            <a:ext cx="3200400" cy="1097280"/>
          </a:xfrm>
          <a:prstGeom prst="roundRect">
            <a:avLst>
              <a:gd name="adj" fmla="val 6000"/>
            </a:avLst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5204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5050"/>
                </a:solidFill>
                <a:latin typeface="맑은 고딕"/>
              </a:defRPr>
            </a:pPr>
            <a:r>
              <a:t>연간 수억~수십억 원.</a:t>
            </a:r>
            <a:br/>
            <a:r>
              <a:t>실시간 불가. 의식적 답변만.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10698480" cy="13716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RXR은 이 모든 것의 교차점에 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  <a:latin typeface="맑은 고딕"/>
              </a:defRPr>
            </a:pPr>
            <a:r>
              <a:t>리테일테크</a:t>
            </a:r>
            <a:br/>
            <a:r>
              <a:t>행동 데이터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623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컨설팅</a:t>
            </a:r>
            <a:br/>
            <a:r>
              <a:t>전략 프레임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623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5CF6"/>
                </a:solidFill>
                <a:latin typeface="맑은 고딕"/>
              </a:defRPr>
            </a:pPr>
            <a:r>
              <a:t>리서치</a:t>
            </a:r>
            <a:br/>
            <a:r>
              <a:t>브랜드 측정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623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5050"/>
                </a:solidFill>
                <a:latin typeface="맑은 고딕"/>
              </a:defRPr>
            </a:pPr>
            <a:r>
              <a:t>아무도 못하는</a:t>
            </a:r>
            <a:br/>
            <a:r>
              <a:t>무의식 심리 = RXR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HOW WE DELIVER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실제로 무엇을 받게 되는가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303520" cy="47548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303520" cy="54864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Daily AI 인사이트 (매일 자동)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937760" cy="16459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맑은 고딕"/>
              </a:defRPr>
            </a:pPr>
            <a:r>
              <a:t>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"유입 +26.5% 증가했지만 구매 전환</a:t>
            </a:r>
            <a:br/>
            <a:r>
              <a:t>-1.8%p 하락. 리뷰 Clout 점수도 38로</a:t>
            </a:r>
            <a:br/>
            <a:r>
              <a:t>낮아 체험 중심 방문 비율이 높은 것으로</a:t>
            </a:r>
            <a:br/>
            <a:r>
              <a:t>보입니다."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06240"/>
            <a:ext cx="4937760" cy="1280160"/>
          </a:xfrm>
          <a:prstGeom prst="roundRect">
            <a:avLst>
              <a:gd name="adj" fmla="val 6000"/>
            </a:avLst>
          </a:prstGeom>
          <a:solidFill>
            <a:srgbClr val="0A2D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519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"피크 시간대(18~20시) 상품 설명형</a:t>
            </a:r>
            <a:br/>
            <a:r>
              <a:t>POP 강화 + 한정 프로모션 테스트 필요"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5303520" cy="475488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303520" cy="54864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1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Monthly 전략 리포트 (프로젝트 종료)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377440"/>
            <a:ext cx="4937760" cy="164592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4231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46EF"/>
                </a:solidFill>
                <a:latin typeface="맑은 고딕"/>
              </a:defRPr>
            </a:pPr>
            <a:r>
              <a:t>감정 추이 그��프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974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주차별 Authenticity · Clout · Freshness</a:t>
            </a:r>
            <a:br/>
            <a:r>
              <a:t>Index 변화 추이</a:t>
            </a:r>
            <a:br/>
            <a:r>
              <a:t>"2주차 Clout 피크(72) → 4주차 45 하락</a:t>
            </a:r>
            <a:br/>
            <a:r>
              <a:t>= 신선함 소진 감지"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206240"/>
            <a:ext cx="4937760" cy="1280160"/>
          </a:xfrm>
          <a:prstGeom prst="roundRect">
            <a:avLst>
              <a:gd name="adj" fmla="val 6000"/>
            </a:avLst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2519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핵심 인사이트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2628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맑은 고딕"/>
              </a:defRPr>
            </a:pPr>
            <a:r>
              <a:t>"20대 여성 방문 48%이지만 구매 기여 31%.</a:t>
            </a:r>
            <a:br/>
            <a:r>
              <a:t>30대 고객이 구매 44% — 진짜 매출은 여기.</a:t>
            </a:r>
            <a:br/>
            <a:r>
              <a:t>다음 프로젝트에서 30대 시간대 운영 강화"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어디서 돈이 되는가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383280" cy="54864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프로젝트 분석 리포트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맑은 고딕"/>
              </a:defRPr>
            </a:pPr>
            <a:r>
              <a:t>브랜드 팝업/매장 프로젝트별</a:t>
            </a:r>
            <a:br/>
            <a:r>
              <a:t>4축 통합 데이터 프로덕트 납품</a:t>
            </a:r>
            <a:br/>
            <a:br/>
            <a:r>
              <a:t>"이 매장이 왜 성공했는가"를</a:t>
            </a:r>
            <a:br/>
            <a:r>
              <a:t>숫자로 증명하는 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828800"/>
            <a:ext cx="3383280" cy="54864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SaaS 대시보드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맑은 고딕"/>
              </a:defRPr>
            </a:pPr>
            <a:r>
              <a:t>월간 구독형</a:t>
            </a:r>
            <a:br/>
            <a:r>
              <a:t>실시간 AI 인사이트 엔진</a:t>
            </a:r>
            <a:br/>
            <a:br/>
            <a:r>
              <a:t>매일 자동 생성되는</a:t>
            </a:r>
            <a:br/>
            <a:r>
              <a:t>"오늘 뭘 해야 하는가"</a:t>
            </a:r>
            <a:br/>
            <a:r>
              <a:t>운영 의사결정 지원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383280" cy="54864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IR / 제안서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  <a:latin typeface="맑은 고딕"/>
              </a:defRPr>
            </a:pPr>
            <a:r>
              <a:t>브랜드 클라이언트가</a:t>
            </a:r>
            <a:br/>
            <a:r>
              <a:t>투자자/본사에 보고할 수 있는</a:t>
            </a:r>
            <a:br/>
            <a:r>
              <a:t>정량 데이터 패키지</a:t>
            </a:r>
            <a:br/>
            <a:br/>
            <a:r>
              <a:t>메이아이가 못하는</a:t>
            </a:r>
            <a:br/>
            <a:r>
              <a:t>"심리적 성과 데��터"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EA5E9"/>
                </a:solidFill>
                <a:latin typeface="맑은 고딕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왜 지금인가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194560" cy="12801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5050"/>
                </a:solidFill>
                <a:latin typeface="맑은 고딕"/>
              </a:defRPr>
            </a:pPr>
            <a:r>
              <a:t>1.8조+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국내 팝업스토어</a:t>
            </a:r>
            <a:br/>
            <a:r>
              <a:t>시장 규모 (2024)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828800"/>
            <a:ext cx="2194560" cy="12801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5050"/>
                </a:solidFill>
                <a:latin typeface="맑은 고딕"/>
              </a:defRPr>
            </a:pPr>
            <a:r>
              <a:t>300+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메이아이 공급 매장</a:t>
            </a:r>
            <a:br/>
            <a:r>
              <a:t>(축①② 수요 검증)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828800"/>
            <a:ext cx="2194560" cy="12801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5050"/>
                </a:solidFill>
                <a:latin typeface="맑은 고딕"/>
              </a:defRPr>
            </a:pPr>
            <a: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가나초콜릿하우스</a:t>
            </a:r>
            <a:br/>
            <a:r>
              <a:t>구매전환율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2194560" cy="128016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6596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5050"/>
                </a:solidFill>
                <a:latin typeface="맑은 고딕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06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맑은 고딕"/>
              </a:defRPr>
            </a:pPr>
            <a:r>
              <a:t>4축 통합 + FWA</a:t>
            </a:r>
            <a:br/>
            <a:r>
              <a:t>경쟁 솔루션 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10698480" cy="301752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메이아이가 못 채우는 공백 = RXR의 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맑은 고딕"/>
              </a:defRPr>
            </a:pPr>
            <a:r>
              <a:t>메이아이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411480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유입 + 행동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5050"/>
                </a:solidFill>
                <a:latin typeface="맑은 고딕"/>
              </a:defRPr>
            </a:pPr>
            <a:r>
              <a:t>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4572000"/>
            <a:ext cx="4389120" cy="27432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45902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5050"/>
                </a:solidFill>
                <a:latin typeface="맑은 고딕"/>
              </a:defRPr>
            </a:pPr>
            <a:r>
              <a:t>매출 + 인식 + 심리 = 비어있음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292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5050"/>
                </a:solidFill>
                <a:latin typeface="맑은 고딕"/>
              </a:defRPr>
            </a:pPr>
            <a:r>
              <a:t>RXR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0" y="5029200"/>
            <a:ext cx="7315200" cy="274320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0" y="5010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맑은 고딕"/>
              </a:defRPr>
            </a:pPr>
            <a:r>
              <a:t>전체 커버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맑은 고딕"/>
              </a:defRPr>
            </a:pPr>
            <a:r>
              <a:t>하나의 질문으로 정리하면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4572000" cy="27432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99999"/>
                </a:solidFill>
                <a:latin typeface="맑은 고딕"/>
              </a:defRPr>
            </a:pPr>
            <a:r>
              <a:t>기존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"몇 명 왔어?"</a:t>
            </a:r>
            <a:br/>
            <a:r>
              <a:t>"얼마 팔렸어?"</a:t>
            </a:r>
            <a:br/>
            <a:r>
              <a:t>"좋았대?"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5050"/>
                </a:solidFill>
                <a:latin typeface="맑은 고딕"/>
              </a:defRPr>
            </a:pPr>
            <a:r>
              <a:t>조각난 데이터, 불완전한 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맑은 고딕"/>
              </a:defRPr>
            </a:pPr>
            <a: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103120"/>
            <a:ext cx="4572000" cy="2743200"/>
          </a:xfrm>
          <a:prstGeom prst="roundRect">
            <a:avLst>
              <a:gd name="adj" fmla="val 6000"/>
            </a:avLst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2103120"/>
            <a:ext cx="4572000" cy="54864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5050"/>
                </a:solidFill>
                <a:latin typeface="맑은 고딕"/>
              </a:defRPr>
            </a:pPr>
            <a:r>
              <a:t>RXR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65176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"봤다→들어왔다→머물렀다</a:t>
            </a:r>
            <a:br/>
            <a:r>
              <a:t>→샀다→공유했다"</a:t>
            </a:r>
            <a:br/>
            <a:r>
              <a:t>"그리고 진심이었다"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1148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0B981"/>
                </a:solidFill>
                <a:latin typeface="맑은 고딕"/>
              </a:defRPr>
            </a:pPr>
            <a:r>
              <a:t>완성된 스토리 + 심리적 근거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5212080"/>
            <a:ext cx="7589520" cy="1188720"/>
          </a:xfrm>
          <a:prstGeom prst="roundRect">
            <a:avLst>
              <a:gd name="adj" fmla="val 6000"/>
            </a:avLst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53035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이것은 "더 좋은 대시보드"가 아닙니다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7607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새로운 카테고리의 데이터 프로덕트입���다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