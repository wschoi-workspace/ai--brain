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4361EE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3C5FD"/>
                </a:solidFill>
                <a:latin typeface="맑은 고딕"/>
              </a:defRPr>
            </a:pPr>
            <a:r>
              <a:t>MARKETING &amp; CONSUMER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기능어분석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818CF8"/>
                </a:solidFill>
                <a:latin typeface="맑은 고딕"/>
              </a:defRPr>
            </a:pPr>
            <a:r>
              <a:t>Function Word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맑은 고딕"/>
              </a:defRPr>
            </a:pPr>
            <a:r>
              <a:t>마케팅 &amp; 소비자 조사 관점에서 본 기능어분석의 정의, 비즈니스 적용 사례,</a:t>
            </a:r>
            <a:br/>
            <a:r>
              <a:t>그리고 실무 활용 가능성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2026.03 · 30+ 학술 자료 기반 · do-better-workspace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361EE"/>
                </a:solidFill>
                <a:latin typeface="맑은 고딕"/>
              </a:defRPr>
            </a:pPr>
            <a:r>
              <a:t>Part 1 — 개념 이해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3A"/>
                </a:solidFill>
                <a:latin typeface="맑은 고딕"/>
              </a:defRPr>
            </a:pPr>
            <a:r>
              <a:t>1. 기능어의 정의와 핵심 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3A"/>
                </a:solidFill>
                <a:latin typeface="맑은 고딕"/>
              </a:defRPr>
            </a:pPr>
            <a:r>
              <a:t>2. 기능어분석이란? — 방법론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599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361EE"/>
                </a:solidFill>
                <a:latin typeface="맑은 고딕"/>
              </a:defRPr>
            </a:pPr>
            <a:r>
              <a:t>Part 2 — 마케팅 적용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06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3A"/>
                </a:solidFill>
                <a:latin typeface="맑은 고딕"/>
              </a:defRPr>
            </a:pPr>
            <a:r>
              <a:t>3. 소비자 리뷰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803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3A"/>
                </a:solidFill>
                <a:latin typeface="맑은 고딕"/>
              </a:defRPr>
            </a:pPr>
            <a:r>
              <a:t>4. 광고 카피 &amp; 메시지 최적화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1546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3A"/>
                </a:solidFill>
                <a:latin typeface="맑은 고딕"/>
              </a:defRPr>
            </a:pPr>
            <a:r>
              <a:t>5. 브랜드 포지셔닝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42899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3A"/>
                </a:solidFill>
                <a:latin typeface="맑은 고딕"/>
              </a:defRPr>
            </a:pPr>
            <a:r>
              <a:t>6. 소셜미디어 &amp; 인플루언서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7033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3A"/>
                </a:solidFill>
                <a:latin typeface="맑은 고딕"/>
              </a:defRPr>
            </a:pPr>
            <a:r>
              <a:t>7. 고객 서비스 / VOC / FGI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9776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3A"/>
                </a:solidFill>
                <a:latin typeface="맑은 고딕"/>
              </a:defRPr>
            </a:pPr>
            <a:r>
              <a:t>8. 경쟁사 분석 &amp; 한국 연구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361EE"/>
                </a:solidFill>
                <a:latin typeface="맑은 고딕"/>
              </a:defRPr>
            </a:pPr>
            <a:r>
              <a:t>Part 3 — 실무 활용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7091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3A"/>
                </a:solidFill>
                <a:latin typeface="맑은 고딕"/>
              </a:defRPr>
            </a:pPr>
            <a:r>
              <a:t>9. 실무 워크플로우 &amp; 도구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9834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3A"/>
                </a:solidFill>
                <a:latin typeface="맑은 고딕"/>
              </a:defRPr>
            </a:pPr>
            <a:r>
              <a:t>10. 마케터를 위한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949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361EE"/>
                </a:solidFill>
                <a:latin typeface="맑은 고딕"/>
              </a:defRPr>
            </a:pPr>
            <a:r>
              <a:t>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71499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3A"/>
                </a:solidFill>
                <a:latin typeface="맑은 고딕"/>
              </a:defRPr>
            </a:pPr>
            <a:r>
              <a:t>★ 가나초콜릿 × 가나초콜릿하우스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1  기능어(Function Word)의 정의와 핵심 원리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82296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3A"/>
                </a:solidFill>
                <a:latin typeface="맑은 고딕"/>
              </a:defRPr>
            </a:pPr>
            <a:r>
              <a:t>기능어(function word)란 어휘적 의미가 거의 없지만 문장 내 단어들의 문법적 관계를 표현하는 단어.</a:t>
            </a:r>
            <a:br/>
            <a:r>
              <a:t>대명사(나, 너, 그), 조사(을/를, 에서), 접속사(그리고, 하지만) 등이 해당한다.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4361EE"/>
                </a:solidFill>
                <a:latin typeface="맑은 고딕"/>
              </a:defRPr>
            </a:pPr>
            <a:r>
              <a:t>&lt;500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영어 기능어 총 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37744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514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4361EE"/>
                </a:solidFill>
                <a:latin typeface="맑은 고딕"/>
              </a:defRPr>
            </a:pPr>
            <a:r>
              <a:t>55%+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일상 언어 중 비중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37744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514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4361EE"/>
                </a:solidFill>
                <a:latin typeface="맑은 고딕"/>
              </a:defRPr>
            </a:pPr>
            <a:r>
              <a:t>20,000+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LIWC 활용 학술논문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37744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514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4361EE"/>
                </a:solidFill>
                <a:latin typeface="맑은 고딕"/>
              </a:defRPr>
            </a:pPr>
            <a:r>
              <a:t>100+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LIWC-22 분석 차원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" y="38404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원리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마케팅 함의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자동적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기능어는 무의식적으로 산출, 의도적 조작이 어려움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소비자의 진짜 심리 포착 (설문 편향 극복)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편향 불감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내용어는 조작 가능하지만 기능어는 아님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가짜 리뷰/허위 추천 탐지의 이론적 근거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관계성 반영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대명사 사용은 화자-대상의 심리적 거리 반영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"I" vs "we" vs "they"로 브랜드-소비자 관계 측정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인지 복잡성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전치사, 접속사, 부사는 사고의 복잡성 반영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소비자 의사결정 복잡도/확신도 추정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범문화적 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기능어 원리는 언어를 넘어 보편적 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글로벌 브랜드의 다국가 소비자 비교 분석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2  LIWC-22의 4대 요약 변수 — 마케팅 핵심 지표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7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77639"/>
                <a:gridCol w="3977639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요약 변수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산출 방식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마케팅 활용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D3DA8"/>
                          </a:solidFill>
                          <a:latin typeface="맑은 고딕"/>
                        </a:defRPr>
                      </a:pPr>
                      <a:r>
                        <a:t>Analytical Thinking</a:t>
                      </a:r>
                    </a:p>
                    <a:p>
                      <a:pPr>
                        <a:defRPr sz="1000" b="1">
                          <a:solidFill>
                            <a:srgbClr val="2D3DA8"/>
                          </a:solidFill>
                          <a:latin typeface="맑은 고딕"/>
                        </a:defRPr>
                      </a:pPr>
                      <a:r>
                        <a:t>분석적 사고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형식적, 논리적, 위계적 사고 단어 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소비자가 브랜드를 이성적/감성적 중</a:t>
                      </a:r>
                    </a:p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어떤 방식으로 인식하는지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D3DA8"/>
                          </a:solidFill>
                          <a:latin typeface="맑은 고딕"/>
                        </a:defRPr>
                      </a:pPr>
                      <a:r>
                        <a:t>Clout</a:t>
                      </a:r>
                    </a:p>
                    <a:p>
                      <a:pPr>
                        <a:defRPr sz="1000" b="1">
                          <a:solidFill>
                            <a:srgbClr val="2D3DA8"/>
                          </a:solidFill>
                          <a:latin typeface="맑은 고딕"/>
                        </a:defRPr>
                      </a:pPr>
                      <a:r>
                        <a:t>영향력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"I" 적게, "we"/"you" 많이 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소비자가 브랜드에 대해 느끼는</a:t>
                      </a:r>
                    </a:p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자신감/권위 수준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D3DA8"/>
                          </a:solidFill>
                          <a:latin typeface="맑은 고딕"/>
                        </a:defRPr>
                      </a:pPr>
                      <a:r>
                        <a:t>Authenticity</a:t>
                      </a:r>
                    </a:p>
                    <a:p>
                      <a:pPr>
                        <a:defRPr sz="1000" b="1">
                          <a:solidFill>
                            <a:srgbClr val="2D3DA8"/>
                          </a:solidFill>
                          <a:latin typeface="맑은 고딕"/>
                        </a:defRPr>
                      </a:pPr>
                      <a:r>
                        <a:t>진정성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자기모니터링 수준 반영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소비자가 브랜드에 대해</a:t>
                      </a:r>
                    </a:p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솔직하게 표현하는 정도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D3DA8"/>
                          </a:solidFill>
                          <a:latin typeface="맑은 고딕"/>
                        </a:defRPr>
                      </a:pPr>
                      <a:r>
                        <a:t>Emotional Tone</a:t>
                      </a:r>
                    </a:p>
                    <a:p>
                      <a:pPr>
                        <a:defRPr sz="1000" b="1">
                          <a:solidFill>
                            <a:srgbClr val="2D3DA8"/>
                          </a:solidFill>
                          <a:latin typeface="맑은 고딕"/>
                        </a:defRPr>
                      </a:pPr>
                      <a:r>
                        <a:t>감정 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긍정/부정 감정어 비율 종합</a:t>
                      </a:r>
                    </a:p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(50+=긍정, 50-=부정)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전반적 브랜드 감성 평가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389120"/>
            <a:ext cx="2606040" cy="146304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48055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DA8"/>
                </a:solidFill>
                <a:latin typeface="맑은 고딕"/>
              </a:defRPr>
            </a:pPr>
            <a:r>
              <a:t>사전(Dictionary) 기반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84632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LIWC/K-LIWC의 미리 정의된</a:t>
            </a:r>
            <a:br/>
            <a:r>
              <a:t>단어 사전으로 80개+ 범주 분류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4389120"/>
            <a:ext cx="2606040" cy="146304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9" y="448055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DA8"/>
                </a:solidFill>
                <a:latin typeface="맑은 고딕"/>
              </a:defRPr>
            </a:pPr>
            <a:r>
              <a:t>빈도 기반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9" y="484632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각 기능어 범주의 출현 빈도를</a:t>
            </a:r>
            <a:br/>
            <a:r>
              <a:t>전체 단어 수 대비 백분율로 계산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4389120"/>
            <a:ext cx="2606040" cy="146304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48055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DA8"/>
                </a:solidFill>
                <a:latin typeface="맑은 고딕"/>
              </a:defRPr>
            </a:pPr>
            <a:r>
              <a:t>스타일로메트리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84632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기능어 사용 패턴을 "언어적 지문"으로</a:t>
            </a:r>
            <a:br/>
            <a:r>
              <a:t>활용하여 저자/스타일 식별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4389120"/>
            <a:ext cx="2606040" cy="146304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448055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DA8"/>
                </a:solidFill>
                <a:latin typeface="맑은 고딕"/>
              </a:defRPr>
            </a:pPr>
            <a:r>
              <a:t>ML/DL 결합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84632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LIWC 지표를 피처로 SVM, BERT에 학습</a:t>
            </a:r>
            <a:br/>
            <a:r>
              <a:t>LIWC+바이그램 89.8% 정확도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3  소비자 리뷰 분석 — 가짜 리뷰 탐지 &amp; 유용성 예측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685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423160"/>
                <a:gridCol w="2423160"/>
              </a:tblGrid>
              <a:tr h="51206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기능어 지표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가짜 리뷰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진짜 리뷰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1인칭 대명사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C2626"/>
                          </a:solidFill>
                          <a:latin typeface="맑은 고딕"/>
                        </a:defRPr>
                      </a:pPr>
                      <a:r>
                        <a:t>과다 — 경험 조작 시 자기참조 증가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자연스러운 비율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긍정 감정어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C2626"/>
                          </a:solidFill>
                          <a:latin typeface="맑은 고딕"/>
                        </a:defRPr>
                      </a:pPr>
                      <a:r>
                        <a:t>비정상적으로 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부정 감정어가 자연스럽게 혼합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지각 과정어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C2626"/>
                          </a:solidFill>
                          <a:latin typeface="맑은 고딕"/>
                        </a:defRPr>
                      </a:pPr>
                      <a:r>
                        <a:t>감각적 묘사로 신빙성 조작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구체적 제품 디테일에 집중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느낌표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C2626"/>
                          </a:solidFill>
                          <a:latin typeface="맑은 고딕"/>
                        </a:defRPr>
                      </a:pPr>
                      <a:r>
                        <a:t>높은 빈도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상대적으로 적음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28016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417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4361EE"/>
                </a:solidFill>
                <a:latin typeface="맑은 고딕"/>
              </a:defRPr>
            </a:pPr>
            <a:r>
              <a:t>79%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965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4개 피처만으로</a:t>
            </a:r>
            <a:br/>
            <a:r>
              <a:t>탐지 정확도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74320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880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59669"/>
                </a:solidFill>
                <a:latin typeface="맑은 고딕"/>
              </a:defRPr>
            </a:pPr>
            <a:r>
              <a:t>89.8%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429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LIWC+바이그램</a:t>
            </a:r>
            <a:br/>
            <a:r>
              <a:t>조합 정확도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698480" cy="228600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DA8"/>
                </a:solidFill>
                <a:latin typeface="맑은 고딕"/>
              </a:defRPr>
            </a:pPr>
            <a:r>
              <a:t>CASE 2 — 리뷰 유용성 예측 (Amazon 20,997건 분석)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3A"/>
                </a:solidFill>
                <a:latin typeface="맑은 고딕"/>
              </a:defRPr>
            </a:pPr>
          </a:p>
          <a:p>
            <a:pPr algn="l">
              <a:defRPr sz="1200" b="0">
                <a:solidFill>
                  <a:srgbClr val="2C2C3A"/>
                </a:solidFill>
                <a:latin typeface="맑은 고딕"/>
              </a:defRPr>
            </a:pPr>
            <a:r>
              <a:t>• 비인격적 스타일(impersonal)로 작성된 리뷰가 인격적 스타일보다 더 유용하다고 인식</a:t>
            </a:r>
          </a:p>
          <a:p>
            <a:pPr algn="l">
              <a:defRPr sz="1200" b="0">
                <a:solidFill>
                  <a:srgbClr val="2C2C3A"/>
                </a:solidFill>
                <a:latin typeface="맑은 고딕"/>
              </a:defRPr>
            </a:pPr>
            <a:r>
              <a:t>• 리뷰 가이드라인에 "객관적 톤"을 권장하면 유용한 리뷰가 유도됨</a:t>
            </a:r>
          </a:p>
          <a:p>
            <a:pPr algn="l">
              <a:defRPr sz="1200" b="0">
                <a:solidFill>
                  <a:srgbClr val="2C2C3A"/>
                </a:solidFill>
                <a:latin typeface="맑은 고딕"/>
              </a:defRPr>
            </a:pPr>
            <a:r>
              <a:t>• 리뷰 정렬 알고리즘에 LIWC 기반 유용성 점수를 반영할 수 있음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4  광고 카피 &amp; 메시지 최적화 — 인스타그램 CTR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Inoue &amp; Yoshida (2023) — 건강제품 3,555개 + 화장품 3,270개 인스타그램 광고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2400E"/>
                </a:solidFill>
                <a:latin typeface="맑은 고딕"/>
              </a:defRPr>
            </a:pPr>
            <a:r>
              <a:t>건강제품 (n=3,555)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8308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08760"/>
                <a:gridCol w="1508760"/>
              </a:tblGrid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LIWC 카테고리</a:t>
                      </a:r>
                    </a:p>
                  </a:txBody>
                  <a:tcPr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본문 (rho)</a:t>
                      </a:r>
                    </a:p>
                  </a:txBody>
                  <a:tcPr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이미지 (rho)</a:t>
                      </a:r>
                    </a:p>
                  </a:txBody>
                  <a:tcPr>
                    <a:solidFill>
                      <a:srgbClr val="92400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부정 감정 (negemo)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+0.221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+0.302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인지적 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+0.152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+0.106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생물학적 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+0.151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+0.094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돈/가격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-0.058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  <a:latin typeface="맑은 고딕"/>
                        </a:defRPr>
                      </a:pPr>
                      <a:r>
                        <a:t>-0.170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맑은 고딕"/>
              </a:defRPr>
            </a:pPr>
            <a:r>
              <a:t>화장품 (n=3,270)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783080"/>
          <a:ext cx="52120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08760"/>
                <a:gridCol w="1508760"/>
              </a:tblGrid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LIWC 카테고리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본문 (rho)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이미지 (rho)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부정 감정 (negemo)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+0.254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+0.124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돈/가격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+0.259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-0.076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동기 (drives)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+0.194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+0.020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생물학적 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  <a:latin typeface="맑은 고딕"/>
                        </a:defRPr>
                      </a:pPr>
                      <a:r>
                        <a:t>-0.308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+0.020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114800"/>
            <a:ext cx="5394960" cy="237744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맑은 고딕"/>
              </a:defRPr>
            </a:pPr>
            <a:r>
              <a:t>DO — 이렇게 하세요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</a:p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• 건강제품: 이미지에 위기감/결핍 메시지 강조 (rho=0.302)</a:t>
            </a:r>
          </a:p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• 화장품: 본문에 가격을 투명하게 공개 (rho=+0.259)</a:t>
            </a:r>
          </a:p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• 공통: 부정 감정어를 전략적으로 활용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114800"/>
            <a:ext cx="5029200" cy="237744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206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맑은 고딕"/>
              </a:defRPr>
            </a:pPr>
            <a:r>
              <a:t>DON'T — 피하세요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5262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</a:p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• 건강제품: 이미지에 가격 표기 (rho=-0.170)</a:t>
            </a:r>
          </a:p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• 화장품: 감각적 수식어 남발 (rho=-0.308)</a:t>
            </a:r>
          </a:p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• 공통: 긍정어만으로 구성된 카피는 CTR에 미미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4  대명사 하나가 소비자 행동을 바꾼다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94960" cy="292608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DA8"/>
                </a:solidFill>
                <a:latin typeface="맑은 고딕"/>
              </a:defRPr>
            </a:pPr>
            <a:r>
              <a:t>"I(제가)" vs "We(저희가)" — Packard et al., JMR 2018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59669"/>
                </a:solidFill>
                <a:latin typeface="맑은 고딕"/>
              </a:defRPr>
            </a:pPr>
            <a:r>
              <a:t>+19%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만족도 증가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73736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874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59669"/>
                </a:solidFill>
                <a:latin typeface="맑은 고딕"/>
              </a:defRPr>
            </a:pPr>
            <a:r>
              <a:t>+7%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23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잠재 매출 증가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</a:p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• CS에서 "I" 사용 시 대리(agency) + 공감(empathy) 이중 효과</a:t>
            </a:r>
          </a:p>
          <a:p>
            <a:pPr algn="l">
              <a:defRPr sz="1100" b="0">
                <a:solidFill>
                  <a:srgbClr val="DC2626"/>
                </a:solidFill>
                <a:latin typeface="맑은 고딕"/>
              </a:defRPr>
            </a:pPr>
            <a:r>
              <a:t>• CS 매니저 92%가 비효과적인 "We" 사용 중</a:t>
            </a:r>
          </a:p>
          <a:p>
            <a:pPr algn="l">
              <a:defRPr sz="1100" b="0">
                <a:solidFill>
                  <a:srgbClr val="059669"/>
                </a:solidFill>
                <a:latin typeface="맑은 고딕"/>
              </a:defRPr>
            </a:pPr>
            <a:r>
              <a:t>• 비용 0원, 즉시 적용 가능한 "저비용 고효율" 전략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188720"/>
            <a:ext cx="5029200" cy="292608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2801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맑은 고딕"/>
              </a:defRPr>
            </a:pPr>
            <a:r>
              <a:t>"You(당신)" 효과 — Cruz et al., JIM 2017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73736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74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7C3AED"/>
                </a:solidFill>
                <a:latin typeface="맑은 고딕"/>
              </a:defRPr>
            </a:pPr>
            <a:r>
              <a:t>+21%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23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문제해결 책임감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73736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1874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7C3AED"/>
                </a:solidFill>
                <a:latin typeface="맑은 고딕"/>
              </a:defRPr>
            </a:pPr>
            <a:r>
              <a:t>매개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423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자기참조</a:t>
            </a:r>
            <a:br/>
            <a:r>
              <a:t>(self-referencing)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1089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</a:p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• "You" → 자기참조 활성화 → 몰입도/태도 상승</a:t>
            </a:r>
          </a:p>
          <a:p>
            <a:pPr algn="l">
              <a:defRPr sz="1100" b="0">
                <a:solidFill>
                  <a:srgbClr val="F59E0B"/>
                </a:solidFill>
                <a:latin typeface="맑은 고딕"/>
              </a:defRPr>
            </a:pPr>
            <a:r>
              <a:t>• 한국(집단주의)에서는 "우리/함께"가 더 효과적일 수 있음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10698480" cy="219456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80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SNS 대명사별 인게이지먼트 — Labrecque et al. (2020), 15,788개 포스트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914400" y="4892040"/>
          <a:ext cx="103327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371600"/>
                <a:gridCol w="1371600"/>
                <a:gridCol w="4572000"/>
              </a:tblGrid>
              <a:tr h="3886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대명사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좋아요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댓글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공유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작동 원리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You (당신)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양의 효과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소비자를 직접 호출 → 대화 참여 유발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They (그들)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양의 효과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양의 효과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양의 효과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외부 참조/사회적 증거 → 전방위 인게이지먼트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I / 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브랜드 인격화 / 공동체 의식 (상황별 효과)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5-6  브랜드 포지셔닝 &amp; 소셜미디어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486400" cy="320040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DA8"/>
                </a:solidFill>
                <a:latin typeface="맑은 고딕"/>
              </a:defRPr>
            </a:pPr>
            <a:r>
              <a:t>럭셔리 브랜드 소비자 언어 — Oc et al. (2023)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29,000+ 댓글 · 88개 캠페인 · 9개 럭셔리 브랜드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965960"/>
          <a:ext cx="51206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645920"/>
              </a:tblGrid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LIWC 변수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편의품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전문품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Analytical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높음 ↑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Clout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높음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낮음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Authenticity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높음 ↑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복합적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카테고리별 상이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92240" y="1188720"/>
            <a:ext cx="5029200" cy="320040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2801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2400E"/>
                </a:solidFill>
                <a:latin typeface="맑은 고딕"/>
              </a:defRPr>
            </a:pPr>
            <a:r>
              <a:t>인플루언서 고각성 언어 — JM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002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20,923 포스트 · 1,376 인플루언서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675120" y="1965960"/>
          <a:ext cx="46634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유형</a:t>
                      </a:r>
                    </a:p>
                  </a:txBody>
                  <a:tcPr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각성도 10%↑ 시</a:t>
                      </a:r>
                    </a:p>
                  </a:txBody>
                  <a:tcPr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매개</a:t>
                      </a:r>
                    </a:p>
                  </a:txBody>
                  <a:tcPr>
                    <a:solidFill>
                      <a:srgbClr val="92400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마이크로 (&lt;100K)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+5.4% 인게이지먼트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59669"/>
                          </a:solidFill>
                          <a:latin typeface="맑은 고딕"/>
                        </a:defRPr>
                      </a:pPr>
                      <a:r>
                        <a:t>신뢰성 ↑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매크로 (&gt;100K)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C2626"/>
                          </a:solidFill>
                          <a:latin typeface="맑은 고딕"/>
                        </a:defRPr>
                      </a:pPr>
                      <a:r>
                        <a:t>-8.4% 인게이지먼트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C2626"/>
                          </a:solidFill>
                          <a:latin typeface="맑은 고딕"/>
                        </a:defRPr>
                      </a:pPr>
                      <a:r>
                        <a:t>신뢰성 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675120" y="347472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2626"/>
                </a:solidFill>
                <a:latin typeface="맑은 고딕"/>
              </a:defRPr>
            </a:pPr>
            <a:r>
              <a:t>매크로에게 "최고!", "미쳤다!" 등</a:t>
            </a:r>
            <a:br/>
            <a:r>
              <a:t>고각성 표현을 요구하면 역효과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698480" cy="1920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라이벌 참조 효과 (Rivalry Reference Effect) — Berendt et al., JMR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3A"/>
                </a:solidFill>
                <a:latin typeface="맑은 고딕"/>
              </a:defRPr>
            </a:pPr>
          </a:p>
          <a:p>
            <a:pPr algn="l">
              <a:defRPr sz="1200" b="0">
                <a:solidFill>
                  <a:srgbClr val="2C2C3A"/>
                </a:solidFill>
                <a:latin typeface="맑은 고딕"/>
              </a:defRPr>
            </a:pPr>
            <a:r>
              <a:t>• 브랜드가 SNS에서 라이벌 경쟁사를 언급하면 비라이벌 대비 소비자 인게이지먼트가 증가</a:t>
            </a:r>
          </a:p>
          <a:p>
            <a:pPr algn="l">
              <a:defRPr sz="1200" b="0">
                <a:solidFill>
                  <a:srgbClr val="2C2C3A"/>
                </a:solidFill>
                <a:latin typeface="맑은 고딕"/>
              </a:defRPr>
            </a:pPr>
            <a:r>
              <a:t>• 브랜드-경쟁사 관계를 기능어 수준에서 분석하면 소비자 반응을 예측할 수 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7  고객 서비스 / VOC / FGI — 단계별 언어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Packard, Li &amp; Berger (2024), JCR — 23,958 대화 순간 + N=1,589 실험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743200" cy="228600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초반 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2400E"/>
                </a:solidFill>
                <a:latin typeface="맑은 고딕"/>
              </a:defRPr>
            </a:pPr>
            <a:r>
              <a:t>Relating (따뜻함)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"불편하셨겠습니다"</a:t>
            </a:r>
            <a:br/>
            <a:r>
              <a:t>"제가 도와드리겠습니다"</a:t>
            </a:r>
            <a:br/>
            <a:br/>
            <a:r>
              <a:t>감정적(affective) 언어</a:t>
            </a:r>
            <a:br/>
            <a:r>
              <a:t>공감 표현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554480"/>
            <a:ext cx="4754880" cy="22860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459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중반 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3DA8"/>
                </a:solidFill>
                <a:latin typeface="맑은 고딕"/>
              </a:defRPr>
            </a:pPr>
            <a:r>
              <a:t>Resolving (역량/해결)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7744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"확인 결과 ~입니다"</a:t>
            </a:r>
            <a:br/>
            <a:r>
              <a:t>"원인은 ~이며, 조치는 ~"</a:t>
            </a:r>
            <a:br/>
            <a:br/>
            <a:r>
              <a:t>인지적(cognitive) 언어</a:t>
            </a:r>
            <a:br/>
            <a:r>
              <a:t>문제 해결, 논리적 표현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554480"/>
            <a:ext cx="2926080" cy="228600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6459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후반 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920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2400E"/>
                </a:solidFill>
                <a:latin typeface="맑은 고딕"/>
              </a:defRPr>
            </a:pPr>
            <a:r>
              <a:t>Relating (따뜻함)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3774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"감사합니다"</a:t>
            </a:r>
            <a:br/>
            <a:r>
              <a:t>"추가 도움이 필요하시면"</a:t>
            </a:r>
            <a:br/>
            <a:br/>
            <a:r>
              <a:t>감정적(affective) 언어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FGI / 인터뷰 보완 분석 — LIWC 결합 4가지 시나리오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" y="457200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조사 유형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LIWC 활용법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기대 인사이트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브랜드 인식 FGI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참가자별 Clout, Authenticity 점수 비교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진정한 의견 vs 사회적 바람직성 편향 구분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제품 사용 인터뷰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감정 톤, 인지 과정어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명시적으로 말하지 않는 심리적 저항/열의 포착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광고 반응 설문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개방형 응답 LIWC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정량적 만족도 점수와 실제 언어 표현 간 괴리 발견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고객 여정 인터뷰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시간적 참조어, 인과 관계어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고객이 인식하는 핵심 전환 모멘트 식별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8-9  한국 연구 &amp; 실무 도구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486400" cy="320040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맑은 고딕"/>
              </a:defRPr>
            </a:pPr>
            <a:r>
              <a:t>K-LIWC 기만 리뷰 탐지 (한국소비자학회)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</a:p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• 39개 언어 지표 + 44개 심리 지표로 분석</a:t>
            </a:r>
          </a:p>
          <a:p>
            <a:pPr algn="l">
              <a:defRPr sz="1100" b="1">
                <a:solidFill>
                  <a:srgbClr val="2C2C3A"/>
                </a:solidFill>
                <a:latin typeface="맑은 고딕"/>
              </a:defRPr>
            </a:pPr>
            <a:r>
              <a:t>• 핵심 기만 변인: 형태소, 일반 명사, 조사</a:t>
            </a:r>
          </a:p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• 심리 지표: 감정/정서 과정, 긍정 감정, 감각/지각 과정</a:t>
            </a:r>
          </a:p>
          <a:p>
            <a:pPr algn="l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• 한국어 고유 기능어(조사/어미)가 영어와 다른 패턴</a:t>
            </a:r>
          </a:p>
          <a:p>
            <a:pPr algn="l">
              <a:defRPr sz="600" b="0">
                <a:solidFill>
                  <a:srgbClr val="2C2C3A"/>
                </a:solidFill>
                <a:latin typeface="맑은 고딕"/>
              </a:defRPr>
            </a:pPr>
          </a:p>
          <a:p>
            <a:pPr algn="l">
              <a:defRPr sz="1200" b="1">
                <a:solidFill>
                  <a:srgbClr val="1A1A2E"/>
                </a:solidFill>
                <a:latin typeface="맑은 고딕"/>
              </a:defRPr>
            </a:pPr>
            <a:r>
              <a:t>KLIWC 광고효과 연구 (384명 대학생)</a:t>
            </a:r>
          </a:p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• 17개 심리사회적 + 9개 언어학적 변인에서 유의미한 차이</a:t>
            </a:r>
          </a:p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• 광고태도·제품태도·구매의도와 유의미한 상관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실무 도구 비교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60020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1371600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도구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특징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비용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D3DA8"/>
                          </a:solidFill>
                          <a:latin typeface="맑은 고딕"/>
                        </a:defRPr>
                      </a:pPr>
                      <a:r>
                        <a:t>LIWC-22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골드 스탠다드, 100+ 차원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$89.95~$179.90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D3DA8"/>
                          </a:solidFill>
                          <a:latin typeface="맑은 고딕"/>
                        </a:defRPr>
                      </a:pPr>
                      <a:r>
                        <a:t>K-LIWC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한국어 특화, 형태소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학술 연구용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D3DA8"/>
                          </a:solidFill>
                          <a:latin typeface="맑은 고딕"/>
                        </a:defRPr>
                      </a:pPr>
                      <a:r>
                        <a:t>Receptiviti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프로그래밍 방식, 94 카테고리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API 과금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D3DA8"/>
                          </a:solidFill>
                          <a:latin typeface="맑은 고딕"/>
                        </a:defRPr>
                      </a:pPr>
                      <a:r>
                        <a:t>Python+KoNLPy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커스텀 사전 구축 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C3A"/>
                          </a:solidFill>
                          <a:latin typeface="맑은 고딕"/>
                        </a:defRPr>
                      </a:pPr>
                      <a:r>
                        <a:t>무료 (오픈소스)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663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마케터를 위한 4가지 워크플로우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2606040" cy="146304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DA8"/>
                </a:solidFill>
                <a:latin typeface="맑은 고딕"/>
              </a:defRPr>
            </a:pPr>
            <a:r>
              <a:t>A. 소비자 리뷰 인사이트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94959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리뷰 크롤링 → LIWC 분석</a:t>
            </a:r>
            <a:br/>
            <a:r>
              <a:t>→ 자사/경쟁사 패턴 차이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39" y="5029200"/>
            <a:ext cx="2606040" cy="146304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79" y="50749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DA8"/>
                </a:solidFill>
                <a:latin typeface="맑은 고딕"/>
              </a:defRPr>
            </a:pPr>
            <a:r>
              <a:t>B. 광고 카피 사전 테스트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5394959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카피 후보 → LIWC 입력</a:t>
            </a:r>
            <a:br/>
            <a:r>
              <a:t>→ negemo/대명사 기반 예측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5029200"/>
            <a:ext cx="2606040" cy="146304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50749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DA8"/>
                </a:solidFill>
                <a:latin typeface="맑은 고딕"/>
              </a:defRPr>
            </a:pPr>
            <a:r>
              <a:t>C. CS/VOC 모니터링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5394959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VOC 수집 → 배치 분석</a:t>
            </a:r>
            <a:br/>
            <a:r>
              <a:t>→ Tone 시계열 + 경보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5029200"/>
            <a:ext cx="2606040" cy="146304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50749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DA8"/>
                </a:solidFill>
                <a:latin typeface="맑은 고딕"/>
              </a:defRPr>
            </a:pPr>
            <a:r>
              <a:t>D. FGI 보완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5394959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녹취 전사 → LIWC 프로필</a:t>
            </a:r>
            <a:br/>
            <a:r>
              <a:t>→ Authenticity로 편향 구분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92400E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DE68A"/>
                </a:solidFill>
                <a:latin typeface="맑은 고딕"/>
              </a:defRPr>
            </a:pPr>
            <a: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가나초콜릿 × 가나초콜릿하우스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97706"/>
                </a:solidFill>
                <a:latin typeface="맑은 고딕"/>
              </a:defRPr>
            </a:pPr>
            <a:r>
              <a:t>기능어 분석으로 본 브랜드 인식 변화: 제품에서 체험 공간으로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17520"/>
            <a:ext cx="4572000" cy="2926080"/>
          </a:xfrm>
          <a:prstGeom prst="roundRect">
            <a:avLst/>
          </a:prstGeom>
          <a:solidFill>
            <a:srgbClr val="2D2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DE68A"/>
                </a:solidFill>
                <a:latin typeface="맑은 고딕"/>
              </a:defRPr>
            </a:pPr>
            <a:r>
              <a:t>가나초콜릿 (제품)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맑은 고딕"/>
              </a:defRPr>
            </a:pPr>
          </a:p>
          <a:p>
            <a:pPr algn="l">
              <a:defRPr sz="1200" b="0">
                <a:solidFill>
                  <a:srgbClr val="D4D4D8"/>
                </a:solidFill>
                <a:latin typeface="맑은 고딕"/>
              </a:defRPr>
            </a:pPr>
            <a:r>
              <a:t>1975년 출시, 50년 역사</a:t>
            </a:r>
          </a:p>
          <a:p>
            <a:pPr algn="l">
              <a:defRPr sz="1200" b="0">
                <a:solidFill>
                  <a:srgbClr val="D4D4D8"/>
                </a:solidFill>
                <a:latin typeface="맑은 고딕"/>
              </a:defRPr>
            </a:pPr>
            <a:r>
              <a:t>누적 매출 1조 3,000억원</a:t>
            </a:r>
          </a:p>
          <a:p>
            <a:pPr algn="l">
              <a:defRPr sz="1200" b="0">
                <a:solidFill>
                  <a:srgbClr val="D4D4D8"/>
                </a:solidFill>
                <a:latin typeface="맑은 고딕"/>
              </a:defRPr>
            </a:pPr>
            <a:r>
              <a:t>66억 갑 판매 / 초당 4개</a:t>
            </a:r>
          </a:p>
          <a:p>
            <a:pPr algn="l">
              <a:defRPr sz="1200" b="0">
                <a:solidFill>
                  <a:srgbClr val="D4D4D8"/>
                </a:solidFill>
                <a:latin typeface="맑은 고딕"/>
              </a:defRPr>
            </a:pPr>
            <a:r>
              <a:t>인지도 약 90%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017520"/>
            <a:ext cx="5029200" cy="2926080"/>
          </a:xfrm>
          <a:prstGeom prst="roundRect">
            <a:avLst/>
          </a:prstGeom>
          <a:solidFill>
            <a:srgbClr val="0A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31089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F3D0"/>
                </a:solidFill>
                <a:latin typeface="맑은 고딕"/>
              </a:defRPr>
            </a:pPr>
            <a:r>
              <a:t>가나초콜릿하우스 (공간)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47472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맑은 고딕"/>
              </a:defRPr>
            </a:pPr>
          </a:p>
          <a:p>
            <a:pPr algn="l">
              <a:defRPr sz="1200" b="0">
                <a:solidFill>
                  <a:srgbClr val="D4D4D8"/>
                </a:solidFill>
                <a:latin typeface="맑은 고딕"/>
              </a:defRPr>
            </a:pPr>
            <a:r>
              <a:t>2022~2024, 3시즌 운영</a:t>
            </a:r>
          </a:p>
          <a:p>
            <a:pPr algn="l">
              <a:defRPr sz="1200" b="0">
                <a:solidFill>
                  <a:srgbClr val="D4D4D8"/>
                </a:solidFill>
                <a:latin typeface="맑은 고딕"/>
              </a:defRPr>
            </a:pPr>
            <a:r>
              <a:t>체험형 팝업/디저트 카페</a:t>
            </a:r>
          </a:p>
          <a:p>
            <a:pPr algn="l">
              <a:defRPr sz="1200" b="0">
                <a:solidFill>
                  <a:srgbClr val="D4D4D8"/>
                </a:solidFill>
                <a:latin typeface="맑은 고딕"/>
              </a:defRPr>
            </a:pPr>
            <a:r>
              <a:t>예약 대기 2,000+ / 구매전환 95%</a:t>
            </a:r>
          </a:p>
          <a:p>
            <a:pPr algn="l">
              <a:defRPr sz="1200" b="0">
                <a:solidFill>
                  <a:srgbClr val="D4D4D8"/>
                </a:solidFill>
                <a:latin typeface="맑은 고딕"/>
              </a:defRPr>
            </a:pPr>
            <a:r>
              <a:t>"18세기 런던 초콜릿 하우스"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★  가나 케이스 — LIWC 4대 변수 &amp; 감각 채널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LIWC 4대 변수 추정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Analytical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664208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제품 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892808"/>
            <a:ext cx="1645920" cy="1828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8745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공간 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Clout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2304288"/>
            <a:ext cx="1280160" cy="182880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2860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제품 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2532888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5146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공간 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260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Authenticity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2944368"/>
            <a:ext cx="2377440" cy="182880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9260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제품 65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3172968"/>
            <a:ext cx="1645920" cy="1828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31546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공간 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6615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Tone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0240" y="3584447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356615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제품 55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20240" y="3813047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379475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공간 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2976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맑은 고딕"/>
              </a:defRPr>
            </a:pPr>
            <a:r>
              <a:t>■ 제품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2976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맑은 고딕"/>
              </a:defRPr>
            </a:pPr>
            <a:r>
              <a:t>■ 공간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감각 채널 전환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6459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미각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0" y="1645920"/>
            <a:ext cx="1892808" cy="164592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16568" y="162763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90%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1847088"/>
            <a:ext cx="736092" cy="16459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9852" y="182880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35%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2402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촉각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0" y="2240280"/>
            <a:ext cx="1261872" cy="164592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85632" y="222199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60%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0" y="2441448"/>
            <a:ext cx="315468" cy="16459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39228" y="242316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15%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8346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시각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0" y="2834640"/>
            <a:ext cx="315468" cy="164592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39228" y="281635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15%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0" y="3035808"/>
            <a:ext cx="1787652" cy="16459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11412" y="30175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85%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4290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공간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32320" y="3429000"/>
            <a:ext cx="105156" cy="164592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28916" y="341071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5%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0" y="3630168"/>
            <a:ext cx="1577340" cy="16459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01100" y="361188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75%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02336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사회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0" y="4023360"/>
            <a:ext cx="210312" cy="164592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34072" y="40050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10%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0" y="4224528"/>
            <a:ext cx="1472184" cy="16459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95944" y="420624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70%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근접감각(미각/촉각) → 원격감각(시각/공간) + 사회적 경험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937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5대 언어 구조 전환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5303520"/>
            <a:ext cx="2103120" cy="128016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349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2400E"/>
                </a:solidFill>
                <a:latin typeface="맑은 고딕"/>
              </a:defRPr>
            </a:pPr>
            <a:r>
              <a:t>"나/내"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55778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361EE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57607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맑은 고딕"/>
              </a:defRPr>
            </a:pPr>
            <a:r>
              <a:t>"여기/우리"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6035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개인→사회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17520" y="5303520"/>
            <a:ext cx="2103120" cy="128016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17520" y="5349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2400E"/>
                </a:solidFill>
                <a:latin typeface="맑은 고딕"/>
              </a:defRPr>
            </a:pPr>
            <a:r>
              <a:t>과거 회고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17520" y="55778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361EE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17520" y="57607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맑은 고딕"/>
              </a:defRPr>
            </a:pPr>
            <a:r>
              <a:t>현재 몰입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17520" y="6035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추억→지금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303520" y="5303520"/>
            <a:ext cx="2103120" cy="128016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03520" y="5349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2400E"/>
                </a:solidFill>
                <a:latin typeface="맑은 고딕"/>
              </a:defRPr>
            </a:pPr>
            <a:r>
              <a:t>미각+촉각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03520" y="55778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361EE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03520" y="57607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맑은 고딕"/>
              </a:defRPr>
            </a:pPr>
            <a:r>
              <a:t>시각+공간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3520" y="6035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입안→눈&amp;몸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589520" y="5303520"/>
            <a:ext cx="2103120" cy="128016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89520" y="5349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2400E"/>
                </a:solidFill>
                <a:latin typeface="맑은 고딕"/>
              </a:defRPr>
            </a:pPr>
            <a:r>
              <a:t>분석적 비교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89520" y="55778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361EE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89520" y="57607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맑은 고딕"/>
              </a:defRPr>
            </a:pPr>
            <a:r>
              <a:t>감동+기대위반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89520" y="6035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이성→감성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875520" y="5303520"/>
            <a:ext cx="2103120" cy="128016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875520" y="5349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2400E"/>
                </a:solidFill>
                <a:latin typeface="맑은 고딕"/>
              </a:defRPr>
            </a:pPr>
            <a:r>
              <a:t>독백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75520" y="55778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361EE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75520" y="57607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맑은 고딕"/>
              </a:defRPr>
            </a:pPr>
            <a:r>
              <a:t>대화/추천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75520" y="6035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소유→공유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★  가나 케이스 — 시사점 &amp; 인사이트 &amp; 프로젝트 고려사항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1097280"/>
          </a:xfrm>
          <a:prstGeom prst="round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2400E"/>
                </a:solidFill>
                <a:latin typeface="맑은 고딕"/>
              </a:defRPr>
            </a:pPr>
            <a:r>
              <a:t>핵심 써머리: 가나초콜릿이 제품에서 공간으로 확장되면서, 소비자 언어 구조가 "솔직한 개인 평가"(고Authenticity)에서</a:t>
            </a:r>
            <a:br/>
            <a:r>
              <a:t>"열정적인 사회적 추천"(고Clout)으로 체계적으로 전환. 대명사, 시제, 감각, 조사라는 기능어 레벨의 변화가 이를 실증.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394960" cy="228600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맑은 고딕"/>
              </a:defRPr>
            </a:pPr>
            <a:r>
              <a:t>검증된 성과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</a:p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• 사회적 소비 유도: 사회적 단어 10% → 70% 증가</a:t>
            </a:r>
          </a:p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• 시간 프레임: 과거 회고 → "지금 여기" 브랜드 전환</a:t>
            </a:r>
          </a:p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• 감각 채널: 미각 단일 → 시각+공간+사회적 다채널</a:t>
            </a:r>
          </a:p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• 기대 위반 전략 성공: "팝업 → 감동" 패턴 반복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68880"/>
            <a:ext cx="5029200" cy="228600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맑은 고딕"/>
              </a:defRPr>
            </a:pPr>
            <a:r>
              <a:t>주의해야 할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80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</a:p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• Authenticity 하락 리스크: "인스타 감성" 편향 가능성</a:t>
            </a:r>
          </a:p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• 제품-공간 연결 약화: 미각 언급 크게 감소</a:t>
            </a:r>
          </a:p>
          <a:p>
            <a:pPr algn="l">
              <a:defRPr sz="1100" b="0">
                <a:solidFill>
                  <a:srgbClr val="2C2C3A"/>
                </a:solidFill>
                <a:latin typeface="맑은 고딕"/>
              </a:defRPr>
            </a:pPr>
            <a:r>
              <a:t>• 부정 피드백 부재: 개선 피드백 포착 어려움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인사이트 &amp; 향후 프로젝트 고려사항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2103120" cy="109728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54480" y="5074920"/>
            <a:ext cx="457200" cy="457200"/>
          </a:xfrm>
          <a:prstGeom prst="ellipse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5093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32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3A"/>
                </a:solidFill>
                <a:latin typeface="맑은 고딕"/>
              </a:defRPr>
            </a:pPr>
            <a:r>
              <a:t>공간은 기능어를</a:t>
            </a:r>
            <a:br/>
            <a:r>
              <a:t>바꾼다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5257800"/>
            <a:ext cx="2103120" cy="109728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40480" y="5074920"/>
            <a:ext cx="457200" cy="457200"/>
          </a:xfrm>
          <a:prstGeom prst="ellipse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5093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39" y="5532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3A"/>
                </a:solidFill>
                <a:latin typeface="맑은 고딕"/>
              </a:defRPr>
            </a:pPr>
            <a:r>
              <a:t>Authenticity↔Clout</a:t>
            </a:r>
            <a:br/>
            <a:r>
              <a:t>트레이드오프 관리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5257800"/>
            <a:ext cx="2103120" cy="109728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26480" y="5074920"/>
            <a:ext cx="457200" cy="457200"/>
          </a:xfrm>
          <a:prstGeom prst="ellipse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5093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5532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3A"/>
                </a:solidFill>
                <a:latin typeface="맑은 고딕"/>
              </a:defRPr>
            </a:pPr>
            <a:r>
              <a:t>"이/가" 조사 =</a:t>
            </a:r>
            <a:br/>
            <a:r>
              <a:t>새로움 지표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5257800"/>
            <a:ext cx="2103120" cy="109728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12480" y="5074920"/>
            <a:ext cx="457200" cy="457200"/>
          </a:xfrm>
          <a:prstGeom prst="ellipse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5093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5532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3A"/>
                </a:solidFill>
                <a:latin typeface="맑은 고딕"/>
              </a:defRPr>
            </a:pPr>
            <a:r>
              <a:t>시계열 추적으로</a:t>
            </a:r>
            <a:br/>
            <a:r>
              <a:t>캠페인 효과 측정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0" y="5257800"/>
            <a:ext cx="2103120" cy="109728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98480" y="5074920"/>
            <a:ext cx="457200" cy="457200"/>
          </a:xfrm>
          <a:prstGeom prst="ellipse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0" y="5093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5532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3A"/>
                </a:solidFill>
                <a:latin typeface="맑은 고딕"/>
              </a:defRPr>
            </a:pPr>
            <a:r>
              <a:t>K-LIWC 정량</a:t>
            </a:r>
            <a:br/>
            <a:r>
              <a:t>분석으로 검증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10  마케터를 위한 6대 시사점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566160" cy="246888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417319"/>
            <a:ext cx="457200" cy="457200"/>
          </a:xfrm>
          <a:prstGeom prst="ellipse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6303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DA8"/>
                </a:solidFill>
                <a:latin typeface="맑은 고딕"/>
              </a:defRPr>
            </a:pPr>
            <a:r>
              <a:t>가짜 리뷰 탐지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3A"/>
                </a:solidFill>
                <a:latin typeface="맑은 고딕"/>
              </a:defRPr>
            </a:pPr>
            <a:r>
              <a:t>1인칭 과다 + 긍정 과잉 패턴으로</a:t>
            </a:r>
            <a:br/>
            <a:r>
              <a:t>자동 감지. 4피처 79%, LIWC+바이그램 89.8%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280160"/>
            <a:ext cx="3566160" cy="246888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1417319"/>
            <a:ext cx="457200" cy="457200"/>
          </a:xfrm>
          <a:prstGeom prst="ellipse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3560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9" y="146303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DA8"/>
                </a:solidFill>
                <a:latin typeface="맑은 고딕"/>
              </a:defRPr>
            </a:pPr>
            <a:r>
              <a:t>광고 카피 최적화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3A"/>
                </a:solidFill>
                <a:latin typeface="맑은 고딕"/>
              </a:defRPr>
            </a:pPr>
            <a:r>
              <a:t>부정 감정어(negemo)가 CTR과 최강 상관.</a:t>
            </a:r>
            <a:br/>
            <a:r>
              <a:t>건강=가격 회피, 화장품=가격 투명성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280160"/>
            <a:ext cx="3566160" cy="246888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66760" y="1417319"/>
            <a:ext cx="457200" cy="457200"/>
          </a:xfrm>
          <a:prstGeom prst="ellipse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43560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46303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DA8"/>
                </a:solidFill>
                <a:latin typeface="맑은 고딕"/>
              </a:defRPr>
            </a:pPr>
            <a:r>
              <a:t>대명사 전략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0116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3A"/>
                </a:solidFill>
                <a:latin typeface="맑은 고딕"/>
              </a:defRPr>
            </a:pPr>
            <a:r>
              <a:t>CS "제가(I)" &gt; "저희가(we)" → 만족도 +19%</a:t>
            </a:r>
            <a:br/>
            <a:r>
              <a:t>광고 "당신(you)" → 책임감 +21%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23360"/>
            <a:ext cx="3566160" cy="246888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160520"/>
            <a:ext cx="457200" cy="457200"/>
          </a:xfrm>
          <a:prstGeom prst="ellipse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1788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06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DA8"/>
                </a:solidFill>
                <a:latin typeface="맑은 고딕"/>
              </a:defRPr>
            </a:pPr>
            <a:r>
              <a:t>브랜드 포지셔닝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3A"/>
                </a:solidFill>
                <a:latin typeface="맑은 고딕"/>
              </a:defRPr>
            </a:pPr>
            <a:r>
              <a:t>LIWC 4대 변수로 소비자 인식 수치화.</a:t>
            </a:r>
            <a:br/>
            <a:r>
              <a:t>리포지셔닝 전후 변화 추적 가능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4023360"/>
            <a:ext cx="3566160" cy="246888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17720" y="4160520"/>
            <a:ext cx="457200" cy="457200"/>
          </a:xfrm>
          <a:prstGeom prst="ellipse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1788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4206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DA8"/>
                </a:solidFill>
                <a:latin typeface="맑은 고딕"/>
              </a:defRPr>
            </a:pPr>
            <a:r>
              <a:t>CS 교육 혁신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7548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3A"/>
                </a:solidFill>
                <a:latin typeface="맑은 고딕"/>
              </a:defRPr>
            </a:pPr>
            <a:r>
              <a:t>대화 초반/후반=따뜻함, 중반=역량.</a:t>
            </a:r>
            <a:br/>
            <a:r>
              <a:t>23,958 순간 분석으로 실증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023360"/>
            <a:ext cx="3566160" cy="246888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66760" y="4160520"/>
            <a:ext cx="457200" cy="457200"/>
          </a:xfrm>
          <a:prstGeom prst="ellipse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41788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206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DA8"/>
                </a:solidFill>
                <a:latin typeface="맑은 고딕"/>
              </a:defRPr>
            </a:pPr>
            <a:r>
              <a:t>질적 조사 보완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7548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3A"/>
                </a:solidFill>
                <a:latin typeface="맑은 고딕"/>
              </a:defRPr>
            </a:pPr>
            <a:r>
              <a:t>FGI/인터뷰에 LIWC 적용하면</a:t>
            </a:r>
            <a:br/>
            <a:r>
              <a:t>"말하지 않은 심리" 포착 가능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맑은 고딕"/>
              </a:defRPr>
            </a:pPr>
            <a:r>
              <a:t>기능어분석 — 마케팅 &amp; 소비자 조사 특화 리서치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맑은 고딕"/>
              </a:defRPr>
            </a:pPr>
            <a:r>
              <a:t>2026.03 · do-better-workspace · 30+ 학술 자료 기반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