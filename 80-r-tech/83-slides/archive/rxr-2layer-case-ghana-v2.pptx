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oppins"/>
              </a:defRPr>
            </a:pPr>
            <a:r>
              <a:t>RXR 2-LAYER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Pretendard"/>
              </a:defRPr>
            </a:pPr>
            <a:r>
              <a:t>가나초콜릿 vs 가나초콜릿하우스</a:t>
            </a:r>
            <a:br/>
            <a:r>
              <a:t>동일 브랜드, 완전히 다른 심리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Pretendard"/>
              </a:defRPr>
            </a:pPr>
            <a:r>
              <a:t>제품 리뷰와 공간 리뷰를 RXR 2-Layer 프레임워크로 분석하여,</a:t>
            </a:r>
            <a:br/>
            <a:r>
              <a:t>단일 레이어 분석이 놓치는 심리적 전환을 실증한다.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80"/>
                </a:solidFill>
                <a:latin typeface="Pretendard"/>
              </a:defRPr>
            </a:pPr>
            <a:r>
              <a:t>Project RENT  ·  R-lab  ·  2026.04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분석 대상 &amp; 프레임워크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E3C"/>
                </a:solidFill>
                <a:latin typeface="Pretendard"/>
              </a:defRPr>
            </a:pPr>
            <a:r>
              <a:t>A  가나초콜릿 (제품)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유형: 판형 초콜릿 (FMCG)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역사: 1975~ (51년), 누적 매출 1.3조 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누적 판매량: 66억 갑 (초당 4개)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포지셔닝: "국민 초콜릿"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리뷰 특성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맛/식감 중심 평가 (미각+촉각)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긍정/부정 양분 (팜유 논란)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추억/노스탤지어 기반 긍정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1206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Pretendard"/>
              </a:defRPr>
            </a:pPr>
            <a:r>
              <a:t>B  가나초콜릿하우스 (공간)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유형: 체험형 팝업스토어 / 디저트 카페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역사: 2022~ (시즌3까지), 150평 규모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구매전환율: 95%+, 예약 1분 만에 마감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A1A1AA"/>
                </a:solidFill>
                <a:latin typeface="Pretendard"/>
              </a:defRPr>
            </a:pPr>
            <a:r>
              <a:t>포지셔닝: "가나, 디저트가 되다"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리뷰 특성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공간/분위기 중심 (시각+공간감각)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압도적 긍정 (86%)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· 관계적 소비 ("같이 가자")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1 —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감성 분포 비교: "무엇을 말했는가"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3C"/>
                </a:solidFill>
                <a:latin typeface="Pretendard"/>
              </a:defRPr>
            </a:pPr>
            <a:r>
              <a:t>A  가나초콜릿 — 감성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57860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2578608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560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9443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29443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31012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0240" y="331012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32918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대표 긍정: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"입에서 사르르 녹는 달콤한 맛이 특징이다"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1100" b="0">
                <a:solidFill>
                  <a:srgbClr val="FF5050"/>
                </a:solidFill>
                <a:latin typeface="Pretendard"/>
              </a:defRPr>
            </a:pPr>
            <a:r>
              <a:t>대표 부정: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"카카오버터 대신 싸구려 팜유로 만드니까"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"가나초콜렛은 가나초콜렛이지 초콜렛은 아니야"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Pretendard"/>
              </a:defRPr>
            </a:pPr>
            <a:r>
              <a:t>B  가나초콜릿하우스 — 감성 분포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57860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79" y="2578608"/>
            <a:ext cx="3145536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2560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94436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79" y="2944368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9284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310128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79" y="3310128"/>
            <a:ext cx="146304" cy="256032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92840" y="32918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대표 긍정: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"생각보다 더 좋았습니다! 공간이 초콜릿 컬러에 맞게 구성"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"다른 카페 가지 말고 여기 있다 가자"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200"/>
              </a:spcBef>
              <a:defRPr sz="1100" b="0">
                <a:solidFill>
                  <a:srgbClr val="FF5050"/>
                </a:solidFill>
                <a:latin typeface="Pretendard"/>
              </a:defRPr>
            </a:pPr>
            <a:r>
              <a:t>대표 부정: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"별거 볼 건 없더라고요ㅠㅠ 초콜릿 특색이 덜 보이는 점 아쉬움"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00800"/>
            <a:ext cx="10698480" cy="3200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41908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Layer 1 결론:  제품은 긍정/부정 양분(48:30),  공간은 압도적 긍정(86:4).  하지만 그 86%가 진심인지는 모른다.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1 — TOPIC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토픽 클러스터 &amp; 키워드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3200400"/>
                <a:gridCol w="1097280"/>
                <a:gridCol w="393192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토픽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비중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키워드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 비중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 키워드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맛/식감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"달콤", "사르르 녹는", "부드럽다"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"진한 농도", "조화", "단짠단짠"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공간/분위기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"고급스럽다", "빈티지", "포토존"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가격/가성비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"납득할 만한", "가격 인상"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"합리적", "35,000원 페어링"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품질/원료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"팜유", "카카오 함량", "카카오버터"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추억/브랜드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"어릴 때", "국민 초콜릿", "추억"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"50주년", "헤리티지"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관계/사회적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"데이트", "같이 가자", "가족"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SNS/포토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"사진", "인스타", "포토부스"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309360"/>
            <a:ext cx="10698480" cy="3657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핵심 차이:  제품은 맛/원료(42%+25%=67%)에 집중  |  공간은 분위기+관계(36%+22%=58%)에 집중  →  소비 경험의 질적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1 — REVIEW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대표 리뷰 텍스트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3C"/>
                </a:solidFill>
                <a:latin typeface="Pretendard"/>
              </a:defRPr>
            </a:pPr>
            <a:r>
              <a:t>A  가나초콜릿 리뷰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3657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"입에서 사르르 녹는 달콤한 맛이 특징이다"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블로그 리뷰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200400"/>
            <a:ext cx="3657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"난 아직도 갈색이랑 빨간색 맛의 차이를 모르겠음.</a:t>
            </a:r>
            <a:br/>
            <a:r>
              <a:t>그냥 둘 다 맛있으니 내 입속으로"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블로그 리뷰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931920"/>
            <a:ext cx="36576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"어릴 때부터 가나만 먹어서 그런가</a:t>
            </a:r>
            <a:br/>
            <a:r>
              <a:t>가나가 입에 젤 맞다"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블로그 리뷰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663440"/>
            <a:ext cx="36576" cy="54864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"카카오 함량도 낮고 카카오버터 대신</a:t>
            </a:r>
            <a:br/>
            <a:r>
              <a:t>싸구려 팜유로 만드니까"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클리앙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5394960"/>
            <a:ext cx="36576" cy="54864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394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"가나초콜렛은 가나초콜렛이지 초콜렛은 아니야"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897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루리웹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82880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828800"/>
            <a:ext cx="51206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Pretendard"/>
              </a:defRPr>
            </a:pPr>
            <a:r>
              <a:t>B  가나초콜릿하우스 리뷰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468880"/>
            <a:ext cx="3657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"결론부터 이야기하자면 생각보다 더 좋았습니다!</a:t>
            </a:r>
            <a:br/>
            <a:r>
              <a:t>공간의 톤이 초콜릿 컬러에 맞게 구성"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971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Polle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200400"/>
            <a:ext cx="3657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"처음에는 단순한 제품 홍보 팝업으로 생각했는데</a:t>
            </a:r>
            <a:br/>
            <a:r>
              <a:t>공간과 서비스 완성도에 감동"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03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heyPOP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931920"/>
            <a:ext cx="36576" cy="54864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9319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"다른 카페 가지 말고 여기 있다 가자"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434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현장 대화 / 시사저널e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663440"/>
            <a:ext cx="3657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663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"여기는 초콜릿에 진심이구나"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heyPOP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5394960"/>
            <a:ext cx="36576" cy="54864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"생각보다 별거 볼 건 없더라고요ㅠㅠ</a:t>
            </a:r>
            <a:br/>
            <a:r>
              <a:t>초콜릿의 특색이 덜 보이는 점도 아쉬움"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897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Polle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2 — PSYCHE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LIWC 4대 변수 비교: "어떻게 말했는가"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Authenticity (진정성)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01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019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3113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231136"/>
            <a:ext cx="1152143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2128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"난 아직도", "솔직히", 부정 표현 포함 → 자기 노출 높음</a:t>
            </a:r>
            <a:br/>
            <a:r>
              <a:t>공간: 감탄사 과다, 1인칭 부재, 부정 거의 없음 → 사회적 바람직성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Clout (추천 확신도)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906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108960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3108960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0906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015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41985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3419856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4015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5467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↑30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"맛있다" 단순 평가, 추천 발화 없음</a:t>
            </a:r>
            <a:br/>
            <a:r>
              <a:t>공간: "꼭 가보세요", "여기 있다 가자", -자 청유형 → 영향력 행사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Analytical (인식 방식)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2793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297679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97680" y="4297679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2793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5902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60857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97680" y="4608576"/>
            <a:ext cx="1152143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590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↓20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2976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"카카오 함량", "팜유", "가격 대비" → 인과적/비교적 서술</a:t>
            </a:r>
            <a:br/>
            <a:r>
              <a:t>공간: "대박", "미쳤다", "환상" → 감탄형/직관적 반응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9496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Emotional Tone (감정)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제품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486400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0" y="5486400"/>
            <a:ext cx="1408176" cy="201168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546811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7790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retendard"/>
              </a:defRPr>
            </a:pPr>
            <a:r>
              <a:t>공간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57972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97680" y="5797296"/>
            <a:ext cx="2048256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57790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532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↑25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제품: 긍정/부정 혼재 → 톤 중화</a:t>
            </a:r>
            <a:br/>
            <a:r>
              <a:t>공간: "감동", "왕국", "환상" + 부정어 거의 없음 → 순수 긍정 집중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LAYER 2 — RXR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RXR 고유 심리 지표: Freshness · Distance · 시제 · 감각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4114800"/>
                <a:gridCol w="2560320"/>
              </a:tblGrid>
              <a:tr h="9509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기능어 근거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Freshness Index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("이/가" vs "은/는")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제품: "가나초콜릿은", "맛은" → 이미 알려진 주제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공간: "분위기가", "조화가", "공간이" → 새로운 발견의 초점화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제품은 51년 된 익숙한 존재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공간은 새로운 발견으로 체험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Psych. Distance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(대명사 패턴)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제품: "난 아직도", "내 입속으로" → 개인 경험 서술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공간: "여기 있다 가자", "우리 같이" → 장소 귀속+집단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제품은 관찰자 시점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공간은 참여자/귀속 시점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시제 프레임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(과거/현재/미래)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과거 회고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현재+미래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제품: "먹었다", "어릴 때부터" → 기억 속의 브랜드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공간: "펼쳐진다", "가자" → 지금-여기 + 행동 촉구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제품은 노스탤지어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공간은 현재 몰입+확산 의지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감각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(지배 감각)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미각+촉각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  <a:latin typeface="Pretendard"/>
                        </a:defRPr>
                      </a:pPr>
                      <a:r>
                        <a:t>시각+공간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제품: "녹는", "부드럽다", "달콤" → 입안 감각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공간: "고급스럽다", "포토존", "분위기" → 눈과 몸의 공간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제품→공간 전환 시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감각 축 자체가 이동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Proximal→Distal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492240"/>
            <a:ext cx="10698480" cy="2743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1052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946EF"/>
                </a:solidFill>
                <a:latin typeface="Pretendard"/>
              </a:defRPr>
            </a:pPr>
            <a:r>
              <a:t>L2 결론:  Auth↓20 (개인평가→사회공유)  |  Clout↑30 (소비자→추천자)  |  Freshness 0.35→0.78 (익숙→새발견)  → L1만으로는 절대 포착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PATTERN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2-Layer 교차 분석 패턴 사전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80160"/>
                <a:gridCol w="1645920"/>
                <a:gridCol w="1828800"/>
                <a:gridCol w="2926080"/>
                <a:gridCol w="2194560"/>
              </a:tblGrid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 ID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신호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신호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대응 전략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80%+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진심으로 좋아하고,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자신 있게 추천까지 한다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VIP 관리,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앰배서더 전환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80%+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"사진", "예쁘다"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낮음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바이럴은 되지만 진심 아님.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"올리고 싶었을 뿐"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재방문 의향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체험 깊이 강화,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터치포인트 배치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관심 있지만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확신 부족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70%+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"괜찮다", "좋다"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솔직하게 좋다고 느끼지만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추천까지는 안 함.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"나는 좋은데 네가 좋아할지는..."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샘플링 확대,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확신 전환 유도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P-04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신선함 소진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키워드 변화 없음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감성 소폭 하락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Freshness 급락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(이/가→은/는)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내용은 같지만 "새로운 발견"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느낌 사라짐.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2~3주차부터 체험 피로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콘텐츠 리프레시,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신규 존 오픈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P-05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탐색은 길지만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결정 못 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체류시간↑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구매↓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Analytical 높음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비교/분석 모드에 갇힘.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"좋은 건 알겠는데 뭘 사야 할지"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선택 과부하(Choice Overload)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선택지 축소,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큐레이션 동선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P-06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브랜드 피로도</a:t>
                      </a:r>
                    </a:p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(조용한 이탈)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유지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but 언급량↓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Tone↓ 추세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Clout↓ 추세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Distance 변화 없음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불만은 아니지만 관심 사라짐.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"싫어서 안 가는 게 아니라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그냥 생각이 안 나서 안 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긴급 리프레시,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이벤트성 콘텐츠,</a:t>
                      </a:r>
                    </a:p>
                    <a:p>
                      <a:pPr>
                        <a:defRPr sz="8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재활성화 프로그램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ZONE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감성 × 진정성 매트릭스 — 4개 Zone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Auth 높음  ←───────→  Auth 낮음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Zone A: 진짜 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긍정 + Auth 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진심으로 좋아한다.</a:t>
            </a:r>
            <a:br/>
            <a:r>
              <a:t>재방문/재구매 확률 가장 높은 세그먼트.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120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Pretendard"/>
              </a:defRPr>
            </a:pPr>
            <a:r>
              <a:t>Zone B: 인스타 소비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긍정 + Auth 낮음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"예쁘니까 올린 것."</a:t>
            </a:r>
            <a:br/>
            <a:r>
              <a:t>바이럴 기여는 하지만 재방문 가치 낮음.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12064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Zone C: 진심 불만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부정 + Auth 높음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실제 문제 존재. 무시 금지.</a:t>
            </a:r>
            <a:br/>
            <a:r>
              <a:t>"팜유", "특색 없다" = 진짜 개선점.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0624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206240"/>
            <a:ext cx="5120640" cy="45720"/>
          </a:xfrm>
          <a:prstGeom prst="rect">
            <a:avLst/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80"/>
                </a:solidFill>
                <a:latin typeface="Pretendard"/>
              </a:defRPr>
            </a:pPr>
            <a:r>
              <a:t>Zone D: 노이즈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FF"/>
                </a:solidFill>
                <a:latin typeface="Pretendard"/>
              </a:defRPr>
            </a:pPr>
            <a:r>
              <a:t>감성 부정 + Auth 낮음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악의적/경쟁사 공격성 리뷰.</a:t>
            </a:r>
            <a:br/>
            <a:r>
              <a:t>분석 대상에서 필터링 후 제외.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CROSS ANALYSIS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제품 리뷰 교차 분석: 패턴 매칭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  <a:gridCol w="1097280"/>
                <a:gridCol w="3931920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리뷰 유형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인사이트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솔직한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"맛있다"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관심은 있지만 추천 의지 없음.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"난 좋은데 남한테 권하기는..."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분석적 비판자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부정 / "팜유", "싸구려"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Analytical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 불만. 실제 품질 문제.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무시하면 안 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추억형 소비자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"어릴 때"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시제: 과거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P-06 전조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노스탤지어 의존.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새 경험 없이 점진적 이탈 가능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050"/>
                </a:solidFill>
                <a:latin typeface="Pretendard"/>
              </a:defRPr>
            </a:pPr>
            <a:r>
              <a:t>제품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760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L1만 보면 "긍정 48%, 그럭저럭" — L2를 더하면 긍정 리뷰조차 추천 의지 없고(Clout 35), 과거 추억에 의존.</a:t>
            </a:r>
            <a:br/>
            <a:r>
              <a:t>브랜드가 현재 시점에서 새로운 긍정 경험을 생산하지 못하고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CROSS ANALYSIS —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공간 리뷰 교차 분석: 패턴 매칭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  <a:gridCol w="1097280"/>
                <a:gridCol w="3931920"/>
              </a:tblGrid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리뷰 유형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L1 (Content)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L2 (Psyche)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인사이트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 소비형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90%+, "사진"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낮음, Clout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바이럴 ≠ 충성.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인스타에 올리고 싶었을 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기대 위반형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"생각보다"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Clout 높음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 전환.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스키마 위반이 진정 긍정 생성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 소비형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 / "같이 가자"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Clout 높음, Distance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P-01+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행동 전환 완료.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가장 높은 전환 가치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실망형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부정 / "별거 없다"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Auth 높음, Tone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진심 불만. 제품-공간 연결 약점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Pretendard"/>
              </a:defRPr>
            </a:pPr>
            <a:r>
              <a:t>공간 진단: 긍정 86%를 분해하면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80644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43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Pretendard"/>
              </a:defRPr>
            </a:pPr>
            <a:r>
              <a:t>40~45%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583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인스타 소비 (P-02)</a:t>
            </a:r>
            <a:br/>
            <a:r>
              <a:t>바이럴O 재방문X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80644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943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Pretendard"/>
              </a:defRPr>
            </a:pPr>
            <a:r>
              <a:t>30~35%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583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진짜 팬 (P-01)</a:t>
            </a:r>
            <a:br/>
            <a:r>
              <a:t>Auth+Clout 높음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80644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943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66FF"/>
                </a:solidFill>
                <a:latin typeface="Pretendard"/>
              </a:defRPr>
            </a:pPr>
            <a:r>
              <a:t>15~20%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83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관계 소비 (P-01+)</a:t>
            </a:r>
            <a:br/>
            <a:r>
              <a:t>행동 전환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5대 심리 축의 체계적 전환: 제품 → 공간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자아 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93852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"나"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3852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"여기/우리"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개인적 → 사회적 경험</a:t>
            </a:r>
            <a:br/>
            <a:r>
              <a:t>바이럴 구조 형성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시간 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89864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과거 회고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26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289864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현재+미래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80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노스탤지어 → 현재 몰입</a:t>
            </a:r>
            <a:br/>
            <a:r>
              <a:t>브랜드 리포지셔닝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감각 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85876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미각+촉각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86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85876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시각+공간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8404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Proximal → Distal</a:t>
            </a:r>
            <a:br/>
            <a:r>
              <a:t>SNS 공유 최적화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0916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인지 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481888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분석적 평가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481888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감성적 반응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8006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가격 경쟁 → 가치 경쟁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행동 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77900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5852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수동적 소비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806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F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5779008"/>
            <a:ext cx="2011680" cy="5029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5852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능동적 추천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760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평가자 → 자발적 영업사원</a:t>
            </a:r>
            <a:br/>
            <a:r>
              <a:t>마케팅 비용 구조 변화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KEY FINDING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5대 심리축 전환: 기능어 증거 &amp; 비즈니스 의미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200400"/>
                <a:gridCol w="3657600"/>
              </a:tblGrid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심리 축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→ 공간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기능어 증거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비즈니스 의미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1. 자아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"나"→"여기/우리"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개인적 경험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→ 사회적 경험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1인칭 단수 감소</a:t>
                      </a:r>
                    </a:p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장소 지시어+복수형 증가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소비를 "공유 가능한 경험"으로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전환 → 바이럴 구조 형성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2. 시간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과거→현재+미래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노스탤지어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→ 현재 몰입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과거 시제(-었-) 감소</a:t>
                      </a:r>
                    </a:p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현재형+청유형(-자) 증가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브랜드가 "기억"에서 "현재 경험"으로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리포지셔닝 → 노스탤지어 의존 탈피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3. 감각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미각→시각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입안 감각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→ 공간 감각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미각/촉각 단어 감소</a:t>
                      </a:r>
                    </a:p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시각/공간 단어 증가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Proximal→Distal 전환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SNS 공유에 최적화된 감각 구조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4. 인지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분석→감동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이성적 평가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→ 감성적 반응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Analytical 65→45</a:t>
                      </a:r>
                    </a:p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인과 접속사 감소, 감탄사 증가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분석적 비교 대상→감정적 몰입 대상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가격 경쟁에서 가치 경쟁으로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5. 행동 축</a:t>
                      </a:r>
                    </a:p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평가→추천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수동적 소비자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→ 능동적 추천자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Clout 35→65</a:t>
                      </a:r>
                    </a:p>
                    <a:p>
                      <a:pPr>
                        <a:defRPr sz="900" b="0">
                          <a:solidFill>
                            <a:srgbClr val="D946EF"/>
                          </a:solidFill>
                          <a:latin typeface="Pretendard"/>
                        </a:defRPr>
                      </a:pPr>
                      <a:r>
                        <a:t>청유형 어미(-자, -세요) 증가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소비자가 자발적 영업사원으로 전환</a:t>
                      </a:r>
                    </a:p>
                    <a:p>
                      <a:pPr>
                        <a:defRPr sz="9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마케팅 비용 구조 변화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492240"/>
            <a:ext cx="10698480" cy="2743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1052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FF"/>
                </a:solidFill>
                <a:latin typeface="Pretendard"/>
              </a:defRPr>
            </a:pPr>
            <a:r>
              <a:t>이 전환 데이터의 가치:  "Clout 35→65, Freshness 0.35→0.78" = IR/제안서에서 경쟁사가 제출할 수 없는 정량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Layer 1만 vs 2-Layer 통합 — 인사이트 품질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212080"/>
              </a:tblGrid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질문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Layer 1만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2-Layer 통합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성공했나?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86%, 성공"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진짜 팬은 30~35%.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40~45%는 인스타 소비형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제품 브랜드 건강한가?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48%, 보통"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긍정도 Clout 35, 추천 의지 없음.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과거 추억 기반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공간이 나은 이유?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"감성 점수가 높다"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5개 심리 축 동시 전환.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평가자→추천자 변환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다음 팝업 개선점?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 유지하면 된다"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P-02→P-01 전환 필요.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체험 깊이 강화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시즌4 해야 하나?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"긍정이니 해도 됨"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Freshness 모니터링 필수.</a:t>
                      </a:r>
                    </a:p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주간 리프레시 캘린더 적용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oppins"/>
              </a:defRPr>
            </a:pPr>
            <a:r>
              <a:t>STRATEGY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가나초콜릿하우스를 위한 세그먼트별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7548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retendard"/>
              </a:defRPr>
            </a:pPr>
            <a:r>
              <a:t>인스타 소비형 (40~45%)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프로필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036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L1: 긍정 / "예쁘다", "사진"</a:t>
            </a:r>
            <a:br/>
            <a:r>
              <a:t>L2: Auth 낮음, Clout 낮음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Pretendard"/>
              </a:defRPr>
            </a:pPr>
            <a:r>
              <a:t>전략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포토존 뒤에 제품 체험 동선 배치.</a:t>
            </a:r>
            <a:br/>
            <a:r>
              <a:t>"사진 찍고 → 시식 → 구매"로 연결.</a:t>
            </a:r>
            <a:br/>
            <a:r>
              <a:t>SNS 공유 시 체험 쿠폰 제공하여</a:t>
            </a:r>
            <a:br/>
            <a:r>
              <a:t>바이럴을 체험으로 전환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74720" cy="47548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진짜 팬 (30~35%)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프로필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88036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9" y="2926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L1: 긍정 / "감동", "진심"</a:t>
            </a:r>
            <a:br/>
            <a:r>
              <a:t>L2: Auth 높음, Clout 높음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전략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43484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599" y="448056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VIP 프로그램(시즌 프리오픈, 한정 메뉴).</a:t>
            </a:r>
            <a:br/>
            <a:r>
              <a:t>리뷰어 앰배서더 프로그램.</a:t>
            </a:r>
            <a:br/>
            <a:r>
              <a:t>이 세그먼트의 리뷰가 다른 소비자의</a:t>
            </a:r>
            <a:br/>
            <a:r>
              <a:t>P-02→P-01 전환을 유도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3474720" cy="47548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FF"/>
                </a:solidFill>
                <a:latin typeface="Pretendard"/>
              </a:defRPr>
            </a:pPr>
            <a:r>
              <a:t>관계 소비형 (15~20%)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프로필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288036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926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L1: 긍정 / "같이", "데이트"</a:t>
            </a:r>
            <a:br/>
            <a:r>
              <a:t>L2: Clout 높음, Distance 낮음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전략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434840"/>
            <a:ext cx="3108960" cy="20116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48056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2인/그룹 전용 메뉴, 커플/가족 체험 코스.</a:t>
            </a:r>
            <a:br/>
            <a:r>
              <a:t>"함께 만드는 초콜릿" DIY를 핵심 프로그램.</a:t>
            </a:r>
            <a:br/>
            <a:r>
              <a:t>관계 기억에 브랜드 각인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같은 "긍정 86%"도, Layer 2를 추가하면</a:t>
            </a:r>
            <a:br/>
            <a:r>
              <a:t>3개의 전혀 다른 세그먼트가 보인다.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retendard"/>
              </a:defRPr>
            </a:pPr>
            <a:r>
              <a:t>Layer 1만의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  - 제품: 긍정 48%, 보통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  - 공간: 긍정 86%, 대성공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  - "공간이 제품보다 좋다"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  - 전략? "계속 하면 된다"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12064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retendard"/>
              </a:defRPr>
            </a:pPr>
            <a:r>
              <a:t>2-Layer 통합의 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  - 제품: Clout 35, 추천 의지 없음. 과거 추억 의존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  - 공간: 진짜 팬 30~35%, 인스타 소비 40~45%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  - 제품→공간 전환 시 5개 심리 축 동시 전환 실증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FFFF"/>
                </a:solidFill>
                <a:latin typeface="Pretendard"/>
              </a:defRPr>
            </a:pPr>
            <a:r>
              <a:t>  - 전략: 세그먼트별 차별화 + Freshness 모니터링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FF"/>
                </a:solidFill>
                <a:latin typeface="Pretendard"/>
              </a:defRPr>
            </a:pPr>
            <a:r>
              <a:t>Layer 1은 "좋다/나쁘다"를 말해준다.  Layer 2는 "왜 좋은지, 얼마나 진심인지, 언제까지 지속될지"를 말해준다.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58521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자아 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"나"→"우리"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85216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58521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시간 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과거→현재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585216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58521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감각 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미각→시각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585216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58521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인지 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분석→감동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585216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59" y="5852160"/>
            <a:ext cx="1828800" cy="3657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9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FF"/>
                </a:solidFill>
                <a:latin typeface="Pretendard"/>
              </a:defRPr>
            </a:pPr>
            <a:r>
              <a:t>행동 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평가→추천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