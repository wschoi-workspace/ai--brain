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FF"/>
                </a:solidFill>
                <a:latin typeface="Poppins"/>
              </a:defRPr>
            </a:pPr>
            <a:r>
              <a:t>RXR 2-LAYER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Pretendard"/>
              </a:defRPr>
            </a:pPr>
            <a:r>
              <a:t>가나초콜릿 vs 가나초콜릿하우스</a:t>
            </a:r>
            <a:br/>
            <a:r>
              <a:t>동일 브랜드, 완전히 다른 심리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1A1AA"/>
                </a:solidFill>
                <a:latin typeface="Pretendard"/>
              </a:defRPr>
            </a:pPr>
            <a:r>
              <a:t>제품 리뷰와 공간 리뷰를 RXR 2-Layer 프레임워크로 분석하여,</a:t>
            </a:r>
            <a:br/>
            <a:r>
              <a:t>단일 레이어 분석이 놓치는 심리적 전환을 실증한다.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80"/>
                </a:solidFill>
                <a:latin typeface="Pretendard"/>
              </a:defRPr>
            </a:pPr>
            <a:r>
              <a:t>Project RENT  ·  R-lab  ·  2026.04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oppins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Pretendard"/>
              </a:defRPr>
            </a:pPr>
            <a:r>
              <a:t>분석 대상 &amp; 프레임워크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1148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120640" cy="4572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E3C"/>
                </a:solidFill>
                <a:latin typeface="Pretendard"/>
              </a:defRPr>
            </a:pPr>
            <a:r>
              <a:t>A  가나초콜릿 (제품)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4572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Pretendard"/>
              </a:defRPr>
            </a:pPr>
            <a:r>
              <a:t>유형: 판형 초콜릿 (FMCG)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A1A1AA"/>
                </a:solidFill>
                <a:latin typeface="Pretendard"/>
              </a:defRPr>
            </a:pPr>
            <a:r>
              <a:t>역사: 1975~ (51년), 누적 매출 1.3조 원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A1A1AA"/>
                </a:solidFill>
                <a:latin typeface="Pretendard"/>
              </a:defRPr>
            </a:pPr>
            <a:r>
              <a:t>누적 판매량: 66억 갑 (초당 4개)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A1A1AA"/>
                </a:solidFill>
                <a:latin typeface="Pretendard"/>
              </a:defRPr>
            </a:pPr>
            <a:r>
              <a:t>포지셔닝: "국민 초콜릿"</a:t>
            </a:r>
          </a:p>
          <a:p>
            <a:pPr algn="l">
              <a:spcBef>
                <a:spcPts val="800"/>
              </a:spcBef>
              <a:defRPr sz="600" b="0">
                <a:solidFill>
                  <a:srgbClr val="FFFFFF"/>
                </a:solidFill>
                <a:latin typeface="Pretendard"/>
              </a:defRPr>
            </a:pPr>
          </a:p>
          <a:p>
            <a:pPr algn="l">
              <a:spcBef>
                <a:spcPts val="600"/>
              </a:spcBef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리뷰 특성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· 맛/식감 중심 평가 (미각+촉각)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· 긍정/부정 양분 (팜유 논란)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· 추억/노스탤지어 기반 긍정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120640" cy="41148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828800"/>
            <a:ext cx="512064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Pretendard"/>
              </a:defRPr>
            </a:pPr>
            <a:r>
              <a:t>B  가나초콜릿하우스 (공간)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4572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Pretendard"/>
              </a:defRPr>
            </a:pPr>
            <a:r>
              <a:t>유형: 체험형 팝업스토어 / 디저트 카페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A1A1AA"/>
                </a:solidFill>
                <a:latin typeface="Pretendard"/>
              </a:defRPr>
            </a:pPr>
            <a:r>
              <a:t>역사: 2022~ (시즌3까지), 150평 규모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A1A1AA"/>
                </a:solidFill>
                <a:latin typeface="Pretendard"/>
              </a:defRPr>
            </a:pPr>
            <a:r>
              <a:t>구매전환율: 95%+, 예약 1분 만에 마감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A1A1AA"/>
                </a:solidFill>
                <a:latin typeface="Pretendard"/>
              </a:defRPr>
            </a:pPr>
            <a:r>
              <a:t>포지셔닝: "가나, 디저트가 되다"</a:t>
            </a:r>
          </a:p>
          <a:p>
            <a:pPr algn="l">
              <a:spcBef>
                <a:spcPts val="800"/>
              </a:spcBef>
              <a:defRPr sz="600" b="0">
                <a:solidFill>
                  <a:srgbClr val="FFFFFF"/>
                </a:solidFill>
                <a:latin typeface="Pretendard"/>
              </a:defRPr>
            </a:pPr>
          </a:p>
          <a:p>
            <a:pPr algn="l">
              <a:spcBef>
                <a:spcPts val="600"/>
              </a:spcBef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리뷰 특성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· 공간/분위기 중심 (시각+공간감각)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· 압도적 긍정 (86%)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· 관계적 소비 ("같이 가자")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oppins"/>
              </a:defRPr>
            </a:pPr>
            <a:r>
              <a:t>LAYER 1 —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Pretendard"/>
              </a:defRPr>
            </a:pPr>
            <a:r>
              <a:t>감성 분포 비교: "무엇을 말했는가"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38912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E3C"/>
                </a:solidFill>
                <a:latin typeface="Pretendard"/>
              </a:defRPr>
            </a:pPr>
            <a:r>
              <a:t>A  가나초콜릿 — 감성 분포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Pretendard"/>
              </a:defRPr>
            </a:pPr>
            <a:r>
              <a:t>긍정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2578608"/>
            <a:ext cx="3657600" cy="256032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20240" y="2578608"/>
            <a:ext cx="1755648" cy="25603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0" y="256032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48%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260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1A1AA"/>
                </a:solidFill>
                <a:latin typeface="Pretendard"/>
              </a:defRPr>
            </a:pPr>
            <a:r>
              <a:t>중립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2944368"/>
            <a:ext cx="3657600" cy="256032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920240" y="2944368"/>
            <a:ext cx="804672" cy="256032"/>
          </a:xfrm>
          <a:prstGeom prst="roundRect">
            <a:avLst>
              <a:gd name="adj" fmla="val 50000"/>
            </a:avLst>
          </a:prstGeom>
          <a:solidFill>
            <a:srgbClr val="71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0" y="292608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22%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2918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5050"/>
                </a:solidFill>
                <a:latin typeface="Pretendard"/>
              </a:defRPr>
            </a:pPr>
            <a:r>
              <a:t>부정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3310128"/>
            <a:ext cx="3657600" cy="256032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920240" y="3310128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0" y="329184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대표 긍정: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717180"/>
                </a:solidFill>
                <a:latin typeface="Pretendard"/>
              </a:defRPr>
            </a:pPr>
            <a:r>
              <a:t>"입에서 사르르 녹는 달콤한 맛이 특징이다"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FFFFFF"/>
                </a:solidFill>
                <a:latin typeface="Pretendard"/>
              </a:defRPr>
            </a:pPr>
          </a:p>
          <a:p>
            <a:pPr algn="l">
              <a:spcBef>
                <a:spcPts val="200"/>
              </a:spcBef>
              <a:defRPr sz="1100" b="0">
                <a:solidFill>
                  <a:srgbClr val="FF5050"/>
                </a:solidFill>
                <a:latin typeface="Pretendard"/>
              </a:defRPr>
            </a:pPr>
            <a:r>
              <a:t>대표 부정: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717180"/>
                </a:solidFill>
                <a:latin typeface="Pretendard"/>
              </a:defRPr>
            </a:pPr>
            <a:r>
              <a:t>"카카오버터 대신 싸구려 팜유로 만드니까"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717180"/>
                </a:solidFill>
                <a:latin typeface="Pretendard"/>
              </a:defRPr>
            </a:pPr>
            <a:r>
              <a:t>"가나초콜렛은 가나초콜렛이지 초콜렛은 아니야"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828800"/>
            <a:ext cx="5120640" cy="438912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011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Pretendard"/>
              </a:defRPr>
            </a:pPr>
            <a:r>
              <a:t>B  가나초콜릿하우스 — 감성 분포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560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Pretendard"/>
              </a:defRPr>
            </a:pPr>
            <a:r>
              <a:t>긍정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2578608"/>
            <a:ext cx="3657600" cy="256032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98079" y="2578608"/>
            <a:ext cx="3145536" cy="25603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92840" y="256032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86%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9260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1A1AA"/>
                </a:solidFill>
                <a:latin typeface="Pretendard"/>
              </a:defRPr>
            </a:pPr>
            <a:r>
              <a:t>중립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2944368"/>
            <a:ext cx="3657600" cy="256032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98079" y="2944368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71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92840" y="292608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10%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2918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5050"/>
                </a:solidFill>
                <a:latin typeface="Pretendard"/>
              </a:defRPr>
            </a:pPr>
            <a:r>
              <a:t>부정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79" y="3310128"/>
            <a:ext cx="3657600" cy="256032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98079" y="3310128"/>
            <a:ext cx="146304" cy="256032"/>
          </a:xfrm>
          <a:prstGeom prst="roundRect">
            <a:avLst>
              <a:gd name="adj" fmla="val 50000"/>
            </a:avLst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292840" y="329184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대표 긍정: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717180"/>
                </a:solidFill>
                <a:latin typeface="Pretendard"/>
              </a:defRPr>
            </a:pPr>
            <a:r>
              <a:t>"생각보다 더 좋았습니다! 공간이 초콜릿 컬러에 맞게 구성"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717180"/>
                </a:solidFill>
                <a:latin typeface="Pretendard"/>
              </a:defRPr>
            </a:pPr>
            <a:r>
              <a:t>"다른 카페 가지 말고 여기 있다 가자"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FFFFFF"/>
                </a:solidFill>
                <a:latin typeface="Pretendard"/>
              </a:defRPr>
            </a:pPr>
          </a:p>
          <a:p>
            <a:pPr algn="l">
              <a:spcBef>
                <a:spcPts val="200"/>
              </a:spcBef>
              <a:defRPr sz="1100" b="0">
                <a:solidFill>
                  <a:srgbClr val="FF5050"/>
                </a:solidFill>
                <a:latin typeface="Pretendard"/>
              </a:defRPr>
            </a:pPr>
            <a:r>
              <a:t>대표 부정: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717180"/>
                </a:solidFill>
                <a:latin typeface="Pretendard"/>
              </a:defRPr>
            </a:pPr>
            <a:r>
              <a:t>"별거 볼 건 없더라고요ㅠㅠ 초콜릿 특색이 덜 보이는 점 아쉬움"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6400800"/>
            <a:ext cx="10698480" cy="32004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6419088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Layer 1 결론:  제품은 긍정/부정 양분(48:30),  공간은 압도적 긍정(86:4).  하지만 그 86%가 진심인지는 모른다.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oppins"/>
              </a:defRPr>
            </a:pPr>
            <a:r>
              <a:t>LAYER 2 — PSYCHE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Pretendard"/>
              </a:defRPr>
            </a:pPr>
            <a:r>
              <a:t>LIWC 4대 변수 비교: "어떻게 말했는가"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105156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Authenticity (진정성)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901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E3C"/>
                </a:solidFill>
                <a:latin typeface="Pretendard"/>
              </a:defRPr>
            </a:pPr>
            <a:r>
              <a:t>제품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920240"/>
            <a:ext cx="2560320" cy="201168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97680" y="1920240"/>
            <a:ext cx="1664208" cy="201168"/>
          </a:xfrm>
          <a:prstGeom prst="roundRect">
            <a:avLst>
              <a:gd name="adj" fmla="val 50000"/>
            </a:avLst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901952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212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Pretendard"/>
              </a:defRPr>
            </a:pPr>
            <a:r>
              <a:t>공간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231136"/>
            <a:ext cx="2560320" cy="201168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80" y="2231136"/>
            <a:ext cx="1152143" cy="20116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221284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9659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5050"/>
                </a:solidFill>
                <a:latin typeface="Pretendard"/>
              </a:defRPr>
            </a:pPr>
            <a:r>
              <a:t>↓20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19202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제품: 자기노출 높음, 부정 포함</a:t>
            </a:r>
            <a:br/>
            <a:r>
              <a:t>공간: 감탄사 과다, 1인칭 부재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017520"/>
            <a:ext cx="10698480" cy="105156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108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Clout (추천 확신도)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09067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E3C"/>
                </a:solidFill>
                <a:latin typeface="Pretendard"/>
              </a:defRPr>
            </a:pPr>
            <a:r>
              <a:t>제품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108960"/>
            <a:ext cx="2560320" cy="201168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97680" y="3108960"/>
            <a:ext cx="896112" cy="201168"/>
          </a:xfrm>
          <a:prstGeom prst="roundRect">
            <a:avLst>
              <a:gd name="adj" fmla="val 50000"/>
            </a:avLst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5160" y="3090672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4015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Pretendard"/>
              </a:defRPr>
            </a:pPr>
            <a:r>
              <a:t>공간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419856"/>
            <a:ext cx="2560320" cy="201168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97680" y="3419856"/>
            <a:ext cx="1664208" cy="20116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95160" y="34015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65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154679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Pretendard"/>
              </a:defRPr>
            </a:pPr>
            <a:r>
              <a:t>↑30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1089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제품: 추천 발화 없음</a:t>
            </a:r>
            <a:br/>
            <a:r>
              <a:t>공간: "꼭 가보세요", 청유형 풍부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206240"/>
            <a:ext cx="10698480" cy="105156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29767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Analytical (인식 방식)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427939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E3C"/>
                </a:solidFill>
                <a:latin typeface="Pretendard"/>
              </a:defRPr>
            </a:pPr>
            <a:r>
              <a:t>제품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4297679"/>
            <a:ext cx="2560320" cy="201168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297680" y="4297679"/>
            <a:ext cx="1664208" cy="201168"/>
          </a:xfrm>
          <a:prstGeom prst="roundRect">
            <a:avLst>
              <a:gd name="adj" fmla="val 50000"/>
            </a:avLst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95160" y="4279392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65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45902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Pretendard"/>
              </a:defRPr>
            </a:pPr>
            <a:r>
              <a:t>공간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4608576"/>
            <a:ext cx="2560320" cy="201168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297680" y="4608576"/>
            <a:ext cx="1152143" cy="20116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95160" y="459028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45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43434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5050"/>
                </a:solidFill>
                <a:latin typeface="Pretendard"/>
              </a:defRPr>
            </a:pPr>
            <a:r>
              <a:t>↓20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429767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제품: 인과적 비교 서술</a:t>
            </a:r>
            <a:br/>
            <a:r>
              <a:t>공간: 감탄형 직관적 반응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5394960"/>
            <a:ext cx="10698480" cy="105156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486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Emotional Tone (감정)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0" y="5468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E3C"/>
                </a:solidFill>
                <a:latin typeface="Pretendard"/>
              </a:defRPr>
            </a:pPr>
            <a:r>
              <a:t>제품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97680" y="5486400"/>
            <a:ext cx="2560320" cy="201168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297680" y="5486400"/>
            <a:ext cx="1408176" cy="201168"/>
          </a:xfrm>
          <a:prstGeom prst="roundRect">
            <a:avLst>
              <a:gd name="adj" fmla="val 50000"/>
            </a:avLst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95160" y="5468112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55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66160" y="577900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Pretendard"/>
              </a:defRPr>
            </a:pPr>
            <a:r>
              <a:t>공간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97680" y="5797296"/>
            <a:ext cx="2560320" cy="201168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297680" y="5797296"/>
            <a:ext cx="2048256" cy="20116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95160" y="577900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80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0" y="55321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Pretendard"/>
              </a:defRPr>
            </a:pPr>
            <a:r>
              <a:t>↑25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6720" y="54864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제품: 긍/부정 혼재</a:t>
            </a:r>
            <a:br/>
            <a:r>
              <a:t>공간: 순수 긍정 집중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oppins"/>
              </a:defRPr>
            </a:pPr>
            <a:r>
              <a:t>LAYER 2 — RXR EXCLUSIVE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Pretendard"/>
              </a:defRPr>
            </a:pPr>
            <a:r>
              <a:t>RXR 고유 심리 지표: Freshness · Distance · 시제 · 감각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105156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019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66FF"/>
                </a:solidFill>
                <a:latin typeface="Pretendard"/>
              </a:defRPr>
            </a:pPr>
            <a:r>
              <a:t>Freshness 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"이/가" vs "은/는"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1965960"/>
            <a:ext cx="1188720" cy="64008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20116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5E3C"/>
                </a:solidFill>
                <a:latin typeface="Pretendard"/>
              </a:defRPr>
            </a:pPr>
            <a:r>
              <a:t>0.35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3317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제품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057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666FF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1965960"/>
            <a:ext cx="1188720" cy="64008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20116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  <a:latin typeface="Pretendard"/>
              </a:defRPr>
            </a:pPr>
            <a:r>
              <a:t>0.78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3317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공간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019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제품: "가나초콜릿은", "맛은" → 이미 알려진 주제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31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공간: "분위기가", "공간이" → 새로운 발견의 초점화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017520"/>
            <a:ext cx="10698480" cy="105156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0906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66FF"/>
                </a:solidFill>
                <a:latin typeface="Pretendard"/>
              </a:defRPr>
            </a:pPr>
            <a:r>
              <a:t>Psych. Distance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383279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대명사 패턴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08960" y="3154679"/>
            <a:ext cx="1188720" cy="64008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32004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5E3C"/>
                </a:solidFill>
                <a:latin typeface="Pretendard"/>
              </a:defRPr>
            </a:pPr>
            <a:r>
              <a:t>0.82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520439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제품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246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666FF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3154679"/>
            <a:ext cx="1188720" cy="64008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0" y="32004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  <a:latin typeface="Pretendard"/>
              </a:defRPr>
            </a:pPr>
            <a:r>
              <a:t>0.41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3520439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공간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09067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제품: "난 아직도", "내 입속으로" → 개인 관찰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52043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공간: "여기 있다 가자", "우리" → 장소 귀속+집단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206240"/>
            <a:ext cx="10698480" cy="105156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2793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66FF"/>
                </a:solidFill>
                <a:latin typeface="Pretendard"/>
              </a:defRPr>
            </a:pPr>
            <a:r>
              <a:t>시제 프레임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5720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과거/현재/미래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08960" y="4343400"/>
            <a:ext cx="1188720" cy="64008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0" y="43891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5E3C"/>
                </a:solidFill>
                <a:latin typeface="Pretendard"/>
              </a:defRPr>
            </a:pPr>
            <a:r>
              <a:t>과거 회고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4709159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제품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4434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666FF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37760" y="4343400"/>
            <a:ext cx="1188720" cy="64008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37760" y="43891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  <a:latin typeface="Pretendard"/>
              </a:defRPr>
            </a:pPr>
            <a:r>
              <a:t>현재+미래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4709159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공간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27939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제품: "먹었다", "어릴 때부터" → 기억 속 브랜드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70915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공간: "펼쳐진다", "가자" → 현재 몰입+행동 촉구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5394960"/>
            <a:ext cx="10698480" cy="105156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4681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66FF"/>
                </a:solidFill>
                <a:latin typeface="Pretendard"/>
              </a:defRPr>
            </a:pPr>
            <a:r>
              <a:t>감각 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7607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지배 감각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108960" y="5532120"/>
            <a:ext cx="1188720" cy="64008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08960" y="55778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5E3C"/>
                </a:solidFill>
                <a:latin typeface="Pretendard"/>
              </a:defRPr>
            </a:pPr>
            <a:r>
              <a:t>미각+촉각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8960" y="58978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제품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4840" y="5623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666FF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37760" y="5532120"/>
            <a:ext cx="1188720" cy="64008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37760" y="55778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  <a:latin typeface="Pretendard"/>
              </a:defRPr>
            </a:pPr>
            <a:r>
              <a:t>시각+공간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37760" y="58978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공간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46811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제품: "녹는", "달콤" → 입안 감각 (Proximal)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897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공간: "고급스럽다", "포토존" → 공간 감각 (Distal)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oppins"/>
              </a:defRPr>
            </a:pPr>
            <a:r>
              <a:t>PATTERN DICTIONARY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Pretendard"/>
              </a:defRPr>
            </a:pPr>
            <a:r>
              <a:t>2-Layer 교차 분석 패턴 사전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2011680"/>
                <a:gridCol w="2560320"/>
                <a:gridCol w="3383280"/>
              </a:tblGrid>
              <a:tr h="6792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패턴 ID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이름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L1 신호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L2 신호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대응 전략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Pretendard"/>
                        </a:defRPr>
                      </a:pPr>
                      <a:r>
                        <a:t>P-01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진짜 팬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긍정 80%+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Auth 높음, Clout 높음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VIP 관리, 앰배서더 전환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  <a:latin typeface="Pretendard"/>
                        </a:defRPr>
                      </a:pPr>
                      <a:r>
                        <a:t>P-02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인스타 소비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긍정 80%+, "사진"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Auth 낮음, Clout 낮음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체험 깊이 강화, 제품 터치포인트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P-03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관심 있지만 확신 부족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긍정 70%+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Auth 높음, Clout 낮음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샘플링 확대, 확신 전환 유도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D946EF"/>
                          </a:solidFill>
                          <a:latin typeface="Pretendard"/>
                        </a:defRPr>
                      </a:pPr>
                      <a:r>
                        <a:t>P-04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신선함 소진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감성 소폭 하락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Freshness 급락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콘텐츠 리프레시, 신규 존 오픈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P-05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탐색만 길게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체류↑ 구매↓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Analytical 높음, Clout 낮음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선택지 축소, 큐레이션 동선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5050"/>
                          </a:solidFill>
                          <a:latin typeface="Pretendard"/>
                        </a:defRPr>
                      </a:pPr>
                      <a:r>
                        <a:t>P-06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조용한 이탈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긍정 유지, 언급↓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Tone↓, Clout↓ 추세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긴급 리프레시, 재활성화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oppins"/>
              </a:defRPr>
            </a:pPr>
            <a:r>
              <a:t>ZONE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Pretendard"/>
              </a:defRPr>
            </a:pPr>
            <a:r>
              <a:t>감성 × 진정성 매트릭스 — 4개 Zone 분류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737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Auth 높음  ←───────→  Auth 낮음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192024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12064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Pretendard"/>
              </a:defRPr>
            </a:pPr>
            <a:r>
              <a:t>Zone A: 진짜 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FF"/>
                </a:solidFill>
                <a:latin typeface="Pretendard"/>
              </a:defRPr>
            </a:pPr>
            <a:r>
              <a:t>감성 긍정 + Auth 높음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진심으로 좋아한다.</a:t>
            </a:r>
            <a:br/>
            <a:r>
              <a:t>재방문/재구매 확률 가장 높은 세그먼트.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011680"/>
            <a:ext cx="5120640" cy="192024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2011680"/>
            <a:ext cx="51206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945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Pretendard"/>
              </a:defRPr>
            </a:pPr>
            <a:r>
              <a:t>Zone B: 인스타 소비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603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FF"/>
                </a:solidFill>
                <a:latin typeface="Pretendard"/>
              </a:defRPr>
            </a:pPr>
            <a:r>
              <a:t>감성 긍정 + Auth 낮음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"예쁘니까 올린 것."</a:t>
            </a:r>
            <a:br/>
            <a:r>
              <a:t>바이럴 기여는 하지만 재방문 가치 낮음.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06240"/>
            <a:ext cx="5120640" cy="192024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206240"/>
            <a:ext cx="5120640" cy="4572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3891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5050"/>
                </a:solidFill>
                <a:latin typeface="Pretendard"/>
              </a:defRPr>
            </a:pPr>
            <a:r>
              <a:t>Zone C: 진심 불만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54879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FF"/>
                </a:solidFill>
                <a:latin typeface="Pretendard"/>
              </a:defRPr>
            </a:pPr>
            <a:r>
              <a:t>감성 부정 + Auth 높음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206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실제 문제 존재. 무시 금지.</a:t>
            </a:r>
            <a:br/>
            <a:r>
              <a:t>"팜유", "특색 없다" = 진짜 개선점.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206240"/>
            <a:ext cx="5120640" cy="192024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4206240"/>
            <a:ext cx="5120640" cy="45720"/>
          </a:xfrm>
          <a:prstGeom prst="rect">
            <a:avLst/>
          </a:prstGeom>
          <a:solidFill>
            <a:srgbClr val="71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3891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17180"/>
                </a:solidFill>
                <a:latin typeface="Pretendard"/>
              </a:defRPr>
            </a:pPr>
            <a:r>
              <a:t>Zone D: 노이즈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754879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FF"/>
                </a:solidFill>
                <a:latin typeface="Pretendard"/>
              </a:defRPr>
            </a:pPr>
            <a:r>
              <a:t>감성 부정 + Auth 낮음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1206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악의적/경쟁사 공격성 리뷰.</a:t>
            </a:r>
            <a:br/>
            <a:r>
              <a:t>분석 대상에서 필터링 후 제외.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oppins"/>
              </a:defRPr>
            </a:pPr>
            <a:r>
              <a:t>CROSS ANALYSIS —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Pretendard"/>
              </a:defRPr>
            </a:pPr>
            <a:r>
              <a:t>제품 리뷰 교차 분석: 패턴 매칭 결과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011680"/>
                <a:gridCol w="2286000"/>
                <a:gridCol w="1097280"/>
                <a:gridCol w="3931920"/>
              </a:tblGrid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리뷰 유형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L1 (Content)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L2 (Psyche)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패턴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2-Layer 인사이트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솔직한 팬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긍정 / "맛있다"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Auth 높음, Clout 낮음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P-03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관심은 있지만 추천 의지 없음.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"난 좋은데 남한테 권하기는..."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분석적 비판자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부정 / "팜유", "싸구려"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Auth 높음, Analytical 높음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5050"/>
                          </a:solidFill>
                          <a:latin typeface="Pretendard"/>
                        </a:defRPr>
                      </a:pPr>
                      <a:r>
                        <a:t>Zone C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진심 불만. 실제 품질 문제.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무시하면 안 됨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추억형 소비자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긍정 / "어릴 때"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Auth 높음, 시제: 과거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  <a:latin typeface="Pretendard"/>
                        </a:defRPr>
                      </a:pPr>
                      <a:r>
                        <a:t>P-06 전조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노스탤지어 의존.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새 경험 없이 점진적 이탈 가능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303520"/>
            <a:ext cx="10698480" cy="109728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5303520"/>
            <a:ext cx="45720" cy="109728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44068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050"/>
                </a:solidFill>
                <a:latin typeface="Pretendard"/>
              </a:defRPr>
            </a:pPr>
            <a:r>
              <a:t>제품 진단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760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L1만 보면 "긍정 48%, 그럭저럭" — L2를 더하면 긍정 리뷰조차 추천 의지 없고(Clout 35), 과거 추억에 의존.</a:t>
            </a:r>
            <a:br/>
            <a:r>
              <a:t>브랜드가 현재 시점에서 새로운 긍정 경험을 생산하지 못하고 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oppins"/>
              </a:defRPr>
            </a:pPr>
            <a:r>
              <a:t>CROSS ANALYSIS — 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Pretendard"/>
              </a:defRPr>
            </a:pPr>
            <a:r>
              <a:t>공간 리뷰 교차 분석: 패턴 매칭 결과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011680"/>
                <a:gridCol w="2286000"/>
                <a:gridCol w="1097280"/>
                <a:gridCol w="3931920"/>
              </a:tblGrid>
              <a:tr h="6583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리뷰 유형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L1 (Content)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L2 (Psyche)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패턴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2-Layer 인사이트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인스타 소비형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긍정 90%+, "사진"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Auth 낮음, Clout 낮음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  <a:latin typeface="Pretendard"/>
                        </a:defRPr>
                      </a:pPr>
                      <a:r>
                        <a:t>P-02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바이럴 ≠ 충성.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인스타에 올리고 싶었을 뿐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기대 위반형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긍정 / "생각보다"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Auth 높음, Clout 높음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Pretendard"/>
                        </a:defRPr>
                      </a:pPr>
                      <a:r>
                        <a:t>P-01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진짜 팬 전환.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스키마 위반이 진정 긍정 생성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관계 소비형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긍정 / "같이 가자"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Clout 높음, Distance 낮음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Pretendard"/>
                        </a:defRPr>
                      </a:pPr>
                      <a:r>
                        <a:t>P-01+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행동 전환 완료.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가장 높은 전환 가치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실망형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부정 / "별거 없다"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Auth 높음, Tone 낮음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5050"/>
                          </a:solidFill>
                          <a:latin typeface="Pretendard"/>
                        </a:defRPr>
                      </a:pPr>
                      <a:r>
                        <a:t>Zone C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진심 불만. 제품-공간 연결 약점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303520"/>
            <a:ext cx="10698480" cy="109728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5303520"/>
            <a:ext cx="45720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44068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Pretendard"/>
              </a:defRPr>
            </a:pPr>
            <a:r>
              <a:t>공간 진단: 긍정 86%를 분해하면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5806440"/>
            <a:ext cx="3108960" cy="64008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9436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  <a:latin typeface="Pretendard"/>
              </a:defRPr>
            </a:pPr>
            <a:r>
              <a:t>40~45%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58367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인스타 소비 (P-02)</a:t>
            </a:r>
            <a:br/>
            <a:r>
              <a:t>바이럴O 재방문X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5806440"/>
            <a:ext cx="3108960" cy="64008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59436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  <a:latin typeface="Pretendard"/>
              </a:defRPr>
            </a:pPr>
            <a:r>
              <a:t>30~35%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658367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진짜 팬 (P-01)</a:t>
            </a:r>
            <a:br/>
            <a:r>
              <a:t>Auth+Clout 높음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5806440"/>
            <a:ext cx="3108960" cy="64008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59436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666FF"/>
                </a:solidFill>
                <a:latin typeface="Pretendard"/>
              </a:defRPr>
            </a:pPr>
            <a:r>
              <a:t>15~20%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58367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관계 소비 (P-01+)</a:t>
            </a:r>
            <a:br/>
            <a:r>
              <a:t>행동 전환 완료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oppins"/>
              </a:defRPr>
            </a:pPr>
            <a:r>
              <a:t>KEY FINDING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Pretendard"/>
              </a:defRPr>
            </a:pPr>
            <a:r>
              <a:t>5대 심리 축의 체계적 전환: 제품 → 공간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82296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66FF"/>
                </a:solidFill>
                <a:latin typeface="Pretendard"/>
              </a:defRPr>
            </a:pPr>
            <a:r>
              <a:t>자아 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938528"/>
            <a:ext cx="2011680" cy="50292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2011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E3C"/>
                </a:solidFill>
                <a:latin typeface="Pretendard"/>
              </a:defRPr>
            </a:pPr>
            <a:r>
              <a:t>"나"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9659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66FF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1938528"/>
            <a:ext cx="2011680" cy="50292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2011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Pretendard"/>
              </a:defRPr>
            </a:pPr>
            <a:r>
              <a:t>"여기/우리"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9202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개인적 → 사회적 경험</a:t>
            </a:r>
            <a:br/>
            <a:r>
              <a:t>바이럴 구조 형성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88920"/>
            <a:ext cx="10698480" cy="82296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2607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66FF"/>
                </a:solidFill>
                <a:latin typeface="Pretendard"/>
              </a:defRPr>
            </a:pPr>
            <a:r>
              <a:t>시간 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2898648"/>
            <a:ext cx="2011680" cy="50292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2971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E3C"/>
                </a:solidFill>
                <a:latin typeface="Pretendard"/>
              </a:defRPr>
            </a:pPr>
            <a:r>
              <a:t>과거 회고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92607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66FF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60" y="2898648"/>
            <a:ext cx="2011680" cy="50292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2971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Pretendard"/>
              </a:defRPr>
            </a:pPr>
            <a:r>
              <a:t>현재+미래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8803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노스탤지어 → 현재 몰입</a:t>
            </a:r>
            <a:br/>
            <a:r>
              <a:t>브랜드 리포지셔닝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749039"/>
            <a:ext cx="10698480" cy="82296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886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66FF"/>
                </a:solidFill>
                <a:latin typeface="Pretendard"/>
              </a:defRPr>
            </a:pPr>
            <a:r>
              <a:t>감각 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60320" y="3858768"/>
            <a:ext cx="2011680" cy="50292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0320" y="3931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E3C"/>
                </a:solidFill>
                <a:latin typeface="Pretendard"/>
              </a:defRPr>
            </a:pPr>
            <a:r>
              <a:t>미각+촉각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86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66FF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94960" y="3858768"/>
            <a:ext cx="2011680" cy="50292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60" y="3931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Pretendard"/>
              </a:defRPr>
            </a:pPr>
            <a:r>
              <a:t>시각+공간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3840479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Proximal → Distal</a:t>
            </a:r>
            <a:br/>
            <a:r>
              <a:t>SNS 공유 최적화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709160"/>
            <a:ext cx="10698480" cy="82296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8463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66FF"/>
                </a:solidFill>
                <a:latin typeface="Pretendard"/>
              </a:defRPr>
            </a:pPr>
            <a:r>
              <a:t>인지 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60320" y="4818888"/>
            <a:ext cx="2011680" cy="50292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0320" y="4892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E3C"/>
                </a:solidFill>
                <a:latin typeface="Pretendard"/>
              </a:defRPr>
            </a:pPr>
            <a:r>
              <a:t>분석적 평가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4846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66FF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94960" y="4818888"/>
            <a:ext cx="2011680" cy="50292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94960" y="4892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Pretendard"/>
              </a:defRPr>
            </a:pPr>
            <a:r>
              <a:t>감성적 반응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480060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가격 경쟁 → 가치 경쟁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669280"/>
            <a:ext cx="10698480" cy="82296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8064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66FF"/>
                </a:solidFill>
                <a:latin typeface="Pretendard"/>
              </a:defRPr>
            </a:pPr>
            <a:r>
              <a:t>행동 축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560320" y="5779008"/>
            <a:ext cx="2011680" cy="50292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60320" y="5852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E3C"/>
                </a:solidFill>
                <a:latin typeface="Pretendard"/>
              </a:defRPr>
            </a:pPr>
            <a:r>
              <a:t>수동적 소비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60" y="58064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66FF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94960" y="5779008"/>
            <a:ext cx="2011680" cy="50292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94960" y="5852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Pretendard"/>
              </a:defRPr>
            </a:pPr>
            <a:r>
              <a:t>능동적 추천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576072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평가자 → 자발적 영업사원</a:t>
            </a:r>
            <a:br/>
            <a:r>
              <a:t>마케팅 비용 구조 변화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oppins"/>
              </a:defRPr>
            </a:pPr>
            <a: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Pretendard"/>
              </a:defRPr>
            </a:pPr>
            <a:r>
              <a:t>Layer 1만 vs 2-Layer 통합 — 인사이트 품질 비교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926080"/>
                <a:gridCol w="5212080"/>
              </a:tblGrid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질문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Layer 1만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2-Layer 통합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공간이 성공했나?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"긍정 86%, 성공"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진짜 팬은 30~35%.</a:t>
                      </a:r>
                    </a:p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40~45%는 인스타 소비형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제품 브랜드 건강한가?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"긍정 48%, 보통"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긍정도 Clout 35, 추천 의지 없음.</a:t>
                      </a:r>
                    </a:p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과거 추억 기반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공간이 나은 이유?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"감성 점수가 높다"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5개 심리 축 동시 전환.</a:t>
                      </a:r>
                    </a:p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평가자→추천자 변환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다음 팝업 개선점?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"긍정 유지하면 된다"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P-02→P-01 전환 필요.</a:t>
                      </a:r>
                    </a:p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체험 깊이 강화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시즌4 해야 하나?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"긍정이니 해도 됨"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Freshness 모니터링 필수.</a:t>
                      </a:r>
                    </a:p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주간 리프레시 캘린더 적용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Pretendard"/>
              </a:defRPr>
            </a:pPr>
            <a:r>
              <a:t>같은 "긍정 86%"도,</a:t>
            </a:r>
            <a:br/>
            <a:r>
              <a:t>Layer 2를 추가하면</a:t>
            </a:r>
            <a:br/>
            <a:r>
              <a:t>3개의 전혀 다른 세그먼트가 보인다.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1A1AA"/>
                </a:solidFill>
                <a:latin typeface="Pretendard"/>
              </a:defRPr>
            </a:pPr>
            <a:r>
              <a:t>Layer 1은 "좋다/나쁘다"를 말해준다.</a:t>
            </a:r>
            <a:br/>
            <a:r>
              <a:t>Layer 2는 "왜 좋은지, 얼마나 진심인지, 언제까지 지속될지"를 말해준다.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572000"/>
            <a:ext cx="1828800" cy="109728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4572000"/>
            <a:ext cx="1828800" cy="36576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709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666FF"/>
                </a:solidFill>
                <a:latin typeface="Pretendard"/>
              </a:defRPr>
            </a:pPr>
            <a:r>
              <a:t>자아 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"나"→"우리"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4572000"/>
            <a:ext cx="1828800" cy="109728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4572000"/>
            <a:ext cx="1828800" cy="36576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4709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666FF"/>
                </a:solidFill>
                <a:latin typeface="Pretendard"/>
              </a:defRPr>
            </a:pPr>
            <a:r>
              <a:t>시간 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5029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과거→현재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4572000"/>
            <a:ext cx="1828800" cy="109728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0" y="4572000"/>
            <a:ext cx="1828800" cy="36576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4709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666FF"/>
                </a:solidFill>
                <a:latin typeface="Pretendard"/>
              </a:defRPr>
            </a:pPr>
            <a:r>
              <a:t>감각 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5029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미각→시각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4572000"/>
            <a:ext cx="1828800" cy="109728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0" y="4572000"/>
            <a:ext cx="1828800" cy="36576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4709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666FF"/>
                </a:solidFill>
                <a:latin typeface="Pretendard"/>
              </a:defRPr>
            </a:pPr>
            <a:r>
              <a:t>인지 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5029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분석→감동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59" y="4572000"/>
            <a:ext cx="1828800" cy="109728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09759" y="4572000"/>
            <a:ext cx="1828800" cy="36576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59" y="4709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666FF"/>
                </a:solidFill>
                <a:latin typeface="Pretendard"/>
              </a:defRPr>
            </a:pPr>
            <a:r>
              <a:t>행동 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59" y="5029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평가→추천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17180"/>
                </a:solidFill>
                <a:latin typeface="Pretendard"/>
              </a:defRPr>
            </a:pPr>
            <a:r>
              <a:t>Project RENT  ·  R-lab  ·  RXR 2-Layer Case Study  ·  2026.04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