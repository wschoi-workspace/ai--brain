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FF"/>
                </a:solidFill>
                <a:latin typeface="Pretendard"/>
              </a:defRPr>
            </a:pPr>
            <a:r>
              <a:t>RXR 2-LAYER BRAND PERCEPTION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가나초콜릿 브랜드 인식 변화</a:t>
            </a:r>
            <a:br/>
            <a:r>
              <a:t>A: 2022년 이전 vs B: 2024년 이후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Pretendard"/>
              </a:defRPr>
            </a:pPr>
            <a:r>
              <a:t>팝업 3시즌 + "가나, 디저트가 되다" 캠페인 + 프리미엄 가나 라인업이</a:t>
            </a:r>
            <a:br/>
            <a:r>
              <a:t>브랜드 인식을 어떻게 바꿨는가 (그리고 바꾸지 못했는가)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80"/>
                </a:solidFill>
                <a:latin typeface="Pretendard"/>
              </a:defRPr>
            </a:pPr>
            <a:r>
              <a:t>Project RENT  ·  R-lab  ·  2026.04.05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분석 프레임 &amp; 타임라인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2022년 이전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"국민 간식" 시대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팜유 논란 고착 / 노스탤지어 의존</a:t>
            </a:r>
            <a:br/>
            <a:r>
              <a:t>시장점유율 40% but 부정 74%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84048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전환기 (2022~2024)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팝업 3시즌 + 캠페인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S1 성수 → S2 부산 → S3 성수</a:t>
            </a:r>
            <a:br/>
            <a:r>
              <a:t>프리미엄 가나 론칭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2024년 이후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"디저트 브랜드" 시대?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디저트 하우스 론칭 / 아뜰리에 50주년</a:t>
            </a:r>
            <a:br/>
            <a:r>
              <a:t>체험자 vs 비체험자 인식 단절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698480" cy="2743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45720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retendard"/>
              </a:defRPr>
            </a:pPr>
            <a:r>
              <a:t>이 리포트는 이렇게 읽으세요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1단계. A(기존 인식): 팝업 이전에 소비자가 "가나초콜릿" 하면 떠올리던 이미지 - 좋은 것과 나쁜 것 모두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2단계. B(이벤트 후): 팝업 3시즌 + 캠페인 이후 바뀐 인식 - 바뀐 것과 안 바뀐 것 구분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3단계. 왜 중요한가: 각 수치 아래 해설에서 비전문가도 이해할 수 있게 설명합니다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핵심 질문: 같은 "좋다"라도 진심인지 립서비스인지, 남에게 추천할 확신이 있는지 - 이것을 Layer 2가 구분합니다.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1 —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감성 분포 변화: A(이전) vs B(이후)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3C"/>
                </a:solidFill>
                <a:latin typeface="Pretendard"/>
              </a:defRPr>
            </a:pPr>
            <a:r>
              <a:t>A  2022년 이전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30428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2304288"/>
            <a:ext cx="1528876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286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67004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2670048"/>
            <a:ext cx="868680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303580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37360" y="3035808"/>
            <a:ext cx="1077163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017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부정 31% - 팜유/성분 비판 집중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512064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A8AFF"/>
                </a:solidFill>
                <a:latin typeface="Pretendard"/>
              </a:defRPr>
            </a:pPr>
            <a:r>
              <a:t>B  2024년 이후 (체험자 기준)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860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30428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304288"/>
            <a:ext cx="2606040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286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517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67004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2670048"/>
            <a:ext cx="521207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17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035808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3035808"/>
            <a:ext cx="347472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3017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프리미엄 가나 + 팝업 체험자 기준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4572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12064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Pretendard"/>
              </a:defRPr>
            </a:pPr>
            <a:r>
              <a:t>이 숫자가 의미하는 것: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949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긍정이 44%-&gt;75%로 올랐지만, B의 75%는 팝업 체험자 + 프리미엄 구매자 기준입니다.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비체험자만 분리하면 여전히 긍정 약 40%, 부정 35% - A(이전)와 거의 동일.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전체 평균이 아니라 "누구의 긍정인가"가 핵심. 이벤트 효과는 체험자에게만 유효.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1 —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토픽 전환 추적: 어떤 주제가 바뀌었나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731520"/>
                <a:gridCol w="6400800"/>
              </a:tblGrid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토픽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A: 이전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B: 이후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맛/식감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↓15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공간/디저트에 밀려남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공간/분위기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팝업이 만든 새 토픽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품질/원료(팜유)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거의 불변. 비체험자 유지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디저트/프리미엄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 가나+디저트하우스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가격/가성비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프리미엄은 '합리적' 평가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추억/브랜드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노스탤지어 비중 축소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관계/사회적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'같이 가자' 팝업 한정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57784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577840"/>
            <a:ext cx="4572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이게 왜 중요한가요?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97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"공간", "디저트" 같은 새 어휘가 소비자 언어에 추가 = 브랜드 인식 확장 증거.</a:t>
            </a:r>
            <a:br/>
            <a:r>
              <a:t>그러나 "팜유" 키워드가 28%-&gt;25%로 거의 안 줄었음 = 기존 약점 해소 실패.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2 — LIWC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LIWC 4대 변수: A(이전) vs B(이후)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Layer 2는 "진심으로 그렇게 느꼈는가"를 봅니다. 같은 "좋다"라도 진심인지 립서비스인지를 기능어 패턴으로 측정.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Authenticity (진심도)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27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E3C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45920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1554480" cy="164592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6093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E3C"/>
                </a:solidFill>
                <a:latin typeface="Pretendard"/>
              </a:defRPr>
            </a:pPr>
            <a: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74519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A8A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92807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92807"/>
            <a:ext cx="1325880" cy="164592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856231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AFF"/>
                </a:solidFill>
                <a:latin typeface="Pretendard"/>
              </a:defRPr>
            </a:pPr>
            <a:r>
              <a:t>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600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Pretendard"/>
              </a:defRPr>
            </a:pPr>
            <a:r>
              <a:t>A: "난 아직도 가나 좋아해" - 1인칭+솔직 = Auth 높음</a:t>
            </a:r>
            <a:br/>
            <a:r>
              <a:t>B체험자: "진짜 너무 예뻐요!!!" - 감탄사 과다 = Auth 낮음</a:t>
            </a:r>
            <a:br/>
            <a:r>
              <a:t>B비체험자: "팜유 집어넣고 생색" - 솔직한 비판 = Auth 높음</a:t>
            </a:r>
            <a:br/>
            <a:r>
              <a:t>왜 중요: 전체 Auth 하락은 체험자의 '과장된 긍정' 때문. 비체험자는 더 솔직하게 비판 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52928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Clout (추천 확신도)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926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E3C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944368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2944368"/>
            <a:ext cx="731520" cy="164592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90779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E3C"/>
                </a:solidFill>
                <a:latin typeface="Pretendard"/>
              </a:defRPr>
            </a:pPr>
            <a: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1729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A8A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191256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191256"/>
            <a:ext cx="960120" cy="164592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15468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AFF"/>
                </a:solidFill>
                <a:latin typeface="Pretendard"/>
              </a:defRPr>
            </a:pPr>
            <a:r>
              <a:t>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↑10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89864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Pretendard"/>
              </a:defRPr>
            </a:pPr>
            <a:r>
              <a:t>A: "맛있긴 한데..." - 조심스러운 표현 = Clout 낮음</a:t>
            </a:r>
            <a:br/>
            <a:r>
              <a:t>B: "여기 꼭 가봐야 해!" - 강한 확신 = Clout 높음</a:t>
            </a:r>
            <a:br/>
            <a:r>
              <a:t>이 +10이 가장 중요한 이유:</a:t>
            </a:r>
            <a:br/>
            <a:r>
              <a:t>A에서는 '추천하는 사람'이 거의 없었음. B에서 체험자 중심으로 Clout 55+가 생겨남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51376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Analytical (분석적 사고)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24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E3C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242816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4242816"/>
            <a:ext cx="1417320" cy="164592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206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E3C"/>
                </a:solidFill>
                <a:latin typeface="Pretendard"/>
              </a:defRPr>
            </a:pPr>
            <a:r>
              <a:t>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4714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A8A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489704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26280" y="4489704"/>
            <a:ext cx="1257300" cy="164592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44531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AFF"/>
                </a:solidFill>
                <a:latin typeface="Pretendard"/>
              </a:defRPr>
            </a:pPr>
            <a:r>
              <a:t>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2885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↓7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19709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Pretendard"/>
              </a:defRPr>
            </a:pPr>
            <a:r>
              <a:t>A: "카카오 함량이 28%밖에 안 되고..." - 분석적</a:t>
            </a:r>
            <a:br/>
            <a:r>
              <a:t>B: "공간이 너무 감각적이었어요!" - 감탄형</a:t>
            </a:r>
            <a:br/>
            <a:r>
              <a:t>왜 중요: 가격/성분으로 비교당하던 브랜드가 감정적 몰입 대상이 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449824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22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Emotional Tone (감정 온도)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5229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E3C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5541264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26280" y="5541264"/>
            <a:ext cx="1143000" cy="164592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55046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E3C"/>
                </a:solidFill>
                <a:latin typeface="Pretendard"/>
              </a:defRPr>
            </a:pPr>
            <a:r>
              <a:t>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769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A8A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5788152"/>
            <a:ext cx="2286000" cy="164592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26280" y="5788152"/>
            <a:ext cx="1325880" cy="164592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575157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AFF"/>
                </a:solidFill>
                <a:latin typeface="Pretendard"/>
              </a:defRPr>
            </a:pPr>
            <a:r>
              <a:t>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55869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↑8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495544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Pretendard"/>
              </a:defRPr>
            </a:pPr>
            <a:r>
              <a:t>A: 긍정/부정 혼재 - 톤 중화</a:t>
            </a:r>
            <a:br/>
            <a:r>
              <a:t>B체험자: Tone 78 (강한 긍정) vs B비체험자: Tone 38 (강한 부정)</a:t>
            </a:r>
            <a:br/>
            <a:r>
              <a:t>핵심: 전체 평균 +8은 의미 없음. 체험자(78)와 비체험자(38)의 분산이 극대화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2 — RXR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RXR 고유 지표: Freshness &amp; Distance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E3C"/>
                </a:solidFill>
                <a:latin typeface="Pretendard"/>
              </a:defRPr>
            </a:pPr>
            <a:r>
              <a:t>0.32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A: Freshness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"가나초콜릿은" - 익숙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A8AFF"/>
                </a:solidFill>
                <a:latin typeface="Pretendard"/>
              </a:defRPr>
            </a:pPr>
            <a:r>
              <a:t>0.48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B: Freshness (평균)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프리미엄 0.65 / 기존 0.30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E3C"/>
                </a:solidFill>
                <a:latin typeface="Pretendard"/>
              </a:defRPr>
            </a:pPr>
            <a:r>
              <a:t>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5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A: Psych.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"나" 개인 관찰자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49039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A8AFF"/>
                </a:solidFill>
                <a:latin typeface="Pretendard"/>
              </a:defRPr>
            </a:pPr>
            <a:r>
              <a:t>0.68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8055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B: Distance (평균)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7091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체험자 0.52 / 비체험자 0.85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6304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4572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Freshness가 뭔가요?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"이 공간이 좋다"의 '이/가'는 처음 발견한 새로운 것에 붙습니다.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"그 공간은 좋다"의 '은/는'은 이미 알고 있는 것에 붙습니다.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900" b="0">
                <a:solidFill>
                  <a:srgbClr val="8B5E3C"/>
                </a:solidFill>
                <a:latin typeface="Pretendard"/>
              </a:defRPr>
            </a:pPr>
            <a:r>
              <a:t>A: "가나초콜릿은" = 완전히 익숙 (0.32)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A8AFF"/>
                </a:solidFill>
                <a:latin typeface="Pretendard"/>
              </a:defRPr>
            </a:pPr>
            <a:r>
              <a:t>B 프리미엄: "이 초콜릿이 진짜 맛있다" = 새 발견 (0.65)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B 기존 제품: "가나는 여전히..." = 변화 없음 (0.30)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749039"/>
            <a:ext cx="4572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Psych. Distance가 뭔가요?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"나"를 많이 쓰면 관찰자 시점 (거리감 높음)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"우리", "여기"를 쓰면 소속감 (거리감 낮음)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900" b="0">
                <a:solidFill>
                  <a:srgbClr val="8B5E3C"/>
                </a:solidFill>
                <a:latin typeface="Pretendard"/>
              </a:defRPr>
            </a:pPr>
            <a:r>
              <a:t>A: "내가 먹어본 결과..." = 관찰자 (0.85)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8A8AFF"/>
                </a:solidFill>
                <a:latin typeface="Pretendard"/>
              </a:defRPr>
            </a:pPr>
            <a:r>
              <a:t>B 체험자: "우리 여기 또 가자" = 소속감 (0.52)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B 비체험자: "내가 왜 저런 걸..." = 여전히 관찰자 (0.85)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3 — PATTERN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패턴 분류: A(이전) vs B(이후)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640080"/>
                <a:gridCol w="640080"/>
                <a:gridCol w="640080"/>
                <a:gridCol w="4846320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한 줄 설명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대표 리뷰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 진짜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진심으로 좋아하고 적극 추천하는 최고의 고객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↑8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"프리미엄 가나 헤이즐넛 진짜 맛있다, 꼭 먹어봐"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 인스타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사진 올리려고 간 것. 재방문 가능성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"포토부스 귀여웠어요~"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 확신부족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좋긴 한데 남에게 추천까지는 안 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↓8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"맛있긴 한데 또 사먹을것 같진 않아요"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  <a:latin typeface="Pretendard"/>
                        </a:defRPr>
                      </a:pPr>
                      <a:r>
                        <a:t>체험 전도사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직접 체험 후 적극 전파. B에서 새로 등장한 최고 가치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"초콜릿을 즐기는 방법을 제대로 알려주는 공간은 처음!"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 진심불만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실제 문제를 솔직하게 지적. 무시하면 안 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"팜유 집어넣고 생색. 카카오떡이라고 하렴"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P-05/Zone D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457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표에서 가장 중요한 변화: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Pretendard"/>
              </a:defRPr>
            </a:pPr>
            <a:r>
              <a:t>P-01(진짜 팬) +8%p: 진심으로 추천하는 사람이 10%-&gt;18%로 성장. 팝업의 핵심 성과.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4D399"/>
                </a:solidFill>
                <a:latin typeface="Pretendard"/>
              </a:defRPr>
            </a:pPr>
            <a:r>
              <a:t>체험 전도사 8%: A에는 없었던 새 유형 - 직접 체험 후 적극 전파하는 최고 가치 세그먼트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5050"/>
                </a:solidFill>
                <a:latin typeface="Pretendard"/>
              </a:defRPr>
            </a:pPr>
            <a:r>
              <a:t>Zone C(진심 불만) 30%-&gt;28%: 거의 안 줄었음. 팜유 비판층은 이벤트와 무관하게 고착.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LAYER 3 — AUTH x CLOUT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Auth x Clout 매트릭스: 소비자 이동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가로축 = Clout(추천 확신), 세로축 = Auth(진심도). A-&gt;B로 소비자가 어떻게 이동했는지를 보여줍니다.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Clout 낮음 (추천 안 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Clout 높음 (적극 추천)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Auth 높음</a:t>
            </a:r>
            <a:br/>
            <a:r>
              <a:t>(솔직함)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Auth 낮음</a:t>
            </a:r>
            <a:br/>
            <a:r>
              <a:t>(피상적)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011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retendard"/>
              </a:defRPr>
            </a:pPr>
            <a:r>
              <a:t>P-03 확신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A 30% -&gt; B 22%  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"좋긴 한데 추천은..."</a:t>
            </a:r>
            <a:br/>
            <a:r>
              <a:t>-&gt; 일부가 P-01로 이동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011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01168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P-01 진짜 팬 + 체험 전도사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514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A 10% -&gt; B 26%  ↑16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"꼭 가봐야 해!"</a:t>
            </a:r>
            <a:br/>
            <a:r>
              <a:t>-&gt; 최대 성장 영역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4114800"/>
            <a:ext cx="3474720" cy="45720"/>
          </a:xfrm>
          <a:prstGeom prst="rect">
            <a:avLst/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17180"/>
                </a:solidFill>
                <a:latin typeface="Pretendard"/>
              </a:defRPr>
            </a:pPr>
            <a:r>
              <a:t>P-05 탐색만 / 기타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A 30% -&gt; B 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37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비교만 하고 결정 안 함</a:t>
            </a:r>
            <a:br/>
            <a:r>
              <a:t>-&gt; 일부 이탈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411480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59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retendard"/>
              </a:defRPr>
            </a:pPr>
            <a:r>
              <a:t>P-02 인스타 소비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A 0% -&gt; B 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4937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"사진 올리려고"</a:t>
            </a:r>
            <a:br/>
            <a:r>
              <a:t>-&gt; 소수, 이벤트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WEAKNESS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기존 약점 해결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이벤트가 브랜드의 기존 약점을 해결했는지/못했는지를 수치로 보여줍니다.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2286000"/>
                <a:gridCol w="2651760"/>
              </a:tblGrid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기존 약점 (A)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이벤트가 만든 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 근거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해결 여부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"추천 안 함"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32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"꼭 가봐야 해!" 전환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체험자 Clout 55+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32-&gt;42 (+10)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부분 해결</a:t>
                      </a:r>
                    </a:p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체험자 한정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"간식 = 저가"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 인식 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 토픽 신규 등장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 라인 4.8점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 토픽 0%-&gt;18%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해결</a:t>
                      </a:r>
                    </a:p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새 인식 레이어 추가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"추억에만 의존"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시제 과거 지배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"지금 여기" 현재 경험 추가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팝업 3시즌+아뜰리에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시제: 과거-&gt;현재 추가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해결</a:t>
                      </a:r>
                    </a:p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현재 경험 생성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"팜유/준초콜릿"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Zone C 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팝업 중 상쇄, After 복귀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기존 제품 팜유 미변경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Zone C 30%-&gt;28% (↓2)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미해결</a:t>
                      </a:r>
                    </a:p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근본 미변경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"가성비 열세"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노브랜드 대비 30% 비쌈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프리미엄은 "합리적"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기존 라인은 여전히 비판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 토픽 17%-&gt;12%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부분</a:t>
                      </a:r>
                    </a:p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프리미엄만 해결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612648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44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한마디로: 이벤트가 "추천 의지", "디저트 인식", "현재 경험" 3가지를 해결했지만, "팜유 품질"과 "가격"은 이벤트만으로 해결 불가. 제품 자체의 변화가 필요.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STRATEGY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세그먼트별 전략 제안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51206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t>P-01 진짜 팬 + 체험 전도사 (26%)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체험 후 진심 추천. Auth+Clout 모두 높음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108960" cy="25603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전략: VIP 프로그램(시즌 프리오픈, 한정 메뉴).</a:t>
            </a:r>
            <a:br/>
            <a:r>
              <a:t>앰배서더 프로그램으로 리뷰 확산.</a:t>
            </a:r>
            <a:br/>
            <a:r>
              <a:t>Zone C 비판층에 대한 자연스러운 반론 역할.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Pretendard"/>
              </a:defRPr>
            </a:pPr>
            <a:r>
              <a:t>기대: P-03-&gt;P-01 전환 유도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51206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47472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050"/>
                </a:solidFill>
                <a:latin typeface="Pretendard"/>
              </a:defRPr>
            </a:pPr>
            <a:r>
              <a:t>Zone C 진심 불만 (28%)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팜유/성분 비판. Auth 극높. 11년째 고착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834640"/>
            <a:ext cx="3108960" cy="25603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2880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전략: 이벤트만으로 해결 불가.</a:t>
            </a:r>
            <a:br/>
            <a:r>
              <a:t>근본적 제품 개선(카카오버터 비율 확대) 병행.</a:t>
            </a:r>
            <a:br/>
            <a:r>
              <a:t>비체험자-&gt;체험자 전환: 블라인드 테스트 이벤트.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현실: 제품이 안 바뀌면 인식도 안 바뀜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474720" cy="51206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FF"/>
                </a:solidFill>
                <a:latin typeface="Pretendard"/>
              </a:defRPr>
            </a:pPr>
            <a:r>
              <a:t>P-03 확신 부족 (22%)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좋긴 한데 추천까지는 안 함. Auth높 Clout낮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834640"/>
            <a:ext cx="3108960" cy="25603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880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전략: 체험 터치포인트 강화.</a:t>
            </a:r>
            <a:br/>
            <a:r>
              <a:t>팝업 시식, DIY 체험으로 확신 부여.</a:t>
            </a:r>
            <a:br/>
            <a:r>
              <a:t>P-01 진짜 팬의 리뷰를 이 세그먼트에 노출.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FF"/>
                </a:solidFill>
                <a:latin typeface="Pretendard"/>
              </a:defRPr>
            </a:pPr>
            <a:r>
              <a:t>기대: P-03의 30~40%를 P-01로 전환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핵심 변화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바뀐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Pretendard"/>
              </a:defRPr>
            </a:pPr>
            <a:r>
              <a:t>"간식-&gt;디저트"</a:t>
            </a:r>
            <a:br/>
            <a:r>
              <a:t>인식 레이어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3108960" cy="3108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P-01(팬) +8%p / 체험 전도사 8% 신규</a:t>
            </a:r>
            <a:br/>
            <a:r>
              <a:t>프리미엄 4.8점 / 디저트 토픽 18% 신규</a:t>
            </a:r>
            <a:br/>
            <a:r>
              <a:t>Clout +10 (추천 의지 탄생)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47472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안 바뀐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050"/>
                </a:solidFill>
                <a:latin typeface="Pretendard"/>
              </a:defRPr>
            </a:pPr>
            <a:r>
              <a:t>팜유 논란</a:t>
            </a:r>
            <a:br/>
            <a:r>
              <a:t>영구 고착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91840"/>
            <a:ext cx="3108960" cy="3108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9" y="3383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Zone C 30%-&gt;28% (거의 불변)</a:t>
            </a:r>
            <a:br/>
            <a:r>
              <a:t>비체험자 Tone 38 (강한 부정)</a:t>
            </a:r>
            <a:br/>
            <a:r>
              <a:t>"카카오떡" 조롱 수위 상승</a:t>
            </a:r>
            <a:br/>
            <a:r>
              <a:t>노브랜드 대안 추천 고착화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retendard"/>
              </a:defRPr>
            </a:pPr>
            <a:r>
              <a:t>새로 생긴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Pretendard"/>
              </a:defRPr>
            </a:pPr>
            <a:r>
              <a:t>체험자 vs 비체험자</a:t>
            </a:r>
            <a:br/>
            <a:r>
              <a:t>인식 단절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291840"/>
            <a:ext cx="3108960" cy="3108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383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체험자: "초콜릿에 진심" Clout 55+</a:t>
            </a:r>
            <a:br/>
            <a:r>
              <a:t>비체험자: "팜유 범벅" Auth 70+</a:t>
            </a:r>
            <a:br/>
            <a:r>
              <a:t>같은 브랜드에 4.8점과 "카카오떡" 공존</a:t>
            </a:r>
            <a:br/>
            <a:r>
              <a:t>2022 이전에는 없던 현상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3년간의 팝업과 캠페인은</a:t>
            </a:r>
            <a:br/>
            <a:r>
              <a:t>"디저트"라는 새 인식 레이어를 추가하는 데 성공했지만,</a:t>
            </a:r>
            <a:br/>
            <a:r>
              <a:t>"팜유"라는 기존 레이어를 제거하지는 못했다.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474720"/>
            <a:ext cx="850392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52044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FF"/>
                </a:solidFill>
                <a:latin typeface="Pretendard"/>
              </a:defRPr>
            </a:pPr>
            <a:r>
              <a:t>L1으로 보면 "긍정이 올랐다" - L2로 보면 "긍정의 질이 체험자/비체험자로 완전히 다르다"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80"/>
                </a:solidFill>
                <a:latin typeface="Pretendard"/>
              </a:defRPr>
            </a:pPr>
            <a:r>
              <a:t>Project RENT  ·  R-lab  ·  RXR 2-Layer Brand Perception Shift  ·  2026.04.05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